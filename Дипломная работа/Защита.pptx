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57" r:id="rId3"/>
    <p:sldId id="282" r:id="rId4"/>
    <p:sldId id="283" r:id="rId5"/>
    <p:sldId id="284" r:id="rId6"/>
    <p:sldId id="285" r:id="rId7"/>
    <p:sldId id="290" r:id="rId8"/>
    <p:sldId id="312" r:id="rId9"/>
    <p:sldId id="291" r:id="rId10"/>
    <p:sldId id="292" r:id="rId11"/>
    <p:sldId id="288" r:id="rId12"/>
    <p:sldId id="308" r:id="rId13"/>
    <p:sldId id="289" r:id="rId14"/>
    <p:sldId id="310" r:id="rId15"/>
    <p:sldId id="293" r:id="rId16"/>
    <p:sldId id="295" r:id="rId17"/>
    <p:sldId id="296" r:id="rId18"/>
    <p:sldId id="286" r:id="rId19"/>
    <p:sldId id="299" r:id="rId20"/>
    <p:sldId id="309" r:id="rId21"/>
    <p:sldId id="311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gdan Klimov" initials="BK" lastIdx="1" clrIdx="0">
    <p:extLst>
      <p:ext uri="{19B8F6BF-5375-455C-9EA6-DF929625EA0E}">
        <p15:presenceInfo xmlns:p15="http://schemas.microsoft.com/office/powerpoint/2012/main" userId="f37532ac853aed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AE2EF-8CFD-4C6E-A825-101910D94582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76695-BF89-4ABE-B636-B11F750137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24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38DD-B485-45BD-AF6B-246E9A8CD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D167421-9F64-45AA-8C55-07A96EB9B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E1E794-82D3-471C-AC9B-3B17A5CCF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E12BF7-A961-44FB-B9D3-D7EF8554D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843FFC-C68B-47A1-8296-154DB3F4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107AFC-401A-4A4A-8221-5A00CB349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318472-A46A-44F1-82C1-31C4BF74D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766AFD-F623-46EF-98A4-5A9CFDD1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19AD00-8B3E-4B6F-BB4F-3174FE44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21E5B9-35E2-4F96-97D8-604BD9E4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40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5BC43-6DF5-4C5D-A24E-EF639743E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D774D7-C471-4BBE-90FA-855CF7358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CEDB28-0D5F-4BCF-BE20-5EEB327C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F70DDC-AB2F-4866-85C9-D5620F3F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24C878-14F7-4529-8B25-8C2EA019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7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F81399-F7A5-40DB-A294-92531CBD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E02C6-88F1-4BE7-BF06-A8D833008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07C207-8664-4379-9EF3-A0A3931D4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4CD243-837C-49D8-BEE1-91ACC672B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E419B6C-A51C-4429-95FC-3008D4FC5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789D59-1875-4ABA-A7A7-BAAF682F0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7484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666D48-841C-4778-906E-64596CC0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A0A8E8-0420-43E7-A96A-47D647316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C9AF56-3587-4EA5-B695-5E86E35A6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7CF366-3AC5-450C-AE6E-7ADB032B0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42913D-480C-4A44-9256-ABAC9C69A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76AFBE-44D2-41D2-9537-60F8BBA81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A6592E-F9C4-46A2-9F22-84DDD6F2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E1ABB0B-5C75-4F8C-AC3B-A5A1547C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74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A9DFEC-2AC6-4692-8BE2-B2AFC425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09579B-BEC3-453C-B346-E67D49D17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E92755-A2AA-464F-B6C2-0D111F14E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2FC87BA-2D11-4516-9F11-4C0431DA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334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32417D-4FA2-4894-A1F7-E88D99F05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2E8C622-28A2-4BED-A697-0DFC0D2C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F37DEE-7DAC-451E-9B0C-DAE304245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94974-6247-4DB9-90BD-B89342DD5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7BC104-AD9B-4CF2-9296-AF3889DB2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4EB78F-E2DC-4488-A98D-E31E1DB3F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0B1F81-C3EC-459A-8113-8B22D409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5122B-4DE1-45AA-AE72-7D7D84C22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4B014D-EA55-42F9-A940-E5B2D98A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82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587A11-492C-40E0-B45B-383EBDEB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55B36E-E810-488D-B035-A1D652BEFE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407065-BB5B-4F4A-A2A2-1A944BF0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B5FC58-FE33-4FD6-8354-B2892222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994B10-D2D3-46B9-969E-672CE0B15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A6B2BC-F0DA-4FE6-9C82-7EF74C8E8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79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11489-965D-4D38-BACB-F21669E35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8C8DD04-4E29-49DF-BB9A-478E90F1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598401-5981-4DF8-BE47-A32D16B3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798CEA-4BA9-4177-9079-DED39AED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268CB-1D5D-4CF8-AA80-A14F22B9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21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E16E5E7-A4F2-4A1B-B4F9-AC20F55529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447BDE-2EB5-426D-B8D1-E726EEC8E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2647C0-57BC-478A-88F1-459C092D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5A7C8-9514-46D5-A5B8-BDFA88F0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9E341C-FCBC-44D6-BD75-3C87199E1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37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0EE9F-DB49-496F-85E1-8D475E707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971459-0701-4F30-B8C9-22EE571A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D10163-FA5C-4AFC-94E4-3BD6BA709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A0B553-31EF-4B1D-9EAB-410AD6CA89D0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0F9B26-2864-4043-BE8C-C055582BB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ACAA84-8D25-4FE2-A9C2-B0A371C82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A683-26E4-4C1E-8F89-2E8F03744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599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00" y="2010495"/>
            <a:ext cx="10080000" cy="3240000"/>
          </a:xfrm>
        </p:spPr>
        <p:txBody>
          <a:bodyPr anchor="ctr"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6000" y="5400777"/>
            <a:ext cx="7199999" cy="1080000"/>
          </a:xfrm>
        </p:spPr>
        <p:txBody>
          <a:bodyPr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Студент-докладчик: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Научный</a:t>
            </a:r>
            <a:r>
              <a:rPr lang="ru-RU" sz="1800" b="1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к.ф.-м.н.,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Ершов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Кирилл</a:t>
            </a:r>
            <a:r>
              <a:rPr lang="ru-RU" sz="1800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-10" dirty="0">
                <a:latin typeface="Arial" panose="020B0604020202020204" pitchFamily="34" charset="0"/>
                <a:cs typeface="Arial" panose="020B0604020202020204" pitchFamily="34" charset="0"/>
              </a:rPr>
              <a:t>Сергеевич</a:t>
            </a:r>
            <a:endParaRPr lang="ru-RU" sz="1800" spc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Место прохождения практики: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14" dirty="0">
                <a:latin typeface="Arial" panose="020B0604020202020204" pitchFamily="34" charset="0"/>
                <a:cs typeface="Arial" panose="020B0604020202020204" pitchFamily="34" charset="0"/>
              </a:rPr>
              <a:t>ИХКГ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00" dirty="0"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РАН,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гр.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МФД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D7DB3E-4D79-4BCE-8DDF-AB7D32D5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0" y="5220777"/>
            <a:ext cx="1440000" cy="144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0DEB3B-F703-4C61-A16E-D462B64A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000" y="5250495"/>
            <a:ext cx="1440000" cy="144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4D14C4-706D-4DD3-92ED-E79DCDF9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506" y="167505"/>
            <a:ext cx="4189655" cy="216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F6F9C-D639-496B-AC30-03105982F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00" y="527505"/>
            <a:ext cx="47664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55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Область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t"/>
          <a:lstStyle/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Автоматизация экспериментальных исследований в физической химии и спектроскопии, включая управление оборудованием, сбор данных и обработку сигналов для получения спектров люминесценции синглетного кислорода.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4CF8F1-FF84-495B-A4FD-77741A2C29C3}"/>
              </a:ext>
            </a:extLst>
          </p:cNvPr>
          <p:cNvSpPr txBox="1"/>
          <p:nvPr/>
        </p:nvSpPr>
        <p:spPr>
          <a:xfrm>
            <a:off x="3216000" y="6432218"/>
            <a:ext cx="5760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Примеры спектров люминесценции синглетного кислорода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C579026-C94F-494B-9C11-2BBB70B9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000" y="2627266"/>
            <a:ext cx="5040000" cy="38070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47CD2-773E-4EF9-9C5A-2BD417B72FCF}"/>
                  </a:ext>
                </a:extLst>
              </p:cNvPr>
              <p:cNvSpPr txBox="1"/>
              <p:nvPr/>
            </p:nvSpPr>
            <p:spPr>
              <a:xfrm>
                <a:off x="8616000" y="3270801"/>
                <a:ext cx="2880000" cy="25200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𝑷𝑯</m:t>
                    </m:r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– фотолюминофор.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𝑪𝑪𝑰</m:t>
                        </m:r>
                      </m:e>
                      <m:sub>
                        <m:r>
                          <a:rPr lang="ru-RU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–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тетрахлорметан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𝑻𝒊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диоксид титана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ru-RU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</m:oMath>
                </a14:m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–</a:t>
                </a:r>
                <a:r>
                  <a:rPr lang="en-US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вода.</a:t>
                </a:r>
              </a:p>
              <a:p>
                <a:endParaRPr lang="ru-RU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ru-RU" sz="1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а)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𝑷𝑯</m:t>
                    </m:r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на воздухе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𝑪𝑪𝑰</m:t>
                        </m:r>
                      </m:e>
                      <m:sub>
                        <m:r>
                          <a:rPr lang="ru-RU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б)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𝑷𝑯</m:t>
                    </m:r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на воздухе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в)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𝑻𝒊</m:t>
                    </m:r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на воздухе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𝑪𝑪𝑰</m:t>
                        </m:r>
                      </m:e>
                      <m:sub>
                        <m:r>
                          <a:rPr lang="ru-RU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г) </a:t>
                </a: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𝑻𝒊</m:t>
                    </m:r>
                    <m:sSub>
                      <m:sSubPr>
                        <m:ctrlP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𝑶</m:t>
                        </m:r>
                      </m:e>
                      <m:sub>
                        <m:r>
                          <a:rPr lang="en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на воздухе 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𝑯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r>
                      <a:rPr lang="en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</m:oMath>
                </a14:m>
                <a:r>
                  <a:rPr lang="ru-RU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247CD2-773E-4EF9-9C5A-2BD417B72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000" y="3270801"/>
                <a:ext cx="2880000" cy="2520000"/>
              </a:xfrm>
              <a:prstGeom prst="rect">
                <a:avLst/>
              </a:prstGeom>
              <a:blipFill>
                <a:blip r:embed="rId3"/>
                <a:stretch>
                  <a:fillRect l="-634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059EBCB-FA51-4163-A991-46F2DB0D3A96}"/>
              </a:ext>
            </a:extLst>
          </p:cNvPr>
          <p:cNvSpPr txBox="1"/>
          <p:nvPr/>
        </p:nvSpPr>
        <p:spPr>
          <a:xfrm>
            <a:off x="696000" y="3810801"/>
            <a:ext cx="2880000" cy="14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Источник:</a:t>
            </a:r>
          </a:p>
          <a:p>
            <a:endParaRPr lang="ru-RU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a-DK" sz="1400" b="1" dirty="0">
                <a:latin typeface="Arial" panose="020B0604020202020204" pitchFamily="34" charset="0"/>
                <a:cs typeface="Arial" panose="020B0604020202020204" pitchFamily="34" charset="0"/>
              </a:rPr>
              <a:t>Demyanenko A. V., Bogomolov A. S., Dozmorov N. V. et al.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The Journal of Physical Chemistry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C, 2019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3210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>
            <a:normAutofit/>
          </a:bodyPr>
          <a:lstStyle/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Длительный ручной сбор и обработка данных с измерительного оборудования.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постоянного присутствия исследователя в эксперименте.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Невозможность измерений при быстром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фоторазложении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активирующего вещества.</a:t>
            </a:r>
          </a:p>
          <a:p>
            <a:pPr marL="0" indent="0" defTabSz="900000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00000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Таким образом, существует необходимость создания автоматизированной системы синхронного управления приборами и обработки данных.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5752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F83A29-121A-47C2-955D-B3C4540DF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42" y="1908000"/>
            <a:ext cx="8784916" cy="468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Цель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t"/>
          <a:lstStyle/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Разработать программное обеспечение для автоматизации эксперимента по регистрации спектров люминесценции синглетного кислорода.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459A20-7E7A-482F-8560-A5BECDBD08E1}"/>
              </a:ext>
            </a:extLst>
          </p:cNvPr>
          <p:cNvSpPr txBox="1"/>
          <p:nvPr/>
        </p:nvSpPr>
        <p:spPr>
          <a:xfrm>
            <a:off x="1760117" y="6228000"/>
            <a:ext cx="8671766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Схема экспериментальной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340559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Основные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>
            <a:normAutofit/>
          </a:bodyPr>
          <a:lstStyle/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модулей для управления лазером, монохроматором, осциллографом и измерителем энергии.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модулей для построения спектра методами интегрирования и аппроксимации.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Разработка удобного графического интерфейса для управления экспериментом.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модуля автоматической калибровки оборудования по эталонным измерениям.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Проведение тестирования программного обеспечения в условиях реального эксперимента.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212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F325F66-609E-44C9-AF7E-1BF20583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436" y="1161812"/>
            <a:ext cx="5400000" cy="4957715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5EC1B53-2158-4331-8EEF-5FE94A372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267" y="3915388"/>
            <a:ext cx="2032941" cy="144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21F8909-0857-4899-9673-1BCE500EB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16" y="1477370"/>
            <a:ext cx="2032941" cy="144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8C07877-9B36-46FD-B978-19BFBDF520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14" y="1477370"/>
            <a:ext cx="2032941" cy="144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2988E5-AD51-47C0-A05E-745991F30C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67" y="3915388"/>
            <a:ext cx="2032941" cy="144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Структура комплекса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743906" y="6357167"/>
            <a:ext cx="356188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DE086-8D27-434E-973E-018DBD5032BA}"/>
              </a:ext>
            </a:extLst>
          </p:cNvPr>
          <p:cNvSpPr txBox="1"/>
          <p:nvPr/>
        </p:nvSpPr>
        <p:spPr>
          <a:xfrm>
            <a:off x="259738" y="2917370"/>
            <a:ext cx="288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Монохроматор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M266-IV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(Solar Laser Systems)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53F77-9280-4CFA-8CD3-4F6B3838F261}"/>
              </a:ext>
            </a:extLst>
          </p:cNvPr>
          <p:cNvSpPr txBox="1"/>
          <p:nvPr/>
        </p:nvSpPr>
        <p:spPr>
          <a:xfrm>
            <a:off x="3139738" y="2917370"/>
            <a:ext cx="288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Лазер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LS-2145-OPO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(OPO,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Lotis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Tii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2145)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3E0EFA-719F-401A-BB78-D3EBD34661AB}"/>
              </a:ext>
            </a:extLst>
          </p:cNvPr>
          <p:cNvSpPr txBox="1"/>
          <p:nvPr/>
        </p:nvSpPr>
        <p:spPr>
          <a:xfrm>
            <a:off x="259738" y="5355388"/>
            <a:ext cx="288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Осциллограф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MSOX2024A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(Keysight)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CF0DFE-25D6-4787-8E10-7152A79BAAE9}"/>
              </a:ext>
            </a:extLst>
          </p:cNvPr>
          <p:cNvSpPr txBox="1"/>
          <p:nvPr/>
        </p:nvSpPr>
        <p:spPr>
          <a:xfrm>
            <a:off x="3173587" y="5355388"/>
            <a:ext cx="288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Энергометр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QE25SP-S-MT-D0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Gentec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-EO)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9CEB7-B809-42BB-885A-96342E058AED}"/>
              </a:ext>
            </a:extLst>
          </p:cNvPr>
          <p:cNvSpPr txBox="1"/>
          <p:nvPr/>
        </p:nvSpPr>
        <p:spPr>
          <a:xfrm>
            <a:off x="6987436" y="6119527"/>
            <a:ext cx="360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Схема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93737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Модуль монохроматора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>
            <a:normAutofit/>
          </a:bodyPr>
          <a:lstStyle/>
          <a:p>
            <a:pPr marL="0" marR="0" lvl="0" indent="36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Задача: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Создание библиотеки для управления монохроматором.</a:t>
            </a:r>
          </a:p>
          <a:p>
            <a:pPr marL="0" marR="0" lvl="0" indent="36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Реализация:</a:t>
            </a:r>
          </a:p>
          <a:p>
            <a:pPr marL="180000" marR="0" lvl="0" indent="-18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Работа через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USB-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порт.</a:t>
            </a:r>
          </a:p>
          <a:p>
            <a:pPr marL="180000" marR="0" lvl="0" indent="-18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Использование драйвера 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Cypress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CYUSB.</a:t>
            </a:r>
          </a:p>
          <a:p>
            <a:pPr marL="180000" marR="0" lvl="0" indent="-18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Использование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SDK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производителя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80000" marR="0" lvl="0" indent="-18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Реализация обёртки для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Python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через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ctypes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360000" algn="l" defTabSz="90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Результат: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Библиотека работает через USB с использованием драйвера, SDK и обёртки 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ctypes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155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Модуль лазера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t">
            <a:normAutofit/>
          </a:bodyPr>
          <a:lstStyle/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Создание библиотеки для управления лазером.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Реализация: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Установка драйвера виртуального порта.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 через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порт.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Протокол на основе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кодов.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Библиотека работает через драйвер виртуального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порта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(Prolific)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 использованием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кодов для управления.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33AF4E-08D6-43F3-81A2-85B7D993E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428" y="4618647"/>
            <a:ext cx="4320000" cy="18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C806F3-9A79-4932-8E60-B973B01DC4E6}"/>
              </a:ext>
            </a:extLst>
          </p:cNvPr>
          <p:cNvSpPr txBox="1"/>
          <p:nvPr/>
        </p:nvSpPr>
        <p:spPr>
          <a:xfrm>
            <a:off x="7310599" y="6238647"/>
            <a:ext cx="3123973" cy="36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Пример команды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G-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кода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20D65F-6794-4E25-8708-F2A4B7CDBD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94" t="-293" r="614" b="3563"/>
          <a:stretch/>
        </p:blipFill>
        <p:spPr>
          <a:xfrm>
            <a:off x="7254001" y="4072425"/>
            <a:ext cx="324088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28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Модуль осциллографа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/>
          <a:lstStyle/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Создание библиотеки для управления осциллографом.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Реализация: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 через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-порт.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драйвера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USBTMC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протокола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SCPI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Библиотека работает через USB-порт с использованием встроенного в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Windows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драйвера USBTMC и протокола SCPI для измерительных приборов.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3296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Модуль измерителя энергии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t"/>
          <a:lstStyle/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Задача: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Создание библиотеки для управления измерителем энергии.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Реализация: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Установка драйвера виртуального порта.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Работа через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COM-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порт.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Использование текстового протокола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 Mode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Результат: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Библиотека работает через драйвер виртуального COM-порта (FTDI) с использованием текстовых команд.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C19E46-1B34-4903-8E05-096B405E0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000" y="4698000"/>
            <a:ext cx="432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63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Модуль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3798000"/>
            <a:ext cx="4671662" cy="2847670"/>
          </a:xfrm>
        </p:spPr>
        <p:txBody>
          <a:bodyPr anchor="ctr">
            <a:normAutofit/>
          </a:bodyPr>
          <a:lstStyle/>
          <a:p>
            <a:pPr marL="0" indent="360000" defTabSz="90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Возможности: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Отображение исходного сигнала с осциллографа.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Интерактивное задание границ интегрирования.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BD75478F-C26A-4E6B-A7BE-FC611CB69910}"/>
              </a:ext>
            </a:extLst>
          </p:cNvPr>
          <p:cNvSpPr txBox="1">
            <a:spLocks/>
          </p:cNvSpPr>
          <p:nvPr/>
        </p:nvSpPr>
        <p:spPr>
          <a:xfrm>
            <a:off x="5885192" y="926188"/>
            <a:ext cx="5688808" cy="283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E35D9D63-5E73-4BBC-8262-9BE9EB2C135A}"/>
              </a:ext>
            </a:extLst>
          </p:cNvPr>
          <p:cNvSpPr txBox="1">
            <a:spLocks/>
          </p:cNvSpPr>
          <p:nvPr/>
        </p:nvSpPr>
        <p:spPr>
          <a:xfrm>
            <a:off x="6902824" y="924142"/>
            <a:ext cx="4593174" cy="28394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360000" defTabSz="90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Возможности: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Задание параметров эксперимента.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Запуск эксперимента.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4E9957-6704-4E5C-B811-FE5FFE9B9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084906"/>
            <a:ext cx="6128337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BE00C48-EF10-473E-B4C2-1F73282BD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662" y="3961835"/>
            <a:ext cx="6128338" cy="252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4221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Проведение тестирования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44FA1-7057-43C4-86C5-ADA361488DDC}"/>
              </a:ext>
            </a:extLst>
          </p:cNvPr>
          <p:cNvSpPr txBox="1"/>
          <p:nvPr/>
        </p:nvSpPr>
        <p:spPr>
          <a:xfrm>
            <a:off x="3935708" y="6331750"/>
            <a:ext cx="4320000" cy="36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dirty="0"/>
              <a:t>Пример зарегистрированного спектра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1850B7-2E7D-4012-B99E-21D439F5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24" y="911781"/>
            <a:ext cx="10813076" cy="54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7771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Полученные 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>
            <a:normAutofit/>
          </a:bodyPr>
          <a:lstStyle/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Разработаны модули управления лазером, монохроматором, осциллографом и измерителем энергии.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Реализованы модули для построения спектра методами интегрирования и аппроксимации.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Разработан графический интерфейс для удобного управления экспериментом.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Реализован модуль автоматической калибровки оборудования по эталонным измерениям.</a:t>
            </a:r>
          </a:p>
          <a:p>
            <a:pPr marL="360000" indent="-360000" defTabSz="9000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Проведено успешное тестирование программного обеспечения в условиях реального эксперимента.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0442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00" y="2010495"/>
            <a:ext cx="10080000" cy="3240000"/>
          </a:xfrm>
        </p:spPr>
        <p:txBody>
          <a:bodyPr anchor="ctr"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6000" y="5400777"/>
            <a:ext cx="7199999" cy="1080000"/>
          </a:xfrm>
        </p:spPr>
        <p:txBody>
          <a:bodyPr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Студент-докладчик: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Научный</a:t>
            </a:r>
            <a:r>
              <a:rPr lang="ru-RU" sz="1800" b="1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к.ф.-м.н.,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Ершов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Кирилл</a:t>
            </a:r>
            <a:r>
              <a:rPr lang="ru-RU" sz="1800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-10" dirty="0">
                <a:latin typeface="Arial" panose="020B0604020202020204" pitchFamily="34" charset="0"/>
                <a:cs typeface="Arial" panose="020B0604020202020204" pitchFamily="34" charset="0"/>
              </a:rPr>
              <a:t>Сергеевич</a:t>
            </a:r>
            <a:endParaRPr lang="ru-RU" sz="1800" spc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Место прохождения практики: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14" dirty="0">
                <a:latin typeface="Arial" panose="020B0604020202020204" pitchFamily="34" charset="0"/>
                <a:cs typeface="Arial" panose="020B0604020202020204" pitchFamily="34" charset="0"/>
              </a:rPr>
              <a:t>ИХКГ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00" dirty="0"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РАН,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гр.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МФД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D7DB3E-4D79-4BCE-8DDF-AB7D32D5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0" y="5220777"/>
            <a:ext cx="1440000" cy="144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0DEB3B-F703-4C61-A16E-D462B64A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000" y="5250495"/>
            <a:ext cx="1440000" cy="144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4D14C4-706D-4DD3-92ED-E79DCDF9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506" y="167505"/>
            <a:ext cx="4189655" cy="216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F6F9C-D639-496B-AC30-03105982F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00" y="527505"/>
            <a:ext cx="47664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8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DD0CD33-5B12-4361-B112-626F92374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52" y="3462105"/>
            <a:ext cx="5038246" cy="2160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392D56-2DDB-4D1D-ACEA-CE649D9CD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992" y="3462105"/>
            <a:ext cx="5038246" cy="2160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Синглетный кислород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</p:spPr>
            <p:txBody>
              <a:bodyPr anchor="t">
                <a:normAutofit/>
              </a:bodyPr>
              <a:lstStyle/>
              <a:p>
                <a:pPr marL="0" indent="360000" algn="just" defTabSz="90000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Синглетный кислород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l-GR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𝑔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— это электронно-возбуждённая форма молекулы кислорода. Благодаря высокой химической активности он используется в фотодинамической терапии, фотокатализе, очистки воды или газа и т. д.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  <a:blipFill>
                <a:blip r:embed="rId4"/>
                <a:stretch>
                  <a:fillRect l="-1129" r="-11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AD5E5-4100-4F3E-8B74-9AA66118AED3}"/>
              </a:ext>
            </a:extLst>
          </p:cNvPr>
          <p:cNvSpPr txBox="1"/>
          <p:nvPr/>
        </p:nvSpPr>
        <p:spPr>
          <a:xfrm>
            <a:off x="695998" y="5622105"/>
            <a:ext cx="504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Образование синглетного кислорода из </a:t>
            </a:r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столкновительных</a:t>
            </a: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 комплексов молекул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A2BC9B-4BBA-4DA0-9279-39BE280DFA12}"/>
              </a:ext>
            </a:extLst>
          </p:cNvPr>
          <p:cNvSpPr txBox="1"/>
          <p:nvPr/>
        </p:nvSpPr>
        <p:spPr>
          <a:xfrm>
            <a:off x="6455996" y="5622105"/>
            <a:ext cx="504000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Схема образования синглетного кислорода</a:t>
            </a:r>
          </a:p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при облучении оксида титана</a:t>
            </a:r>
          </a:p>
        </p:txBody>
      </p:sp>
    </p:spTree>
    <p:extLst>
      <p:ext uri="{BB962C8B-B14F-4D97-AF65-F5344CB8AC3E}">
        <p14:creationId xmlns:p14="http://schemas.microsoft.com/office/powerpoint/2010/main" val="1529686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Метод интегрирования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</p:spPr>
            <p:txBody>
              <a:bodyPr anchor="t"/>
              <a:lstStyle/>
              <a:p>
                <a:pPr marL="0" marR="0" lvl="0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Метод трапеция: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marR="0" lvl="0" indent="-180000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Основная формула:</a:t>
                </a:r>
              </a:p>
              <a:p>
                <a:pPr marL="0" marR="0" lvl="0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 defTabSz="900000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Формула для вычисления чистого сигнала: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1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𝑐𝑙𝑛</m:t>
                          </m:r>
                        </m:sub>
                      </m:sSub>
                      <m:d>
                        <m:d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𝑏𝑘𝑔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ru-R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  <a:blipFill>
                <a:blip r:embed="rId2"/>
                <a:stretch>
                  <a:fillRect l="-1016" t="-1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6D80A7-4865-447E-9788-34E511A9D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59" y="3708000"/>
            <a:ext cx="5810441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541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Метод аппроксимации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</p:spPr>
            <p:txBody>
              <a:bodyPr anchor="t">
                <a:noAutofit/>
              </a:bodyPr>
              <a:lstStyle/>
              <a:p>
                <a:pPr marL="0" marR="0" lvl="0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ru-RU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Биэкспоненциальная</a:t>
                </a: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 модель: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marR="0" lvl="0" indent="-180000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Основная формула:</a:t>
                </a:r>
              </a:p>
              <a:p>
                <a:pPr marL="0" marR="0" lvl="0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𝐴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80000" indent="-180000" defTabSz="900000">
                  <a:lnSpc>
                    <a:spcPct val="100000"/>
                  </a:lnSpc>
                  <a:spcBef>
                    <a:spcPts val="0"/>
                  </a:spcBef>
                  <a:defRPr/>
                </a:pPr>
                <a:r>
                  <a:rPr lang="ru-RU" dirty="0">
                    <a:latin typeface="Arial" panose="020B0604020202020204" pitchFamily="34" charset="0"/>
                    <a:cs typeface="Arial" panose="020B0604020202020204" pitchFamily="34" charset="0"/>
                  </a:rPr>
                  <a:t>Система для смещения на время отклика: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marR="0" lvl="1" indent="360000" algn="just" defTabSz="900000" fontAlgn="auto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,                       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F52EC69-9860-45E6-9E44-C311D1C19D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6000" y="885670"/>
                <a:ext cx="10800000" cy="5760000"/>
              </a:xfrm>
              <a:blipFill>
                <a:blip r:embed="rId2"/>
                <a:stretch>
                  <a:fillRect l="-1016" t="-10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C6582F-40D3-462C-8776-2992C2043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59" y="3708000"/>
            <a:ext cx="5810441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39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Менеджер драйверов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85670"/>
            <a:ext cx="5400000" cy="5760000"/>
          </a:xfrm>
        </p:spPr>
        <p:txBody>
          <a:bodyPr anchor="ctr">
            <a:normAutofit/>
          </a:bodyPr>
          <a:lstStyle/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Возможности: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Отображение статуса драйверов каждого устройства.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Полная установка и удаление всех драйверов.</a:t>
            </a: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Выборочная установка и удаление конкретного драйвера.</a:t>
            </a:r>
          </a:p>
          <a:p>
            <a:pPr marL="0" indent="360000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Компоненты: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Инструкция установки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.inf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Ядро драйвера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.sys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 defTabSz="900000">
              <a:lnSpc>
                <a:spcPct val="10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Цифровая подпись (.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63280F-AE9C-49B4-BC23-93627404C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885670"/>
            <a:ext cx="4986960" cy="5218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028580-3FF6-481B-83D7-6370F3485EC8}"/>
              </a:ext>
            </a:extLst>
          </p:cNvPr>
          <p:cNvSpPr txBox="1"/>
          <p:nvPr/>
        </p:nvSpPr>
        <p:spPr>
          <a:xfrm>
            <a:off x="696000" y="6104298"/>
            <a:ext cx="4986960" cy="5400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Графический интерфейс</a:t>
            </a:r>
          </a:p>
          <a:p>
            <a:pPr algn="ctr"/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</a:rPr>
              <a:t>модуля установки драйверов</a:t>
            </a:r>
          </a:p>
        </p:txBody>
      </p:sp>
    </p:spTree>
    <p:extLst>
      <p:ext uri="{BB962C8B-B14F-4D97-AF65-F5344CB8AC3E}">
        <p14:creationId xmlns:p14="http://schemas.microsoft.com/office/powerpoint/2010/main" val="4209579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Сниффер</a:t>
            </a: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 трафика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885670"/>
            <a:ext cx="10800000" cy="5760000"/>
          </a:xfrm>
        </p:spPr>
        <p:txBody>
          <a:bodyPr anchor="ctr">
            <a:normAutofit lnSpcReduction="10000"/>
          </a:bodyPr>
          <a:lstStyle/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Сниффер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— программа или устройство для перехвата и анализа трафика между компьютером и оборудованием с целью изучения протокола обмена данными.</a:t>
            </a:r>
          </a:p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Назначение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Производитель не предоставляет открытый API или SDK.</a:t>
            </a: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Неизвестен протокол обмена командами.</a:t>
            </a: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Необходимо понять, какие команды отправляются устройству.</a:t>
            </a:r>
          </a:p>
          <a:p>
            <a:pPr marL="0" indent="360000" algn="just" defTabSz="900000"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Типы:</a:t>
            </a:r>
          </a:p>
          <a:p>
            <a:pPr marL="180000" indent="-180000" defTabSz="900000">
              <a:lnSpc>
                <a:spcPct val="13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Программный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WireShark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— перехват пакетов на уровне операционной системы.</a:t>
            </a:r>
          </a:p>
          <a:p>
            <a:pPr marL="180000" indent="-180000" defTabSz="900000">
              <a:lnSpc>
                <a:spcPct val="13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Аппаратный (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) — физическое подключение между компьютером и устройством.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66039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75D28-21D8-46FA-B239-E307DEF5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000" y="171812"/>
            <a:ext cx="10800000" cy="720000"/>
          </a:xfrm>
        </p:spPr>
        <p:txBody>
          <a:bodyPr/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Программный комплект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2EC69-9860-45E6-9E44-C311D1C1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99" y="885670"/>
            <a:ext cx="6301605" cy="5760000"/>
          </a:xfrm>
        </p:spPr>
        <p:txBody>
          <a:bodyPr anchor="ctr">
            <a:normAutofit/>
          </a:bodyPr>
          <a:lstStyle/>
          <a:p>
            <a:pPr marL="0" indent="360000" algn="ctr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SDK (Software Development Kit)</a:t>
            </a:r>
          </a:p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Набор инструментов разработки, предоставляемый производителем оборудования.</a:t>
            </a:r>
          </a:p>
          <a:p>
            <a:pPr marL="0" indent="360000" algn="just" defTabSz="90000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Преимущества: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Не требуется реверс-инжиниринг протокола.</a:t>
            </a: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Доступ ко всем функциям устройства.</a:t>
            </a:r>
          </a:p>
          <a:p>
            <a:pPr marL="180000" indent="-180000" defTabSz="900000">
              <a:lnSpc>
                <a:spcPct val="120000"/>
              </a:lnSpc>
              <a:spcBef>
                <a:spcPts val="0"/>
              </a:spcBef>
            </a:pP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Официальная поддержка производителя.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94746-1B6D-4DB2-99FA-AA61470CBBCA}"/>
              </a:ext>
            </a:extLst>
          </p:cNvPr>
          <p:cNvSpPr txBox="1"/>
          <p:nvPr/>
        </p:nvSpPr>
        <p:spPr>
          <a:xfrm>
            <a:off x="11652000" y="6318000"/>
            <a:ext cx="540000" cy="54000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EEF67A-0473-4DDB-A045-EBCF0BB6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605" y="1968741"/>
            <a:ext cx="449839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93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9E791-085C-4CDA-8F96-C54D1FA07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6000" y="2010495"/>
            <a:ext cx="10080000" cy="3240000"/>
          </a:xfrm>
        </p:spPr>
        <p:txBody>
          <a:bodyPr anchor="ctr">
            <a:normAutofit/>
          </a:bodyPr>
          <a:lstStyle/>
          <a:p>
            <a:r>
              <a:rPr lang="ru-RU" sz="3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программного обеспечения для автоматизированного проведения экспериментов по изучению механизмов генерации синглетного кислорода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8345CE-A702-49C0-BBBD-34AF53801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6000" y="5400777"/>
            <a:ext cx="7199999" cy="1080000"/>
          </a:xfrm>
        </p:spPr>
        <p:txBody>
          <a:bodyPr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Студент-докладчик: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 Климов Богдан Алексеевич, гр. 22357</a:t>
            </a: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Научный</a:t>
            </a:r>
            <a:r>
              <a:rPr lang="ru-RU" sz="1800" b="1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руководитель: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к.ф.-м.н.,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Ершов</a:t>
            </a:r>
            <a:r>
              <a:rPr lang="ru-RU" sz="1800" spc="3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Кирилл</a:t>
            </a:r>
            <a:r>
              <a:rPr lang="ru-RU" sz="1800" spc="3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-10" dirty="0">
                <a:latin typeface="Arial" panose="020B0604020202020204" pitchFamily="34" charset="0"/>
                <a:cs typeface="Arial" panose="020B0604020202020204" pitchFamily="34" charset="0"/>
              </a:rPr>
              <a:t>Сергеевич</a:t>
            </a:r>
            <a:endParaRPr lang="ru-RU" sz="1800" spc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ru-RU" sz="1800" b="1" dirty="0">
                <a:latin typeface="Arial" panose="020B0604020202020204" pitchFamily="34" charset="0"/>
                <a:cs typeface="Arial" panose="020B0604020202020204" pitchFamily="34" charset="0"/>
              </a:rPr>
              <a:t>Место прохождения практики: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14" dirty="0">
                <a:latin typeface="Arial" panose="020B0604020202020204" pitchFamily="34" charset="0"/>
                <a:cs typeface="Arial" panose="020B0604020202020204" pitchFamily="34" charset="0"/>
              </a:rPr>
              <a:t>ИХКГ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100" dirty="0"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РАН,</a:t>
            </a:r>
            <a:r>
              <a:rPr lang="ru-RU" sz="180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гр.</a:t>
            </a:r>
            <a:r>
              <a:rPr lang="ru-RU" sz="180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800" spc="65" dirty="0">
                <a:latin typeface="Arial" panose="020B0604020202020204" pitchFamily="34" charset="0"/>
                <a:cs typeface="Arial" panose="020B0604020202020204" pitchFamily="34" charset="0"/>
              </a:rPr>
              <a:t>МФД</a:t>
            </a:r>
            <a:endParaRPr lang="ru-R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D7DB3E-4D79-4BCE-8DDF-AB7D32D5A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0" y="5220777"/>
            <a:ext cx="1440000" cy="144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00DEB3B-F703-4C61-A16E-D462B64A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000" y="5250495"/>
            <a:ext cx="1440000" cy="1440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4D14C4-706D-4DD3-92ED-E79DCDF9F3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506" y="167505"/>
            <a:ext cx="4189655" cy="2160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BF6F9C-D639-496B-AC30-03105982F3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000" y="527505"/>
            <a:ext cx="47664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441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2949</TotalTime>
  <Words>942</Words>
  <Application>Microsoft Office PowerPoint</Application>
  <PresentationFormat>Широкоэкранный</PresentationFormat>
  <Paragraphs>162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Тема Office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  <vt:lpstr>Область исследования</vt:lpstr>
      <vt:lpstr>Актуальность работы</vt:lpstr>
      <vt:lpstr>Цель работы</vt:lpstr>
      <vt:lpstr>Основные задачи</vt:lpstr>
      <vt:lpstr>Структура комплекса</vt:lpstr>
      <vt:lpstr>Модуль монохроматора</vt:lpstr>
      <vt:lpstr>Модуль лазера</vt:lpstr>
      <vt:lpstr>Модуль осциллографа</vt:lpstr>
      <vt:lpstr>Модуль измерителя энергии</vt:lpstr>
      <vt:lpstr>Модуль интерфейса</vt:lpstr>
      <vt:lpstr>Проведение тестирования</vt:lpstr>
      <vt:lpstr>Полученные результаты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  <vt:lpstr>Синглетный кислород</vt:lpstr>
      <vt:lpstr>Метод интегрирования</vt:lpstr>
      <vt:lpstr>Метод аппроксимации</vt:lpstr>
      <vt:lpstr>Менеджер драйверов</vt:lpstr>
      <vt:lpstr>Сниффер трафика</vt:lpstr>
      <vt:lpstr>Программный комплект</vt:lpstr>
      <vt:lpstr>Разработка программного обеспечения для автоматизированного проведения экспериментов по изучению механизмов генерации синглетного кислорода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программного обеспечения для автоматизированного проведения экспериментов по изучению механизмов генерации синглетного кислорода</dc:title>
  <dc:creator>Bogdan Klimov</dc:creator>
  <cp:lastModifiedBy>Bogdan Klimov</cp:lastModifiedBy>
  <cp:revision>205</cp:revision>
  <dcterms:created xsi:type="dcterms:W3CDTF">2025-12-16T05:41:17Z</dcterms:created>
  <dcterms:modified xsi:type="dcterms:W3CDTF">2026-06-06T09:40:11Z</dcterms:modified>
</cp:coreProperties>
</file>