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3"/>
  </p:notesMasterIdLst>
  <p:sldIdLst>
    <p:sldId id="267" r:id="rId2"/>
    <p:sldId id="257" r:id="rId3"/>
    <p:sldId id="282" r:id="rId4"/>
    <p:sldId id="283" r:id="rId5"/>
    <p:sldId id="284" r:id="rId6"/>
    <p:sldId id="285" r:id="rId7"/>
    <p:sldId id="290" r:id="rId8"/>
    <p:sldId id="312" r:id="rId9"/>
    <p:sldId id="291" r:id="rId10"/>
    <p:sldId id="292" r:id="rId11"/>
    <p:sldId id="288" r:id="rId12"/>
    <p:sldId id="308" r:id="rId13"/>
    <p:sldId id="289" r:id="rId14"/>
    <p:sldId id="310" r:id="rId15"/>
    <p:sldId id="293" r:id="rId16"/>
    <p:sldId id="295" r:id="rId17"/>
    <p:sldId id="296" r:id="rId18"/>
    <p:sldId id="286" r:id="rId19"/>
    <p:sldId id="299" r:id="rId20"/>
    <p:sldId id="309" r:id="rId21"/>
    <p:sldId id="311" r:id="rId22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Bogdan Klimov" initials="BK" lastIdx="1" clrIdx="0">
    <p:extLst>
      <p:ext uri="{19B8F6BF-5375-455C-9EA6-DF929625EA0E}">
        <p15:presenceInfo xmlns:p15="http://schemas.microsoft.com/office/powerpoint/2012/main" userId="f37532ac853aedfb" providerId="Windows Liv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Средний стиль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63DAE2EF-8CFD-4C6E-A825-101910D94582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7776695-BF89-4ABE-B636-B11F750137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912249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0DE38DD-B485-45BD-AF6B-246E9A8CD05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CD167421-9F64-45AA-8C55-07A96EB9B0A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6FE1E794-82D3-471C-AC9B-3B17A5CCFEE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47E12BF7-A961-44FB-B9D3-D7EF8554D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9843FFC-C68B-47A1-8296-154DB3F428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8410962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D9107AFC-401A-4A4A-8221-5A00CB34956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3318472-A46A-44F1-82C1-31C4BF74DAD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A2766AFD-F623-46EF-98A4-5A9CFDD1B6A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019AD00-8B3E-4B6F-BB4F-3174FE44D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121E5B9-35E2-4F96-97D8-604BD9E487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524097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4FD5BC43-6DF5-4C5D-A24E-EF639743E1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D8D774D7-C471-4BBE-90FA-855CF73584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BCEDB28-0D5F-4BCF-BE20-5EEB327C84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D4F70DDC-AB2F-4866-85C9-D5620F3FA4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FC24C878-14F7-4529-8B25-8C2EA01988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3917278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1F81399-F7A5-40DB-A294-92531CBD07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89E02C6-88F1-4BE7-BF06-A8D83300831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FA07C207-8664-4379-9EF3-A0A3931D4C7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A04CD243-837C-49D8-BEE1-91ACC672BA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2E419B6C-A51C-4429-95FC-3008D4FC5FC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6789D59-1875-4ABA-A7A7-BAAF682F00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874849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B666D48-841C-4778-906E-64596CC0032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43A0A8E8-0420-43E7-A96A-47D647316CE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0C9AF56-3587-4EA5-B695-5E86E35A6E4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137CF366-3AC5-450C-AE6E-7ADB032B0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0F42913D-480C-4A44-9256-ABAC9C69A7C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7676AFBE-44D2-41D2-9537-60F8BBA81B1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AAA6592E-F9C4-46A2-9F22-84DDD6F21D3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1E1ABB0B-5C75-4F8C-AC3B-A5A1547C42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83674269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CA9DFEC-2AC6-4692-8BE2-B2AFC42581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8F09579B-BEC3-453C-B346-E67D49D172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22E92755-A2AA-464F-B6C2-0D111F14E60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12FC87BA-2D11-4516-9F11-4C0431DAE8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80233428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B232417D-4FA2-4894-A1F7-E88D99F055F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92E8C622-28A2-4BED-A697-0DFC0D2CD4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52F37DEE-7DAC-451E-9B0C-DAE304245A4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185008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F394974-6247-4DB9-90BD-B89342DD54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47BC104-AD9B-4CF2-9296-AF3889DB202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AA4EB78F-E2DC-4488-A98D-E31E1DB3F57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210B1F81-C3EC-459A-8113-8B22D4096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BF45122B-4DE1-45AA-AE72-7D7D84C22C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9F4B014D-EA55-42F9-A940-E5B2D98A0A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98238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1D587A11-492C-40E0-B45B-383EBDEB53C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7755B36E-E810-488D-B035-A1D652BEFEF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88407065-BB5B-4F4A-A2A2-1A944BF09F8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9AB5FC58-FE33-4FD6-8354-B2892222CE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A2994B10-D2D3-46B9-969E-672CE0B15A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7CA6B2BC-F0DA-4FE6-9C82-7EF74C8E845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37679662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F111489-965D-4D38-BACB-F21669E35A0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E8C8DD04-4E29-49DF-BB9A-478E90F1CCD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BF598401-5981-4DF8-BE47-A32D16B36A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2798CEA-4BA9-4177-9079-DED39AEDB7A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557268CB-1D5D-4CF8-AA80-A14F22B96A2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73221661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2E16E5E7-A4F2-4A1B-B4F9-AC20F555291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7C447BDE-2EB5-426D-B8D1-E726EEC8E1A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2647C0-57BC-478A-88F1-459C092DF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EBD5A7C8-9514-46D5-A5B8-BDFA88F0B1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19E341C-FCBC-44D6-BD75-3C87199E17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7963732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50A0EE9F-DB49-496F-85E1-8D475E7075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971459-0701-4F30-B8C9-22EE571ABB3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4DD10163-FA5C-4AFC-94E4-3BD6BA709E61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EA0B553-31EF-4B1D-9EAB-410AD6CA89D0}" type="datetimeFigureOut">
              <a:rPr lang="ru-RU" smtClean="0"/>
              <a:t>31.05.2026</a:t>
            </a:fld>
            <a:endParaRPr lang="ru-RU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20F9B26-2864-4043-BE8C-C055582BBC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41ACAA84-8D25-4FE2-A9C2-B0A371C822E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FEA683-26E4-4C1E-8F89-2E8F03744260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1159901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00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942556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Область исследования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Автоматизация экспериментальных исследований в физической химии и спектроскопии, включая управление оборудованием, сбор данных и обработку сигналов для получения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84CF8F1-FF84-495B-A4FD-77741A2C29C3}"/>
              </a:ext>
            </a:extLst>
          </p:cNvPr>
          <p:cNvSpPr txBox="1"/>
          <p:nvPr/>
        </p:nvSpPr>
        <p:spPr>
          <a:xfrm>
            <a:off x="3216000" y="6432218"/>
            <a:ext cx="5760000" cy="307777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Примеры спектров люминесценции синглетного кислорода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BC579026-C94F-494B-9C11-2BBB70B9E25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576000" y="2627266"/>
            <a:ext cx="5040000" cy="3807070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/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noFill/>
            </p:spPr>
            <p:txBody>
              <a:bodyPr wrap="square" rtlCol="0" anchor="ctr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 фотолюминофор.</a:t>
                </a: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тетрахлорметан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диоксид титана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–</a:t>
                </a:r>
                <a:r>
                  <a:rPr lang="en-US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</a:t>
                </a:r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вода.</a:t>
                </a: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endParaRPr lang="ru-RU" sz="1400" b="1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а)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б)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𝑷𝑯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в) </a:t>
                </a:r>
                <a14:m>
                  <m:oMath xmlns:m="http://schemas.openxmlformats.org/officeDocument/2006/math"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𝑪𝑪𝑰</m:t>
                        </m:r>
                      </m:e>
                      <m:sub>
                        <m:r>
                          <a:rPr lang="ru-RU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𝟒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  <a:p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г) </a:t>
                </a:r>
                <a14:m>
                  <m:oMath xmlns:m="http://schemas.openxmlformats.org/officeDocument/2006/math">
                    <m:r>
                      <a:rPr lang="en-US" sz="1400" b="1" i="1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𝑻𝒊</m:t>
                    </m:r>
                    <m:sSub>
                      <m:sSubPr>
                        <m:ctrlP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𝑶</m:t>
                        </m:r>
                      </m:e>
                      <m:sub>
                        <m:r>
                          <a:rPr lang="en-US" sz="1400" b="1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 на воздухе в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ru-RU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sSubPr>
                      <m:e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𝑯</m:t>
                        </m:r>
                      </m:e>
                      <m:sub>
                        <m:r>
                          <a:rPr lang="en-US" sz="1400" b="1" i="1" smtClean="0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  <m:t>𝟐</m:t>
                        </m:r>
                      </m:sub>
                    </m:sSub>
                    <m:r>
                      <a:rPr lang="en-US" sz="1400" b="1" i="1" smtClean="0">
                        <a:latin typeface="Cambria Math" panose="02040503050406030204" pitchFamily="18" charset="0"/>
                        <a:cs typeface="Arial" panose="020B0604020202020204" pitchFamily="34" charset="0"/>
                      </a:rPr>
                      <m:t>𝑶</m:t>
                    </m:r>
                  </m:oMath>
                </a14:m>
                <a:r>
                  <a:rPr lang="ru-RU" sz="1400" b="1" dirty="0">
                    <a:latin typeface="Arial" panose="020B0604020202020204" pitchFamily="34" charset="0"/>
                    <a:cs typeface="Arial" panose="020B0604020202020204" pitchFamily="34" charset="0"/>
                  </a:rPr>
                  <a:t>.</a:t>
                </a:r>
              </a:p>
            </p:txBody>
          </p:sp>
        </mc:Choice>
        <mc:Fallback xmlns="">
          <p:sp>
            <p:nvSpPr>
              <p:cNvPr id="14" name="TextBox 13">
                <a:extLst>
                  <a:ext uri="{FF2B5EF4-FFF2-40B4-BE49-F238E27FC236}">
                    <a16:creationId xmlns:a16="http://schemas.microsoft.com/office/drawing/2014/main" id="{E4247CD2-773E-4EF9-9C5A-2BD417B72FC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616000" y="3270801"/>
                <a:ext cx="2880000" cy="2520000"/>
              </a:xfrm>
              <a:prstGeom prst="rect">
                <a:avLst/>
              </a:prstGeom>
              <a:blipFill>
                <a:blip r:embed="rId3"/>
                <a:stretch>
                  <a:fillRect l="-634" b="-96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6" name="TextBox 15">
            <a:extLst>
              <a:ext uri="{FF2B5EF4-FFF2-40B4-BE49-F238E27FC236}">
                <a16:creationId xmlns:a16="http://schemas.microsoft.com/office/drawing/2014/main" id="{8059EBCB-FA51-4163-A991-46F2DB0D3A96}"/>
              </a:ext>
            </a:extLst>
          </p:cNvPr>
          <p:cNvSpPr txBox="1"/>
          <p:nvPr/>
        </p:nvSpPr>
        <p:spPr>
          <a:xfrm>
            <a:off x="696000" y="3810801"/>
            <a:ext cx="2880000" cy="14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Источник:</a:t>
            </a:r>
          </a:p>
          <a:p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da-DK" sz="1400" b="1" dirty="0">
                <a:latin typeface="Arial" panose="020B0604020202020204" pitchFamily="34" charset="0"/>
                <a:cs typeface="Arial" panose="020B0604020202020204" pitchFamily="34" charset="0"/>
              </a:rPr>
              <a:t>Demyanenko A. V., Bogomolov A. S., Dozmorov N. V. et al.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,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The Journal of Physical Chemistry </a:t>
            </a:r>
            <a:r>
              <a:rPr lang="fr-FR" sz="1400" b="1" dirty="0">
                <a:latin typeface="Arial" panose="020B0604020202020204" pitchFamily="34" charset="0"/>
                <a:cs typeface="Arial" panose="020B0604020202020204" pitchFamily="34" charset="0"/>
              </a:rPr>
              <a:t>C, 2019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43321022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Актуальность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Длительный ручной сбор и обработка данных с измерительного оборудования.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Необходимость постоянного присутствия исследователя в эксперименте.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Невозможность измерений при быстром 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фоторазложении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активирующего вещества.</a:t>
            </a: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0" defTabSz="900000">
              <a:lnSpc>
                <a:spcPct val="100000"/>
              </a:lnSpc>
              <a:spcBef>
                <a:spcPts val="0"/>
              </a:spcBef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Таким образом, существует необходимость создания автоматизированной системы синхронного управления приборами и обработки данных.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3</a:t>
            </a:r>
          </a:p>
        </p:txBody>
      </p:sp>
    </p:spTree>
    <p:extLst>
      <p:ext uri="{BB962C8B-B14F-4D97-AF65-F5344CB8AC3E}">
        <p14:creationId xmlns:p14="http://schemas.microsoft.com/office/powerpoint/2010/main" val="18457526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9A0E241C-7FD9-4CE2-8489-05758E2831E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60117" y="1965670"/>
            <a:ext cx="8671766" cy="468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Цель</a:t>
            </a:r>
            <a:r>
              <a:rPr lang="en-US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работы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Разработать программное обеспечение для автоматизации эксперимента по регистрации спектров люминесценции синглетного кислорода.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4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34459A20-7E7A-482F-8560-A5BECDBD08E1}"/>
              </a:ext>
            </a:extLst>
          </p:cNvPr>
          <p:cNvSpPr txBox="1"/>
          <p:nvPr/>
        </p:nvSpPr>
        <p:spPr>
          <a:xfrm>
            <a:off x="1760117" y="6228000"/>
            <a:ext cx="8671766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экспериментальной установки</a:t>
            </a:r>
          </a:p>
        </p:txBody>
      </p:sp>
    </p:spTree>
    <p:extLst>
      <p:ext uri="{BB962C8B-B14F-4D97-AF65-F5344CB8AC3E}">
        <p14:creationId xmlns:p14="http://schemas.microsoft.com/office/powerpoint/2010/main" val="340559180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Основные задачи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модулей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Разработка удобного графического интерфейса для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Реализация модуля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 программного обеспечения в условиях реального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5</a:t>
            </a:r>
          </a:p>
        </p:txBody>
      </p:sp>
    </p:spTree>
    <p:extLst>
      <p:ext uri="{BB962C8B-B14F-4D97-AF65-F5344CB8AC3E}">
        <p14:creationId xmlns:p14="http://schemas.microsoft.com/office/powerpoint/2010/main" val="17521258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" name="Рисунок 21">
            <a:extLst>
              <a:ext uri="{FF2B5EF4-FFF2-40B4-BE49-F238E27FC236}">
                <a16:creationId xmlns:a16="http://schemas.microsoft.com/office/drawing/2014/main" id="{4F325F66-609E-44C9-AF7E-1BF2058359B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87436" y="1161812"/>
            <a:ext cx="5400000" cy="4957715"/>
          </a:xfrm>
          <a:prstGeom prst="rect">
            <a:avLst/>
          </a:prstGeom>
        </p:spPr>
      </p:pic>
      <p:pic>
        <p:nvPicPr>
          <p:cNvPr id="20" name="Рисунок 19">
            <a:extLst>
              <a:ext uri="{FF2B5EF4-FFF2-40B4-BE49-F238E27FC236}">
                <a16:creationId xmlns:a16="http://schemas.microsoft.com/office/drawing/2014/main" id="{95EC1B53-2158-4331-8EEF-5FE94A372D24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63267" y="3915388"/>
            <a:ext cx="2032941" cy="1440000"/>
          </a:xfrm>
          <a:prstGeom prst="rect">
            <a:avLst/>
          </a:prstGeom>
        </p:spPr>
      </p:pic>
      <p:pic>
        <p:nvPicPr>
          <p:cNvPr id="18" name="Рисунок 17">
            <a:extLst>
              <a:ext uri="{FF2B5EF4-FFF2-40B4-BE49-F238E27FC236}">
                <a16:creationId xmlns:a16="http://schemas.microsoft.com/office/drawing/2014/main" id="{E21F8909-0857-4899-9673-1BCE500EB7B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7116" y="1477370"/>
            <a:ext cx="2032941" cy="1440000"/>
          </a:xfrm>
          <a:prstGeom prst="rect">
            <a:avLst/>
          </a:prstGeom>
        </p:spPr>
      </p:pic>
      <p:pic>
        <p:nvPicPr>
          <p:cNvPr id="16" name="Рисунок 15">
            <a:extLst>
              <a:ext uri="{FF2B5EF4-FFF2-40B4-BE49-F238E27FC236}">
                <a16:creationId xmlns:a16="http://schemas.microsoft.com/office/drawing/2014/main" id="{28C07877-9B36-46FD-B978-19BFBDF5201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7114" y="1477370"/>
            <a:ext cx="2032941" cy="1440000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32988E5-AD51-47C0-A05E-745991F30C91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83267" y="3915388"/>
            <a:ext cx="2032941" cy="144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Структура комплекса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743906" y="6357167"/>
            <a:ext cx="356188" cy="461665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6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A1DE086-8D27-434E-973E-018DBD5032BA}"/>
              </a:ext>
            </a:extLst>
          </p:cNvPr>
          <p:cNvSpPr txBox="1"/>
          <p:nvPr/>
        </p:nvSpPr>
        <p:spPr>
          <a:xfrm>
            <a:off x="25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Монохроматор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M266-IV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(Solar Laser Systems)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4653F77-9280-4CFA-8CD3-4F6B3838F261}"/>
              </a:ext>
            </a:extLst>
          </p:cNvPr>
          <p:cNvSpPr txBox="1"/>
          <p:nvPr/>
        </p:nvSpPr>
        <p:spPr>
          <a:xfrm>
            <a:off x="3139738" y="2917370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Лазер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LS-2145-OPO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(OPO,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Lotis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Tii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 2145)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B43E0EFA-719F-401A-BB78-D3EBD34661AB}"/>
              </a:ext>
            </a:extLst>
          </p:cNvPr>
          <p:cNvSpPr txBox="1"/>
          <p:nvPr/>
        </p:nvSpPr>
        <p:spPr>
          <a:xfrm>
            <a:off x="259738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Осциллограф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MSOX2024A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(Keysight)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CF0DFE-25D6-4787-8E10-7152A79BAAE9}"/>
              </a:ext>
            </a:extLst>
          </p:cNvPr>
          <p:cNvSpPr txBox="1"/>
          <p:nvPr/>
        </p:nvSpPr>
        <p:spPr>
          <a:xfrm>
            <a:off x="3173587" y="5355388"/>
            <a:ext cx="288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Энергометр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QE25SP-S-MT-D0</a:t>
            </a:r>
          </a:p>
          <a:p>
            <a:pPr algn="ctr"/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(</a:t>
            </a:r>
            <a:r>
              <a:rPr lang="en-US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Gentec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-EO)</a:t>
            </a:r>
            <a:endParaRPr lang="ru-RU" sz="1400" b="1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7BB9CEB7-B809-42BB-885A-96342E058AED}"/>
              </a:ext>
            </a:extLst>
          </p:cNvPr>
          <p:cNvSpPr txBox="1"/>
          <p:nvPr/>
        </p:nvSpPr>
        <p:spPr>
          <a:xfrm>
            <a:off x="6987436" y="6119527"/>
            <a:ext cx="360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программного обеспечения</a:t>
            </a:r>
          </a:p>
        </p:txBody>
      </p:sp>
    </p:spTree>
    <p:extLst>
      <p:ext uri="{BB962C8B-B14F-4D97-AF65-F5344CB8AC3E}">
        <p14:creationId xmlns:p14="http://schemas.microsoft.com/office/powerpoint/2010/main" val="29373746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монохроматора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Задача: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Создание библиотеки для управления монохроматором.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Реализация: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Работа через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USB-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порт.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драйвера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Cypress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CYUSB.</a:t>
            </a: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Использование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SDK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от производителя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  <a:endParaRPr kumimoji="0" lang="ru-RU" sz="2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180000" marR="0" lvl="0" indent="-18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Реализация обёртки для 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Python 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через </a:t>
            </a:r>
            <a:r>
              <a:rPr kumimoji="0" lang="en-US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en-US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  <a:p>
            <a:pPr marL="0" marR="0" lvl="0" indent="360000" algn="l" defTabSz="9000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None/>
              <a:tabLst/>
              <a:defRPr/>
            </a:pPr>
            <a:r>
              <a:rPr kumimoji="0" lang="ru-RU" sz="28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Результат: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Библиотека работает через USB с использованием драйвера, SDK и обёртки </a:t>
            </a:r>
            <a:r>
              <a:rPr kumimoji="0" lang="ru-RU" sz="2800" b="0" i="0" u="none" strike="noStrike" kern="1200" cap="none" spc="0" normalizeH="0" baseline="0" noProof="0" dirty="0" err="1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ctypes</a:t>
            </a:r>
            <a:r>
              <a:rPr kumimoji="0" lang="ru-RU" sz="28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7</a:t>
            </a:r>
          </a:p>
        </p:txBody>
      </p:sp>
    </p:spTree>
    <p:extLst>
      <p:ext uri="{BB962C8B-B14F-4D97-AF65-F5344CB8AC3E}">
        <p14:creationId xmlns:p14="http://schemas.microsoft.com/office/powerpoint/2010/main" val="182155647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лазера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лазером.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Протокол на основе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кодов.</a:t>
            </a:r>
            <a:endParaRPr lang="en-US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(Prolific)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 использованием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кодов для управления.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8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8333AF4E-08D6-43F3-81A2-85B7D993EEA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57428" y="4618647"/>
            <a:ext cx="4320000" cy="1800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FCC806F3-9A79-4932-8E60-B973B01DC4E6}"/>
              </a:ext>
            </a:extLst>
          </p:cNvPr>
          <p:cNvSpPr txBox="1"/>
          <p:nvPr/>
        </p:nvSpPr>
        <p:spPr>
          <a:xfrm>
            <a:off x="7310599" y="6238647"/>
            <a:ext cx="3123973" cy="36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 команды </a:t>
            </a:r>
            <a:r>
              <a:rPr 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G-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кода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2F20D65F-6794-4E25-8708-F2A4B7CDBD26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l="5694" t="-293" r="614" b="3563"/>
          <a:stretch/>
        </p:blipFill>
        <p:spPr>
          <a:xfrm>
            <a:off x="7254001" y="4072425"/>
            <a:ext cx="3240882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874286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осциллографа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осциллографом.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-порт.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драйвера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USBTMC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SCPI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USB-порт с использованием встроенного в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Windows 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драйвера USBTMC и протокола SCPI для измерительных приборов.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9</a:t>
            </a:r>
          </a:p>
        </p:txBody>
      </p:sp>
    </p:spTree>
    <p:extLst>
      <p:ext uri="{BB962C8B-B14F-4D97-AF65-F5344CB8AC3E}">
        <p14:creationId xmlns:p14="http://schemas.microsoft.com/office/powerpoint/2010/main" val="253296142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измерителя энергии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t"/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Задача: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Создание библиотеки для управления измерителем энергии.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Реализация: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Установка драйвера виртуального порта.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Работа через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COM-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порт.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Использование текстового протокола 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Text Mode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Результат: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Библиотека работает через драйвер виртуального COM-порта (FTDI) с использованием текстовых команд.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10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BCC19E46-1B34-4903-8E05-096B405E05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36000" y="4698000"/>
            <a:ext cx="4320000" cy="216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363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Модуль интерфейса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3798000"/>
            <a:ext cx="4671662" cy="284767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исходного сигнала с осциллографа.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Интерактивное задание границ интегрирования.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11</a:t>
            </a:r>
          </a:p>
        </p:txBody>
      </p:sp>
      <p:sp>
        <p:nvSpPr>
          <p:cNvPr id="9" name="Объект 2">
            <a:extLst>
              <a:ext uri="{FF2B5EF4-FFF2-40B4-BE49-F238E27FC236}">
                <a16:creationId xmlns:a16="http://schemas.microsoft.com/office/drawing/2014/main" id="{BD75478F-C26A-4E6B-A7BE-FC611CB69910}"/>
              </a:ext>
            </a:extLst>
          </p:cNvPr>
          <p:cNvSpPr txBox="1">
            <a:spLocks/>
          </p:cNvSpPr>
          <p:nvPr/>
        </p:nvSpPr>
        <p:spPr>
          <a:xfrm>
            <a:off x="5885192" y="926188"/>
            <a:ext cx="5688808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1" name="Объект 2">
            <a:extLst>
              <a:ext uri="{FF2B5EF4-FFF2-40B4-BE49-F238E27FC236}">
                <a16:creationId xmlns:a16="http://schemas.microsoft.com/office/drawing/2014/main" id="{E35D9D63-5E73-4BBC-8262-9BE9EB2C135A}"/>
              </a:ext>
            </a:extLst>
          </p:cNvPr>
          <p:cNvSpPr txBox="1">
            <a:spLocks/>
          </p:cNvSpPr>
          <p:nvPr/>
        </p:nvSpPr>
        <p:spPr>
          <a:xfrm>
            <a:off x="6902824" y="924142"/>
            <a:ext cx="4593174" cy="28394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360000" defTabSz="900000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Задание параметров эксперимента.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Запуск эксперимента.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D4E9957-6704-4E5C-B811-FE5FFE9B925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1084906"/>
            <a:ext cx="6128337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7BE00C48-EF10-473E-B4C2-1F73282BD4B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45662" y="3961835"/>
            <a:ext cx="6128338" cy="252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</p:spTree>
    <p:extLst>
      <p:ext uri="{BB962C8B-B14F-4D97-AF65-F5344CB8AC3E}">
        <p14:creationId xmlns:p14="http://schemas.microsoft.com/office/powerpoint/2010/main" val="6742212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DEBC1CDD-7217-4E77-B91C-6ADF56FF86F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52508" y="911781"/>
            <a:ext cx="9086981" cy="5400000"/>
          </a:xfrm>
          <a:prstGeom prst="rect">
            <a:avLst/>
          </a:prstGeom>
          <a:ln w="38100" cap="sq">
            <a:solidFill>
              <a:srgbClr val="000000"/>
            </a:solidFill>
            <a:prstDash val="solid"/>
            <a:miter lim="800000"/>
          </a:ln>
          <a:effectLst>
            <a:outerShdw blurRad="50800" dist="38100" dir="2700000" algn="tl" rotWithShape="0">
              <a:srgbClr val="000000">
                <a:alpha val="43000"/>
              </a:srgbClr>
            </a:outerShdw>
          </a:effectLst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Проведение тестирования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12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EF44FA1-7057-43C4-86C5-ADA361488DDC}"/>
              </a:ext>
            </a:extLst>
          </p:cNvPr>
          <p:cNvSpPr txBox="1"/>
          <p:nvPr/>
        </p:nvSpPr>
        <p:spPr>
          <a:xfrm>
            <a:off x="4300027" y="6311781"/>
            <a:ext cx="3591944" cy="307777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Пример зарегистрированного спектра</a:t>
            </a:r>
          </a:p>
        </p:txBody>
      </p:sp>
    </p:spTree>
    <p:extLst>
      <p:ext uri="{BB962C8B-B14F-4D97-AF65-F5344CB8AC3E}">
        <p14:creationId xmlns:p14="http://schemas.microsoft.com/office/powerpoint/2010/main" val="152777146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>
            <a:normAutofit/>
          </a:bodyPr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Полученные результаты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/>
          </a:bodyPr>
          <a:lstStyle/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Разработаны модули управления лазером, монохроматором, осциллографом и измерителем энергии.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Реализованы модули для построения спектра методами интегрирования и аппроксимации.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Разработан графический интерфейс для удобного управления экспериментом.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Реализован модуль автоматической калибровки оборудования по эталонным измерениям.</a:t>
            </a:r>
          </a:p>
          <a:p>
            <a:pPr marL="360000" indent="-360000" defTabSz="900000">
              <a:lnSpc>
                <a:spcPct val="100000"/>
              </a:lnSpc>
              <a:spcBef>
                <a:spcPts val="0"/>
              </a:spcBef>
              <a:buFont typeface="+mj-lt"/>
              <a:buAutoNum type="arabicPeriod"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Проведено успешное тестирование программного обеспечения в условиях реального эксперимента.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13</a:t>
            </a:r>
          </a:p>
        </p:txBody>
      </p:sp>
    </p:spTree>
    <p:extLst>
      <p:ext uri="{BB962C8B-B14F-4D97-AF65-F5344CB8AC3E}">
        <p14:creationId xmlns:p14="http://schemas.microsoft.com/office/powerpoint/2010/main" val="2204429815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498926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Рисунок 12">
            <a:extLst>
              <a:ext uri="{FF2B5EF4-FFF2-40B4-BE49-F238E27FC236}">
                <a16:creationId xmlns:a16="http://schemas.microsoft.com/office/drawing/2014/main" id="{ADD0CD33-5B12-4361-B112-626F92374A5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7752" y="3462105"/>
            <a:ext cx="5038246" cy="2160000"/>
          </a:xfrm>
          <a:prstGeom prst="rect">
            <a:avLst/>
          </a:prstGeom>
        </p:spPr>
      </p:pic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A3392D56-2DDB-4D1D-ACEA-CE649D9CD99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55992" y="3462105"/>
            <a:ext cx="5038246" cy="2160000"/>
          </a:xfrm>
          <a:prstGeom prst="rect">
            <a:avLst/>
          </a:prstGeom>
        </p:spPr>
      </p:pic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Синглетный кислород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rmAutofit/>
              </a:bodyPr>
              <a:lstStyle/>
              <a:p>
                <a:pPr marL="0" indent="360000" algn="just" defTabSz="90000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Синглетный кислород </a:t>
                </a:r>
                <a14:m>
                  <m:oMath xmlns:m="http://schemas.openxmlformats.org/officeDocument/2006/math">
                    <m:d>
                      <m:dPr>
                        <m:ctrlPr>
                          <a:rPr lang="ru-RU" i="1">
                            <a:latin typeface="Cambria Math" panose="02040503050406030204" pitchFamily="18" charset="0"/>
                            <a:cs typeface="Arial" panose="020B0604020202020204" pitchFamily="34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sSubPr>
                          <m:e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𝑂</m:t>
                            </m:r>
                          </m:e>
                          <m:sub>
                            <m:r>
                              <a:rPr lang="en-US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  <m:t>2</m:t>
                            </m:r>
                          </m:sub>
                        </m:sSub>
                        <m:d>
                          <m:dPr>
                            <m:ctrlPr>
                              <a:rPr lang="ru-RU" i="1">
                                <a:latin typeface="Cambria Math" panose="02040503050406030204" pitchFamily="18" charset="0"/>
                                <a:cs typeface="Arial" panose="020B0604020202020204" pitchFamily="34" charset="0"/>
                              </a:rPr>
                            </m:ctrlPr>
                          </m:dPr>
                          <m:e>
                            <m:sSup>
                              <m:sSup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pPr>
                              <m:e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1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ru-RU" i="1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</m:ctrlPr>
                              </m:sSubPr>
                              <m:e>
                                <m:r>
                                  <a:rPr lang="el-GR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𝛥</m:t>
                                </m:r>
                              </m:e>
                              <m:sub>
                                <m:r>
                                  <a:rPr lang="en-US">
                                    <a:latin typeface="Cambria Math" panose="02040503050406030204" pitchFamily="18" charset="0"/>
                                    <a:cs typeface="Arial" panose="020B0604020202020204" pitchFamily="34" charset="0"/>
                                  </a:rPr>
                                  <m:t>𝑔</m:t>
                                </m:r>
                              </m:sub>
                            </m:sSub>
                          </m:e>
                        </m:d>
                      </m:e>
                    </m:d>
                  </m:oMath>
                </a14:m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— это электронно-возбуждённая форма молекулы кислорода. Благодаря высокой химической активности он используется в фотодинамической терапии, фотокатализе, очистки воды или газа и т. д.</a:t>
                </a: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4"/>
                <a:stretch>
                  <a:fillRect l="-1129" r="-1129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15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6FAAD5E5-4100-4F3E-8B74-9AA66118AED3}"/>
              </a:ext>
            </a:extLst>
          </p:cNvPr>
          <p:cNvSpPr txBox="1"/>
          <p:nvPr/>
        </p:nvSpPr>
        <p:spPr>
          <a:xfrm>
            <a:off x="695998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Образование синглетного кислорода из </a:t>
            </a:r>
            <a:r>
              <a:rPr lang="ru-RU" sz="1400" b="1" dirty="0" err="1">
                <a:latin typeface="Arial" panose="020B0604020202020204" pitchFamily="34" charset="0"/>
                <a:cs typeface="Arial" panose="020B0604020202020204" pitchFamily="34" charset="0"/>
              </a:rPr>
              <a:t>столкновительных</a:t>
            </a:r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 комплексов молекул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C4A2BC9B-4BBA-4DA0-9279-39BE280DFA12}"/>
              </a:ext>
            </a:extLst>
          </p:cNvPr>
          <p:cNvSpPr txBox="1"/>
          <p:nvPr/>
        </p:nvSpPr>
        <p:spPr>
          <a:xfrm>
            <a:off x="6455996" y="5622105"/>
            <a:ext cx="504000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Схема образования синглетного кислорода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при облучении оксида титана</a:t>
            </a:r>
          </a:p>
        </p:txBody>
      </p:sp>
    </p:spTree>
    <p:extLst>
      <p:ext uri="{BB962C8B-B14F-4D97-AF65-F5344CB8AC3E}">
        <p14:creationId xmlns:p14="http://schemas.microsoft.com/office/powerpoint/2010/main" val="15296860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интегрирования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/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Метод трапеция: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𝐹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=1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  <m:e>
                          <m:f>
                            <m:f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fPr>
                            <m:num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∙</m:t>
                              </m:r>
                              <m:d>
                                <m:d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+1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  <m:r>
                                    <a:rPr lang="ru-RU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𝑓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𝑖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𝑡</m:t>
                                      </m:r>
                                    </m:e>
                                  </m:d>
                                </m:e>
                              </m:d>
                            </m:num>
                            <m:den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den>
                          </m:f>
                        </m:e>
                      </m:nary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r>
                            <m:rPr>
                              <m:brk m:alnAt="23"/>
                            </m:rP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sub>
                        <m: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𝑏</m:t>
                          </m:r>
                        </m:sup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𝑓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e>
                      </m:nary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Формула для вычисления чистого сигнала: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𝑐𝑙𝑛</m:t>
                          </m:r>
                        </m:sub>
                      </m:sSub>
                      <m:d>
                        <m:dPr>
                          <m:ctrlPr>
                            <a:rPr lang="en-US" sz="28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𝑟𝑎𝑤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 sz="2800" b="0" i="1" smtClean="0">
                          <a:latin typeface="Cambria Math" panose="02040503050406030204" pitchFamily="18" charset="0"/>
                        </a:rPr>
                        <m:t>−</m:t>
                      </m:r>
                      <m:sSub>
                        <m:sSub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𝑏𝑘𝑔</m:t>
                          </m:r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​</m:t>
                          </m:r>
                        </m:sub>
                      </m:sSub>
                      <m:d>
                        <m:dPr>
                          <m:ctrlPr>
                            <a:rPr lang="en-US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sz="2800" i="1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16</a:t>
            </a:r>
          </a:p>
        </p:txBody>
      </p:sp>
      <p:pic>
        <p:nvPicPr>
          <p:cNvPr id="6" name="Рисунок 5">
            <a:extLst>
              <a:ext uri="{FF2B5EF4-FFF2-40B4-BE49-F238E27FC236}">
                <a16:creationId xmlns:a16="http://schemas.microsoft.com/office/drawing/2014/main" id="{846D80A7-4865-447E-9788-34E511A9DAF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754180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Метод аппроксимации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</p:spPr>
            <p:txBody>
              <a:bodyPr anchor="t">
                <a:noAutofit/>
              </a:bodyPr>
              <a:lstStyle/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buNone/>
                  <a:tabLst/>
                  <a:defRPr/>
                </a:pPr>
                <a:r>
                  <a:rPr lang="ru-RU" dirty="0" err="1">
                    <a:latin typeface="Arial" panose="020B0604020202020204" pitchFamily="34" charset="0"/>
                    <a:cs typeface="Arial" panose="020B0604020202020204" pitchFamily="34" charset="0"/>
                  </a:rPr>
                  <a:t>Биэкспоненциальная</a:t>
                </a: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 модель:</a:t>
                </a:r>
                <a:endParaRPr lang="en-US" sz="24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marR="0" lvl="0" indent="-180000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Tx/>
                  <a:buSzTx/>
                  <a:tabLst/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Основная формула:</a:t>
                </a:r>
              </a:p>
              <a:p>
                <a:pPr marL="0" marR="0" lvl="0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r>
                        <a:rPr lang="en-US">
                          <a:latin typeface="Cambria Math" panose="02040503050406030204" pitchFamily="18" charset="0"/>
                        </a:rPr>
                        <m:t>𝑓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>
                              <a:latin typeface="Cambria Math" panose="02040503050406030204" pitchFamily="18" charset="0"/>
                            </a:rPr>
                            <m:t>𝑡</m:t>
                          </m:r>
                        </m:e>
                      </m:d>
                      <m:r>
                        <a:rPr lang="en-US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>
                          <a:latin typeface="Cambria Math" panose="02040503050406030204" pitchFamily="18" charset="0"/>
                        </a:rPr>
                        <m:t>𝐴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e>
                            <m: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den>
                      </m:f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  <m:r>
                            <a:rPr lang="en-US">
                              <a:latin typeface="Cambria Math" panose="02040503050406030204" pitchFamily="18" charset="0"/>
                            </a:rPr>
                            <m:t>−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𝑒</m:t>
                              </m:r>
                            </m:e>
                            <m:sup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e>
                                <m:sub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p>
                          </m:sSup>
                        </m:e>
                      </m:d>
                    </m:oMath>
                  </m:oMathPara>
                </a14:m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180000" indent="-180000" defTabSz="900000">
                  <a:lnSpc>
                    <a:spcPct val="100000"/>
                  </a:lnSpc>
                  <a:spcBef>
                    <a:spcPts val="0"/>
                  </a:spcBef>
                  <a:defRPr/>
                </a:pPr>
                <a:r>
                  <a:rPr lang="ru-RU" dirty="0">
                    <a:latin typeface="Arial" panose="020B0604020202020204" pitchFamily="34" charset="0"/>
                    <a:cs typeface="Arial" panose="020B0604020202020204" pitchFamily="34" charset="0"/>
                  </a:rPr>
                  <a:t>Система для смещения на время отклика:</a:t>
                </a:r>
                <a:endParaRPr lang="en-US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  <a:p>
                <a:pPr marL="0" marR="0" lvl="1" indent="360000" algn="just" defTabSz="900000" fontAlgn="auto">
                  <a:lnSpc>
                    <a:spcPct val="100000"/>
                  </a:lnSpc>
                  <a:spcBef>
                    <a:spcPts val="0"/>
                  </a:spcBef>
                  <a:spcAft>
                    <a:spcPts val="1800"/>
                  </a:spcAft>
                  <a:buClrTx/>
                  <a:buSzTx/>
                  <a:buNone/>
                  <a:tabLst/>
                  <a:defRPr/>
                </a:pPr>
                <a14:m>
                  <m:oMathPara xmlns:m="http://schemas.openxmlformats.org/officeDocument/2006/math">
                    <m:oMathParaPr>
                      <m:jc m:val="left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ru-RU" sz="280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ru-RU" sz="28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𝑓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𝜏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&gt;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  <m:e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𝐹</m:t>
                              </m:r>
                              <m:d>
                                <m:d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</m:e>
                              </m:d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sz="2800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𝑦</m:t>
                                  </m:r>
                                </m:e>
                                <m:sub>
                                  <m:r>
                                    <a:rPr lang="en-US" sz="280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,                       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≤</m:t>
                              </m:r>
                              <m:r>
                                <a:rPr lang="en-US" sz="2800">
                                  <a:latin typeface="Cambria Math" panose="02040503050406030204" pitchFamily="18" charset="0"/>
                                </a:rPr>
                                <m:t>𝜏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ru-RU" sz="2800" dirty="0">
                  <a:latin typeface="Arial" panose="020B0604020202020204" pitchFamily="34" charset="0"/>
                  <a:cs typeface="Arial" panose="020B0604020202020204" pitchFamily="34" charset="0"/>
                </a:endParaRPr>
              </a:p>
            </p:txBody>
          </p:sp>
        </mc:Choice>
        <mc:Fallback xmlns="">
          <p:sp>
            <p:nvSpPr>
              <p:cNvPr id="3" name="Объект 2">
                <a:extLst>
                  <a:ext uri="{FF2B5EF4-FFF2-40B4-BE49-F238E27FC236}">
                    <a16:creationId xmlns:a16="http://schemas.microsoft.com/office/drawing/2014/main" id="{9F52EC69-9860-45E6-9E44-C311D1C19D5C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696000" y="885670"/>
                <a:ext cx="10800000" cy="5760000"/>
              </a:xfrm>
              <a:blipFill>
                <a:blip r:embed="rId2"/>
                <a:stretch>
                  <a:fillRect l="-1016" t="-1058"/>
                </a:stretch>
              </a:blipFill>
            </p:spPr>
            <p:txBody>
              <a:bodyPr/>
              <a:lstStyle/>
              <a:p>
                <a:r>
                  <a:rPr lang="ru-RU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17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9BC6582F-40D3-462C-8776-2992C20439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41559" y="3708000"/>
            <a:ext cx="5810441" cy="288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823958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Менеджер драйверов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96000" y="885670"/>
            <a:ext cx="5400000" cy="5760000"/>
          </a:xfrm>
        </p:spPr>
        <p:txBody>
          <a:bodyPr anchor="ctr">
            <a:normAutofit/>
          </a:bodyPr>
          <a:lstStyle/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Возможности: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Отображение статуса драйверов каждого устройства.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Полная установка и удаление всех драйверов.</a:t>
            </a: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Выборочная установка и удаление конкретного драйвера.</a:t>
            </a:r>
          </a:p>
          <a:p>
            <a:pPr marL="0" indent="360000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Компоненты: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Инструкция установки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.inf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Ядро драйвера (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.sys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0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Цифровая подпись (.</a:t>
            </a:r>
            <a:r>
              <a:rPr lang="en-US" dirty="0">
                <a:latin typeface="Arial" panose="020B0604020202020204" pitchFamily="34" charset="0"/>
                <a:cs typeface="Arial" panose="020B0604020202020204" pitchFamily="34" charset="0"/>
              </a:rPr>
              <a:t>cat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18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C63280F-AE9C-49B4-BC23-93627404C98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6000" y="885670"/>
            <a:ext cx="4986960" cy="5218628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8A028580-3FF6-481B-83D7-6370F3485EC8}"/>
              </a:ext>
            </a:extLst>
          </p:cNvPr>
          <p:cNvSpPr txBox="1"/>
          <p:nvPr/>
        </p:nvSpPr>
        <p:spPr>
          <a:xfrm>
            <a:off x="696000" y="6104298"/>
            <a:ext cx="4986960" cy="540000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Графический интерфейс</a:t>
            </a:r>
          </a:p>
          <a:p>
            <a:pPr algn="ctr"/>
            <a:r>
              <a:rPr lang="ru-RU" sz="1400" b="1" dirty="0">
                <a:latin typeface="Arial" panose="020B0604020202020204" pitchFamily="34" charset="0"/>
                <a:cs typeface="Arial" panose="020B0604020202020204" pitchFamily="34" charset="0"/>
              </a:rPr>
              <a:t>модуля установки драйверов</a:t>
            </a:r>
          </a:p>
        </p:txBody>
      </p:sp>
    </p:spTree>
    <p:extLst>
      <p:ext uri="{BB962C8B-B14F-4D97-AF65-F5344CB8AC3E}">
        <p14:creationId xmlns:p14="http://schemas.microsoft.com/office/powerpoint/2010/main" val="420957941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 трафика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6000" y="885670"/>
            <a:ext cx="10800000" cy="5760000"/>
          </a:xfrm>
        </p:spPr>
        <p:txBody>
          <a:bodyPr anchor="ctr">
            <a:normAutofit lnSpcReduction="10000"/>
          </a:bodyPr>
          <a:lstStyle/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 err="1">
                <a:latin typeface="Arial" panose="020B0604020202020204" pitchFamily="34" charset="0"/>
                <a:cs typeface="Arial" panose="020B0604020202020204" pitchFamily="34" charset="0"/>
              </a:rPr>
              <a:t>Сниффер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 — программа или устройство для перехвата и анализа трафика между компьютером и оборудованием с целью изучения протокола обмена данными.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Назначение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: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Производитель не предоставляет открытый API или SDK.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Неизвестен протокол обмена командами.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Необходимо понять, какие команды отправляются устройству.</a:t>
            </a:r>
          </a:p>
          <a:p>
            <a:pPr marL="0" indent="360000" algn="just" defTabSz="900000">
              <a:lnSpc>
                <a:spcPct val="11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Типы: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WireShark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перехват пакетов на уровне операционной системы.</a:t>
            </a:r>
          </a:p>
          <a:p>
            <a:pPr marL="180000" indent="-180000" defTabSz="900000">
              <a:lnSpc>
                <a:spcPct val="13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Аппаратный (</a:t>
            </a:r>
            <a:r>
              <a:rPr lang="ru-RU" dirty="0" err="1">
                <a:latin typeface="Arial" panose="020B0604020202020204" pitchFamily="34" charset="0"/>
                <a:cs typeface="Arial" panose="020B0604020202020204" pitchFamily="34" charset="0"/>
              </a:rPr>
              <a:t>Arduino</a:t>
            </a: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) — физическое подключение между компьютером и устройством.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19</a:t>
            </a:r>
          </a:p>
        </p:txBody>
      </p:sp>
    </p:spTree>
    <p:extLst>
      <p:ext uri="{BB962C8B-B14F-4D97-AF65-F5344CB8AC3E}">
        <p14:creationId xmlns:p14="http://schemas.microsoft.com/office/powerpoint/2010/main" val="406603967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EC75D28-21D8-46FA-B239-E307DEF591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96000" y="171812"/>
            <a:ext cx="10800000" cy="720000"/>
          </a:xfrm>
        </p:spPr>
        <p:txBody>
          <a:bodyPr/>
          <a:lstStyle/>
          <a:p>
            <a:pPr algn="ctr"/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Программный комплект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F52EC69-9860-45E6-9E44-C311D1C19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99" y="885670"/>
            <a:ext cx="6301605" cy="5760000"/>
          </a:xfrm>
        </p:spPr>
        <p:txBody>
          <a:bodyPr anchor="ctr">
            <a:normAutofit/>
          </a:bodyPr>
          <a:lstStyle/>
          <a:p>
            <a:pPr marL="0" indent="360000" algn="ctr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SDK (Software Development Kit)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Набор инструментов разработки, предоставляемый производителем оборудования.</a:t>
            </a:r>
          </a:p>
          <a:p>
            <a:pPr marL="0" indent="360000" algn="just" defTabSz="900000">
              <a:lnSpc>
                <a:spcPct val="100000"/>
              </a:lnSpc>
              <a:spcBef>
                <a:spcPts val="0"/>
              </a:spcBef>
              <a:buNone/>
            </a:pPr>
            <a:r>
              <a:rPr lang="ru-RU" b="1" dirty="0">
                <a:latin typeface="Arial" panose="020B0604020202020204" pitchFamily="34" charset="0"/>
                <a:cs typeface="Arial" panose="020B0604020202020204" pitchFamily="34" charset="0"/>
              </a:rPr>
              <a:t>Преимущества:</a:t>
            </a:r>
            <a:endParaRPr lang="ru-RU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Не требуется реверс-инжиниринг протокола.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Доступ ко всем функциям устройства.</a:t>
            </a:r>
          </a:p>
          <a:p>
            <a:pPr marL="180000" indent="-180000" defTabSz="900000">
              <a:lnSpc>
                <a:spcPct val="120000"/>
              </a:lnSpc>
              <a:spcBef>
                <a:spcPts val="0"/>
              </a:spcBef>
            </a:pPr>
            <a:r>
              <a:rPr lang="ru-RU" dirty="0">
                <a:latin typeface="Arial" panose="020B0604020202020204" pitchFamily="34" charset="0"/>
                <a:cs typeface="Arial" panose="020B0604020202020204" pitchFamily="34" charset="0"/>
              </a:rPr>
              <a:t>Официальная поддержка производителя.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D094746-1B6D-4DB2-99FA-AA61470CBBCA}"/>
              </a:ext>
            </a:extLst>
          </p:cNvPr>
          <p:cNvSpPr txBox="1"/>
          <p:nvPr/>
        </p:nvSpPr>
        <p:spPr>
          <a:xfrm>
            <a:off x="11652000" y="6318000"/>
            <a:ext cx="540000" cy="540000"/>
          </a:xfrm>
          <a:prstGeom prst="rect">
            <a:avLst/>
          </a:prstGeom>
          <a:noFill/>
        </p:spPr>
        <p:txBody>
          <a:bodyPr wrap="none" rtlCol="0" anchor="ctr">
            <a:spAutoFit/>
          </a:bodyPr>
          <a:lstStyle/>
          <a:p>
            <a:pPr algn="ctr"/>
            <a:r>
              <a:rPr lang="ru-RU" sz="2400" b="1" dirty="0">
                <a:latin typeface="Arial" panose="020B0604020202020204" pitchFamily="34" charset="0"/>
                <a:cs typeface="Arial" panose="020B0604020202020204" pitchFamily="34" charset="0"/>
              </a:rPr>
              <a:t>20</a:t>
            </a:r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F1EEF67A-0473-4DDB-A045-EBCF0BB6C2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7605" y="1968741"/>
            <a:ext cx="4498395" cy="360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329338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009E791-085C-4CDA-8F96-C54D1FA07C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056000" y="2010495"/>
            <a:ext cx="10080000" cy="3240000"/>
          </a:xfrm>
        </p:spPr>
        <p:txBody>
          <a:bodyPr anchor="ctr">
            <a:normAutofit/>
          </a:bodyPr>
          <a:lstStyle/>
          <a:p>
            <a:r>
              <a:rPr lang="ru-RU" sz="3600" b="1" dirty="0">
                <a:latin typeface="Arial" panose="020B0604020202020204" pitchFamily="34" charset="0"/>
                <a:cs typeface="Arial" panose="020B0604020202020204" pitchFamily="34" charset="0"/>
              </a:rPr>
              <a:t>Разработка программного обеспечения для автоматизированного проведения экспериментов по изучению механизмов генерации синглетного кислорода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F8345CE-A702-49C0-BBBD-34AF53801BC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496000" y="5400777"/>
            <a:ext cx="7199999" cy="1080000"/>
          </a:xfrm>
        </p:spPr>
        <p:txBody>
          <a:bodyPr anchor="ctr">
            <a:normAutofit/>
          </a:bodyPr>
          <a:lstStyle/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Студент-докладчик: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 Климов Богдан Алексеевич, гр. 22357</a:t>
            </a: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Научный</a:t>
            </a:r>
            <a:r>
              <a:rPr lang="ru-RU" sz="1800" b="1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руководитель: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к.ф.-м.н.,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Ершов</a:t>
            </a:r>
            <a:r>
              <a:rPr lang="ru-RU" sz="1800" spc="3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Кирилл</a:t>
            </a:r>
            <a:r>
              <a:rPr lang="ru-RU" sz="1800" spc="3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-10" dirty="0">
                <a:latin typeface="Arial" panose="020B0604020202020204" pitchFamily="34" charset="0"/>
                <a:cs typeface="Arial" panose="020B0604020202020204" pitchFamily="34" charset="0"/>
              </a:rPr>
              <a:t>Сергеевич</a:t>
            </a:r>
            <a:endParaRPr lang="ru-RU" sz="1800" spc="5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l">
              <a:spcBef>
                <a:spcPts val="0"/>
              </a:spcBef>
            </a:pPr>
            <a:r>
              <a:rPr lang="ru-RU" sz="1800" b="1" dirty="0">
                <a:latin typeface="Arial" panose="020B0604020202020204" pitchFamily="34" charset="0"/>
                <a:cs typeface="Arial" panose="020B0604020202020204" pitchFamily="34" charset="0"/>
              </a:rPr>
              <a:t>Место прохождения практики: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14" dirty="0">
                <a:latin typeface="Arial" panose="020B0604020202020204" pitchFamily="34" charset="0"/>
                <a:cs typeface="Arial" panose="020B0604020202020204" pitchFamily="34" charset="0"/>
              </a:rPr>
              <a:t>ИХКГ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100" dirty="0">
                <a:latin typeface="Arial" panose="020B0604020202020204" pitchFamily="34" charset="0"/>
                <a:cs typeface="Arial" panose="020B0604020202020204" pitchFamily="34" charset="0"/>
              </a:rPr>
              <a:t>СО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РАН,</a:t>
            </a:r>
            <a:r>
              <a:rPr lang="ru-RU" sz="1800" spc="155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dirty="0">
                <a:latin typeface="Arial" panose="020B0604020202020204" pitchFamily="34" charset="0"/>
                <a:cs typeface="Arial" panose="020B0604020202020204" pitchFamily="34" charset="0"/>
              </a:rPr>
              <a:t>гр.</a:t>
            </a:r>
            <a:r>
              <a:rPr lang="ru-RU" sz="1800" spc="15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ru-RU" sz="1800" spc="65" dirty="0">
                <a:latin typeface="Arial" panose="020B0604020202020204" pitchFamily="34" charset="0"/>
                <a:cs typeface="Arial" panose="020B0604020202020204" pitchFamily="34" charset="0"/>
              </a:rPr>
              <a:t>МФД</a:t>
            </a:r>
            <a:endParaRPr lang="ru-RU" sz="18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1D7DB3E-4D79-4BCE-8DDF-AB7D32D5A93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6000" y="5220777"/>
            <a:ext cx="1440000" cy="1440000"/>
          </a:xfrm>
          <a:prstGeom prst="rect">
            <a:avLst/>
          </a:prstGeom>
        </p:spPr>
      </p:pic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00DEB3B-F703-4C61-A16E-D462B64A05D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416000" y="5250495"/>
            <a:ext cx="1440000" cy="1440000"/>
          </a:xfrm>
          <a:prstGeom prst="rect">
            <a:avLst/>
          </a:prstGeom>
        </p:spPr>
      </p:pic>
      <p:pic>
        <p:nvPicPr>
          <p:cNvPr id="4" name="Рисунок 3">
            <a:extLst>
              <a:ext uri="{FF2B5EF4-FFF2-40B4-BE49-F238E27FC236}">
                <a16:creationId xmlns:a16="http://schemas.microsoft.com/office/drawing/2014/main" id="{6C4D14C4-706D-4DD3-92ED-E79DCDF9F3A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2506" y="167505"/>
            <a:ext cx="4189655" cy="2160000"/>
          </a:xfrm>
          <a:prstGeom prst="rect">
            <a:avLst/>
          </a:prstGeom>
        </p:spPr>
      </p:pic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1ABF6F9C-D639-496B-AC30-03105982F38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56000" y="527505"/>
            <a:ext cx="4766400" cy="1440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39344110"/>
      </p:ext>
    </p:extLst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2942</TotalTime>
  <Words>942</Words>
  <Application>Microsoft Office PowerPoint</Application>
  <PresentationFormat>Широкоэкранный</PresentationFormat>
  <Paragraphs>162</Paragraphs>
  <Slides>21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4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21</vt:i4>
      </vt:variant>
    </vt:vector>
  </HeadingPairs>
  <TitlesOfParts>
    <vt:vector size="26" baseType="lpstr">
      <vt:lpstr>Arial</vt:lpstr>
      <vt:lpstr>Calibri</vt:lpstr>
      <vt:lpstr>Calibri Light</vt:lpstr>
      <vt:lpstr>Cambria Math</vt:lpstr>
      <vt:lpstr>Тема Office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Область исследования</vt:lpstr>
      <vt:lpstr>Актуальность работы</vt:lpstr>
      <vt:lpstr>Цель работы</vt:lpstr>
      <vt:lpstr>Основные задачи</vt:lpstr>
      <vt:lpstr>Структура комплекса</vt:lpstr>
      <vt:lpstr>Модуль монохроматора</vt:lpstr>
      <vt:lpstr>Модуль лазера</vt:lpstr>
      <vt:lpstr>Модуль осциллографа</vt:lpstr>
      <vt:lpstr>Модуль измерителя энергии</vt:lpstr>
      <vt:lpstr>Модуль интерфейса</vt:lpstr>
      <vt:lpstr>Проведение тестирования</vt:lpstr>
      <vt:lpstr>Полученные результаты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  <vt:lpstr>Синглетный кислород</vt:lpstr>
      <vt:lpstr>Метод интегрирования</vt:lpstr>
      <vt:lpstr>Метод аппроксимации</vt:lpstr>
      <vt:lpstr>Менеджер драйверов</vt:lpstr>
      <vt:lpstr>Сниффер трафика</vt:lpstr>
      <vt:lpstr>Программный комплект</vt:lpstr>
      <vt:lpstr>Разработка программного обеспечения для автоматизированного проведения экспериментов по изучению механизмов генерации синглетного кислорода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Разработка программного обеспечения для автоматизированного проведения экспериментов по изучению механизмов генерации синглетного кислорода</dc:title>
  <dc:creator>Bogdan Klimov</dc:creator>
  <cp:lastModifiedBy>Bogdan Klimov</cp:lastModifiedBy>
  <cp:revision>203</cp:revision>
  <dcterms:created xsi:type="dcterms:W3CDTF">2025-12-16T05:41:17Z</dcterms:created>
  <dcterms:modified xsi:type="dcterms:W3CDTF">2026-05-31T16:35:30Z</dcterms:modified>
</cp:coreProperties>
</file>