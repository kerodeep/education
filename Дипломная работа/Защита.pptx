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7" r:id="rId2"/>
    <p:sldId id="257" r:id="rId3"/>
    <p:sldId id="282" r:id="rId4"/>
    <p:sldId id="283" r:id="rId5"/>
    <p:sldId id="284" r:id="rId6"/>
    <p:sldId id="285" r:id="rId7"/>
    <p:sldId id="290" r:id="rId8"/>
    <p:sldId id="312" r:id="rId9"/>
    <p:sldId id="291" r:id="rId10"/>
    <p:sldId id="292" r:id="rId11"/>
    <p:sldId id="288" r:id="rId12"/>
    <p:sldId id="308" r:id="rId13"/>
    <p:sldId id="289" r:id="rId14"/>
    <p:sldId id="310" r:id="rId15"/>
    <p:sldId id="293" r:id="rId16"/>
    <p:sldId id="295" r:id="rId17"/>
    <p:sldId id="296" r:id="rId18"/>
    <p:sldId id="286" r:id="rId19"/>
    <p:sldId id="299" r:id="rId20"/>
    <p:sldId id="309" r:id="rId21"/>
    <p:sldId id="311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DAE2EF-8CFD-4C6E-A825-101910D94582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776695-BF89-4ABE-B636-B11F75013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1224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000" y="2010495"/>
            <a:ext cx="10080000" cy="3240000"/>
          </a:xfrm>
        </p:spPr>
        <p:txBody>
          <a:bodyPr anchor="ctr">
            <a:normAutofit/>
          </a:bodyPr>
          <a:lstStyle/>
          <a:p>
            <a:r>
              <a:rPr lang="ru-RU" sz="3600" b="1" dirty="0">
                <a:latin typeface="Arial" panose="020B0604020202020204" pitchFamily="34" charset="0"/>
                <a:cs typeface="Arial" panose="020B0604020202020204" pitchFamily="34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6000" y="5400777"/>
            <a:ext cx="7199999" cy="1080000"/>
          </a:xfrm>
        </p:spPr>
        <p:txBody>
          <a:bodyPr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Студент-докладчик: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Научный</a:t>
            </a:r>
            <a:r>
              <a:rPr lang="ru-RU" sz="1800" b="1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руководитель: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к.ф.-м.н.,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Ершов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Кирилл</a:t>
            </a:r>
            <a:r>
              <a:rPr lang="ru-RU" sz="1800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-10" dirty="0">
                <a:latin typeface="Arial" panose="020B0604020202020204" pitchFamily="34" charset="0"/>
                <a:cs typeface="Arial" panose="020B0604020202020204" pitchFamily="34" charset="0"/>
              </a:rPr>
              <a:t>Сергеевич</a:t>
            </a:r>
            <a:endParaRPr lang="ru-RU" sz="1800" spc="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Место прохождения практики: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14" dirty="0">
                <a:latin typeface="Arial" panose="020B0604020202020204" pitchFamily="34" charset="0"/>
                <a:cs typeface="Arial" panose="020B0604020202020204" pitchFamily="34" charset="0"/>
              </a:rPr>
              <a:t>ИХКГ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00" dirty="0">
                <a:latin typeface="Arial" panose="020B0604020202020204" pitchFamily="34" charset="0"/>
                <a:cs typeface="Arial" panose="020B0604020202020204" pitchFamily="34" charset="0"/>
              </a:rPr>
              <a:t>СО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РАН,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гр.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МФД</a:t>
            </a: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D7DB3E-4D79-4BCE-8DDF-AB7D32D5A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00" y="5220777"/>
            <a:ext cx="1440000" cy="144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00DEB3B-F703-4C61-A16E-D462B64A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000" y="5250495"/>
            <a:ext cx="1440000" cy="1440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C4D14C4-706D-4DD3-92ED-E79DCDF9F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506" y="167505"/>
            <a:ext cx="4189655" cy="2160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BF6F9C-D639-496B-AC30-03105982F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000" y="527505"/>
            <a:ext cx="47664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t"/>
          <a:lstStyle/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Автоматизация экспериментальных исследований в физической химии и спектроскопии, включая управление оборудованием, сбор данных и обработку сигналов для получения спектров люминесценции синглетного кислорода.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4CF8F1-FF84-495B-A4FD-77741A2C29C3}"/>
              </a:ext>
            </a:extLst>
          </p:cNvPr>
          <p:cNvSpPr txBox="1"/>
          <p:nvPr/>
        </p:nvSpPr>
        <p:spPr>
          <a:xfrm>
            <a:off x="3216000" y="6432218"/>
            <a:ext cx="576000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Примеры спектров люминесценции синглетного кислорода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C579026-C94F-494B-9C11-2BBB70B9E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000" y="2627266"/>
            <a:ext cx="5040000" cy="38070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247CD2-773E-4EF9-9C5A-2BD417B72FCF}"/>
                  </a:ext>
                </a:extLst>
              </p:cNvPr>
              <p:cNvSpPr txBox="1"/>
              <p:nvPr/>
            </p:nvSpPr>
            <p:spPr>
              <a:xfrm>
                <a:off x="8616000" y="3270801"/>
                <a:ext cx="2880000" cy="252000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𝑷𝑯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– фотолюминофор.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𝑪𝑪𝑰</m:t>
                        </m:r>
                      </m:e>
                      <m:sub>
                        <m:r>
                          <a:rPr lang="ru-RU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–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тетрахлорметан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𝑻𝒊</m:t>
                    </m:r>
                    <m:sSub>
                      <m:sSubPr>
                        <m:ctrlP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𝑶</m:t>
                        </m:r>
                      </m:e>
                      <m:sub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–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диоксид титана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𝑯</m:t>
                        </m:r>
                      </m:e>
                      <m:sub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𝑶</m:t>
                    </m:r>
                  </m:oMath>
                </a14:m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–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вода.</a:t>
                </a:r>
              </a:p>
              <a:p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а)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𝑷𝑯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на воздухе 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𝑪𝑪𝑰</m:t>
                        </m:r>
                      </m:e>
                      <m:sub>
                        <m: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б)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𝑷𝑯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на воздухе 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𝑯</m:t>
                        </m:r>
                      </m:e>
                      <m:sub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  <m:r>
                      <a:rPr lang="en-US" sz="1400" b="1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𝑶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в)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𝑻𝒊</m:t>
                    </m:r>
                    <m:sSub>
                      <m:sSubPr>
                        <m:ctrlP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𝑶</m:t>
                        </m:r>
                      </m:e>
                      <m:sub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на воздухе 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𝑪𝑪𝑰</m:t>
                        </m:r>
                      </m:e>
                      <m:sub>
                        <m: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г) </a:t>
                </a:r>
                <a14:m>
                  <m:oMath xmlns:m="http://schemas.openxmlformats.org/officeDocument/2006/math">
                    <m:r>
                      <a:rPr lang="en-US" sz="1400" b="1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𝑻𝒊</m:t>
                    </m:r>
                    <m:sSub>
                      <m:sSubPr>
                        <m:ctrlP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𝑶</m:t>
                        </m:r>
                      </m:e>
                      <m:sub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на воздухе 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𝑯</m:t>
                        </m:r>
                      </m:e>
                      <m:sub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𝑶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247CD2-773E-4EF9-9C5A-2BD417B72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000" y="3270801"/>
                <a:ext cx="2880000" cy="2520000"/>
              </a:xfrm>
              <a:prstGeom prst="rect">
                <a:avLst/>
              </a:prstGeom>
              <a:blipFill>
                <a:blip r:embed="rId3"/>
                <a:stretch>
                  <a:fillRect l="-634" b="-9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059EBCB-FA51-4163-A991-46F2DB0D3A96}"/>
              </a:ext>
            </a:extLst>
          </p:cNvPr>
          <p:cNvSpPr txBox="1"/>
          <p:nvPr/>
        </p:nvSpPr>
        <p:spPr>
          <a:xfrm>
            <a:off x="696000" y="3810801"/>
            <a:ext cx="2880000" cy="144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Источник:</a:t>
            </a:r>
          </a:p>
          <a:p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a-DK" sz="1400" b="1" dirty="0">
                <a:latin typeface="Arial" panose="020B0604020202020204" pitchFamily="34" charset="0"/>
                <a:cs typeface="Arial" panose="020B0604020202020204" pitchFamily="34" charset="0"/>
              </a:rPr>
              <a:t>Demyanenko A. V., Bogomolov A. S., Dozmorov N. V. et al.</a:t>
            </a:r>
            <a:r>
              <a:rPr lang="fr-FR" sz="14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The Journal of Physical Chemistry </a:t>
            </a:r>
            <a:r>
              <a:rPr lang="fr-FR" sz="1400" b="1" dirty="0">
                <a:latin typeface="Arial" panose="020B0604020202020204" pitchFamily="34" charset="0"/>
                <a:cs typeface="Arial" panose="020B0604020202020204" pitchFamily="34" charset="0"/>
              </a:rPr>
              <a:t>C, 2019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/>
          </a:bodyPr>
          <a:lstStyle/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Длительный ручной сбор и обработка данных с измерительного оборудования.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Необходимость постоянного присутствия исследователя в эксперименте.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Невозможность измерений при быстром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фоторазложении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активирующего вещества.</a:t>
            </a:r>
          </a:p>
          <a:p>
            <a:pPr marL="0" indent="0" defTabSz="900000">
              <a:lnSpc>
                <a:spcPct val="100000"/>
              </a:lnSpc>
              <a:spcBef>
                <a:spcPts val="0"/>
              </a:spcBef>
              <a:buNone/>
            </a:pP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defTabSz="900000">
              <a:lnSpc>
                <a:spcPct val="100000"/>
              </a:lnSpc>
              <a:spcBef>
                <a:spcPts val="0"/>
              </a:spcBef>
              <a:buNone/>
            </a:pP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Таким образом, существует необходимость создания автоматизированной системы синхронного управления приборами и обработки данных.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45752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A0E241C-7FD9-4CE2-8489-05758E283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0117" y="1965670"/>
            <a:ext cx="8671766" cy="4680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Цель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t"/>
          <a:lstStyle/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Разработать программное обеспечение для автоматизации эксперимента по регистрации спектров люминесценции синглетного кислорода.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459A20-7E7A-482F-8560-A5BECDBD08E1}"/>
              </a:ext>
            </a:extLst>
          </p:cNvPr>
          <p:cNvSpPr txBox="1"/>
          <p:nvPr/>
        </p:nvSpPr>
        <p:spPr>
          <a:xfrm>
            <a:off x="1760117" y="6228000"/>
            <a:ext cx="8671766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Схема экспериментальной установки</a:t>
            </a:r>
          </a:p>
        </p:txBody>
      </p:sp>
    </p:spTree>
    <p:extLst>
      <p:ext uri="{BB962C8B-B14F-4D97-AF65-F5344CB8AC3E}">
        <p14:creationId xmlns:p14="http://schemas.microsoft.com/office/powerpoint/2010/main" val="3405591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Основные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/>
          </a:bodyPr>
          <a:lstStyle/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модулей для управления лазером, монохроматором, осциллографом и измерителем энергии.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модулей для построения спектра методами интегрирования и аппроксимации.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Разработка удобного графического интерфейса для управления экспериментом.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модуля автоматической калибровки оборудования по эталонным измерениям.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Проведение тестирования программного обеспечения в условиях реального эксперимента.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52125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4F325F66-609E-44C9-AF7E-1BF205835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436" y="1161812"/>
            <a:ext cx="5400000" cy="495771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95EC1B53-2158-4331-8EEF-5FE94A372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267" y="3915388"/>
            <a:ext cx="2032941" cy="1440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E21F8909-0857-4899-9673-1BCE500EB7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7116" y="1477370"/>
            <a:ext cx="2032941" cy="144000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8C07877-9B36-46FD-B978-19BFBDF520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14" y="1477370"/>
            <a:ext cx="2032941" cy="144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32988E5-AD51-47C0-A05E-745991F30C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267" y="3915388"/>
            <a:ext cx="2032941" cy="1440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Структура комплекса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743906" y="6357167"/>
            <a:ext cx="356188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1DE086-8D27-434E-973E-018DBD5032BA}"/>
              </a:ext>
            </a:extLst>
          </p:cNvPr>
          <p:cNvSpPr txBox="1"/>
          <p:nvPr/>
        </p:nvSpPr>
        <p:spPr>
          <a:xfrm>
            <a:off x="259738" y="2917370"/>
            <a:ext cx="288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Монохроматор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M266-IV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(Solar Laser Systems)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653F77-9280-4CFA-8CD3-4F6B3838F261}"/>
              </a:ext>
            </a:extLst>
          </p:cNvPr>
          <p:cNvSpPr txBox="1"/>
          <p:nvPr/>
        </p:nvSpPr>
        <p:spPr>
          <a:xfrm>
            <a:off x="3139738" y="2917370"/>
            <a:ext cx="288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Лазер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LS-2145-OPO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(OPO, 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Lotis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Tii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 2145)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3E0EFA-719F-401A-BB78-D3EBD34661AB}"/>
              </a:ext>
            </a:extLst>
          </p:cNvPr>
          <p:cNvSpPr txBox="1"/>
          <p:nvPr/>
        </p:nvSpPr>
        <p:spPr>
          <a:xfrm>
            <a:off x="259738" y="5355388"/>
            <a:ext cx="288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Осциллограф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MSOX2024A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(Keysight)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CF0DFE-25D6-4787-8E10-7152A79BAAE9}"/>
              </a:ext>
            </a:extLst>
          </p:cNvPr>
          <p:cNvSpPr txBox="1"/>
          <p:nvPr/>
        </p:nvSpPr>
        <p:spPr>
          <a:xfrm>
            <a:off x="3173587" y="5355388"/>
            <a:ext cx="288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Энергометр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QE25SP-S-MT-D0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Gentec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-EO)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B9CEB7-B809-42BB-885A-96342E058AED}"/>
              </a:ext>
            </a:extLst>
          </p:cNvPr>
          <p:cNvSpPr txBox="1"/>
          <p:nvPr/>
        </p:nvSpPr>
        <p:spPr>
          <a:xfrm>
            <a:off x="6987436" y="6119527"/>
            <a:ext cx="360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Схема программного обеспечения</a:t>
            </a:r>
          </a:p>
        </p:txBody>
      </p:sp>
    </p:spTree>
    <p:extLst>
      <p:ext uri="{BB962C8B-B14F-4D97-AF65-F5344CB8AC3E}">
        <p14:creationId xmlns:p14="http://schemas.microsoft.com/office/powerpoint/2010/main" val="29373746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монохроматора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/>
          </a:bodyPr>
          <a:lstStyle/>
          <a:p>
            <a:pPr marL="0" marR="0" lvl="0" indent="36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Задача: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Создание библиотеки для управления монохроматором.</a:t>
            </a:r>
          </a:p>
          <a:p>
            <a:pPr marL="0" marR="0" lvl="0" indent="36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Реализация:</a:t>
            </a:r>
          </a:p>
          <a:p>
            <a:pPr marL="180000" marR="0" lvl="0" indent="-18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Работа через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USB-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порт.</a:t>
            </a:r>
          </a:p>
          <a:p>
            <a:pPr marL="180000" marR="0" lvl="0" indent="-18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Использование драйвера </a:t>
            </a:r>
            <a:r>
              <a:rPr kumimoji="0" lang="ru-RU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Cypress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CYUSB.</a:t>
            </a:r>
          </a:p>
          <a:p>
            <a:pPr marL="180000" marR="0" lvl="0" indent="-18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Использование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SDK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от производителя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180000" marR="0" lvl="0" indent="-18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Реализация обёртки для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Python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через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ctypes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36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Результат: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Библиотека работает через USB с использованием драйвера, SDK и обёртки </a:t>
            </a:r>
            <a:r>
              <a:rPr kumimoji="0" lang="ru-RU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ctypes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21556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лазера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t">
            <a:normAutofit/>
          </a:bodyPr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Создание библиотеки для управления лазером.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Реализация: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Установка драйвера виртуального порта.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через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порт.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Протокол на основе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кодов.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Результат: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Библиотека работает через драйвер виртуального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порта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(Prolific)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 использованием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кодов для управления.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3AF4E-08D6-43F3-81A2-85B7D993E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428" y="4618647"/>
            <a:ext cx="4320000" cy="180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C806F3-9A79-4932-8E60-B973B01DC4E6}"/>
              </a:ext>
            </a:extLst>
          </p:cNvPr>
          <p:cNvSpPr txBox="1"/>
          <p:nvPr/>
        </p:nvSpPr>
        <p:spPr>
          <a:xfrm>
            <a:off x="7310599" y="6238647"/>
            <a:ext cx="3123973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Пример команды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G-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кода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F20D65F-6794-4E25-8708-F2A4B7CDBD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94" t="-293" r="614" b="3563"/>
          <a:stretch/>
        </p:blipFill>
        <p:spPr>
          <a:xfrm>
            <a:off x="7254001" y="4072425"/>
            <a:ext cx="3240882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428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осциллографа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/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Создание библиотеки для управления осциллографом.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Реализация: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через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USB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-порт.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Использование драйвера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USBTMC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Использование протокола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SCPI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Результат: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Библиотека работает через USB-порт с использованием встроенного в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Windows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драйвера USBTMC и протокола SCPI для измерительных приборов.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5329614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измерителя энергии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t"/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Создание библиотеки для управления измерителем энергии.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Реализация: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Установка драйвера виртуального порта.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через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порт.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Использование текстового протокола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Text Mode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Результат: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Библиотека работает через драйвер виртуального COM-порта (FTDI) с использованием текстовых команд.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CC19E46-1B34-4903-8E05-096B405E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6000" y="4698000"/>
            <a:ext cx="432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363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интерфейса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3798000"/>
            <a:ext cx="4671662" cy="2847670"/>
          </a:xfrm>
        </p:spPr>
        <p:txBody>
          <a:bodyPr anchor="ctr">
            <a:normAutofit/>
          </a:bodyPr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Возможности: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Отображение исходного сигнала с осциллографа.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Интерактивное задание границ интегрирования.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BD75478F-C26A-4E6B-A7BE-FC611CB69910}"/>
              </a:ext>
            </a:extLst>
          </p:cNvPr>
          <p:cNvSpPr txBox="1">
            <a:spLocks/>
          </p:cNvSpPr>
          <p:nvPr/>
        </p:nvSpPr>
        <p:spPr>
          <a:xfrm>
            <a:off x="5885192" y="926188"/>
            <a:ext cx="5688808" cy="2839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E35D9D63-5E73-4BBC-8262-9BE9EB2C135A}"/>
              </a:ext>
            </a:extLst>
          </p:cNvPr>
          <p:cNvSpPr txBox="1">
            <a:spLocks/>
          </p:cNvSpPr>
          <p:nvPr/>
        </p:nvSpPr>
        <p:spPr>
          <a:xfrm>
            <a:off x="6902824" y="924142"/>
            <a:ext cx="4593174" cy="2839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360000" defTabSz="9000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Возможности: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Задание параметров эксперимента.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Запуск эксперимента.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D4E9957-6704-4E5C-B811-FE5FFE9B9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1084906"/>
            <a:ext cx="6128337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BE00C48-EF10-473E-B4C2-1F73282BD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662" y="3961835"/>
            <a:ext cx="6128338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42212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6265614-A4BB-47C5-85E0-EF5718B62A5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2508" y="911781"/>
            <a:ext cx="9086400" cy="540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Проведение тестирования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F44FA1-7057-43C4-86C5-ADA361488DDC}"/>
              </a:ext>
            </a:extLst>
          </p:cNvPr>
          <p:cNvSpPr txBox="1"/>
          <p:nvPr/>
        </p:nvSpPr>
        <p:spPr>
          <a:xfrm>
            <a:off x="3935708" y="6331750"/>
            <a:ext cx="432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/>
              <a:t>Пример зарегистрированного спектра</a:t>
            </a:r>
          </a:p>
        </p:txBody>
      </p:sp>
    </p:spTree>
    <p:extLst>
      <p:ext uri="{BB962C8B-B14F-4D97-AF65-F5344CB8AC3E}">
        <p14:creationId xmlns:p14="http://schemas.microsoft.com/office/powerpoint/2010/main" val="1527771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Полученные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/>
          </a:bodyPr>
          <a:lstStyle/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Разработаны модули управления лазером, монохроматором, осциллографом и измерителем энергии.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Реализованы модули для построения спектра методами интегрирования и аппроксимации.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 графический интерфейс для удобного управления экспериментом.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 модуль автоматической калибровки оборудования по эталонным измерениям.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Проведено успешное тестирование программного обеспечения в условиях реального эксперимента.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204429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000" y="2010495"/>
            <a:ext cx="10080000" cy="3240000"/>
          </a:xfrm>
        </p:spPr>
        <p:txBody>
          <a:bodyPr anchor="ctr">
            <a:normAutofit/>
          </a:bodyPr>
          <a:lstStyle/>
          <a:p>
            <a:r>
              <a:rPr lang="ru-RU" sz="3600" b="1" dirty="0">
                <a:latin typeface="Arial" panose="020B0604020202020204" pitchFamily="34" charset="0"/>
                <a:cs typeface="Arial" panose="020B0604020202020204" pitchFamily="34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6000" y="5400777"/>
            <a:ext cx="7199999" cy="1080000"/>
          </a:xfrm>
        </p:spPr>
        <p:txBody>
          <a:bodyPr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Студент-докладчик: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Научный</a:t>
            </a:r>
            <a:r>
              <a:rPr lang="ru-RU" sz="1800" b="1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руководитель: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к.ф.-м.н.,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Ершов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Кирилл</a:t>
            </a:r>
            <a:r>
              <a:rPr lang="ru-RU" sz="1800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-10" dirty="0">
                <a:latin typeface="Arial" panose="020B0604020202020204" pitchFamily="34" charset="0"/>
                <a:cs typeface="Arial" panose="020B0604020202020204" pitchFamily="34" charset="0"/>
              </a:rPr>
              <a:t>Сергеевич</a:t>
            </a:r>
            <a:endParaRPr lang="ru-RU" sz="1800" spc="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Место прохождения практики: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14" dirty="0">
                <a:latin typeface="Arial" panose="020B0604020202020204" pitchFamily="34" charset="0"/>
                <a:cs typeface="Arial" panose="020B0604020202020204" pitchFamily="34" charset="0"/>
              </a:rPr>
              <a:t>ИХКГ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00" dirty="0">
                <a:latin typeface="Arial" panose="020B0604020202020204" pitchFamily="34" charset="0"/>
                <a:cs typeface="Arial" panose="020B0604020202020204" pitchFamily="34" charset="0"/>
              </a:rPr>
              <a:t>СО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РАН,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гр.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МФД</a:t>
            </a: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D7DB3E-4D79-4BCE-8DDF-AB7D32D5A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00" y="5220777"/>
            <a:ext cx="1440000" cy="144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00DEB3B-F703-4C61-A16E-D462B64A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000" y="5250495"/>
            <a:ext cx="1440000" cy="1440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C4D14C4-706D-4DD3-92ED-E79DCDF9F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506" y="167505"/>
            <a:ext cx="4189655" cy="2160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BF6F9C-D639-496B-AC30-03105982F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000" y="527505"/>
            <a:ext cx="47664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9892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DD0CD33-5B12-4361-B112-626F92374A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752" y="3462105"/>
            <a:ext cx="5038246" cy="2160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3392D56-2DDB-4D1D-ACEA-CE649D9CD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992" y="3462105"/>
            <a:ext cx="5038246" cy="2160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Синглетный кислород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</p:spPr>
            <p:txBody>
              <a:bodyPr anchor="t">
                <a:normAutofit/>
              </a:bodyPr>
              <a:lstStyle/>
              <a:p>
                <a:pPr marL="0" indent="360000" algn="just" defTabSz="90000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Синглетный кислород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ru-RU" i="1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p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l-GR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𝛥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— это электронно-возбуждённая форма молекулы кислорода. Благодаря высокой химической активности он используется в фотодинамической терапии, фотокатализе, очистки воды или газа и т. д.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  <a:blipFill>
                <a:blip r:embed="rId4"/>
                <a:stretch>
                  <a:fillRect l="-1129" r="-11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AAD5E5-4100-4F3E-8B74-9AA66118AED3}"/>
              </a:ext>
            </a:extLst>
          </p:cNvPr>
          <p:cNvSpPr txBox="1"/>
          <p:nvPr/>
        </p:nvSpPr>
        <p:spPr>
          <a:xfrm>
            <a:off x="695998" y="5622105"/>
            <a:ext cx="5040000" cy="54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Образование синглетного кислорода из </a:t>
            </a:r>
            <a:r>
              <a:rPr lang="ru-RU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столкновительных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 комплексов молекул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A2BC9B-4BBA-4DA0-9279-39BE280DFA12}"/>
              </a:ext>
            </a:extLst>
          </p:cNvPr>
          <p:cNvSpPr txBox="1"/>
          <p:nvPr/>
        </p:nvSpPr>
        <p:spPr>
          <a:xfrm>
            <a:off x="6455996" y="5622105"/>
            <a:ext cx="5040000" cy="54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Схема образования синглетного кислорода</a:t>
            </a:r>
          </a:p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при облучении оксида титана</a:t>
            </a:r>
          </a:p>
        </p:txBody>
      </p:sp>
    </p:spTree>
    <p:extLst>
      <p:ext uri="{BB962C8B-B14F-4D97-AF65-F5344CB8AC3E}">
        <p14:creationId xmlns:p14="http://schemas.microsoft.com/office/powerpoint/2010/main" val="15296860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Метод интегрирования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</p:spPr>
            <p:txBody>
              <a:bodyPr anchor="t"/>
              <a:lstStyle/>
              <a:p>
                <a:pPr marL="0" marR="0" lvl="0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Метод трапеция:</a:t>
                </a:r>
                <a:endParaRPr lang="en-US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marR="0" lvl="0" indent="-180000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Основная формула:</a:t>
                </a:r>
              </a:p>
              <a:p>
                <a:pPr marL="0" marR="0" lvl="0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ru-RU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indent="-180000" defTabSz="900000">
                  <a:lnSpc>
                    <a:spcPct val="100000"/>
                  </a:lnSpc>
                  <a:spcBef>
                    <a:spcPts val="0"/>
                  </a:spcBef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Формула для вычисления чистого сигнала: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1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𝑐𝑙𝑛</m:t>
                          </m:r>
                        </m:sub>
                      </m:sSub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𝑟𝑎𝑤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𝑏𝑘𝑔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ru-RU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  <a:blipFill>
                <a:blip r:embed="rId2"/>
                <a:stretch>
                  <a:fillRect l="-1016" t="-10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16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46D80A7-4865-447E-9788-34E511A9DA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1559" y="3708000"/>
            <a:ext cx="5810441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541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Метод аппроксимации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</p:spPr>
            <p:txBody>
              <a:bodyPr anchor="t">
                <a:noAutofit/>
              </a:bodyPr>
              <a:lstStyle/>
              <a:p>
                <a:pPr marL="0" marR="0" lvl="0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ru-RU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Биэкспоненциальная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модель:</a:t>
                </a:r>
                <a:endParaRPr lang="en-US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marR="0" lvl="0" indent="-180000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Основная формула:</a:t>
                </a:r>
              </a:p>
              <a:p>
                <a:pPr marL="0" marR="0" lvl="0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indent="-180000" defTabSz="900000">
                  <a:lnSpc>
                    <a:spcPct val="100000"/>
                  </a:lnSpc>
                  <a:spcBef>
                    <a:spcPts val="0"/>
                  </a:spcBef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Система для смещения на время отклика: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1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sz="28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,                       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ru-RU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  <a:blipFill>
                <a:blip r:embed="rId2"/>
                <a:stretch>
                  <a:fillRect l="-1016" t="-10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17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BC6582F-40D3-462C-8776-2992C2043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1559" y="3708000"/>
            <a:ext cx="5810441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2395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Менеджер драйверов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885670"/>
            <a:ext cx="5400000" cy="5760000"/>
          </a:xfrm>
        </p:spPr>
        <p:txBody>
          <a:bodyPr anchor="ctr">
            <a:normAutofit/>
          </a:bodyPr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Возможности: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Отображение статуса драйверов каждого устройства.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Полная установка и удаление всех драйверов.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Выборочная установка и удаление конкретного драйвера.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Компоненты: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Инструкция установки (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.inf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Ядро драйвера (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.sys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Цифровая подпись (.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cat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18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C63280F-AE9C-49B4-BC23-93627404C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885670"/>
            <a:ext cx="4986960" cy="5218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028580-3FF6-481B-83D7-6370F3485EC8}"/>
              </a:ext>
            </a:extLst>
          </p:cNvPr>
          <p:cNvSpPr txBox="1"/>
          <p:nvPr/>
        </p:nvSpPr>
        <p:spPr>
          <a:xfrm>
            <a:off x="696000" y="6104298"/>
            <a:ext cx="4986960" cy="54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Графический интерфейс</a:t>
            </a:r>
          </a:p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модуля установки драйверов</a:t>
            </a:r>
          </a:p>
        </p:txBody>
      </p:sp>
    </p:spTree>
    <p:extLst>
      <p:ext uri="{BB962C8B-B14F-4D97-AF65-F5344CB8AC3E}">
        <p14:creationId xmlns:p14="http://schemas.microsoft.com/office/powerpoint/2010/main" val="42095794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 err="1">
                <a:latin typeface="Arial" panose="020B0604020202020204" pitchFamily="34" charset="0"/>
                <a:cs typeface="Arial" panose="020B0604020202020204" pitchFamily="34" charset="0"/>
              </a:rPr>
              <a:t>Сниффер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 трафика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 lnSpcReduction="10000"/>
          </a:bodyPr>
          <a:lstStyle/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 err="1">
                <a:latin typeface="Arial" panose="020B0604020202020204" pitchFamily="34" charset="0"/>
                <a:cs typeface="Arial" panose="020B0604020202020204" pitchFamily="34" charset="0"/>
              </a:rPr>
              <a:t>Сниффер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— программа или устройство для перехвата и анализа трафика между компьютером и оборудованием с целью изучения протокола обмена данными.</a:t>
            </a:r>
          </a:p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Назначение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Производитель не предоставляет открытый API или SDK.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Неизвестен протокол обмена командами.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Необходимо понять, какие команды отправляются устройству.</a:t>
            </a:r>
          </a:p>
          <a:p>
            <a:pPr marL="0" indent="360000" algn="just" defTabSz="90000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Типы:</a:t>
            </a:r>
          </a:p>
          <a:p>
            <a:pPr marL="180000" indent="-180000" defTabSz="900000">
              <a:lnSpc>
                <a:spcPct val="13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Программный (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WireShark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 — перехват пакетов на уровне операционной системы.</a:t>
            </a:r>
          </a:p>
          <a:p>
            <a:pPr marL="180000" indent="-180000" defTabSz="900000">
              <a:lnSpc>
                <a:spcPct val="13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Аппаратный (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Arduino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 — физическое подключение между компьютером и устройством.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066039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Программный комплект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999" y="885670"/>
            <a:ext cx="6301605" cy="5760000"/>
          </a:xfrm>
        </p:spPr>
        <p:txBody>
          <a:bodyPr anchor="ctr">
            <a:normAutofit/>
          </a:bodyPr>
          <a:lstStyle/>
          <a:p>
            <a:pPr marL="0" indent="360000" algn="ctr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SDK (Software Development Kit)</a:t>
            </a:r>
          </a:p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Набор инструментов разработки, предоставляемый производителем оборудования.</a:t>
            </a:r>
          </a:p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Преимущества: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 требуется реверс-инжиниринг протокола.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Доступ ко всем функциям устройства.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Официальная поддержка производителя.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EEF67A-0473-4DDB-A045-EBCF0BB6C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605" y="1968741"/>
            <a:ext cx="4498395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293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000" y="2010495"/>
            <a:ext cx="10080000" cy="3240000"/>
          </a:xfrm>
        </p:spPr>
        <p:txBody>
          <a:bodyPr anchor="ctr">
            <a:normAutofit/>
          </a:bodyPr>
          <a:lstStyle/>
          <a:p>
            <a:r>
              <a:rPr lang="ru-RU" sz="3600" b="1" dirty="0">
                <a:latin typeface="Arial" panose="020B0604020202020204" pitchFamily="34" charset="0"/>
                <a:cs typeface="Arial" panose="020B0604020202020204" pitchFamily="34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6000" y="5400777"/>
            <a:ext cx="7199999" cy="1080000"/>
          </a:xfrm>
        </p:spPr>
        <p:txBody>
          <a:bodyPr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Студент-докладчик: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Научный</a:t>
            </a:r>
            <a:r>
              <a:rPr lang="ru-RU" sz="1800" b="1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руководитель: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к.ф.-м.н.,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Ершов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Кирилл</a:t>
            </a:r>
            <a:r>
              <a:rPr lang="ru-RU" sz="1800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-10" dirty="0">
                <a:latin typeface="Arial" panose="020B0604020202020204" pitchFamily="34" charset="0"/>
                <a:cs typeface="Arial" panose="020B0604020202020204" pitchFamily="34" charset="0"/>
              </a:rPr>
              <a:t>Сергеевич</a:t>
            </a:r>
            <a:endParaRPr lang="ru-RU" sz="1800" spc="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Место прохождения практики: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14" dirty="0">
                <a:latin typeface="Arial" panose="020B0604020202020204" pitchFamily="34" charset="0"/>
                <a:cs typeface="Arial" panose="020B0604020202020204" pitchFamily="34" charset="0"/>
              </a:rPr>
              <a:t>ИХКГ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00" dirty="0">
                <a:latin typeface="Arial" panose="020B0604020202020204" pitchFamily="34" charset="0"/>
                <a:cs typeface="Arial" panose="020B0604020202020204" pitchFamily="34" charset="0"/>
              </a:rPr>
              <a:t>СО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РАН,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гр.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МФД</a:t>
            </a: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D7DB3E-4D79-4BCE-8DDF-AB7D32D5A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00" y="5220777"/>
            <a:ext cx="1440000" cy="144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00DEB3B-F703-4C61-A16E-D462B64A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000" y="5250495"/>
            <a:ext cx="1440000" cy="1440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C4D14C4-706D-4DD3-92ED-E79DCDF9F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506" y="167505"/>
            <a:ext cx="4189655" cy="2160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BF6F9C-D639-496B-AC30-03105982F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000" y="527505"/>
            <a:ext cx="47664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4411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2946</TotalTime>
  <Words>942</Words>
  <Application>Microsoft Office PowerPoint</Application>
  <PresentationFormat>Широкоэкранный</PresentationFormat>
  <Paragraphs>162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 работы</vt:lpstr>
      <vt:lpstr>Цель работы</vt:lpstr>
      <vt:lpstr>Основные задачи</vt:lpstr>
      <vt:lpstr>Структура комплекса</vt:lpstr>
      <vt:lpstr>Модуль монохроматора</vt:lpstr>
      <vt:lpstr>Модуль лазера</vt:lpstr>
      <vt:lpstr>Модуль осциллографа</vt:lpstr>
      <vt:lpstr>Модуль измерителя энергии</vt:lpstr>
      <vt:lpstr>Модуль интерфейса</vt:lpstr>
      <vt:lpstr>Проведение тестирования</vt:lpstr>
      <vt:lpstr>Полученные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Синглетный кислород</vt:lpstr>
      <vt:lpstr>Метод интегрирования</vt:lpstr>
      <vt:lpstr>Метод аппроксимации</vt:lpstr>
      <vt:lpstr>Менеджер драйверов</vt:lpstr>
      <vt:lpstr>Сниффер трафика</vt:lpstr>
      <vt:lpstr>Программный комплект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204</cp:revision>
  <dcterms:created xsi:type="dcterms:W3CDTF">2025-12-16T05:41:17Z</dcterms:created>
  <dcterms:modified xsi:type="dcterms:W3CDTF">2026-06-04T07:19:03Z</dcterms:modified>
</cp:coreProperties>
</file>