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7" r:id="rId2"/>
    <p:sldId id="257" r:id="rId3"/>
    <p:sldId id="282" r:id="rId4"/>
    <p:sldId id="283" r:id="rId5"/>
    <p:sldId id="284" r:id="rId6"/>
    <p:sldId id="285" r:id="rId7"/>
    <p:sldId id="290" r:id="rId8"/>
    <p:sldId id="312" r:id="rId9"/>
    <p:sldId id="291" r:id="rId10"/>
    <p:sldId id="292" r:id="rId11"/>
    <p:sldId id="288" r:id="rId12"/>
    <p:sldId id="308" r:id="rId13"/>
    <p:sldId id="289" r:id="rId14"/>
    <p:sldId id="310" r:id="rId15"/>
    <p:sldId id="293" r:id="rId16"/>
    <p:sldId id="295" r:id="rId17"/>
    <p:sldId id="296" r:id="rId18"/>
    <p:sldId id="286" r:id="rId19"/>
    <p:sldId id="299" r:id="rId20"/>
    <p:sldId id="309" r:id="rId21"/>
    <p:sldId id="313" r:id="rId22"/>
    <p:sldId id="314" r:id="rId23"/>
    <p:sldId id="315" r:id="rId24"/>
    <p:sldId id="311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808"/>
    <a:srgbClr val="198C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DAE2EF-8CFD-4C6E-A825-101910D94582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76695-BF89-4ABE-B636-B11F75013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224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Автоматизация экспериментальных исследований в физической химии и спектроскопии, включая управление оборудованием, сбор данных и обработку сигналов для получения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CF8F1-FF84-495B-A4FD-77741A2C29C3}"/>
              </a:ext>
            </a:extLst>
          </p:cNvPr>
          <p:cNvSpPr txBox="1"/>
          <p:nvPr/>
        </p:nvSpPr>
        <p:spPr>
          <a:xfrm>
            <a:off x="3216000" y="6432218"/>
            <a:ext cx="5760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Примеры спектров люминесценции синглетного кислорода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C579026-C94F-494B-9C11-2BBB70B9E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000" y="2627266"/>
            <a:ext cx="5040000" cy="38070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/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 фотолюминофор.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тетрахлорметан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диоксид титана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вода.</a:t>
                </a: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а)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б)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г)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blipFill>
                <a:blip r:embed="rId3"/>
                <a:stretch>
                  <a:fillRect l="-634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059EBCB-FA51-4163-A991-46F2DB0D3A96}"/>
              </a:ext>
            </a:extLst>
          </p:cNvPr>
          <p:cNvSpPr txBox="1"/>
          <p:nvPr/>
        </p:nvSpPr>
        <p:spPr>
          <a:xfrm>
            <a:off x="696000" y="3810801"/>
            <a:ext cx="2880000" cy="14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Источник:</a:t>
            </a:r>
          </a:p>
          <a:p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a-DK" sz="1400" b="1" dirty="0">
                <a:latin typeface="Arial" panose="020B0604020202020204" pitchFamily="34" charset="0"/>
                <a:cs typeface="Arial" panose="020B0604020202020204" pitchFamily="34" charset="0"/>
              </a:rPr>
              <a:t>Demyanenko A. V., Bogomolov A. S., Dozmorov N. V. et al.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The Journal of Physical Chemistry 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C, 2019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Длительный ручной сбор и обработка данных с измерительного оборудования.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постоянного присутствия исследователя в эксперименте.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Невозможность измерений при быстром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фоторазложении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активирующего вещества.</a:t>
            </a: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Таким образом, существует необходимость создания автоматизированной системы синхронного управления приборами и обработки данных.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45752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7F83A29-121A-47C2-955D-B3C4540DF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542" y="1908000"/>
            <a:ext cx="8784916" cy="468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Цель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программное обеспечение для автоматизации эксперимента по регистрации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459A20-7E7A-482F-8560-A5BECDBD08E1}"/>
              </a:ext>
            </a:extLst>
          </p:cNvPr>
          <p:cNvSpPr txBox="1"/>
          <p:nvPr/>
        </p:nvSpPr>
        <p:spPr>
          <a:xfrm>
            <a:off x="1760117" y="6228000"/>
            <a:ext cx="8671766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экспериментальной установки</a:t>
            </a:r>
          </a:p>
        </p:txBody>
      </p:sp>
    </p:spTree>
    <p:extLst>
      <p:ext uri="{BB962C8B-B14F-4D97-AF65-F5344CB8AC3E}">
        <p14:creationId xmlns:p14="http://schemas.microsoft.com/office/powerpoint/2010/main" val="34055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Основные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Разработка удобного графического интерфейса для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модуля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 программного обеспечения.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5212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F325F66-609E-44C9-AF7E-1BF205835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436" y="1161812"/>
            <a:ext cx="5400000" cy="495771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5EC1B53-2158-4331-8EEF-5FE94A372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67" y="3915388"/>
            <a:ext cx="2032941" cy="144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1F8909-0857-4899-9673-1BCE500EB7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7116" y="1477370"/>
            <a:ext cx="2032941" cy="1440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C07877-9B36-46FD-B978-19BFBDF520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14" y="1477370"/>
            <a:ext cx="2032941" cy="144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32988E5-AD51-47C0-A05E-745991F30C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67" y="3915388"/>
            <a:ext cx="2032941" cy="144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Структура комплекса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743906" y="6357167"/>
            <a:ext cx="356188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1DE086-8D27-434E-973E-018DBD5032BA}"/>
              </a:ext>
            </a:extLst>
          </p:cNvPr>
          <p:cNvSpPr txBox="1"/>
          <p:nvPr/>
        </p:nvSpPr>
        <p:spPr>
          <a:xfrm>
            <a:off x="25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Монохроматор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M266-IV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(Solar Laser Systems)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653F77-9280-4CFA-8CD3-4F6B3838F261}"/>
              </a:ext>
            </a:extLst>
          </p:cNvPr>
          <p:cNvSpPr txBox="1"/>
          <p:nvPr/>
        </p:nvSpPr>
        <p:spPr>
          <a:xfrm>
            <a:off x="313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Лазер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LS-2145-OPO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(OPO,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Lotis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Tii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2145)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E0EFA-719F-401A-BB78-D3EBD34661AB}"/>
              </a:ext>
            </a:extLst>
          </p:cNvPr>
          <p:cNvSpPr txBox="1"/>
          <p:nvPr/>
        </p:nvSpPr>
        <p:spPr>
          <a:xfrm>
            <a:off x="259738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Осциллограф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MSOX2024A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(Keysight)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CF0DFE-25D6-4787-8E10-7152A79BAAE9}"/>
              </a:ext>
            </a:extLst>
          </p:cNvPr>
          <p:cNvSpPr txBox="1"/>
          <p:nvPr/>
        </p:nvSpPr>
        <p:spPr>
          <a:xfrm>
            <a:off x="3173587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Энергометр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QE25SP-S-MT-D0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Gentec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-EO)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B9CEB7-B809-42BB-885A-96342E058AED}"/>
              </a:ext>
            </a:extLst>
          </p:cNvPr>
          <p:cNvSpPr txBox="1"/>
          <p:nvPr/>
        </p:nvSpPr>
        <p:spPr>
          <a:xfrm>
            <a:off x="6987436" y="6119527"/>
            <a:ext cx="360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программного обеспечения</a:t>
            </a:r>
          </a:p>
        </p:txBody>
      </p:sp>
    </p:spTree>
    <p:extLst>
      <p:ext uri="{BB962C8B-B14F-4D97-AF65-F5344CB8AC3E}">
        <p14:creationId xmlns:p14="http://schemas.microsoft.com/office/powerpoint/2010/main" val="2937374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монохроматора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Задача: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Создание библиотеки для управления монохроматором.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Реализация: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Работа через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USB-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порт.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драйвера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Cypress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CYUSB.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SDK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от производителя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 обёртки для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Python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через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Результат: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Библиотека работает через USB с использованием драйвера, SDK и обёртки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21556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лазера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лазером.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Протокол на основе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(Prolific)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 использованием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 для управления.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3AF4E-08D6-43F3-81A2-85B7D993E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28" y="4618647"/>
            <a:ext cx="4320000" cy="180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C806F3-9A79-4932-8E60-B973B01DC4E6}"/>
              </a:ext>
            </a:extLst>
          </p:cNvPr>
          <p:cNvSpPr txBox="1"/>
          <p:nvPr/>
        </p:nvSpPr>
        <p:spPr>
          <a:xfrm>
            <a:off x="7310599" y="6238647"/>
            <a:ext cx="3123973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 команды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20D65F-6794-4E25-8708-F2A4B7CDBD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94" t="-293" r="614" b="3563"/>
          <a:stretch/>
        </p:blipFill>
        <p:spPr>
          <a:xfrm>
            <a:off x="7254001" y="4072425"/>
            <a:ext cx="3240882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2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осциллографа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осциллографом.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драйвера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USBTMC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SCPI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USB-порт с использованием встроенного в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драйвера USBTMC и протокола SCPI для измерительных приборов.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32961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измерителя энергии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измерителем энергии.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текстового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 Mode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COM-порта (FTDI) с использованием текстовых команд.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C19E46-1B34-4903-8E05-096B405E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000" y="4698000"/>
            <a:ext cx="432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63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3798000"/>
            <a:ext cx="4671662" cy="284767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исходного сигнала с осциллографа.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Интерактивное задание границ интегрирования.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BD75478F-C26A-4E6B-A7BE-FC611CB69910}"/>
              </a:ext>
            </a:extLst>
          </p:cNvPr>
          <p:cNvSpPr txBox="1">
            <a:spLocks/>
          </p:cNvSpPr>
          <p:nvPr/>
        </p:nvSpPr>
        <p:spPr>
          <a:xfrm>
            <a:off x="5885192" y="926188"/>
            <a:ext cx="5688808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E35D9D63-5E73-4BBC-8262-9BE9EB2C135A}"/>
              </a:ext>
            </a:extLst>
          </p:cNvPr>
          <p:cNvSpPr txBox="1">
            <a:spLocks/>
          </p:cNvSpPr>
          <p:nvPr/>
        </p:nvSpPr>
        <p:spPr>
          <a:xfrm>
            <a:off x="6902824" y="924142"/>
            <a:ext cx="4593174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Задание параметров эксперимента.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Запуск эксперимента.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4E9957-6704-4E5C-B811-FE5FFE9B925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083883"/>
            <a:ext cx="612000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1100F23-A2EE-4A35-8AB3-763E2DC90AC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98" y="3961835"/>
            <a:ext cx="6120000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4221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44FA1-7057-43C4-86C5-ADA361488DDC}"/>
              </a:ext>
            </a:extLst>
          </p:cNvPr>
          <p:cNvSpPr txBox="1"/>
          <p:nvPr/>
        </p:nvSpPr>
        <p:spPr>
          <a:xfrm>
            <a:off x="4296000" y="6331750"/>
            <a:ext cx="3600000" cy="36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dirty="0"/>
              <a:t>Спектр светодиода </a:t>
            </a:r>
            <a:r>
              <a:rPr lang="en-US" dirty="0"/>
              <a:t>LFO-403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31850B7-2E7D-4012-B99E-21D439F5C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24" y="911781"/>
            <a:ext cx="10813076" cy="540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27771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Полученные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Разработаны модули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Реализованы модули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 графический интерфейс для удобного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модуль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Проведено успешное тестирование программного обеспечения.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04429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89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DD0CD33-5B12-4361-B112-626F92374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52" y="3462105"/>
            <a:ext cx="5038246" cy="216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392D56-2DDB-4D1D-ACEA-CE649D9CD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992" y="3462105"/>
            <a:ext cx="5038246" cy="216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Синглетный кислород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rmAutofit/>
              </a:bodyPr>
              <a:lstStyle/>
              <a:p>
                <a:pPr marL="0" indent="360000" algn="just" defTabSz="90000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Синглетный кислород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l-GR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𝛥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— это электронно-возбуждённая форма молекулы кислорода. Благодаря высокой химической активности он используется в фотодинамической терапии, фотокатализе, очистки воды или газа и т. д.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4"/>
                <a:stretch>
                  <a:fillRect l="-1129" r="-11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AAD5E5-4100-4F3E-8B74-9AA66118AED3}"/>
              </a:ext>
            </a:extLst>
          </p:cNvPr>
          <p:cNvSpPr txBox="1"/>
          <p:nvPr/>
        </p:nvSpPr>
        <p:spPr>
          <a:xfrm>
            <a:off x="695998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Образование синглетного кислорода из </a:t>
            </a:r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столкновительных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комплексов молекул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A2BC9B-4BBA-4DA0-9279-39BE280DFA12}"/>
              </a:ext>
            </a:extLst>
          </p:cNvPr>
          <p:cNvSpPr txBox="1"/>
          <p:nvPr/>
        </p:nvSpPr>
        <p:spPr>
          <a:xfrm>
            <a:off x="6455996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образования синглетного кислорода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 облучении оксида титана</a:t>
            </a:r>
          </a:p>
        </p:txBody>
      </p:sp>
    </p:spTree>
    <p:extLst>
      <p:ext uri="{BB962C8B-B14F-4D97-AF65-F5344CB8AC3E}">
        <p14:creationId xmlns:p14="http://schemas.microsoft.com/office/powerpoint/2010/main" val="1529686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интегрирования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/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Метод трапеция: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Формула для вычисления чистого сигнала: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𝑐𝑙𝑛</m:t>
                          </m:r>
                        </m:sub>
                      </m:sSub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𝑟𝑎𝑤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𝑏𝑘𝑔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6D80A7-4865-447E-9788-34E511A9D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41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аппроксимации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Autofit/>
              </a:bodyPr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Биэкспоненциальная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модель: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Система для смещения на время отклика: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8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C6582F-40D3-462C-8776-2992C2043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39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Менеджер драйверов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85670"/>
            <a:ext cx="5400000" cy="576000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статуса драйверов каждого устройства.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Полная установка и удаление всех драйверов.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Выборочная установка и удаление конкретного драйвера.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Компоненты: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Инструкция установки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.inf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Ядро драйвера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.sys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Цифровая подпись (.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18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63280F-AE9C-49B4-BC23-93627404C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885670"/>
            <a:ext cx="4986960" cy="5218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028580-3FF6-481B-83D7-6370F3485EC8}"/>
              </a:ext>
            </a:extLst>
          </p:cNvPr>
          <p:cNvSpPr txBox="1"/>
          <p:nvPr/>
        </p:nvSpPr>
        <p:spPr>
          <a:xfrm>
            <a:off x="696000" y="6104298"/>
            <a:ext cx="498696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Графический интерфейс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модуля установки драйверов</a:t>
            </a:r>
          </a:p>
        </p:txBody>
      </p:sp>
    </p:spTree>
    <p:extLst>
      <p:ext uri="{BB962C8B-B14F-4D97-AF65-F5344CB8AC3E}">
        <p14:creationId xmlns:p14="http://schemas.microsoft.com/office/powerpoint/2010/main" val="4209579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 трафика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 lnSpcReduction="10000"/>
          </a:bodyPr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— программа или устройство для перехвата и анализа трафика между компьютером и оборудованием с целью изучения протокола обмена данными.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Назначение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Производитель не предоставляет открытый API или SDK.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Неизвестен протокол обмена командами.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 понять, какие команды отправляются устройству.</a:t>
            </a:r>
          </a:p>
          <a:p>
            <a:pPr marL="0" indent="360000" algn="just" defTabSz="90000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Типы: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WireShark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перехват пакетов на уровне операционной системы.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Аппаратный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Arduino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физическое подключение между компьютером и устройством.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066039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комплект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99" y="885670"/>
            <a:ext cx="6301605" cy="5760000"/>
          </a:xfrm>
        </p:spPr>
        <p:txBody>
          <a:bodyPr anchor="ctr">
            <a:normAutofit/>
          </a:bodyPr>
          <a:lstStyle/>
          <a:p>
            <a:pPr marL="0" indent="360000" algn="ctr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SDK (Software Development Kit)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Набор инструментов разработки, предоставляемый производителем оборудования.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Преимущества: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 требуется реверс-инжиниринг протокола.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Доступ ко всем функциям устройства.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Официальная поддержка производителя.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EEF67A-0473-4DDB-A045-EBCF0BB6C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605" y="1968741"/>
            <a:ext cx="4498395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93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Параметры эксперимента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1781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B174254-FFCD-4A8B-BC69-479D0B1EE60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269000"/>
            <a:ext cx="10800000" cy="43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16122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Исходный сигнал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22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878524-B9DF-4C99-8030-7B93972E4EE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269000"/>
            <a:ext cx="10800000" cy="43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845745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Светодиод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LFO-403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5999" y="885670"/>
                <a:ext cx="6301605" cy="5760000"/>
              </a:xfrm>
            </p:spPr>
            <p:txBody>
              <a:bodyPr anchor="ctr">
                <a:normAutofit/>
              </a:bodyPr>
              <a:lstStyle/>
              <a:p>
                <a:pPr marL="180000" indent="-180000" defTabSz="900000">
                  <a:lnSpc>
                    <a:spcPct val="200000"/>
                  </a:lnSpc>
                  <a:spcBef>
                    <a:spcPts val="0"/>
                  </a:spcBef>
                </a:pP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Тип устройства: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𝐼𝑛𝐺𝑎𝐴𝑠</m:t>
                    </m:r>
                  </m:oMath>
                </a14:m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200000"/>
                  </a:lnSpc>
                  <a:spcBef>
                    <a:spcPts val="0"/>
                  </a:spcBef>
                </a:pP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Рабочий ток: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155 мА</a:t>
                </a:r>
              </a:p>
              <a:p>
                <a:pPr marL="180000" indent="-180000" defTabSz="900000">
                  <a:lnSpc>
                    <a:spcPct val="200000"/>
                  </a:lnSpc>
                  <a:spcBef>
                    <a:spcPts val="0"/>
                  </a:spcBef>
                </a:pP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Напряжение: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1.5 В</a:t>
                </a:r>
              </a:p>
              <a:p>
                <a:pPr marL="180000" indent="-180000" defTabSz="900000">
                  <a:lnSpc>
                    <a:spcPct val="200000"/>
                  </a:lnSpc>
                  <a:spcBef>
                    <a:spcPts val="0"/>
                  </a:spcBef>
                </a:pP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Мощность: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30 мВт</a:t>
                </a:r>
              </a:p>
              <a:p>
                <a:pPr marL="180000" indent="-180000" defTabSz="900000">
                  <a:lnSpc>
                    <a:spcPct val="200000"/>
                  </a:lnSpc>
                  <a:spcBef>
                    <a:spcPts val="0"/>
                  </a:spcBef>
                </a:pP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Излучение: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1300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нм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(±30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нм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5999" y="885670"/>
                <a:ext cx="6301605" cy="5760000"/>
              </a:xfrm>
              <a:blipFill>
                <a:blip r:embed="rId2"/>
                <a:stretch>
                  <a:fillRect l="-17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5D6F785-EBCC-401B-A8E4-1BB493AEEA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325" y="1636832"/>
            <a:ext cx="4257675" cy="425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6038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441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2983</TotalTime>
  <Words>968</Words>
  <Application>Microsoft Office PowerPoint</Application>
  <PresentationFormat>Широкоэкранный</PresentationFormat>
  <Paragraphs>173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 работы</vt:lpstr>
      <vt:lpstr>Цель работы</vt:lpstr>
      <vt:lpstr>Основные задачи</vt:lpstr>
      <vt:lpstr>Структура комплекса</vt:lpstr>
      <vt:lpstr>Модуль монохроматора</vt:lpstr>
      <vt:lpstr>Модуль лазера</vt:lpstr>
      <vt:lpstr>Модуль осциллографа</vt:lpstr>
      <vt:lpstr>Модуль измерителя энергии</vt:lpstr>
      <vt:lpstr>Модуль интерфейса</vt:lpstr>
      <vt:lpstr>Проведение тестирования</vt:lpstr>
      <vt:lpstr>Полученные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Синглетный кислород</vt:lpstr>
      <vt:lpstr>Метод интегрирования</vt:lpstr>
      <vt:lpstr>Метод аппроксимации</vt:lpstr>
      <vt:lpstr>Менеджер драйверов</vt:lpstr>
      <vt:lpstr>Сниффер трафика</vt:lpstr>
      <vt:lpstr>Программный комплект</vt:lpstr>
      <vt:lpstr>Параметры эксперимента</vt:lpstr>
      <vt:lpstr>Исходный сигнал</vt:lpstr>
      <vt:lpstr>Светодиод LFO-403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210</cp:revision>
  <dcterms:created xsi:type="dcterms:W3CDTF">2025-12-16T05:41:17Z</dcterms:created>
  <dcterms:modified xsi:type="dcterms:W3CDTF">2026-06-15T09:57:17Z</dcterms:modified>
</cp:coreProperties>
</file>