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87" r:id="rId2"/>
    <p:sldId id="257" r:id="rId3"/>
    <p:sldId id="266" r:id="rId4"/>
    <p:sldId id="258" r:id="rId5"/>
    <p:sldId id="268" r:id="rId6"/>
    <p:sldId id="269" r:id="rId7"/>
    <p:sldId id="270" r:id="rId8"/>
    <p:sldId id="271" r:id="rId9"/>
    <p:sldId id="272" r:id="rId10"/>
    <p:sldId id="273" r:id="rId11"/>
    <p:sldId id="265" r:id="rId12"/>
    <p:sldId id="274" r:id="rId13"/>
    <p:sldId id="275" r:id="rId14"/>
    <p:sldId id="276" r:id="rId15"/>
    <p:sldId id="277" r:id="rId16"/>
    <p:sldId id="267" r:id="rId17"/>
    <p:sldId id="278" r:id="rId18"/>
    <p:sldId id="279" r:id="rId19"/>
    <p:sldId id="281" r:id="rId20"/>
    <p:sldId id="282" r:id="rId21"/>
    <p:sldId id="286" r:id="rId22"/>
    <p:sldId id="283" r:id="rId23"/>
    <p:sldId id="284" r:id="rId24"/>
    <p:sldId id="285" r:id="rId25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35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6.wmf"/><Relationship Id="rId2" Type="http://schemas.openxmlformats.org/officeDocument/2006/relationships/image" Target="../media/image5.wmf"/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9.wmf"/><Relationship Id="rId2" Type="http://schemas.openxmlformats.org/officeDocument/2006/relationships/image" Target="../media/image8.wmf"/><Relationship Id="rId1" Type="http://schemas.openxmlformats.org/officeDocument/2006/relationships/image" Target="../media/image7.png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1.wmf"/></Relationships>
</file>

<file path=ppt/drawings/_rels/vmlDrawing5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png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3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771671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59997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620391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973725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146928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1218250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691713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334285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937582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385305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09810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E4A99-E3A2-4750-92B1-7723C7EDE4D1}" type="datetimeFigureOut">
              <a:rPr lang="ru-RU" smtClean="0"/>
              <a:t>09.09.2021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CFCD7D-E166-48A5-A45B-5766775D482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587110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wmf"/><Relationship Id="rId3" Type="http://schemas.openxmlformats.org/officeDocument/2006/relationships/oleObject" Target="../embeddings/oleObject1.bin"/><Relationship Id="rId7" Type="http://schemas.openxmlformats.org/officeDocument/2006/relationships/oleObject" Target="../embeddings/oleObject3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5.w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wmf"/><Relationship Id="rId3" Type="http://schemas.openxmlformats.org/officeDocument/2006/relationships/oleObject" Target="../embeddings/oleObject4.bin"/><Relationship Id="rId7" Type="http://schemas.openxmlformats.org/officeDocument/2006/relationships/oleObject" Target="../embeddings/oleObject6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image" Target="../media/image8.wmf"/><Relationship Id="rId5" Type="http://schemas.openxmlformats.org/officeDocument/2006/relationships/oleObject" Target="../embeddings/oleObject5.bin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4" Type="http://schemas.openxmlformats.org/officeDocument/2006/relationships/image" Target="../media/image10.w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4.vml"/><Relationship Id="rId4" Type="http://schemas.openxmlformats.org/officeDocument/2006/relationships/image" Target="../media/image11.wmf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9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5.v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6.vml"/><Relationship Id="rId5" Type="http://schemas.openxmlformats.org/officeDocument/2006/relationships/image" Target="../media/image13.png"/><Relationship Id="rId4" Type="http://schemas.openxmlformats.org/officeDocument/2006/relationships/oleObject" Target="../embeddings/oleObject10.bin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b="1" i="1" dirty="0" smtClean="0"/>
              <a:t>Лекция </a:t>
            </a:r>
            <a:r>
              <a:rPr lang="en-US" b="1" i="1" smtClean="0"/>
              <a:t>20</a:t>
            </a:r>
            <a:endParaRPr lang="ru-RU" b="1" i="1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b="1" i="1" dirty="0"/>
              <a:t>Цифро-аналоговые </a:t>
            </a:r>
            <a:r>
              <a:rPr lang="ru-RU" b="1" i="1" dirty="0" smtClean="0"/>
              <a:t>и</a:t>
            </a:r>
            <a:endParaRPr lang="en-US" b="1" i="1" dirty="0" smtClean="0"/>
          </a:p>
          <a:p>
            <a:pPr marL="0" indent="0" algn="ctr">
              <a:buNone/>
            </a:pPr>
            <a:r>
              <a:rPr lang="ru-RU" b="1" i="1" dirty="0" smtClean="0"/>
              <a:t>Аналого-цифровые </a:t>
            </a:r>
            <a:endParaRPr lang="en-US" b="1" i="1" dirty="0" smtClean="0"/>
          </a:p>
          <a:p>
            <a:pPr marL="0" indent="0" algn="ctr">
              <a:buNone/>
            </a:pPr>
            <a:r>
              <a:rPr lang="ru-RU" b="1" i="1" dirty="0" smtClean="0"/>
              <a:t>преобразователи</a:t>
            </a:r>
            <a:r>
              <a:rPr lang="ru-RU" b="1" i="1" dirty="0"/>
              <a:t>.</a:t>
            </a:r>
            <a:endParaRPr lang="ru-RU" b="1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  <a:p>
            <a:pPr marL="0" indent="0" algn="ctr">
              <a:buNone/>
            </a:pPr>
            <a:endParaRPr lang="ru-RU" i="1" dirty="0" smtClean="0"/>
          </a:p>
        </p:txBody>
      </p:sp>
    </p:spTree>
    <p:extLst>
      <p:ext uri="{BB962C8B-B14F-4D97-AF65-F5344CB8AC3E}">
        <p14:creationId xmlns:p14="http://schemas.microsoft.com/office/powerpoint/2010/main" val="9168195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Цифро-аналоговые преобразователи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ru-RU" dirty="0"/>
              <a:t>ЦАП служит для преобразования цифровой информации в аналоговую форму, т.е. выходной сигнал ЦАП в общепринятых единицах измерения тока или напряжения (мВ, В, мА) соответствует численному значению входной кодовой комбинации. </a:t>
            </a:r>
            <a:endParaRPr lang="ru-RU" dirty="0" smtClean="0"/>
          </a:p>
          <a:p>
            <a:pPr algn="just"/>
            <a:r>
              <a:rPr lang="ru-RU" dirty="0"/>
              <a:t>Величина напряжения, соответствующая одной единице цифровой информации, называется шагом квантования </a:t>
            </a:r>
            <a:r>
              <a:rPr lang="el-GR" dirty="0" smtClean="0"/>
              <a:t>Δ</a:t>
            </a:r>
            <a:r>
              <a:rPr lang="en-US" dirty="0" smtClean="0"/>
              <a:t>U</a:t>
            </a:r>
            <a:r>
              <a:rPr lang="ru-RU" dirty="0" smtClean="0"/>
              <a:t>кв.</a:t>
            </a:r>
            <a:r>
              <a:rPr lang="en-US" dirty="0" smtClean="0"/>
              <a:t> </a:t>
            </a:r>
            <a:r>
              <a:rPr lang="ru-RU" dirty="0"/>
              <a:t>При подаче на вход ЦАП последовательной цифровой комбинации, меняющейся от 0 до N, на его выходе появится ступенчато-нарастающее </a:t>
            </a:r>
            <a:r>
              <a:rPr lang="ru-RU" dirty="0" smtClean="0"/>
              <a:t>напряжение</a:t>
            </a:r>
            <a:r>
              <a:rPr lang="en-US" dirty="0" smtClean="0"/>
              <a:t>. </a:t>
            </a:r>
            <a:r>
              <a:rPr lang="ru-RU" dirty="0"/>
              <a:t>Высота каждой ступени соответствует одному шагу квантования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884358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Цифро-аналоговые преобразователи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 </a:t>
            </a:r>
            <a:endParaRPr lang="ru-RU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84" r="6250"/>
          <a:stretch>
            <a:fillRect/>
          </a:stretch>
        </p:blipFill>
        <p:spPr bwMode="auto">
          <a:xfrm>
            <a:off x="2026084" y="1951326"/>
            <a:ext cx="6930880" cy="3560258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984410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ЦАП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260"/>
            <a:ext cx="10515600" cy="481070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dirty="0"/>
              <a:t>Точность преобразования и качество работы ЦАП характеризуют следующие параметры: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относительная </a:t>
            </a:r>
            <a:r>
              <a:rPr lang="ru-RU" dirty="0"/>
              <a:t>разрешающая способность,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абсолютная </a:t>
            </a:r>
            <a:r>
              <a:rPr lang="ru-RU" dirty="0"/>
              <a:t>разрешающая способность,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абсолютная </a:t>
            </a:r>
            <a:r>
              <a:rPr lang="ru-RU" dirty="0"/>
              <a:t>погрешность преобразования,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нелинейность </a:t>
            </a:r>
            <a:r>
              <a:rPr lang="ru-RU" dirty="0"/>
              <a:t>преобразования,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дифференциальная </a:t>
            </a:r>
            <a:r>
              <a:rPr lang="ru-RU" dirty="0"/>
              <a:t>нелинейность,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скорость </a:t>
            </a:r>
            <a:r>
              <a:rPr lang="ru-RU" dirty="0"/>
              <a:t>преобразования (время одного </a:t>
            </a:r>
            <a:r>
              <a:rPr lang="ru-RU" dirty="0" smtClean="0"/>
              <a:t>преобразования)</a:t>
            </a:r>
          </a:p>
          <a:p>
            <a:pPr algn="just">
              <a:lnSpc>
                <a:spcPct val="110000"/>
              </a:lnSpc>
            </a:pPr>
            <a:r>
              <a:rPr lang="ru-RU" dirty="0" smtClean="0"/>
              <a:t>максимальная </a:t>
            </a:r>
            <a:r>
              <a:rPr lang="ru-RU" dirty="0"/>
              <a:t>частота преобразования. </a:t>
            </a:r>
          </a:p>
          <a:p>
            <a:pPr>
              <a:lnSpc>
                <a:spcPct val="11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2469390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ЦАП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9260"/>
                <a:ext cx="10515600" cy="481070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ru-RU" b="1" dirty="0" smtClean="0"/>
                  <a:t>Относительная </a:t>
                </a:r>
                <a:r>
                  <a:rPr lang="ru-RU" b="1" dirty="0"/>
                  <a:t>разрешающая способность </a:t>
                </a:r>
                <a:r>
                  <a:rPr lang="ru-RU" dirty="0"/>
                  <a:t>- это обратная величина от </a:t>
                </a:r>
                <a:r>
                  <a:rPr lang="ru-RU" dirty="0" smtClean="0"/>
                  <a:t>максимального </a:t>
                </a:r>
                <a:r>
                  <a:rPr lang="ru-RU" dirty="0"/>
                  <a:t>числа уровней квантования. </a:t>
                </a:r>
                <a:endParaRPr lang="ru-RU" dirty="0" smtClean="0"/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𝟎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num>
                        <m:den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</m:oMath>
                  </m:oMathPara>
                </a14:m>
                <a:endParaRPr lang="en-US" b="1" dirty="0" smtClean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ru-RU" dirty="0"/>
                  <a:t>здесь n- количество разрядов двоичного числа, подаваемого на вход </a:t>
                </a:r>
                <a:r>
                  <a:rPr lang="ru-RU" dirty="0" smtClean="0"/>
                  <a:t>АЦП</a:t>
                </a:r>
                <a:endParaRPr lang="ru-RU" b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9260"/>
                <a:ext cx="10515600" cy="4810703"/>
              </a:xfrm>
              <a:blipFill rotWithShape="0">
                <a:blip r:embed="rId2"/>
                <a:stretch>
                  <a:fillRect l="-1217" t="-887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8008700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ЦАП</a:t>
            </a:r>
            <a:endParaRPr lang="ru-R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Объект 2"/>
              <p:cNvSpPr>
                <a:spLocks noGrp="1"/>
              </p:cNvSpPr>
              <p:nvPr>
                <p:ph idx="1"/>
              </p:nvPr>
            </p:nvSpPr>
            <p:spPr>
              <a:xfrm>
                <a:off x="838200" y="1479260"/>
                <a:ext cx="10515600" cy="4810703"/>
              </a:xfrm>
            </p:spPr>
            <p:txBody>
              <a:bodyPr>
                <a:normAutofit/>
              </a:bodyPr>
              <a:lstStyle/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ru-RU" b="1" dirty="0" smtClean="0"/>
                  <a:t>Абсолютная </a:t>
                </a:r>
                <a:r>
                  <a:rPr lang="ru-RU" b="1" dirty="0"/>
                  <a:t>разрешающая способность </a:t>
                </a:r>
                <a:r>
                  <a:rPr lang="ru-RU" dirty="0" smtClean="0"/>
                  <a:t>– численно равна шагу квантования. </a:t>
                </a:r>
              </a:p>
              <a:p>
                <a:pPr marL="0" indent="0" algn="just">
                  <a:lnSpc>
                    <a:spcPct val="110000"/>
                  </a:lnSpc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>
                              <a:latin typeface="Cambria Math" panose="02040503050406030204" pitchFamily="18" charset="0"/>
                            </a:rPr>
                            <m:t>𝒅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</a:rPr>
                            <m:t>а</m:t>
                          </m:r>
                        </m:sub>
                      </m:sSub>
                      <m:r>
                        <a:rPr lang="en-US" b="1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1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𝑼</m:t>
                              </m:r>
                            </m:e>
                            <m:sub>
                              <m:r>
                                <a:rPr lang="ru-RU" b="1" i="1" smtClean="0">
                                  <a:latin typeface="Cambria Math" panose="02040503050406030204" pitchFamily="18" charset="0"/>
                                </a:rPr>
                                <m:t>пш</m:t>
                              </m:r>
                            </m:sub>
                          </m:sSub>
                        </m:num>
                        <m:den>
                          <m:sSup>
                            <m:sSupPr>
                              <m:ctrlP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𝟐</m:t>
                              </m:r>
                            </m:e>
                            <m:sup>
                              <m:r>
                                <a:rPr lang="en-US" b="1" i="1" smtClean="0">
                                  <a:latin typeface="Cambria Math" panose="02040503050406030204" pitchFamily="18" charset="0"/>
                                </a:rPr>
                                <m:t>𝒏</m:t>
                              </m:r>
                            </m:sup>
                          </m:sSup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b="1" i="1" smtClean="0">
                              <a:latin typeface="Cambria Math" panose="02040503050406030204" pitchFamily="18" charset="0"/>
                            </a:rPr>
                            <m:t>𝟏</m:t>
                          </m:r>
                        </m:den>
                      </m:f>
                      <m:r>
                        <a:rPr lang="ru-RU" b="1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ru-RU" b="1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∆</m:t>
                      </m:r>
                      <m:sSub>
                        <m:sSubPr>
                          <m:ctrlPr>
                            <a:rPr lang="ru-R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𝑼</m:t>
                          </m:r>
                        </m:e>
                        <m:sub>
                          <m:r>
                            <a:rPr lang="ru-RU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кв</m:t>
                          </m:r>
                        </m:sub>
                      </m:sSub>
                    </m:oMath>
                  </m:oMathPara>
                </a14:m>
                <a:endParaRPr lang="en-US" b="1" dirty="0" smtClean="0"/>
              </a:p>
              <a:p>
                <a:pPr marL="0" indent="0" algn="just">
                  <a:lnSpc>
                    <a:spcPct val="110000"/>
                  </a:lnSpc>
                  <a:buNone/>
                </a:pPr>
                <a:r>
                  <a:rPr lang="ru-RU" dirty="0"/>
                  <a:t>здесь n- количество разрядов двоичного числа, подаваемого на вход </a:t>
                </a:r>
                <a:r>
                  <a:rPr lang="ru-RU" dirty="0" smtClean="0"/>
                  <a:t>АЦП</a:t>
                </a:r>
                <a:endParaRPr lang="ru-RU" b="1" dirty="0" smtClean="0"/>
              </a:p>
            </p:txBody>
          </p:sp>
        </mc:Choice>
        <mc:Fallback xmlns="">
          <p:sp>
            <p:nvSpPr>
              <p:cNvPr id="3" name="Объект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838200" y="1479260"/>
                <a:ext cx="10515600" cy="4810703"/>
              </a:xfrm>
              <a:blipFill rotWithShape="0">
                <a:blip r:embed="rId2"/>
                <a:stretch>
                  <a:fillRect l="-1217" t="-887" r="-1159"/>
                </a:stretch>
              </a:blipFill>
            </p:spPr>
            <p:txBody>
              <a:bodyPr/>
              <a:lstStyle/>
              <a:p>
                <a:r>
                  <a:rPr lang="ru-R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570874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ЦАП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261"/>
            <a:ext cx="10293927" cy="2036040"/>
          </a:xfrm>
        </p:spPr>
        <p:txBody>
          <a:bodyPr>
            <a:normAutofit fontScale="77500" lnSpcReduction="2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b="1" dirty="0"/>
              <a:t>Абсолютная погрешность </a:t>
            </a:r>
            <a:r>
              <a:rPr lang="ru-RU" b="1" dirty="0" smtClean="0"/>
              <a:t>преобразования </a:t>
            </a:r>
            <a:r>
              <a:rPr lang="el-GR" b="1" dirty="0" smtClean="0"/>
              <a:t>δ</a:t>
            </a:r>
            <a:r>
              <a:rPr lang="ru-RU" b="1" dirty="0" err="1" smtClean="0"/>
              <a:t>пш</a:t>
            </a:r>
            <a:r>
              <a:rPr lang="ru-RU" dirty="0" smtClean="0"/>
              <a:t> </a:t>
            </a:r>
            <a:r>
              <a:rPr lang="ru-RU" dirty="0"/>
              <a:t>показывает максимальное отклонение выходного напряжения в точке пересечения с идеальной характеристикой (прямой) на уровне напряжения полной шкалы </a:t>
            </a:r>
            <a:r>
              <a:rPr lang="ru-RU" dirty="0" smtClean="0"/>
              <a:t>.</a:t>
            </a:r>
            <a:r>
              <a:rPr lang="ru-RU" dirty="0"/>
              <a:t> Абсолютная погрешность преобразования оценивается в процентах или же в единицах младшего значащего разряда (МР). При оценке значения абсолютной погрешности преобразования знак напряжения не учитывается</a:t>
            </a:r>
            <a:r>
              <a:rPr lang="ru-RU" dirty="0" smtClean="0"/>
              <a:t> </a:t>
            </a:r>
          </a:p>
          <a:p>
            <a:pPr marL="0" indent="0" algn="just">
              <a:lnSpc>
                <a:spcPct val="110000"/>
              </a:lnSpc>
              <a:buNone/>
            </a:pPr>
            <a:endParaRPr lang="en-US" b="1" dirty="0" smtClean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230" y="3515301"/>
            <a:ext cx="5247698" cy="289687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60221941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ЦАП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261"/>
            <a:ext cx="10515600" cy="1762704"/>
          </a:xfrm>
        </p:spPr>
        <p:txBody>
          <a:bodyPr>
            <a:normAutofit fontScale="92500" lnSpcReduction="2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b="1" dirty="0"/>
              <a:t>Нелинейность преобразования ЦАП</a:t>
            </a:r>
            <a:r>
              <a:rPr lang="ru-RU" dirty="0"/>
              <a:t> </a:t>
            </a:r>
            <a:r>
              <a:rPr lang="el-GR" b="1" dirty="0" smtClean="0"/>
              <a:t>δ</a:t>
            </a:r>
            <a:r>
              <a:rPr lang="ru-RU" b="1" dirty="0" err="1" smtClean="0"/>
              <a:t>лн</a:t>
            </a:r>
            <a:r>
              <a:rPr lang="ru-RU" dirty="0" smtClean="0"/>
              <a:t> </a:t>
            </a:r>
            <a:r>
              <a:rPr lang="ru-RU" dirty="0"/>
              <a:t>определяет максимальное отклонение реальной характеристики от </a:t>
            </a:r>
            <a:r>
              <a:rPr lang="ru-RU" dirty="0" smtClean="0"/>
              <a:t>идеальной.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dirty="0" smtClean="0"/>
              <a:t>Оценивается </a:t>
            </a:r>
            <a:r>
              <a:rPr lang="ru-RU" dirty="0"/>
              <a:t>также в процентах или в единицах младшего значащего разряда.</a:t>
            </a:r>
            <a:r>
              <a:rPr lang="ru-RU" dirty="0" smtClean="0"/>
              <a:t> </a:t>
            </a:r>
            <a:endParaRPr lang="en-US" b="1" dirty="0" smtClean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230" y="3515301"/>
            <a:ext cx="5247698" cy="289687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451998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ЦАП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261"/>
            <a:ext cx="10515600" cy="1762704"/>
          </a:xfrm>
        </p:spPr>
        <p:txBody>
          <a:bodyPr>
            <a:normAutofit fontScale="85000"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b="1" dirty="0"/>
              <a:t>Дифференциальная нелинейность преобразования ЦАП</a:t>
            </a:r>
            <a:r>
              <a:rPr lang="ru-RU" dirty="0"/>
              <a:t> </a:t>
            </a:r>
            <a:r>
              <a:rPr lang="el-GR" b="1" dirty="0" smtClean="0"/>
              <a:t>δ</a:t>
            </a:r>
            <a:r>
              <a:rPr lang="ru-RU" b="1" dirty="0" err="1" smtClean="0"/>
              <a:t>дфлн</a:t>
            </a:r>
            <a:r>
              <a:rPr lang="ru-RU" dirty="0" smtClean="0"/>
              <a:t> </a:t>
            </a:r>
            <a:r>
              <a:rPr lang="ru-RU" dirty="0"/>
              <a:t>численно равна максимальной разности двух соседних приращений (шагов квантования</a:t>
            </a:r>
            <a:r>
              <a:rPr lang="ru-RU" dirty="0" smtClean="0"/>
              <a:t>).</a:t>
            </a:r>
          </a:p>
          <a:p>
            <a:pPr marL="0" indent="0" algn="just">
              <a:lnSpc>
                <a:spcPct val="110000"/>
              </a:lnSpc>
              <a:buNone/>
            </a:pPr>
            <a:r>
              <a:rPr lang="ru-RU" dirty="0"/>
              <a:t>Дифференциальная нелинейность оценивается в младших </a:t>
            </a:r>
            <a:r>
              <a:rPr lang="ru-RU" dirty="0" smtClean="0"/>
              <a:t>значащих разрядах.</a:t>
            </a:r>
            <a:endParaRPr lang="en-US" b="1" dirty="0" smtClean="0"/>
          </a:p>
        </p:txBody>
      </p:sp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41230" y="3515301"/>
            <a:ext cx="5247698" cy="2896872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089600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ЦАП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261"/>
            <a:ext cx="10515600" cy="3577648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b="1" dirty="0" smtClean="0"/>
              <a:t>Время установления выходного напряжения или тока </a:t>
            </a:r>
            <a:r>
              <a:rPr lang="en-US" b="1" dirty="0" smtClean="0"/>
              <a:t>t</a:t>
            </a:r>
            <a:r>
              <a:rPr lang="ru-RU" b="1" dirty="0" smtClean="0"/>
              <a:t>уст</a:t>
            </a:r>
            <a:r>
              <a:rPr lang="ru-RU" dirty="0" smtClean="0"/>
              <a:t> </a:t>
            </a:r>
            <a:r>
              <a:rPr lang="ru-RU" dirty="0"/>
              <a:t>интервал времени от подачи входного двоичного входного кода до вхождения выходного сигнала в заданные пределы. </a:t>
            </a:r>
            <a:endParaRPr lang="en-US" dirty="0" smtClean="0"/>
          </a:p>
          <a:p>
            <a:pPr marL="0" indent="0" algn="just">
              <a:lnSpc>
                <a:spcPct val="110000"/>
              </a:lnSpc>
              <a:buNone/>
            </a:pPr>
            <a:r>
              <a:rPr lang="ru-RU" b="1" dirty="0"/>
              <a:t>Максимальная частота </a:t>
            </a:r>
            <a:r>
              <a:rPr lang="ru-RU" b="1" dirty="0" smtClean="0"/>
              <a:t>преобразования</a:t>
            </a:r>
            <a:r>
              <a:rPr lang="en-US" b="1" dirty="0" smtClean="0"/>
              <a:t> f</a:t>
            </a:r>
            <a:r>
              <a:rPr lang="ru-RU" b="1" dirty="0" err="1" smtClean="0"/>
              <a:t>пр</a:t>
            </a:r>
            <a:r>
              <a:rPr lang="ru-RU" dirty="0" smtClean="0"/>
              <a:t> наибольшая </a:t>
            </a:r>
            <a:r>
              <a:rPr lang="ru-RU" dirty="0"/>
              <a:t>частота дискретизации, при которой параметры ЦАП соответствуют заданным значениям. 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4553584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ЦАП с весовыми резисторами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216890946"/>
              </p:ext>
            </p:extLst>
          </p:nvPr>
        </p:nvGraphicFramePr>
        <p:xfrm>
          <a:off x="2244436" y="1884219"/>
          <a:ext cx="7598818" cy="329045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5" name="Picture" r:id="rId3" imgW="3056452" imgH="1326485" progId="Word.Picture.8">
                  <p:embed/>
                </p:oleObj>
              </mc:Choice>
              <mc:Fallback>
                <p:oleObj name="Picture" r:id="rId3" imgW="3056452" imgH="1326485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436" y="1884219"/>
                        <a:ext cx="7598818" cy="3290454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451843066"/>
              </p:ext>
            </p:extLst>
          </p:nvPr>
        </p:nvGraphicFramePr>
        <p:xfrm>
          <a:off x="2452254" y="5258664"/>
          <a:ext cx="4436246" cy="41477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6" r:id="rId5" imgW="509500" imgH="236969" progId="Microsoft">
                  <p:embed/>
                </p:oleObj>
              </mc:Choice>
              <mc:Fallback>
                <p:oleObj r:id="rId5" imgW="509500" imgH="236969" progId="Microsoft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52254" y="5258664"/>
                        <a:ext cx="4436246" cy="41477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2" name="Объект 1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800742744"/>
              </p:ext>
            </p:extLst>
          </p:nvPr>
        </p:nvGraphicFramePr>
        <p:xfrm>
          <a:off x="7800858" y="5256195"/>
          <a:ext cx="1590973" cy="38402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227" r:id="rId7" imgW="491763" imgH="228720" progId="Microsoft">
                  <p:embed/>
                </p:oleObj>
              </mc:Choice>
              <mc:Fallback>
                <p:oleObj r:id="rId7" imgW="491763" imgH="228720" progId="Microsoft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00858" y="5256195"/>
                        <a:ext cx="1590973" cy="384028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17153184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ЦАП с </a:t>
            </a:r>
            <a:r>
              <a:rPr lang="en-US" dirty="0" smtClean="0"/>
              <a:t>R2R </a:t>
            </a:r>
            <a:r>
              <a:rPr lang="ru-RU" dirty="0" smtClean="0"/>
              <a:t>матрицей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687781" y="1565563"/>
            <a:ext cx="201814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3" name="Объект 1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01413858"/>
              </p:ext>
            </p:extLst>
          </p:nvPr>
        </p:nvGraphicFramePr>
        <p:xfrm>
          <a:off x="2687782" y="1565563"/>
          <a:ext cx="6650180" cy="322118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2" name="Picture" r:id="rId3" imgW="3658273" imgH="1768061" progId="Word.Picture.8">
                  <p:embed/>
                </p:oleObj>
              </mc:Choice>
              <mc:Fallback>
                <p:oleObj name="Picture" r:id="rId3" imgW="3658273" imgH="1768061" progId="Word.Picture.8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287" r="6339"/>
                      <a:stretch>
                        <a:fillRect/>
                      </a:stretch>
                    </p:blipFill>
                    <p:spPr bwMode="auto">
                      <a:xfrm>
                        <a:off x="2687782" y="1565563"/>
                        <a:ext cx="6650180" cy="322118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231696" y="5185361"/>
            <a:ext cx="1141750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5" name="Объект 1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15833903"/>
              </p:ext>
            </p:extLst>
          </p:nvPr>
        </p:nvGraphicFramePr>
        <p:xfrm>
          <a:off x="1231695" y="5185362"/>
          <a:ext cx="5597787" cy="67511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3" r:id="rId5" imgW="513886" imgH="451468" progId="Microsoft">
                  <p:embed/>
                </p:oleObj>
              </mc:Choice>
              <mc:Fallback>
                <p:oleObj r:id="rId5" imgW="513886" imgH="451468" progId="Microsoft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31695" y="5185362"/>
                        <a:ext cx="5597787" cy="67511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6643254" y="5304382"/>
            <a:ext cx="15119032" cy="5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7" name="Объект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037590296"/>
              </p:ext>
            </p:extLst>
          </p:nvPr>
        </p:nvGraphicFramePr>
        <p:xfrm>
          <a:off x="6643254" y="5180451"/>
          <a:ext cx="3257525" cy="68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344" r:id="rId7" imgW="503008" imgH="441910" progId="Microsoft">
                  <p:embed/>
                </p:oleObj>
              </mc:Choice>
              <mc:Fallback>
                <p:oleObj r:id="rId7" imgW="503008" imgH="441910" progId="Microsoft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43254" y="5180451"/>
                        <a:ext cx="3257525" cy="682800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69816081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Преобразователь частота-напряжение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687781" y="1565563"/>
            <a:ext cx="201814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231696" y="5185361"/>
            <a:ext cx="1141750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6643254" y="5304382"/>
            <a:ext cx="15119032" cy="5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470564" y="1638865"/>
            <a:ext cx="1451808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438683024"/>
              </p:ext>
            </p:extLst>
          </p:nvPr>
        </p:nvGraphicFramePr>
        <p:xfrm>
          <a:off x="3470564" y="1638866"/>
          <a:ext cx="4956623" cy="396529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3329" name="Picture" r:id="rId3" imgW="4290060" imgH="3429000" progId="Word.Picture.8">
                  <p:embed/>
                </p:oleObj>
              </mc:Choice>
              <mc:Fallback>
                <p:oleObj name="Picture" r:id="rId3" imgW="4290060" imgH="342900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70564" y="1638866"/>
                        <a:ext cx="4956623" cy="3965298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28003242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Преобразователь ЦАП-ШИМ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2687781" y="1565563"/>
            <a:ext cx="20181453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4" name="Rectangle 6"/>
          <p:cNvSpPr>
            <a:spLocks noChangeArrowheads="1"/>
          </p:cNvSpPr>
          <p:nvPr/>
        </p:nvSpPr>
        <p:spPr bwMode="auto">
          <a:xfrm>
            <a:off x="1231696" y="5185361"/>
            <a:ext cx="1141750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6" name="Rectangle 8"/>
          <p:cNvSpPr>
            <a:spLocks noChangeArrowheads="1"/>
          </p:cNvSpPr>
          <p:nvPr/>
        </p:nvSpPr>
        <p:spPr bwMode="auto">
          <a:xfrm>
            <a:off x="6643254" y="5304382"/>
            <a:ext cx="15119032" cy="534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3470564" y="1638865"/>
            <a:ext cx="14518084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2895600" y="1625874"/>
            <a:ext cx="1853775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10" name="Объект 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4122704599"/>
              </p:ext>
            </p:extLst>
          </p:nvPr>
        </p:nvGraphicFramePr>
        <p:xfrm>
          <a:off x="2895600" y="1625875"/>
          <a:ext cx="5430982" cy="3649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4353" name="Picture" r:id="rId3" imgW="4290060" imgH="2887980" progId="Word.Picture.8">
                  <p:embed/>
                </p:oleObj>
              </mc:Choice>
              <mc:Fallback>
                <p:oleObj name="Picture" r:id="rId3" imgW="4290060" imgH="2887980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5600" y="1625875"/>
                        <a:ext cx="5430982" cy="364962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31023885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Аналого-цифровые преобразователи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/>
            <a:r>
              <a:rPr lang="ru-RU" dirty="0"/>
              <a:t>Аналого-цифровые преобразователи (АЦП) предназначены для преобразования аналоговых (непрерывных) сигналов в цифровую форму. Преобразование аналогового сигнала происходит в определенные моменты времени, которые называются точками отсчета. Количество отсчетов за единицу времени определяет частоту дискретизации (преобразования), которая, в свою очередь, определяется быстродействием и условиями использования АЦП. </a:t>
            </a:r>
            <a:endParaRPr lang="ru-RU" dirty="0" smtClean="0"/>
          </a:p>
          <a:p>
            <a:pPr marL="0" indent="0">
              <a:buNone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51986147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Основные параметры АЦП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479260"/>
            <a:ext cx="10515600" cy="4810703"/>
          </a:xfrm>
        </p:spPr>
        <p:txBody>
          <a:bodyPr>
            <a:normAutofit fontScale="92500" lnSpcReduction="10000"/>
          </a:bodyPr>
          <a:lstStyle/>
          <a:p>
            <a:pPr marL="0" indent="0" algn="just">
              <a:lnSpc>
                <a:spcPct val="110000"/>
              </a:lnSpc>
              <a:buNone/>
            </a:pPr>
            <a:r>
              <a:rPr lang="ru-RU" dirty="0"/>
              <a:t>Точность преобразования и качество работы </a:t>
            </a:r>
            <a:r>
              <a:rPr lang="ru-RU" dirty="0" smtClean="0"/>
              <a:t>АЦП </a:t>
            </a:r>
            <a:r>
              <a:rPr lang="ru-RU" dirty="0"/>
              <a:t>характеризуют следующие параметры: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относительная </a:t>
            </a:r>
            <a:r>
              <a:rPr lang="ru-RU" dirty="0"/>
              <a:t>разрешающая способность,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абсолютная </a:t>
            </a:r>
            <a:r>
              <a:rPr lang="ru-RU" dirty="0"/>
              <a:t>разрешающая способность,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абсолютная </a:t>
            </a:r>
            <a:r>
              <a:rPr lang="ru-RU" dirty="0"/>
              <a:t>погрешность преобразования, 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нелинейность </a:t>
            </a:r>
            <a:r>
              <a:rPr lang="ru-RU" dirty="0"/>
              <a:t>преобразования, </a:t>
            </a:r>
            <a:endParaRPr lang="en-US" dirty="0" smtClean="0"/>
          </a:p>
          <a:p>
            <a:pPr algn="just">
              <a:lnSpc>
                <a:spcPct val="110000"/>
              </a:lnSpc>
            </a:pPr>
            <a:r>
              <a:rPr lang="ru-RU" dirty="0"/>
              <a:t>с</a:t>
            </a:r>
            <a:r>
              <a:rPr lang="ru-RU" dirty="0" smtClean="0"/>
              <a:t>мещение нуля</a:t>
            </a:r>
            <a:r>
              <a:rPr lang="en-US" dirty="0" smtClean="0"/>
              <a:t>,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/>
              <a:t>ч</a:t>
            </a:r>
            <a:r>
              <a:rPr lang="ru-RU" dirty="0" smtClean="0"/>
              <a:t>астота дискретизации</a:t>
            </a:r>
            <a:r>
              <a:rPr lang="en-US" dirty="0" smtClean="0"/>
              <a:t>,</a:t>
            </a:r>
            <a:endParaRPr lang="ru-RU" dirty="0" smtClean="0"/>
          </a:p>
          <a:p>
            <a:pPr algn="just">
              <a:lnSpc>
                <a:spcPct val="110000"/>
              </a:lnSpc>
            </a:pPr>
            <a:r>
              <a:rPr lang="ru-RU" dirty="0" smtClean="0"/>
              <a:t>приведенный уровень шума</a:t>
            </a:r>
            <a:r>
              <a:rPr lang="en-US" dirty="0" smtClean="0"/>
              <a:t>,</a:t>
            </a:r>
            <a:endParaRPr lang="ru-RU" dirty="0"/>
          </a:p>
          <a:p>
            <a:pPr>
              <a:lnSpc>
                <a:spcPct val="110000"/>
              </a:lnSpc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6282036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АЦП прямого преобразования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5" name="Объект 4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164782652"/>
              </p:ext>
            </p:extLst>
          </p:nvPr>
        </p:nvGraphicFramePr>
        <p:xfrm>
          <a:off x="2451388" y="1690687"/>
          <a:ext cx="6519940" cy="366092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5372" name="Picture" r:id="rId3" imgW="3566849" imgH="2004864" progId="Word.Picture.8">
                  <p:embed/>
                </p:oleObj>
              </mc:Choice>
              <mc:Fallback>
                <p:oleObj name="Picture" r:id="rId3" imgW="3566849" imgH="2004864" progId="Word.Picture.8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 l="3865" r="3865"/>
                      <a:stretch>
                        <a:fillRect/>
                      </a:stretch>
                    </p:blipFill>
                    <p:spPr bwMode="auto">
                      <a:xfrm>
                        <a:off x="2451388" y="1690687"/>
                        <a:ext cx="6519940" cy="3660929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8532879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АЦП последовательного приближения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7411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31" r="4805"/>
          <a:stretch>
            <a:fillRect/>
          </a:stretch>
        </p:blipFill>
        <p:spPr bwMode="auto">
          <a:xfrm>
            <a:off x="1092344" y="2088259"/>
            <a:ext cx="6061644" cy="3059316"/>
          </a:xfrm>
          <a:prstGeom prst="rect">
            <a:avLst/>
          </a:prstGeom>
          <a:solidFill>
            <a:srgbClr val="FFFF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95544" y="2374471"/>
            <a:ext cx="153673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graphicFrame>
        <p:nvGraphicFramePr>
          <p:cNvPr id="8" name="Объект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187328839"/>
              </p:ext>
            </p:extLst>
          </p:nvPr>
        </p:nvGraphicFramePr>
        <p:xfrm>
          <a:off x="7495543" y="2374472"/>
          <a:ext cx="4112401" cy="24868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7422" name="Picture" r:id="rId4" imgW="2819865" imgH="1707403" progId="Word.Picture.8">
                  <p:embed/>
                </p:oleObj>
              </mc:Choice>
              <mc:Fallback>
                <p:oleObj name="Picture" r:id="rId4" imgW="2819865" imgH="1707403" progId="Word.Picture.8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95543" y="2374472"/>
                        <a:ext cx="4112401" cy="2486891"/>
                      </a:xfrm>
                      <a:prstGeom prst="rect">
                        <a:avLst/>
                      </a:prstGeom>
                      <a:solidFill>
                        <a:srgbClr val="FFFFFF"/>
                      </a:solidFill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8231701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Сигма-дельта АЦП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95544" y="2374471"/>
            <a:ext cx="153673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44435" y="1631500"/>
            <a:ext cx="205933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0787" y="1525731"/>
            <a:ext cx="7210425" cy="44577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0540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Сигма-дельта АЦП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95544" y="2374471"/>
            <a:ext cx="153673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44435" y="1631500"/>
            <a:ext cx="205933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9727" y="1751244"/>
            <a:ext cx="6088639" cy="3752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402580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Работа дельта-модулятора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95544" y="2374471"/>
            <a:ext cx="153673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44435" y="1631500"/>
            <a:ext cx="205933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746" y="1724897"/>
            <a:ext cx="6544972" cy="1869403"/>
          </a:xfrm>
          <a:prstGeom prst="rect">
            <a:avLst/>
          </a:prstGeom>
        </p:spPr>
      </p:pic>
      <p:pic>
        <p:nvPicPr>
          <p:cNvPr id="12" name="Рисунок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634" y="3906981"/>
            <a:ext cx="7237197" cy="2268471"/>
          </a:xfrm>
          <a:prstGeom prst="rect">
            <a:avLst/>
          </a:prstGeom>
        </p:spPr>
      </p:pic>
      <p:pic>
        <p:nvPicPr>
          <p:cNvPr id="13" name="Рисунок 1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70679" y="1525195"/>
            <a:ext cx="4181475" cy="4419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502564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Конвейерный АЦП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95544" y="2374471"/>
            <a:ext cx="153673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44435" y="1631500"/>
            <a:ext cx="205933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47109" y="2063099"/>
            <a:ext cx="6823364" cy="3194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209186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 smtClean="0"/>
              <a:t>Конвейерный АЦП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95544" y="2374471"/>
            <a:ext cx="153673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44435" y="1631500"/>
            <a:ext cx="205933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10" name="Рисунок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2618" y="1631500"/>
            <a:ext cx="11353800" cy="3846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240384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Ш</a:t>
            </a:r>
            <a:r>
              <a:rPr lang="ru-RU" dirty="0" smtClean="0"/>
              <a:t>ум преобразования</a:t>
            </a:r>
            <a:endParaRPr lang="ru-RU" dirty="0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86691" y="1884218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ru-RU" dirty="0"/>
              <a:t> </a:t>
            </a:r>
          </a:p>
        </p:txBody>
      </p:sp>
      <p:sp>
        <p:nvSpPr>
          <p:cNvPr id="6" name="Rectangle 4"/>
          <p:cNvSpPr>
            <a:spLocks noChangeArrowheads="1"/>
          </p:cNvSpPr>
          <p:nvPr/>
        </p:nvSpPr>
        <p:spPr bwMode="auto">
          <a:xfrm>
            <a:off x="2244435" y="1884218"/>
            <a:ext cx="25882537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9" name="Rectangle 6"/>
          <p:cNvSpPr>
            <a:spLocks noChangeArrowheads="1"/>
          </p:cNvSpPr>
          <p:nvPr/>
        </p:nvSpPr>
        <p:spPr bwMode="auto">
          <a:xfrm>
            <a:off x="4232563" y="5258664"/>
            <a:ext cx="13228280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11" name="Rectangle 8"/>
          <p:cNvSpPr>
            <a:spLocks noChangeArrowheads="1"/>
          </p:cNvSpPr>
          <p:nvPr/>
        </p:nvSpPr>
        <p:spPr bwMode="auto">
          <a:xfrm>
            <a:off x="9047767" y="5305898"/>
            <a:ext cx="20383706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7495544" y="2374471"/>
            <a:ext cx="15367312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2244435" y="1631500"/>
            <a:ext cx="20593398" cy="457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ru-RU"/>
          </a:p>
        </p:txBody>
      </p:sp>
      <p:pic>
        <p:nvPicPr>
          <p:cNvPr id="8" name="Рисунок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0575" y="1514475"/>
            <a:ext cx="10610850" cy="3829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35096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453</Words>
  <Application>Microsoft Office PowerPoint</Application>
  <PresentationFormat>Широкоэкранный</PresentationFormat>
  <Paragraphs>74</Paragraphs>
  <Slides>24</Slides>
  <Notes>0</Notes>
  <HiddenSlides>0</HiddenSlides>
  <MMClips>0</MMClips>
  <ScaleCrop>false</ScaleCrop>
  <HeadingPairs>
    <vt:vector size="8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Внедренные серверы OLE</vt:lpstr>
      </vt:variant>
      <vt:variant>
        <vt:i4>2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Light</vt:lpstr>
      <vt:lpstr>Cambria Math</vt:lpstr>
      <vt:lpstr>Тема Office</vt:lpstr>
      <vt:lpstr>Picture</vt:lpstr>
      <vt:lpstr>Microsoft</vt:lpstr>
      <vt:lpstr>Лекция 20</vt:lpstr>
      <vt:lpstr>Цифро-аналоговые преобразователи</vt:lpstr>
      <vt:lpstr>Цифро-аналоговые преобразователи</vt:lpstr>
      <vt:lpstr>Основные параметры ЦАП</vt:lpstr>
      <vt:lpstr>Основные параметры ЦАП</vt:lpstr>
      <vt:lpstr>Основные параметры ЦАП</vt:lpstr>
      <vt:lpstr>Основные параметры ЦАП</vt:lpstr>
      <vt:lpstr>Основные параметры ЦАП</vt:lpstr>
      <vt:lpstr>Основные параметры ЦАП</vt:lpstr>
      <vt:lpstr>Основные параметры ЦАП</vt:lpstr>
      <vt:lpstr>ЦАП с весовыми резисторами</vt:lpstr>
      <vt:lpstr>ЦАП с R2R матрицей</vt:lpstr>
      <vt:lpstr>Преобразователь частота-напряжение</vt:lpstr>
      <vt:lpstr>Преобразователь ЦАП-ШИМ</vt:lpstr>
      <vt:lpstr>Аналого-цифровые преобразователи</vt:lpstr>
      <vt:lpstr>Основные параметры АЦП</vt:lpstr>
      <vt:lpstr>АЦП прямого преобразования</vt:lpstr>
      <vt:lpstr>АЦП последовательного приближения</vt:lpstr>
      <vt:lpstr>Сигма-дельта АЦП</vt:lpstr>
      <vt:lpstr>Сигма-дельта АЦП</vt:lpstr>
      <vt:lpstr>Работа дельта-модулятора</vt:lpstr>
      <vt:lpstr>Конвейерный АЦП</vt:lpstr>
      <vt:lpstr>Конвейерный АЦП</vt:lpstr>
      <vt:lpstr>Шум преобразования</vt:lpstr>
    </vt:vector>
  </TitlesOfParts>
  <Company>BINP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Логические элементы</dc:title>
  <dc:creator>BINP User</dc:creator>
  <cp:lastModifiedBy>BINP User</cp:lastModifiedBy>
  <cp:revision>29</cp:revision>
  <dcterms:created xsi:type="dcterms:W3CDTF">2020-04-20T08:24:21Z</dcterms:created>
  <dcterms:modified xsi:type="dcterms:W3CDTF">2021-09-09T12:58:14Z</dcterms:modified>
</cp:coreProperties>
</file>