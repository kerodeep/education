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  <p:sldId id="257" r:id="rId3"/>
    <p:sldId id="287" r:id="rId4"/>
    <p:sldId id="288" r:id="rId5"/>
    <p:sldId id="289" r:id="rId6"/>
    <p:sldId id="290" r:id="rId7"/>
    <p:sldId id="292" r:id="rId8"/>
    <p:sldId id="293" r:id="rId9"/>
    <p:sldId id="294" r:id="rId10"/>
    <p:sldId id="295" r:id="rId11"/>
    <p:sldId id="296" r:id="rId12"/>
    <p:sldId id="298" r:id="rId13"/>
    <p:sldId id="297" r:id="rId14"/>
    <p:sldId id="299" r:id="rId15"/>
    <p:sldId id="30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167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99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03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37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69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18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713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42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75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53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81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11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smtClean="0"/>
              <a:t>19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 smtClean="0"/>
              <a:t>Программируемые логические матрицы,</a:t>
            </a:r>
          </a:p>
          <a:p>
            <a:pPr marL="0" indent="0" algn="ctr">
              <a:buNone/>
            </a:pPr>
            <a:r>
              <a:rPr lang="ru-RU" b="1" i="1" dirty="0" smtClean="0"/>
              <a:t>Типы и устройство элементов </a:t>
            </a:r>
            <a:r>
              <a:rPr lang="ru-RU" b="1" i="1" smtClean="0"/>
              <a:t>машинной памяти,</a:t>
            </a:r>
            <a:endParaRPr lang="ru-RU" b="1" i="1" dirty="0" smtClean="0"/>
          </a:p>
          <a:p>
            <a:pPr marL="0" indent="0" algn="ctr">
              <a:buNone/>
            </a:pPr>
            <a:r>
              <a:rPr lang="ru-RU" b="1" i="1" dirty="0" smtClean="0"/>
              <a:t>Устройство процессора,</a:t>
            </a:r>
          </a:p>
          <a:p>
            <a:pPr marL="0" indent="0" algn="ctr">
              <a:buNone/>
            </a:pPr>
            <a:r>
              <a:rPr lang="ru-RU" b="1" i="1" dirty="0" smtClean="0"/>
              <a:t>Примеры архитектуры процессора.</a:t>
            </a:r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</p:txBody>
      </p:sp>
    </p:spTree>
    <p:extLst>
      <p:ext uri="{BB962C8B-B14F-4D97-AF65-F5344CB8AC3E}">
        <p14:creationId xmlns:p14="http://schemas.microsoft.com/office/powerpoint/2010/main" val="14779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Программируемые логические матрицы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ru-RU" dirty="0" smtClean="0"/>
              <a:t>Программируемые логические матрицы (ПЛМ) – это массивы элементарных ячеек содержащих программируемую логическую функцию и триггерный элемент, объединенные с помощью программируемых связей в </a:t>
            </a:r>
            <a:r>
              <a:rPr lang="ru-RU" dirty="0" err="1" smtClean="0"/>
              <a:t>одноранговую</a:t>
            </a:r>
            <a:r>
              <a:rPr lang="ru-RU" dirty="0" smtClean="0"/>
              <a:t> или иерархическую структуру.</a:t>
            </a:r>
          </a:p>
          <a:p>
            <a:pPr algn="just"/>
            <a:r>
              <a:rPr lang="ru-RU" dirty="0" smtClean="0"/>
              <a:t>ПЛМ базово делятся на два типа – </a:t>
            </a:r>
            <a:r>
              <a:rPr lang="en-US" dirty="0" smtClean="0"/>
              <a:t>FPGA (</a:t>
            </a:r>
            <a:r>
              <a:rPr lang="en-US" dirty="0"/>
              <a:t>F</a:t>
            </a:r>
            <a:r>
              <a:rPr lang="en-US" dirty="0" smtClean="0"/>
              <a:t>ield Programming Gate Array) </a:t>
            </a:r>
            <a:r>
              <a:rPr lang="ru-RU" dirty="0" smtClean="0"/>
              <a:t>и </a:t>
            </a:r>
            <a:r>
              <a:rPr lang="en-US" dirty="0"/>
              <a:t>CPLD (Complex Programmable Logic Device</a:t>
            </a:r>
            <a:r>
              <a:rPr lang="en-US" dirty="0" smtClean="0"/>
              <a:t>).</a:t>
            </a:r>
            <a:endParaRPr lang="ru-RU" dirty="0" smtClean="0"/>
          </a:p>
          <a:p>
            <a:pPr algn="just"/>
            <a:r>
              <a:rPr lang="ru-RU" dirty="0" smtClean="0"/>
              <a:t>При этом устройство базового элемента у обоих типов схожее, однако в </a:t>
            </a:r>
            <a:r>
              <a:rPr lang="en-US" dirty="0" smtClean="0"/>
              <a:t>FPGA </a:t>
            </a:r>
            <a:r>
              <a:rPr lang="ru-RU" dirty="0" smtClean="0"/>
              <a:t>такие элементы представлены в большом (5-1</a:t>
            </a:r>
            <a:r>
              <a:rPr lang="en-US" dirty="0" smtClean="0"/>
              <a:t>0</a:t>
            </a:r>
            <a:r>
              <a:rPr lang="ru-RU" dirty="0" smtClean="0"/>
              <a:t>0к) количестве без иерархической структуры, в </a:t>
            </a:r>
            <a:r>
              <a:rPr lang="en-US" dirty="0" smtClean="0"/>
              <a:t>CPLD </a:t>
            </a:r>
            <a:r>
              <a:rPr lang="ru-RU" dirty="0" smtClean="0"/>
              <a:t>используется иерархическое построение, когда из нескольких базовых элементов строится так называемая </a:t>
            </a:r>
            <a:r>
              <a:rPr lang="ru-RU" dirty="0" err="1" smtClean="0"/>
              <a:t>макроячейка</a:t>
            </a:r>
            <a:r>
              <a:rPr lang="ru-RU" dirty="0" smtClean="0"/>
              <a:t>, а уже эти </a:t>
            </a:r>
            <a:r>
              <a:rPr lang="ru-RU" dirty="0" err="1" smtClean="0"/>
              <a:t>мактоячейки</a:t>
            </a:r>
            <a:r>
              <a:rPr lang="ru-RU" dirty="0" smtClean="0"/>
              <a:t> соединяются между собой м выходами устройства программируемыми связями.</a:t>
            </a:r>
            <a:endParaRPr lang="en-US" dirty="0" smtClean="0"/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35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Программируемые логические матрицы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Устройство элементарного блока – </a:t>
            </a:r>
            <a:r>
              <a:rPr lang="en-US" dirty="0" smtClean="0"/>
              <a:t>LUT </a:t>
            </a:r>
            <a:r>
              <a:rPr lang="ru-RU" dirty="0" smtClean="0"/>
              <a:t>элемент.</a:t>
            </a:r>
          </a:p>
          <a:p>
            <a:pPr algn="just"/>
            <a:r>
              <a:rPr lang="en-US" dirty="0"/>
              <a:t>LUT - Look-Up Table, </a:t>
            </a:r>
            <a:r>
              <a:rPr lang="ru-RU" dirty="0"/>
              <a:t>таблица </a:t>
            </a:r>
            <a:r>
              <a:rPr lang="ru-RU" dirty="0" smtClean="0"/>
              <a:t>преобразования</a:t>
            </a:r>
            <a:r>
              <a:rPr lang="en-US" dirty="0"/>
              <a:t>.</a:t>
            </a:r>
            <a:endParaRPr lang="en-US" dirty="0" smtClean="0"/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152" y="2879882"/>
            <a:ext cx="3353800" cy="321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9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Программируемые логические матрицы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err="1" smtClean="0"/>
              <a:t>Макроячейка</a:t>
            </a:r>
            <a:r>
              <a:rPr lang="ru-RU" dirty="0" smtClean="0"/>
              <a:t> </a:t>
            </a:r>
            <a:r>
              <a:rPr lang="en-US" dirty="0" smtClean="0"/>
              <a:t>CPLD.</a:t>
            </a:r>
            <a:r>
              <a:rPr lang="ru-RU" dirty="0" smtClean="0"/>
              <a:t> Пример </a:t>
            </a:r>
            <a:r>
              <a:rPr lang="en-US" dirty="0" smtClean="0"/>
              <a:t>MAX-II Altera (Intel)</a:t>
            </a:r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081" y="2739156"/>
            <a:ext cx="5136325" cy="31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4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Программируемые логические матрицы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Логический элемент </a:t>
            </a:r>
            <a:r>
              <a:rPr lang="en-US" dirty="0" smtClean="0"/>
              <a:t>FPGA. </a:t>
            </a:r>
            <a:r>
              <a:rPr lang="ru-RU" dirty="0" smtClean="0"/>
              <a:t>Пример </a:t>
            </a:r>
            <a:r>
              <a:rPr lang="en-US" dirty="0" smtClean="0"/>
              <a:t>Cyclone-III Altera</a:t>
            </a:r>
          </a:p>
          <a:p>
            <a:pPr algn="just"/>
            <a:endParaRPr lang="en-US" dirty="0" smtClean="0"/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490" y="2610935"/>
            <a:ext cx="4878255" cy="334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14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Программируемые логические матрицы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err="1" smtClean="0"/>
              <a:t>Макроячейка</a:t>
            </a:r>
            <a:r>
              <a:rPr lang="en-US" dirty="0" smtClean="0"/>
              <a:t> </a:t>
            </a:r>
            <a:r>
              <a:rPr lang="ru-RU" dirty="0" smtClean="0"/>
              <a:t>иерархической </a:t>
            </a:r>
            <a:r>
              <a:rPr lang="en-US" dirty="0" smtClean="0"/>
              <a:t>FPGA</a:t>
            </a:r>
            <a:r>
              <a:rPr lang="ru-RU" dirty="0" smtClean="0"/>
              <a:t> Пример </a:t>
            </a:r>
            <a:r>
              <a:rPr lang="en-US" dirty="0" err="1" smtClean="0"/>
              <a:t>Virtex</a:t>
            </a:r>
            <a:r>
              <a:rPr lang="ru-RU" dirty="0" smtClean="0"/>
              <a:t> </a:t>
            </a:r>
            <a:r>
              <a:rPr lang="en-US" dirty="0" smtClean="0"/>
              <a:t>6</a:t>
            </a:r>
            <a:r>
              <a:rPr lang="ru-RU" dirty="0" smtClean="0"/>
              <a:t> </a:t>
            </a:r>
            <a:r>
              <a:rPr lang="en-US" dirty="0"/>
              <a:t>Xilinx </a:t>
            </a:r>
            <a:endParaRPr lang="en-US" dirty="0" smtClean="0"/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975" y="2476005"/>
            <a:ext cx="3614074" cy="427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595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Программируемые логические матрицы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Соединение базовых элементов</a:t>
            </a:r>
            <a:endParaRPr lang="en-US" dirty="0" smtClean="0"/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613" y="2399554"/>
            <a:ext cx="5106923" cy="367393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336" y="3439638"/>
            <a:ext cx="28575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72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Программируемые логические матрицы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Хранение конфигурации программируемой логической матрицы может осуществляться во встроенной энергонезависимой памяти или в оперативной памяти. Для </a:t>
            </a:r>
            <a:r>
              <a:rPr lang="en-US" dirty="0" smtClean="0"/>
              <a:t>CPLD</a:t>
            </a:r>
            <a:r>
              <a:rPr lang="ru-RU" dirty="0" smtClean="0"/>
              <a:t> используется, как правило первый вариант, для </a:t>
            </a:r>
            <a:r>
              <a:rPr lang="en-US" dirty="0" smtClean="0"/>
              <a:t>FPGA </a:t>
            </a:r>
            <a:r>
              <a:rPr lang="ru-RU" dirty="0" smtClean="0"/>
              <a:t> - второй, в оперативную память программа загружается из внешнего устройства памяти. Плюс такого варианта – возможность изменения конфигурации в процессе работы.</a:t>
            </a:r>
          </a:p>
          <a:p>
            <a:pPr algn="just"/>
            <a:r>
              <a:rPr lang="ru-RU" dirty="0" smtClean="0"/>
              <a:t>Для составления программы используются много разных вариантов, самые распространенные: трансляция схемы,</a:t>
            </a:r>
            <a:r>
              <a:rPr lang="en-US" dirty="0" smtClean="0"/>
              <a:t> HDL (</a:t>
            </a:r>
            <a:r>
              <a:rPr lang="ru-RU" dirty="0" smtClean="0"/>
              <a:t>язык </a:t>
            </a:r>
            <a:r>
              <a:rPr lang="ru-RU" dirty="0"/>
              <a:t>описания аппаратуры</a:t>
            </a:r>
            <a:r>
              <a:rPr lang="en-US" dirty="0" smtClean="0"/>
              <a:t>) Verilog</a:t>
            </a:r>
            <a:r>
              <a:rPr lang="ru-RU" dirty="0" smtClean="0"/>
              <a:t>, язык описания </a:t>
            </a:r>
            <a:r>
              <a:rPr lang="en-US" dirty="0" smtClean="0"/>
              <a:t>VHDL</a:t>
            </a:r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6896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Элементы памяти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Энергонезависимая память (ПЗУ).</a:t>
            </a:r>
          </a:p>
          <a:p>
            <a:pPr marL="0" indent="0" algn="just">
              <a:buNone/>
            </a:pPr>
            <a:r>
              <a:rPr lang="ru-RU" dirty="0" smtClean="0"/>
              <a:t>	Устройство ячейки </a:t>
            </a:r>
            <a:r>
              <a:rPr lang="en-US" dirty="0" smtClean="0"/>
              <a:t>Flash</a:t>
            </a:r>
            <a:r>
              <a:rPr lang="ru-RU" dirty="0" smtClean="0"/>
              <a:t> </a:t>
            </a:r>
            <a:endParaRPr lang="en-US" dirty="0" smtClean="0"/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228" y="2856016"/>
            <a:ext cx="4288971" cy="321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43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Элементы памяти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Энергонезависимая память (ПЗУ).</a:t>
            </a:r>
          </a:p>
          <a:p>
            <a:pPr marL="0" indent="0" algn="just">
              <a:buNone/>
            </a:pPr>
            <a:r>
              <a:rPr lang="ru-RU" dirty="0" smtClean="0"/>
              <a:t>	Организация памяти</a:t>
            </a:r>
            <a:endParaRPr lang="en-US" dirty="0" smtClean="0"/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992" y="3105206"/>
            <a:ext cx="3001989" cy="336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Элементы памяти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Оперативная память (ОЗУ).</a:t>
            </a:r>
          </a:p>
          <a:p>
            <a:pPr marL="0" indent="0" algn="just">
              <a:buNone/>
            </a:pPr>
            <a:r>
              <a:rPr lang="ru-RU" dirty="0" smtClean="0"/>
              <a:t>	</a:t>
            </a:r>
            <a:r>
              <a:rPr lang="en-US" dirty="0" smtClean="0"/>
              <a:t>SRAM (</a:t>
            </a:r>
            <a:r>
              <a:rPr lang="ru-RU" dirty="0" smtClean="0"/>
              <a:t>статическая</a:t>
            </a:r>
            <a:r>
              <a:rPr lang="en-US" dirty="0" smtClean="0"/>
              <a:t>)</a:t>
            </a:r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465" y="2821043"/>
            <a:ext cx="4587149" cy="367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41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Элементы памяти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Оперативная память (ОЗУ).</a:t>
            </a:r>
          </a:p>
          <a:p>
            <a:pPr marL="0" indent="0" algn="just">
              <a:buNone/>
            </a:pPr>
            <a:r>
              <a:rPr lang="ru-RU" dirty="0" smtClean="0"/>
              <a:t>	</a:t>
            </a:r>
            <a:r>
              <a:rPr lang="ru-RU" dirty="0"/>
              <a:t>Организация памяти</a:t>
            </a:r>
            <a:endParaRPr lang="en-US" dirty="0"/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965" y="2801072"/>
            <a:ext cx="6276190" cy="3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280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Элементы памяти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Оперативная память (ОЗУ).</a:t>
            </a:r>
          </a:p>
          <a:p>
            <a:pPr marL="0" indent="0" algn="just">
              <a:buNone/>
            </a:pPr>
            <a:r>
              <a:rPr lang="ru-RU" dirty="0" smtClean="0"/>
              <a:t>	</a:t>
            </a:r>
            <a:r>
              <a:rPr lang="en-US" dirty="0" smtClean="0"/>
              <a:t>DRAM (</a:t>
            </a:r>
            <a:r>
              <a:rPr lang="ru-RU" dirty="0" smtClean="0"/>
              <a:t>динамическая</a:t>
            </a:r>
            <a:r>
              <a:rPr lang="en-US" dirty="0" smtClean="0"/>
              <a:t>)</a:t>
            </a:r>
          </a:p>
          <a:p>
            <a:pPr marL="0" indent="0" algn="just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34" y="3069797"/>
            <a:ext cx="2533333" cy="238095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546" y="2885703"/>
            <a:ext cx="3115204" cy="289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46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Процессор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Архитектура Фон-Неймана</a:t>
            </a:r>
          </a:p>
          <a:p>
            <a:pPr marL="0" indent="0" algn="just">
              <a:buNone/>
            </a:pPr>
            <a:r>
              <a:rPr lang="ru-RU" dirty="0" smtClean="0"/>
              <a:t>	</a:t>
            </a:r>
            <a:endParaRPr lang="ru-RU" dirty="0"/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208" y="2300294"/>
            <a:ext cx="5759532" cy="379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81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Процессор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mtClean="0"/>
              <a:t>Гарвардская архитектура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	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721" y="2720295"/>
            <a:ext cx="5649374" cy="359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565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308</Words>
  <Application>Microsoft Office PowerPoint</Application>
  <PresentationFormat>Широкоэкранный</PresentationFormat>
  <Paragraphs>47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Лекция 19</vt:lpstr>
      <vt:lpstr>Программируемые логические матрицы</vt:lpstr>
      <vt:lpstr>Программируемые логические матрицы</vt:lpstr>
      <vt:lpstr>Программируемые логические матрицы</vt:lpstr>
      <vt:lpstr>Программируемые логические матрицы</vt:lpstr>
      <vt:lpstr>Программируемые логические матрицы</vt:lpstr>
      <vt:lpstr>Программируемые логические матрицы</vt:lpstr>
      <vt:lpstr>Программируемые логические матрицы</vt:lpstr>
      <vt:lpstr>Элементы памяти</vt:lpstr>
      <vt:lpstr>Элементы памяти</vt:lpstr>
      <vt:lpstr>Элементы памяти</vt:lpstr>
      <vt:lpstr>Элементы памяти</vt:lpstr>
      <vt:lpstr>Элементы памяти</vt:lpstr>
      <vt:lpstr>Процессор</vt:lpstr>
      <vt:lpstr>Процессор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Логические элементы</dc:title>
  <dc:creator>BINP User</dc:creator>
  <cp:lastModifiedBy>BINP User</cp:lastModifiedBy>
  <cp:revision>42</cp:revision>
  <dcterms:created xsi:type="dcterms:W3CDTF">2020-04-20T08:24:21Z</dcterms:created>
  <dcterms:modified xsi:type="dcterms:W3CDTF">2021-09-09T12:55:50Z</dcterms:modified>
</cp:coreProperties>
</file>