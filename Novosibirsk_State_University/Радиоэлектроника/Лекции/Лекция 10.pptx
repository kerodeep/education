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80" r:id="rId3"/>
    <p:sldId id="306" r:id="rId4"/>
    <p:sldId id="308" r:id="rId5"/>
    <p:sldId id="310" r:id="rId6"/>
    <p:sldId id="312" r:id="rId7"/>
    <p:sldId id="314" r:id="rId8"/>
    <p:sldId id="315" r:id="rId9"/>
    <p:sldId id="313" r:id="rId10"/>
    <p:sldId id="316" r:id="rId11"/>
    <p:sldId id="317" r:id="rId12"/>
    <p:sldId id="318" r:id="rId13"/>
    <p:sldId id="319" r:id="rId14"/>
    <p:sldId id="320" r:id="rId15"/>
    <p:sldId id="325" r:id="rId16"/>
    <p:sldId id="321" r:id="rId17"/>
    <p:sldId id="322" r:id="rId18"/>
    <p:sldId id="323" r:id="rId19"/>
    <p:sldId id="326" r:id="rId20"/>
    <p:sldId id="324" r:id="rId21"/>
    <p:sldId id="311" r:id="rId22"/>
    <p:sldId id="327" r:id="rId23"/>
    <p:sldId id="328" r:id="rId24"/>
    <p:sldId id="329" r:id="rId25"/>
    <p:sldId id="331" r:id="rId26"/>
    <p:sldId id="332" r:id="rId27"/>
    <p:sldId id="333" r:id="rId28"/>
    <p:sldId id="335" r:id="rId29"/>
    <p:sldId id="330" r:id="rId30"/>
    <p:sldId id="334" r:id="rId31"/>
    <p:sldId id="336" r:id="rId32"/>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autoAdjust="0"/>
  </p:normalViewPr>
  <p:slideViewPr>
    <p:cSldViewPr snapToGrid="0">
      <p:cViewPr varScale="1">
        <p:scale>
          <a:sx n="114" d="100"/>
          <a:sy n="114" d="100"/>
        </p:scale>
        <p:origin x="354" y="10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219159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75774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573028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497264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10919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70412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518047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1050089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316898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7522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DD32AA0A-C727-452B-8E2D-EB79C39F6205}" type="slidenum">
              <a:rPr lang="ru-RU" smtClean="0"/>
              <a:pPr/>
              <a:t>‹#›</a:t>
            </a:fld>
            <a:endParaRPr lang="ru-RU"/>
          </a:p>
        </p:txBody>
      </p:sp>
    </p:spTree>
    <p:extLst>
      <p:ext uri="{BB962C8B-B14F-4D97-AF65-F5344CB8AC3E}">
        <p14:creationId xmlns:p14="http://schemas.microsoft.com/office/powerpoint/2010/main" val="2670513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87F890-8936-473A-AEE0-9462A4D15301}" type="datetimeFigureOut">
              <a:rPr lang="ru-RU" smtClean="0"/>
              <a:pPr/>
              <a:t>09.09.2021</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2AA0A-C727-452B-8E2D-EB79C39F6205}" type="slidenum">
              <a:rPr lang="ru-RU" smtClean="0"/>
              <a:pPr/>
              <a:t>‹#›</a:t>
            </a:fld>
            <a:endParaRPr lang="ru-RU"/>
          </a:p>
        </p:txBody>
      </p:sp>
    </p:spTree>
    <p:extLst>
      <p:ext uri="{BB962C8B-B14F-4D97-AF65-F5344CB8AC3E}">
        <p14:creationId xmlns:p14="http://schemas.microsoft.com/office/powerpoint/2010/main" val="267522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i="1" dirty="0" smtClean="0"/>
              <a:t>Лекция </a:t>
            </a:r>
            <a:r>
              <a:rPr lang="en-US" b="1" i="1" smtClean="0"/>
              <a:t>10</a:t>
            </a:r>
            <a:endParaRPr lang="ru-RU" b="1" i="1" dirty="0"/>
          </a:p>
        </p:txBody>
      </p:sp>
      <p:sp>
        <p:nvSpPr>
          <p:cNvPr id="3" name="Объект 2"/>
          <p:cNvSpPr>
            <a:spLocks noGrp="1"/>
          </p:cNvSpPr>
          <p:nvPr>
            <p:ph idx="1"/>
          </p:nvPr>
        </p:nvSpPr>
        <p:spPr/>
        <p:txBody>
          <a:bodyPr/>
          <a:lstStyle/>
          <a:p>
            <a:pPr marL="0" indent="0" algn="ctr">
              <a:buNone/>
            </a:pPr>
            <a:r>
              <a:rPr lang="ru-RU" b="1" i="1" dirty="0" smtClean="0"/>
              <a:t>Нелинейные цепи</a:t>
            </a:r>
            <a:endParaRPr lang="ru-RU" i="1" dirty="0" smtClean="0"/>
          </a:p>
          <a:p>
            <a:pPr marL="0" indent="0" algn="ctr">
              <a:buNone/>
            </a:pPr>
            <a:endParaRPr lang="ru-RU" i="1" dirty="0" smtClean="0"/>
          </a:p>
          <a:p>
            <a:pPr marL="0" indent="0" algn="ctr">
              <a:buNone/>
            </a:pPr>
            <a:endParaRPr lang="ru-RU" i="1" dirty="0" smtClean="0"/>
          </a:p>
          <a:p>
            <a:pPr marL="0" indent="0" algn="ctr">
              <a:buNone/>
            </a:pPr>
            <a:endParaRPr lang="ru-RU" i="1" dirty="0" smtClean="0"/>
          </a:p>
        </p:txBody>
      </p:sp>
    </p:spTree>
    <p:extLst>
      <p:ext uri="{BB962C8B-B14F-4D97-AF65-F5344CB8AC3E}">
        <p14:creationId xmlns:p14="http://schemas.microsoft.com/office/powerpoint/2010/main" val="27955526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Что есть нелинейные цепи</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Ранее в курсе рассматривались линейные электрические цепи. Это такие цепи, параметры которых – а под параметрами понимается связь между током через элемент и напряжением на элементе задается линейным уравнением. Эта зависимость может описываться дифференциальным уравнением или интегральным – тогда элемент как бы помнит свое предыдущее состояние и называется реактивным элементом. При расчете переходным процессов в системе уравнений была зависимость от конкретного момента времени (момента коммутации), в остальных задачах параметры электрических схем не зависели от выбора момента времени. Такие линейные схемы, которые описываются дифференциальными уравнениями с коэффициентами не зависящими ни от времени ни от величины сигналов называют </a:t>
            </a:r>
            <a:r>
              <a:rPr lang="ru-RU" b="1" dirty="0" smtClean="0"/>
              <a:t>линейными инвариантными по времени</a:t>
            </a:r>
            <a:r>
              <a:rPr lang="ru-RU" dirty="0" smtClean="0"/>
              <a:t> цепями.</a:t>
            </a:r>
            <a:endParaRPr lang="ru-RU" dirty="0"/>
          </a:p>
        </p:txBody>
      </p:sp>
    </p:spTree>
    <p:extLst>
      <p:ext uri="{BB962C8B-B14F-4D97-AF65-F5344CB8AC3E}">
        <p14:creationId xmlns:p14="http://schemas.microsoft.com/office/powerpoint/2010/main" val="28896982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Что есть нелинейные цепи</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При описании электронных устройств однако часто возникает ситуация что вышеописанные условия не выполняются:</a:t>
            </a:r>
          </a:p>
          <a:p>
            <a:pPr algn="just"/>
            <a:r>
              <a:rPr lang="ru-RU" dirty="0" smtClean="0"/>
              <a:t>Коэффициенты в уравнениях, описывающих систему зависят от величины сигнала (в том числе от предыстории изменения этой величины)  - такие системы называют </a:t>
            </a:r>
            <a:r>
              <a:rPr lang="ru-RU" b="1" dirty="0" smtClean="0"/>
              <a:t>нелинейными цепями</a:t>
            </a:r>
            <a:r>
              <a:rPr lang="ru-RU" dirty="0" smtClean="0"/>
              <a:t>.</a:t>
            </a:r>
          </a:p>
          <a:p>
            <a:pPr algn="just"/>
            <a:r>
              <a:rPr lang="ru-RU" dirty="0" smtClean="0"/>
              <a:t>Коэффициенты в уравнениях зависят от времени – такие системы называют </a:t>
            </a:r>
            <a:r>
              <a:rPr lang="ru-RU" b="1" dirty="0" smtClean="0"/>
              <a:t>параметрическими цепями</a:t>
            </a:r>
            <a:r>
              <a:rPr lang="ru-RU" dirty="0" smtClean="0"/>
              <a:t>.</a:t>
            </a:r>
            <a:endParaRPr lang="ru-RU" dirty="0"/>
          </a:p>
        </p:txBody>
      </p:sp>
    </p:spTree>
    <p:extLst>
      <p:ext uri="{BB962C8B-B14F-4D97-AF65-F5344CB8AC3E}">
        <p14:creationId xmlns:p14="http://schemas.microsoft.com/office/powerpoint/2010/main" val="32446584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Что есть нелинейные цепи</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При описании </a:t>
            </a:r>
            <a:r>
              <a:rPr lang="ru-RU" b="1" dirty="0" smtClean="0"/>
              <a:t>любых</a:t>
            </a:r>
            <a:r>
              <a:rPr lang="ru-RU" dirty="0" smtClean="0"/>
              <a:t> электрических цепей можно и нужно применять законы Кирхгоффа. Они, по сути, есть следствие законов сохранения энергии и сохранения заряда. Соответственно, всегда можно получить систему уравнений, описывающих электрическую цепь. Однако, в случае нелинейных цепей </a:t>
            </a:r>
            <a:r>
              <a:rPr lang="ru-RU" b="1" dirty="0" smtClean="0"/>
              <a:t>аналитическое решение </a:t>
            </a:r>
            <a:r>
              <a:rPr lang="ru-RU" dirty="0" smtClean="0"/>
              <a:t>этой системы в общем виде </a:t>
            </a:r>
            <a:r>
              <a:rPr lang="ru-RU" b="1" dirty="0" smtClean="0"/>
              <a:t>не существует</a:t>
            </a:r>
            <a:r>
              <a:rPr lang="ru-RU" dirty="0" smtClean="0"/>
              <a:t>. Для описания таких цепей, поэтому, используют </a:t>
            </a:r>
            <a:r>
              <a:rPr lang="ru-RU" b="1" dirty="0" smtClean="0"/>
              <a:t>приближенные методы</a:t>
            </a:r>
            <a:r>
              <a:rPr lang="ru-RU" dirty="0" smtClean="0"/>
              <a:t>.</a:t>
            </a:r>
          </a:p>
          <a:p>
            <a:pPr marL="0" indent="0" algn="just">
              <a:buNone/>
            </a:pPr>
            <a:r>
              <a:rPr lang="ru-RU" dirty="0" smtClean="0"/>
              <a:t>Выбор метода, в первую очередь, определяется характером функционирования цепи, областью применения цепи, а уже затем характеристиками элементов в эту цепь входящих.</a:t>
            </a:r>
            <a:endParaRPr lang="ru-RU" dirty="0"/>
          </a:p>
        </p:txBody>
      </p:sp>
    </p:spTree>
    <p:extLst>
      <p:ext uri="{BB962C8B-B14F-4D97-AF65-F5344CB8AC3E}">
        <p14:creationId xmlns:p14="http://schemas.microsoft.com/office/powerpoint/2010/main" val="29910273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Характеристики нелинейных элементов</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Так же как и для линейных элементов, связь тока и напряжения в нелинейном элементе может зависеть не только от мгновенных значений тока и напряжения, но и от предыстории. </a:t>
            </a:r>
          </a:p>
          <a:p>
            <a:pPr algn="just"/>
            <a:r>
              <a:rPr lang="ru-RU" dirty="0" smtClean="0"/>
              <a:t>Если такой зависимости нет, то нелинейный элемент называют безынерционным или </a:t>
            </a:r>
            <a:r>
              <a:rPr lang="ru-RU" b="1" dirty="0" smtClean="0"/>
              <a:t>резистивным</a:t>
            </a:r>
            <a:r>
              <a:rPr lang="ru-RU" dirty="0" smtClean="0"/>
              <a:t>. </a:t>
            </a:r>
          </a:p>
          <a:p>
            <a:pPr algn="just"/>
            <a:r>
              <a:rPr lang="ru-RU" dirty="0" smtClean="0"/>
              <a:t>Если зависимость от предыстории есть, то такой элемент называют </a:t>
            </a:r>
            <a:r>
              <a:rPr lang="ru-RU" b="1" dirty="0" smtClean="0"/>
              <a:t>инерционным</a:t>
            </a:r>
            <a:r>
              <a:rPr lang="ru-RU" dirty="0" smtClean="0"/>
              <a:t>. При этом может быть возможным разделение медленно меняющейся параметрической части и нелинейной резистивной. Но такой возможности может и не быть.</a:t>
            </a:r>
            <a:endParaRPr lang="ru-RU" dirty="0"/>
          </a:p>
        </p:txBody>
      </p:sp>
    </p:spTree>
    <p:extLst>
      <p:ext uri="{BB962C8B-B14F-4D97-AF65-F5344CB8AC3E}">
        <p14:creationId xmlns:p14="http://schemas.microsoft.com/office/powerpoint/2010/main" val="27375725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Характеристики нелинейных элементов</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В любом случае для описания характеристик нелинейных элементов используется </a:t>
            </a:r>
            <a:r>
              <a:rPr lang="ru-RU" b="1" dirty="0" smtClean="0"/>
              <a:t>Вольт-амперная характеристика (ВАХ)</a:t>
            </a:r>
            <a:r>
              <a:rPr lang="ru-RU" dirty="0" smtClean="0"/>
              <a:t>. Это наиболее общая характеристика, прямо характеризующая связь между током и напряжением на элементе. </a:t>
            </a:r>
          </a:p>
          <a:p>
            <a:pPr marL="0" indent="0" algn="just">
              <a:buNone/>
            </a:pPr>
            <a:r>
              <a:rPr lang="ru-RU" dirty="0" smtClean="0"/>
              <a:t>В случае </a:t>
            </a:r>
            <a:r>
              <a:rPr lang="ru-RU" b="1" dirty="0" smtClean="0"/>
              <a:t>резистивного нелинейного элемента </a:t>
            </a:r>
            <a:r>
              <a:rPr lang="ru-RU" dirty="0" smtClean="0"/>
              <a:t>ВАХ обычно может быть изображена в виде некоторой аналитической функции допускающей разложение в ряд Тейлора. </a:t>
            </a:r>
          </a:p>
          <a:p>
            <a:pPr marL="0" indent="0" algn="just">
              <a:buNone/>
            </a:pPr>
            <a:r>
              <a:rPr lang="ru-RU" dirty="0" smtClean="0"/>
              <a:t>Эту неизменную во времени характеристику называют </a:t>
            </a:r>
            <a:r>
              <a:rPr lang="ru-RU" b="1" dirty="0" smtClean="0"/>
              <a:t>Статической ВАХ</a:t>
            </a:r>
          </a:p>
          <a:p>
            <a:pPr marL="0" indent="0" algn="just">
              <a:buNone/>
            </a:pPr>
            <a:r>
              <a:rPr lang="ru-RU" dirty="0" smtClean="0"/>
              <a:t>Если элемент резистивный, но его характеристика изменяется в зависимости от некоторого специального параметра – говорят про </a:t>
            </a:r>
            <a:r>
              <a:rPr lang="ru-RU" b="1" dirty="0" smtClean="0"/>
              <a:t>Семейство ВАХ нелинейного элемента</a:t>
            </a:r>
            <a:r>
              <a:rPr lang="ru-RU" dirty="0" smtClean="0"/>
              <a:t>.</a:t>
            </a:r>
          </a:p>
        </p:txBody>
      </p:sp>
    </p:spTree>
    <p:extLst>
      <p:ext uri="{BB962C8B-B14F-4D97-AF65-F5344CB8AC3E}">
        <p14:creationId xmlns:p14="http://schemas.microsoft.com/office/powerpoint/2010/main" val="42848199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Характеристики нелинейных элементов</a:t>
            </a:r>
            <a:endParaRPr lang="ru-RU" dirty="0"/>
          </a:p>
        </p:txBody>
      </p:sp>
      <p:sp>
        <p:nvSpPr>
          <p:cNvPr id="3" name="Объект 2"/>
          <p:cNvSpPr>
            <a:spLocks noGrp="1"/>
          </p:cNvSpPr>
          <p:nvPr>
            <p:ph idx="1"/>
          </p:nvPr>
        </p:nvSpPr>
        <p:spPr/>
        <p:txBody>
          <a:bodyPr>
            <a:normAutofit fontScale="92500"/>
          </a:bodyPr>
          <a:lstStyle/>
          <a:p>
            <a:pPr marL="0" indent="0" algn="just">
              <a:buNone/>
            </a:pPr>
            <a:r>
              <a:rPr lang="ru-RU" dirty="0" smtClean="0"/>
              <a:t>Для </a:t>
            </a:r>
            <a:r>
              <a:rPr lang="ru-RU" b="1" dirty="0" smtClean="0"/>
              <a:t>инерционного нелинейного элемента </a:t>
            </a:r>
            <a:r>
              <a:rPr lang="ru-RU" dirty="0" smtClean="0"/>
              <a:t>– ВАХ в общем виде это некоторое нелинейное дифференциально-интегральное уравнение. </a:t>
            </a:r>
          </a:p>
          <a:p>
            <a:pPr marL="0" indent="0" algn="just">
              <a:buNone/>
            </a:pPr>
            <a:r>
              <a:rPr lang="ru-RU" dirty="0" smtClean="0"/>
              <a:t>Однако, если элемент допускает разделение на параметрическую часть и резистивную нелинейную, то ВАХ может применяться для этой нелинейной части отдельно и она будет так же допускать разложение в ряд, при этом эта ВАХ будет медленно изменяться – что соответствует зависимости коэффициентов этого разложения от времени, или от некоторого кумулятивного параметра.</a:t>
            </a:r>
          </a:p>
          <a:p>
            <a:pPr marL="0" indent="0" algn="just">
              <a:buNone/>
            </a:pPr>
            <a:r>
              <a:rPr lang="ru-RU" dirty="0" smtClean="0"/>
              <a:t>Другой частный случай инерционного нелинейного элемента – когда элемент в целом есть некоторый реактивный элемент – но его индуктивность или емкость имеют зависимость от входного сигнала.  </a:t>
            </a:r>
          </a:p>
          <a:p>
            <a:pPr marL="0" indent="0" algn="just">
              <a:buNone/>
            </a:pPr>
            <a:endParaRPr lang="ru-RU" dirty="0"/>
          </a:p>
          <a:p>
            <a:pPr marL="0" indent="0" algn="just">
              <a:buNone/>
            </a:pPr>
            <a:endParaRPr lang="ru-RU" dirty="0" smtClean="0"/>
          </a:p>
          <a:p>
            <a:pPr marL="0" indent="0" algn="just">
              <a:buNone/>
            </a:pPr>
            <a:endParaRPr lang="ru-RU" dirty="0" smtClean="0"/>
          </a:p>
        </p:txBody>
      </p:sp>
    </p:spTree>
    <p:extLst>
      <p:ext uri="{BB962C8B-B14F-4D97-AF65-F5344CB8AC3E}">
        <p14:creationId xmlns:p14="http://schemas.microsoft.com/office/powerpoint/2010/main" val="11084527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Характеристики нелинейных элементов</a:t>
            </a:r>
            <a:endParaRPr lang="ru-RU" dirty="0"/>
          </a:p>
        </p:txBody>
      </p:sp>
      <p:sp>
        <p:nvSpPr>
          <p:cNvPr id="3" name="Объект 2"/>
          <p:cNvSpPr>
            <a:spLocks noGrp="1"/>
          </p:cNvSpPr>
          <p:nvPr>
            <p:ph idx="1"/>
          </p:nvPr>
        </p:nvSpPr>
        <p:spPr/>
        <p:txBody>
          <a:bodyPr>
            <a:normAutofit fontScale="92500" lnSpcReduction="20000"/>
          </a:bodyPr>
          <a:lstStyle/>
          <a:p>
            <a:pPr marL="0" indent="0" algn="just">
              <a:buNone/>
            </a:pPr>
            <a:r>
              <a:rPr lang="ru-RU" dirty="0" smtClean="0"/>
              <a:t>Такой элемент можно характеризовать зависимостью изменяющегося параметра реактивного элемента. Такие элементы встречаются (правильнее сказать используются) довольно часто. При этом часто можно считать изменение параметра медленным и рассчитывать для каждой конкретной рабочей точки (текущего набора мгновенных токов и напряжений) систему как линейную.</a:t>
            </a:r>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r>
              <a:rPr lang="ru-RU" dirty="0" smtClean="0"/>
              <a:t>Индуктивность с насыщением			Варикап</a:t>
            </a:r>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endParaRPr lang="ru-RU" dirty="0" smtClean="0"/>
          </a:p>
        </p:txBody>
      </p:sp>
      <p:pic>
        <p:nvPicPr>
          <p:cNvPr id="4" name="Рисунок 3"/>
          <p:cNvPicPr>
            <a:picLocks noChangeAspect="1"/>
          </p:cNvPicPr>
          <p:nvPr/>
        </p:nvPicPr>
        <p:blipFill>
          <a:blip r:embed="rId2"/>
          <a:stretch>
            <a:fillRect/>
          </a:stretch>
        </p:blipFill>
        <p:spPr>
          <a:xfrm>
            <a:off x="1629950" y="3593831"/>
            <a:ext cx="8146296" cy="2041011"/>
          </a:xfrm>
          <a:prstGeom prst="rect">
            <a:avLst/>
          </a:prstGeom>
        </p:spPr>
      </p:pic>
    </p:spTree>
    <p:extLst>
      <p:ext uri="{BB962C8B-B14F-4D97-AF65-F5344CB8AC3E}">
        <p14:creationId xmlns:p14="http://schemas.microsoft.com/office/powerpoint/2010/main" val="31960619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ВАХ нелинейных элементов</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Самый простой способ описания нелинейного резистивного элемента – это графическое отображение ВАХ.</a:t>
            </a:r>
          </a:p>
          <a:p>
            <a:pPr marL="0" indent="0" algn="just">
              <a:buNone/>
            </a:pPr>
            <a:r>
              <a:rPr lang="ru-RU" dirty="0" smtClean="0"/>
              <a:t>При этом можно навести некоторую классификацию.</a:t>
            </a:r>
          </a:p>
          <a:p>
            <a:pPr marL="0" indent="0" algn="just">
              <a:buNone/>
            </a:pPr>
            <a:r>
              <a:rPr lang="ru-RU" dirty="0" smtClean="0"/>
              <a:t>Можно разделить ВАХ на </a:t>
            </a:r>
          </a:p>
          <a:p>
            <a:pPr marL="514350" indent="-514350" algn="just">
              <a:buFont typeface="+mj-lt"/>
              <a:buAutoNum type="arabicPeriod"/>
            </a:pPr>
            <a:r>
              <a:rPr lang="ru-RU" dirty="0" smtClean="0"/>
              <a:t>Симметрия</a:t>
            </a:r>
          </a:p>
          <a:p>
            <a:pPr lvl="1" algn="just"/>
            <a:r>
              <a:rPr lang="ru-RU" dirty="0" smtClean="0"/>
              <a:t>Симметричные</a:t>
            </a:r>
          </a:p>
          <a:p>
            <a:pPr lvl="1" algn="just"/>
            <a:r>
              <a:rPr lang="ru-RU" dirty="0" smtClean="0"/>
              <a:t>Несимметричные.</a:t>
            </a:r>
          </a:p>
          <a:p>
            <a:pPr marL="514350" indent="-514350" algn="just">
              <a:buFont typeface="+mj-lt"/>
              <a:buAutoNum type="arabicPeriod"/>
            </a:pPr>
            <a:r>
              <a:rPr lang="ru-RU" dirty="0" smtClean="0"/>
              <a:t>Однозначность</a:t>
            </a:r>
          </a:p>
          <a:p>
            <a:pPr lvl="1" algn="just"/>
            <a:r>
              <a:rPr lang="ru-RU" dirty="0" smtClean="0"/>
              <a:t>Монотонные (Однозначные)</a:t>
            </a:r>
          </a:p>
          <a:p>
            <a:pPr lvl="1" algn="just"/>
            <a:r>
              <a:rPr lang="ru-RU" dirty="0" smtClean="0"/>
              <a:t>Немонотонные (Неоднозначные)</a:t>
            </a:r>
          </a:p>
          <a:p>
            <a:pPr lvl="1" algn="just"/>
            <a:r>
              <a:rPr lang="ru-RU" dirty="0" smtClean="0"/>
              <a:t>С гистерезисом</a:t>
            </a:r>
          </a:p>
          <a:p>
            <a:pPr algn="just"/>
            <a:endParaRPr lang="ru-RU" dirty="0" smtClean="0"/>
          </a:p>
        </p:txBody>
      </p:sp>
    </p:spTree>
    <p:extLst>
      <p:ext uri="{BB962C8B-B14F-4D97-AF65-F5344CB8AC3E}">
        <p14:creationId xmlns:p14="http://schemas.microsoft.com/office/powerpoint/2010/main" val="17068399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ВАХ нелинейных элементов</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Варистор (ограничитель напряжения)</a:t>
            </a:r>
          </a:p>
          <a:p>
            <a:pPr marL="0" indent="0" algn="just">
              <a:buNone/>
            </a:pPr>
            <a:r>
              <a:rPr lang="ru-RU" dirty="0" smtClean="0"/>
              <a:t>ВАХ симметричная, монотонная. </a:t>
            </a:r>
          </a:p>
          <a:p>
            <a:pPr algn="just"/>
            <a:endParaRPr lang="ru-RU" dirty="0" smtClean="0"/>
          </a:p>
        </p:txBody>
      </p:sp>
      <p:pic>
        <p:nvPicPr>
          <p:cNvPr id="5" name="Рисунок 4"/>
          <p:cNvPicPr>
            <a:picLocks noChangeAspect="1"/>
          </p:cNvPicPr>
          <p:nvPr/>
        </p:nvPicPr>
        <p:blipFill>
          <a:blip r:embed="rId2"/>
          <a:stretch>
            <a:fillRect/>
          </a:stretch>
        </p:blipFill>
        <p:spPr>
          <a:xfrm>
            <a:off x="4219374" y="2787967"/>
            <a:ext cx="3753252" cy="3315653"/>
          </a:xfrm>
          <a:prstGeom prst="rect">
            <a:avLst/>
          </a:prstGeom>
        </p:spPr>
      </p:pic>
      <p:pic>
        <p:nvPicPr>
          <p:cNvPr id="6" name="Рисунок 5"/>
          <p:cNvPicPr>
            <a:picLocks noChangeAspect="1"/>
          </p:cNvPicPr>
          <p:nvPr/>
        </p:nvPicPr>
        <p:blipFill>
          <a:blip r:embed="rId3"/>
          <a:stretch>
            <a:fillRect/>
          </a:stretch>
        </p:blipFill>
        <p:spPr>
          <a:xfrm>
            <a:off x="8529637" y="1825625"/>
            <a:ext cx="721043" cy="703457"/>
          </a:xfrm>
          <a:prstGeom prst="rect">
            <a:avLst/>
          </a:prstGeom>
        </p:spPr>
      </p:pic>
    </p:spTree>
    <p:extLst>
      <p:ext uri="{BB962C8B-B14F-4D97-AF65-F5344CB8AC3E}">
        <p14:creationId xmlns:p14="http://schemas.microsoft.com/office/powerpoint/2010/main" val="37200301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ВАХ нелинейных элементов</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Диод полупроводниковый</a:t>
            </a:r>
          </a:p>
          <a:p>
            <a:pPr marL="0" indent="0" algn="just">
              <a:buNone/>
            </a:pPr>
            <a:r>
              <a:rPr lang="ru-RU" dirty="0" smtClean="0"/>
              <a:t>ВАХ несимметричная, монотонная. </a:t>
            </a:r>
          </a:p>
          <a:p>
            <a:pPr algn="just"/>
            <a:endParaRPr lang="ru-RU" dirty="0" smtClean="0"/>
          </a:p>
        </p:txBody>
      </p:sp>
      <p:pic>
        <p:nvPicPr>
          <p:cNvPr id="4" name="Рисунок 3"/>
          <p:cNvPicPr>
            <a:picLocks noChangeAspect="1"/>
          </p:cNvPicPr>
          <p:nvPr/>
        </p:nvPicPr>
        <p:blipFill>
          <a:blip r:embed="rId2"/>
          <a:stretch>
            <a:fillRect/>
          </a:stretch>
        </p:blipFill>
        <p:spPr>
          <a:xfrm>
            <a:off x="4418903" y="3039427"/>
            <a:ext cx="3354193" cy="2949893"/>
          </a:xfrm>
          <a:prstGeom prst="rect">
            <a:avLst/>
          </a:prstGeom>
        </p:spPr>
      </p:pic>
      <p:pic>
        <p:nvPicPr>
          <p:cNvPr id="7" name="Рисунок 6"/>
          <p:cNvPicPr>
            <a:picLocks noChangeAspect="1"/>
          </p:cNvPicPr>
          <p:nvPr/>
        </p:nvPicPr>
        <p:blipFill>
          <a:blip r:embed="rId3"/>
          <a:stretch>
            <a:fillRect/>
          </a:stretch>
        </p:blipFill>
        <p:spPr>
          <a:xfrm>
            <a:off x="8733472" y="1825624"/>
            <a:ext cx="288608" cy="787113"/>
          </a:xfrm>
          <a:prstGeom prst="rect">
            <a:avLst/>
          </a:prstGeom>
        </p:spPr>
      </p:pic>
    </p:spTree>
    <p:extLst>
      <p:ext uri="{BB962C8B-B14F-4D97-AF65-F5344CB8AC3E}">
        <p14:creationId xmlns:p14="http://schemas.microsoft.com/office/powerpoint/2010/main" val="33290896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ВАХ нелинейных элементов</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Неоновая лампа</a:t>
            </a:r>
          </a:p>
          <a:p>
            <a:pPr marL="0" indent="0" algn="just">
              <a:buNone/>
            </a:pPr>
            <a:r>
              <a:rPr lang="ru-RU" dirty="0" smtClean="0"/>
              <a:t>ВАХ несимметричная, немонотонная </a:t>
            </a:r>
            <a:r>
              <a:rPr lang="en-US" dirty="0" smtClean="0"/>
              <a:t>S </a:t>
            </a:r>
            <a:r>
              <a:rPr lang="ru-RU" dirty="0" smtClean="0"/>
              <a:t>типа. </a:t>
            </a:r>
          </a:p>
          <a:p>
            <a:pPr algn="just"/>
            <a:endParaRPr lang="ru-RU" dirty="0" smtClean="0"/>
          </a:p>
        </p:txBody>
      </p:sp>
      <p:pic>
        <p:nvPicPr>
          <p:cNvPr id="5" name="Рисунок 4"/>
          <p:cNvPicPr>
            <a:picLocks noChangeAspect="1"/>
          </p:cNvPicPr>
          <p:nvPr/>
        </p:nvPicPr>
        <p:blipFill>
          <a:blip r:embed="rId2"/>
          <a:stretch>
            <a:fillRect/>
          </a:stretch>
        </p:blipFill>
        <p:spPr>
          <a:xfrm>
            <a:off x="4098050" y="3087235"/>
            <a:ext cx="3995899" cy="3521616"/>
          </a:xfrm>
          <a:prstGeom prst="rect">
            <a:avLst/>
          </a:prstGeom>
        </p:spPr>
      </p:pic>
      <p:pic>
        <p:nvPicPr>
          <p:cNvPr id="6" name="Рисунок 5"/>
          <p:cNvPicPr>
            <a:picLocks noChangeAspect="1"/>
          </p:cNvPicPr>
          <p:nvPr/>
        </p:nvPicPr>
        <p:blipFill>
          <a:blip r:embed="rId3"/>
          <a:stretch>
            <a:fillRect/>
          </a:stretch>
        </p:blipFill>
        <p:spPr>
          <a:xfrm>
            <a:off x="8701087" y="1825625"/>
            <a:ext cx="481013" cy="916215"/>
          </a:xfrm>
          <a:prstGeom prst="rect">
            <a:avLst/>
          </a:prstGeom>
        </p:spPr>
      </p:pic>
    </p:spTree>
    <p:extLst>
      <p:ext uri="{BB962C8B-B14F-4D97-AF65-F5344CB8AC3E}">
        <p14:creationId xmlns:p14="http://schemas.microsoft.com/office/powerpoint/2010/main" val="30232806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ВАХ нелинейных элементов</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Диод туннельный</a:t>
            </a:r>
          </a:p>
          <a:p>
            <a:pPr marL="0" indent="0" algn="just">
              <a:buNone/>
            </a:pPr>
            <a:r>
              <a:rPr lang="ru-RU" dirty="0" smtClean="0"/>
              <a:t>ВАХ несимметричная, немонотонная </a:t>
            </a:r>
            <a:r>
              <a:rPr lang="en-US" dirty="0" smtClean="0"/>
              <a:t>N </a:t>
            </a:r>
            <a:r>
              <a:rPr lang="ru-RU" dirty="0" smtClean="0"/>
              <a:t>типа. </a:t>
            </a:r>
          </a:p>
          <a:p>
            <a:pPr algn="just"/>
            <a:endParaRPr lang="ru-RU" dirty="0" smtClean="0"/>
          </a:p>
        </p:txBody>
      </p:sp>
      <p:pic>
        <p:nvPicPr>
          <p:cNvPr id="8" name="Рисунок 7"/>
          <p:cNvPicPr>
            <a:picLocks noChangeAspect="1"/>
          </p:cNvPicPr>
          <p:nvPr/>
        </p:nvPicPr>
        <p:blipFill>
          <a:blip r:embed="rId2"/>
          <a:stretch>
            <a:fillRect/>
          </a:stretch>
        </p:blipFill>
        <p:spPr>
          <a:xfrm>
            <a:off x="8719184" y="1825625"/>
            <a:ext cx="348615" cy="747032"/>
          </a:xfrm>
          <a:prstGeom prst="rect">
            <a:avLst/>
          </a:prstGeom>
        </p:spPr>
      </p:pic>
      <p:pic>
        <p:nvPicPr>
          <p:cNvPr id="9" name="Рисунок 8"/>
          <p:cNvPicPr>
            <a:picLocks noChangeAspect="1"/>
          </p:cNvPicPr>
          <p:nvPr/>
        </p:nvPicPr>
        <p:blipFill>
          <a:blip r:embed="rId3"/>
          <a:stretch>
            <a:fillRect/>
          </a:stretch>
        </p:blipFill>
        <p:spPr>
          <a:xfrm>
            <a:off x="4235210" y="3032044"/>
            <a:ext cx="3721579" cy="3279856"/>
          </a:xfrm>
          <a:prstGeom prst="rect">
            <a:avLst/>
          </a:prstGeom>
        </p:spPr>
      </p:pic>
    </p:spTree>
    <p:extLst>
      <p:ext uri="{BB962C8B-B14F-4D97-AF65-F5344CB8AC3E}">
        <p14:creationId xmlns:p14="http://schemas.microsoft.com/office/powerpoint/2010/main" val="27363133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ВАХ нелинейных элементов</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Биполярный транзистор</a:t>
            </a:r>
          </a:p>
          <a:p>
            <a:pPr marL="0" indent="0" algn="just">
              <a:buNone/>
            </a:pPr>
            <a:r>
              <a:rPr lang="ru-RU" dirty="0" smtClean="0"/>
              <a:t>Семейство выходных ВАХ характеристик </a:t>
            </a:r>
          </a:p>
          <a:p>
            <a:pPr algn="just"/>
            <a:endParaRPr lang="ru-RU" dirty="0" smtClean="0"/>
          </a:p>
        </p:txBody>
      </p:sp>
      <p:pic>
        <p:nvPicPr>
          <p:cNvPr id="5" name="Рисунок 4"/>
          <p:cNvPicPr>
            <a:picLocks noChangeAspect="1"/>
          </p:cNvPicPr>
          <p:nvPr/>
        </p:nvPicPr>
        <p:blipFill>
          <a:blip r:embed="rId2"/>
          <a:stretch>
            <a:fillRect/>
          </a:stretch>
        </p:blipFill>
        <p:spPr>
          <a:xfrm>
            <a:off x="3792371" y="3193732"/>
            <a:ext cx="4607257" cy="2871788"/>
          </a:xfrm>
          <a:prstGeom prst="rect">
            <a:avLst/>
          </a:prstGeom>
        </p:spPr>
      </p:pic>
      <p:pic>
        <p:nvPicPr>
          <p:cNvPr id="6" name="Рисунок 5"/>
          <p:cNvPicPr>
            <a:picLocks noChangeAspect="1"/>
          </p:cNvPicPr>
          <p:nvPr/>
        </p:nvPicPr>
        <p:blipFill>
          <a:blip r:embed="rId3"/>
          <a:stretch>
            <a:fillRect/>
          </a:stretch>
        </p:blipFill>
        <p:spPr>
          <a:xfrm>
            <a:off x="8061692" y="1934553"/>
            <a:ext cx="1653808" cy="1150251"/>
          </a:xfrm>
          <a:prstGeom prst="rect">
            <a:avLst/>
          </a:prstGeom>
        </p:spPr>
      </p:pic>
    </p:spTree>
    <p:extLst>
      <p:ext uri="{BB962C8B-B14F-4D97-AF65-F5344CB8AC3E}">
        <p14:creationId xmlns:p14="http://schemas.microsoft.com/office/powerpoint/2010/main" val="23196722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Примеры ВАХ нелинейных элементов</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При этом в для каждой точки характеристики можно выделить два важных параметра: статическое сопротивление и динамическое сопротивление, как показано на рисунке.</a:t>
            </a:r>
          </a:p>
          <a:p>
            <a:pPr marL="0" indent="0" algn="just">
              <a:buNone/>
            </a:pPr>
            <a:r>
              <a:rPr lang="ru-RU" b="1" dirty="0" smtClean="0"/>
              <a:t>Статическое сопротивление </a:t>
            </a:r>
            <a:r>
              <a:rPr lang="ru-RU" dirty="0" smtClean="0"/>
              <a:t>показывает</a:t>
            </a:r>
          </a:p>
          <a:p>
            <a:pPr marL="0" indent="0" algn="just">
              <a:buNone/>
            </a:pPr>
            <a:r>
              <a:rPr lang="ru-RU" dirty="0" smtClean="0"/>
              <a:t>какой ток соответствует постоянному </a:t>
            </a:r>
          </a:p>
          <a:p>
            <a:pPr marL="0" indent="0" algn="just">
              <a:buNone/>
            </a:pPr>
            <a:r>
              <a:rPr lang="ru-RU" dirty="0" smtClean="0"/>
              <a:t>напряжению на элементе в точке</a:t>
            </a:r>
          </a:p>
          <a:p>
            <a:pPr marL="0" indent="0" algn="just">
              <a:buNone/>
            </a:pPr>
            <a:r>
              <a:rPr lang="ru-RU" b="1" dirty="0" smtClean="0"/>
              <a:t>Динамическое сопротивление </a:t>
            </a:r>
            <a:r>
              <a:rPr lang="ru-RU" dirty="0" smtClean="0"/>
              <a:t>показывает </a:t>
            </a:r>
          </a:p>
          <a:p>
            <a:pPr marL="0" indent="0" algn="just">
              <a:buNone/>
            </a:pPr>
            <a:r>
              <a:rPr lang="ru-RU" dirty="0" smtClean="0"/>
              <a:t>каково изменение тока при малых </a:t>
            </a:r>
          </a:p>
          <a:p>
            <a:pPr marL="0" indent="0" algn="just">
              <a:buNone/>
            </a:pPr>
            <a:r>
              <a:rPr lang="ru-RU" dirty="0" smtClean="0"/>
              <a:t>приращениях напряжения вблизи рабочей</a:t>
            </a:r>
          </a:p>
          <a:p>
            <a:pPr marL="0" indent="0" algn="just">
              <a:buNone/>
            </a:pPr>
            <a:r>
              <a:rPr lang="ru-RU" dirty="0" smtClean="0"/>
              <a:t>точки.</a:t>
            </a:r>
          </a:p>
          <a:p>
            <a:pPr marL="0" indent="0" algn="just">
              <a:buNone/>
            </a:pPr>
            <a:endParaRPr lang="ru-RU" dirty="0" smtClean="0"/>
          </a:p>
          <a:p>
            <a:pPr algn="just"/>
            <a:endParaRPr lang="ru-RU" dirty="0" smtClean="0"/>
          </a:p>
        </p:txBody>
      </p:sp>
      <p:pic>
        <p:nvPicPr>
          <p:cNvPr id="4" name="Рисунок 3"/>
          <p:cNvPicPr>
            <a:picLocks noChangeAspect="1"/>
          </p:cNvPicPr>
          <p:nvPr/>
        </p:nvPicPr>
        <p:blipFill>
          <a:blip r:embed="rId2"/>
          <a:stretch>
            <a:fillRect/>
          </a:stretch>
        </p:blipFill>
        <p:spPr>
          <a:xfrm>
            <a:off x="7487602" y="2811009"/>
            <a:ext cx="3721418" cy="3287531"/>
          </a:xfrm>
          <a:prstGeom prst="rect">
            <a:avLst/>
          </a:prstGeom>
        </p:spPr>
      </p:pic>
    </p:spTree>
    <p:extLst>
      <p:ext uri="{BB962C8B-B14F-4D97-AF65-F5344CB8AC3E}">
        <p14:creationId xmlns:p14="http://schemas.microsoft.com/office/powerpoint/2010/main" val="26677935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Расчёт схем с нелинейными элементами</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Простые схемы с нелинейными элементами могут быть рассчитаны с использованием графического метода расчета на основе ВАХ</a:t>
            </a:r>
          </a:p>
          <a:p>
            <a:pPr algn="just"/>
            <a:endParaRPr lang="ru-RU" dirty="0" smtClean="0"/>
          </a:p>
        </p:txBody>
      </p:sp>
      <p:pic>
        <p:nvPicPr>
          <p:cNvPr id="4" name="Рисунок 3"/>
          <p:cNvPicPr>
            <a:picLocks noChangeAspect="1"/>
          </p:cNvPicPr>
          <p:nvPr/>
        </p:nvPicPr>
        <p:blipFill>
          <a:blip r:embed="rId2"/>
          <a:stretch>
            <a:fillRect/>
          </a:stretch>
        </p:blipFill>
        <p:spPr>
          <a:xfrm>
            <a:off x="4458652" y="2837497"/>
            <a:ext cx="4540568" cy="3755778"/>
          </a:xfrm>
          <a:prstGeom prst="rect">
            <a:avLst/>
          </a:prstGeom>
        </p:spPr>
      </p:pic>
      <p:pic>
        <p:nvPicPr>
          <p:cNvPr id="8" name="Рисунок 7"/>
          <p:cNvPicPr>
            <a:picLocks noChangeAspect="1"/>
          </p:cNvPicPr>
          <p:nvPr/>
        </p:nvPicPr>
        <p:blipFill>
          <a:blip r:embed="rId3"/>
          <a:stretch>
            <a:fillRect/>
          </a:stretch>
        </p:blipFill>
        <p:spPr>
          <a:xfrm>
            <a:off x="5263514" y="5075413"/>
            <a:ext cx="192405" cy="1517862"/>
          </a:xfrm>
          <a:prstGeom prst="rect">
            <a:avLst/>
          </a:prstGeom>
        </p:spPr>
      </p:pic>
      <p:pic>
        <p:nvPicPr>
          <p:cNvPr id="9" name="Рисунок 8"/>
          <p:cNvPicPr>
            <a:picLocks noChangeAspect="1"/>
          </p:cNvPicPr>
          <p:nvPr/>
        </p:nvPicPr>
        <p:blipFill>
          <a:blip r:embed="rId4"/>
          <a:stretch>
            <a:fillRect/>
          </a:stretch>
        </p:blipFill>
        <p:spPr>
          <a:xfrm>
            <a:off x="7259953" y="3139441"/>
            <a:ext cx="1758311" cy="210502"/>
          </a:xfrm>
          <a:prstGeom prst="rect">
            <a:avLst/>
          </a:prstGeom>
        </p:spPr>
      </p:pic>
    </p:spTree>
    <p:extLst>
      <p:ext uri="{BB962C8B-B14F-4D97-AF65-F5344CB8AC3E}">
        <p14:creationId xmlns:p14="http://schemas.microsoft.com/office/powerpoint/2010/main" val="2018470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Расчёт схем с нелинейными элементами</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Данный метод позволяет оценить качественно работу нелинейного звена, понять какого вида будет выходной сигнал. </a:t>
            </a:r>
          </a:p>
          <a:p>
            <a:pPr marL="0" indent="0" algn="just">
              <a:buNone/>
            </a:pPr>
            <a:r>
              <a:rPr lang="ru-RU" dirty="0" smtClean="0"/>
              <a:t>Параллельное или последовательное соединение элементов приводят к сложению характеристик либо по оси абсцисс (последовательное соединение) либо по оси ординат (параллельное соединение)</a:t>
            </a:r>
          </a:p>
        </p:txBody>
      </p:sp>
    </p:spTree>
    <p:extLst>
      <p:ext uri="{BB962C8B-B14F-4D97-AF65-F5344CB8AC3E}">
        <p14:creationId xmlns:p14="http://schemas.microsoft.com/office/powerpoint/2010/main" val="40243394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Расчёт схем с нелинейными элементами</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Графический метод применим к простым схемам с резистивными нелинейными элементами. В более сложных случаях обычно используют приближенные аналитические или итерационные численные методы. </a:t>
            </a:r>
          </a:p>
          <a:p>
            <a:pPr marL="0" indent="0" algn="just">
              <a:buNone/>
            </a:pPr>
            <a:r>
              <a:rPr lang="ru-RU" dirty="0" smtClean="0"/>
              <a:t>Суть их такова: ВАХ элемента заменяется набором аппроксимирующих прямых на каждой их которых система считается линейной. </a:t>
            </a:r>
          </a:p>
          <a:p>
            <a:pPr marL="0" indent="0" algn="just">
              <a:buNone/>
            </a:pPr>
            <a:r>
              <a:rPr lang="ru-RU" dirty="0" smtClean="0"/>
              <a:t>В случае аналитического решения – ищется решение линейной системы описывающее малые приращения сигналов вблизи рабочей точки. </a:t>
            </a:r>
          </a:p>
        </p:txBody>
      </p:sp>
    </p:spTree>
    <p:extLst>
      <p:ext uri="{BB962C8B-B14F-4D97-AF65-F5344CB8AC3E}">
        <p14:creationId xmlns:p14="http://schemas.microsoft.com/office/powerpoint/2010/main" val="6979676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Расчёт схем с нелинейными элементами</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Пример аппроксимирующей ВАХ полупроводникового диода приведен ниже:</a:t>
            </a:r>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r>
              <a:rPr lang="ru-RU" dirty="0" smtClean="0"/>
              <a:t>В данном случае выделено 4 основных отрезка: пробой</a:t>
            </a:r>
            <a:r>
              <a:rPr lang="en-US" dirty="0" smtClean="0"/>
              <a:t> (</a:t>
            </a:r>
            <a:r>
              <a:rPr lang="ru-RU" dirty="0" smtClean="0"/>
              <a:t>зона с малым дифференциальным сопротивлением </a:t>
            </a:r>
            <a:r>
              <a:rPr lang="en-US" dirty="0" smtClean="0"/>
              <a:t>r)</a:t>
            </a:r>
            <a:r>
              <a:rPr lang="ru-RU" dirty="0" smtClean="0"/>
              <a:t>, обратный ток, закрытое состояние при напряжении менее отсечки и открытое состояние с постоянным дифференциальным сопротивлением </a:t>
            </a:r>
            <a:r>
              <a:rPr lang="en-US" dirty="0" smtClean="0"/>
              <a:t>R</a:t>
            </a:r>
            <a:endParaRPr lang="ru-RU" dirty="0" smtClean="0"/>
          </a:p>
        </p:txBody>
      </p:sp>
      <p:pic>
        <p:nvPicPr>
          <p:cNvPr id="4" name="Рисунок 3"/>
          <p:cNvPicPr>
            <a:picLocks noChangeAspect="1"/>
          </p:cNvPicPr>
          <p:nvPr/>
        </p:nvPicPr>
        <p:blipFill>
          <a:blip r:embed="rId2"/>
          <a:stretch>
            <a:fillRect/>
          </a:stretch>
        </p:blipFill>
        <p:spPr>
          <a:xfrm>
            <a:off x="4572000" y="2277428"/>
            <a:ext cx="3028950" cy="2445504"/>
          </a:xfrm>
          <a:prstGeom prst="rect">
            <a:avLst/>
          </a:prstGeom>
        </p:spPr>
      </p:pic>
    </p:spTree>
    <p:extLst>
      <p:ext uri="{BB962C8B-B14F-4D97-AF65-F5344CB8AC3E}">
        <p14:creationId xmlns:p14="http://schemas.microsoft.com/office/powerpoint/2010/main" val="27591464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Расчёт схем с нелинейными элементами</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В случае численных методов аналогично рассчитывается численно решение линейной системы в которой нелинейность линейной эквивалентной цепью для данного отрезка аппроксимирующей характеристики. На каждом шаге вычислений находится следующее по времени состояние системы. Если при этом рабочие точки оказываются на том же отрезке характеристики, то делается следующий шаг. Если же рабочая точка уходит на другой отрезок, то составляется новая система линейных уравнений и решение вычисляется уже для нее. Такое численное решение позволяет выбором числа аппроксимирующих отрезков и шага по времени получить решение с любой требуемой точностью.</a:t>
            </a:r>
          </a:p>
        </p:txBody>
      </p:sp>
    </p:spTree>
    <p:extLst>
      <p:ext uri="{BB962C8B-B14F-4D97-AF65-F5344CB8AC3E}">
        <p14:creationId xmlns:p14="http://schemas.microsoft.com/office/powerpoint/2010/main" val="22555259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p:sp>
        <p:nvSpPr>
          <p:cNvPr id="3" name="Объект 2"/>
          <p:cNvSpPr>
            <a:spLocks noGrp="1"/>
          </p:cNvSpPr>
          <p:nvPr>
            <p:ph idx="1"/>
          </p:nvPr>
        </p:nvSpPr>
        <p:spPr/>
        <p:txBody>
          <a:bodyPr>
            <a:normAutofit/>
          </a:bodyPr>
          <a:lstStyle/>
          <a:p>
            <a:pPr marL="0" indent="0" algn="just">
              <a:buNone/>
            </a:pPr>
            <a:r>
              <a:rPr lang="ru-RU" dirty="0" smtClean="0"/>
              <a:t>Другой важный метод расчета использует спектральный подход. Он может быть использован для систем, в которых можно выделить безынерционное нелинейное звено. Остальная часть схемы представляется реактивным линейным звеном – «фильтром». Входное воздействие или параметры линейной системы при этом в общем случае зависят от времени – т.е. это разновидность операторного метода анализа системы методом Фурье. </a:t>
            </a:r>
            <a:endParaRPr lang="ru-RU" dirty="0"/>
          </a:p>
        </p:txBody>
      </p:sp>
    </p:spTree>
    <p:extLst>
      <p:ext uri="{BB962C8B-B14F-4D97-AF65-F5344CB8AC3E}">
        <p14:creationId xmlns:p14="http://schemas.microsoft.com/office/powerpoint/2010/main" val="34356880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p:sp>
        <p:nvSpPr>
          <p:cNvPr id="3" name="Объект 2"/>
          <p:cNvSpPr>
            <a:spLocks noGrp="1"/>
          </p:cNvSpPr>
          <p:nvPr>
            <p:ph idx="1"/>
          </p:nvPr>
        </p:nvSpPr>
        <p:spPr/>
        <p:txBody>
          <a:bodyPr>
            <a:normAutofit lnSpcReduction="10000"/>
          </a:bodyPr>
          <a:lstStyle/>
          <a:p>
            <a:pPr marL="0" indent="0" algn="just">
              <a:buNone/>
            </a:pPr>
            <a:r>
              <a:rPr lang="ru-RU" dirty="0" smtClean="0"/>
              <a:t>Блок схему системы можно тогда представить в следующем виде:</a:t>
            </a:r>
          </a:p>
          <a:p>
            <a:pPr marL="0" indent="0" algn="just">
              <a:buNone/>
            </a:pPr>
            <a:endParaRPr lang="ru-RU" dirty="0"/>
          </a:p>
          <a:p>
            <a:pPr marL="0" indent="0" algn="just">
              <a:buNone/>
            </a:pPr>
            <a:endParaRPr lang="ru-RU" dirty="0" smtClean="0"/>
          </a:p>
          <a:p>
            <a:pPr marL="0" indent="0" algn="just">
              <a:buNone/>
            </a:pPr>
            <a:endParaRPr lang="ru-RU" dirty="0"/>
          </a:p>
          <a:p>
            <a:pPr marL="0" indent="0" algn="just">
              <a:buNone/>
            </a:pPr>
            <a:endParaRPr lang="ru-RU" dirty="0" smtClean="0"/>
          </a:p>
          <a:p>
            <a:pPr marL="0" indent="0" algn="just">
              <a:buNone/>
            </a:pPr>
            <a:r>
              <a:rPr lang="ru-RU" dirty="0" smtClean="0"/>
              <a:t>Сначала производится анализ прохождения сигнала через нелинейное звено, затем выходной сигнал нелинейного элемента </a:t>
            </a:r>
            <a:r>
              <a:rPr lang="en-US" dirty="0" smtClean="0"/>
              <a:t>f(u(t))</a:t>
            </a:r>
            <a:r>
              <a:rPr lang="ru-RU" dirty="0" smtClean="0"/>
              <a:t>переводится в частотную область и далее анализируется прохождение через линейную систему с импульсным откликом </a:t>
            </a:r>
            <a:r>
              <a:rPr lang="en-US" dirty="0" smtClean="0"/>
              <a:t>H(</a:t>
            </a:r>
            <a:r>
              <a:rPr lang="el-GR" dirty="0" smtClean="0"/>
              <a:t>ω</a:t>
            </a:r>
            <a:r>
              <a:rPr lang="en-US" dirty="0" smtClean="0"/>
              <a:t>)</a:t>
            </a:r>
            <a:endParaRPr lang="ru-RU" dirty="0"/>
          </a:p>
        </p:txBody>
      </p:sp>
      <p:pic>
        <p:nvPicPr>
          <p:cNvPr id="4" name="Рисунок 3"/>
          <p:cNvPicPr>
            <a:picLocks noChangeAspect="1"/>
          </p:cNvPicPr>
          <p:nvPr/>
        </p:nvPicPr>
        <p:blipFill>
          <a:blip r:embed="rId2"/>
          <a:stretch>
            <a:fillRect/>
          </a:stretch>
        </p:blipFill>
        <p:spPr>
          <a:xfrm>
            <a:off x="3058543" y="2600324"/>
            <a:ext cx="5892099" cy="1468755"/>
          </a:xfrm>
          <a:prstGeom prst="rect">
            <a:avLst/>
          </a:prstGeom>
        </p:spPr>
      </p:pic>
    </p:spTree>
    <p:extLst>
      <p:ext uri="{BB962C8B-B14F-4D97-AF65-F5344CB8AC3E}">
        <p14:creationId xmlns:p14="http://schemas.microsoft.com/office/powerpoint/2010/main" val="16183581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lgn="just">
                  <a:buNone/>
                </a:pPr>
                <a:r>
                  <a:rPr lang="ru-RU" dirty="0" smtClean="0"/>
                  <a:t>Анализ прохождения через нелинейное звено может выполняться как качественно (например уже рассмотренным графическим методом), так и аналитически. Для аналитического анализа требуется разложить воздействие на сигнал нелинейного резистивного звена в степенной ряд:</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𝑢</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2</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sSup>
                        <m:sSupPr>
                          <m:ctrlPr>
                            <a:rPr lang="en-US" i="1">
                              <a:latin typeface="Cambria Math" panose="02040503050406030204" pitchFamily="18" charset="0"/>
                            </a:rPr>
                          </m:ctrlPr>
                        </m:sSupPr>
                        <m:e>
                          <m:r>
                            <a:rPr lang="en-US" i="1">
                              <a:latin typeface="Cambria Math" panose="02040503050406030204" pitchFamily="18" charset="0"/>
                            </a:rPr>
                            <m:t>𝑢</m:t>
                          </m:r>
                        </m:e>
                        <m:sup>
                          <m:r>
                            <a:rPr lang="en-US" b="0" i="1" smtClean="0">
                              <a:latin typeface="Cambria Math" panose="02040503050406030204" pitchFamily="18" charset="0"/>
                            </a:rPr>
                            <m:t>3</m:t>
                          </m:r>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𝑛</m:t>
                          </m:r>
                        </m:sub>
                      </m:sSub>
                      <m:sSup>
                        <m:sSupPr>
                          <m:ctrlPr>
                            <a:rPr lang="en-US" i="1">
                              <a:latin typeface="Cambria Math" panose="02040503050406030204" pitchFamily="18" charset="0"/>
                            </a:rPr>
                          </m:ctrlPr>
                        </m:sSupPr>
                        <m:e>
                          <m:r>
                            <a:rPr lang="en-US" i="1">
                              <a:latin typeface="Cambria Math" panose="02040503050406030204" pitchFamily="18" charset="0"/>
                            </a:rPr>
                            <m:t>𝑢</m:t>
                          </m:r>
                        </m:e>
                        <m:sup>
                          <m:r>
                            <a:rPr lang="en-US" b="0" i="1" smtClean="0">
                              <a:latin typeface="Cambria Math" panose="02040503050406030204" pitchFamily="18" charset="0"/>
                            </a:rPr>
                            <m:t>𝑛</m:t>
                          </m:r>
                        </m:sup>
                      </m:sSup>
                    </m:oMath>
                  </m:oMathPara>
                </a14:m>
                <a:endParaRPr lang="ru-RU" dirty="0" smtClean="0"/>
              </a:p>
              <a:p>
                <a:pPr marL="0" indent="0" algn="just">
                  <a:buNone/>
                </a:pPr>
                <a:r>
                  <a:rPr lang="ru-RU" dirty="0" smtClean="0"/>
                  <a:t>Спектральная плотность тогда может быть легко найдена для отдельных спектральных компонент </a:t>
                </a:r>
                <a14:m>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𝑚</m:t>
                        </m:r>
                      </m:sub>
                    </m:sSub>
                    <m:r>
                      <a:rPr lang="en-US" b="0" i="1" smtClean="0">
                        <a:latin typeface="Cambria Math" panose="02040503050406030204" pitchFamily="18" charset="0"/>
                      </a:rPr>
                      <m:t>𝑠𝑖𝑛</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oMath>
                </a14:m>
                <a:r>
                  <a:rPr lang="en-US" dirty="0" smtClean="0"/>
                  <a:t> (</a:t>
                </a:r>
                <a:r>
                  <a:rPr lang="ru-RU" dirty="0" smtClean="0"/>
                  <a:t>которые в свою очередь есть приведение парных гармоник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rPr>
                          <m:t>𝑒</m:t>
                        </m:r>
                      </m:e>
                      <m:sup>
                        <m:r>
                          <a:rPr lang="en-US" i="1" smtClean="0">
                            <a:latin typeface="Cambria Math" panose="02040503050406030204" pitchFamily="18" charset="0"/>
                          </a:rPr>
                          <m:t>−</m:t>
                        </m:r>
                        <m:r>
                          <a:rPr lang="en-US" b="0" i="1" smtClean="0">
                            <a:latin typeface="Cambria Math" panose="02040503050406030204" pitchFamily="18" charset="0"/>
                          </a:rPr>
                          <m:t>𝑗</m:t>
                        </m:r>
                        <m:r>
                          <a:rPr lang="el-GR" i="1" smtClean="0">
                            <a:latin typeface="Cambria Math" panose="02040503050406030204" pitchFamily="18" charset="0"/>
                          </a:rPr>
                          <m:t>𝜔</m:t>
                        </m:r>
                        <m:r>
                          <a:rPr lang="en-US" i="1" smtClean="0">
                            <a:latin typeface="Cambria Math" panose="02040503050406030204" pitchFamily="18" charset="0"/>
                          </a:rPr>
                          <m:t>𝑡</m:t>
                        </m:r>
                      </m:sup>
                    </m:sSup>
                  </m:oMath>
                </a14:m>
                <a:r>
                  <a:rPr lang="en-US" dirty="0" smtClean="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l-GR" i="1">
                            <a:latin typeface="Cambria Math" panose="02040503050406030204" pitchFamily="18" charset="0"/>
                          </a:rPr>
                          <m:t>𝜔</m:t>
                        </m:r>
                        <m:r>
                          <a:rPr lang="en-US" i="1">
                            <a:latin typeface="Cambria Math" panose="02040503050406030204" pitchFamily="18" charset="0"/>
                          </a:rPr>
                          <m:t>𝑡</m:t>
                        </m:r>
                      </m:sup>
                    </m:sSup>
                  </m:oMath>
                </a14:m>
                <a:r>
                  <a:rPr lang="en-US" dirty="0" smtClean="0"/>
                  <a:t>)</a:t>
                </a:r>
              </a:p>
              <a:p>
                <a:pPr marL="0" indent="0" algn="just">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2241" r="-1159"/>
                </a:stretch>
              </a:blipFill>
            </p:spPr>
            <p:txBody>
              <a:bodyPr/>
              <a:lstStyle/>
              <a:p>
                <a:r>
                  <a:rPr lang="ru-RU">
                    <a:noFill/>
                  </a:rPr>
                  <a:t> </a:t>
                </a:r>
              </a:p>
            </p:txBody>
          </p:sp>
        </mc:Fallback>
      </mc:AlternateContent>
    </p:spTree>
    <p:extLst>
      <p:ext uri="{BB962C8B-B14F-4D97-AF65-F5344CB8AC3E}">
        <p14:creationId xmlns:p14="http://schemas.microsoft.com/office/powerpoint/2010/main" val="40306159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85000" lnSpcReduction="10000"/>
              </a:bodyPr>
              <a:lstStyle/>
              <a:p>
                <a:pPr marL="0" indent="0" algn="just">
                  <a:buNone/>
                </a:pPr>
                <a:r>
                  <a:rPr lang="ru-RU" dirty="0" smtClean="0"/>
                  <a:t>Рассмотрим чисто гармонический сигнал </a:t>
                </a:r>
                <a14:m>
                  <m:oMath xmlns:m="http://schemas.openxmlformats.org/officeDocument/2006/math">
                    <m:sSub>
                      <m:sSubPr>
                        <m:ctrlPr>
                          <a:rPr lang="ru-RU" i="1">
                            <a:latin typeface="Cambria Math" panose="02040503050406030204" pitchFamily="18" charset="0"/>
                          </a:rPr>
                        </m:ctrlPr>
                      </m:sSubPr>
                      <m:e>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i="1">
                            <a:latin typeface="Cambria Math" panose="02040503050406030204" pitchFamily="18" charset="0"/>
                          </a:rPr>
                          <m:t>𝑢</m:t>
                        </m:r>
                      </m:e>
                      <m:sub>
                        <m:r>
                          <a:rPr lang="en-US" i="1">
                            <a:latin typeface="Cambria Math" panose="02040503050406030204" pitchFamily="18" charset="0"/>
                          </a:rPr>
                          <m:t>𝑚</m:t>
                        </m:r>
                      </m:sub>
                    </m:sSub>
                    <m:r>
                      <a:rPr lang="en-US" i="1">
                        <a:latin typeface="Cambria Math" panose="02040503050406030204" pitchFamily="18" charset="0"/>
                      </a:rPr>
                      <m:t>𝑠𝑖𝑛</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oMath>
                </a14:m>
                <a:endParaRPr lang="en-US" dirty="0" smtClean="0"/>
              </a:p>
              <a:p>
                <a:pPr marL="0" indent="0" algn="just">
                  <a:buNone/>
                </a:pPr>
                <a:r>
                  <a:rPr lang="ru-RU" dirty="0" smtClean="0"/>
                  <a:t>После прохождения через нелинейное звено будем иметь:</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0</m:t>
                          </m:r>
                        </m:sub>
                      </m:sSub>
                      <m:r>
                        <a:rPr lang="en-US" i="1">
                          <a:latin typeface="Cambria Math" panose="02040503050406030204" pitchFamily="18" charset="0"/>
                        </a:rPr>
                        <m:t>+</m:t>
                      </m:r>
                      <m:d>
                        <m:dPr>
                          <m:ctrlPr>
                            <a:rPr lang="en-US" b="0"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m:t>
                              </m:r>
                            </m:sub>
                          </m:sSub>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𝑚</m:t>
                              </m:r>
                            </m:sub>
                            <m:sup>
                              <m:r>
                                <a:rPr lang="en-US" b="0" i="1" smtClean="0">
                                  <a:latin typeface="Cambria Math" panose="02040503050406030204" pitchFamily="18" charset="0"/>
                                </a:rPr>
                                <m:t>2</m:t>
                              </m:r>
                            </m:sup>
                          </m:sSubSup>
                          <m:r>
                            <a:rPr lang="en-US" i="1">
                              <a:latin typeface="Cambria Math" panose="02040503050406030204" pitchFamily="18" charset="0"/>
                            </a:rPr>
                            <m:t>+</m:t>
                          </m:r>
                          <m:sSub>
                            <m:sSubPr>
                              <m:ctrlPr>
                                <a:rPr lang="en-US" i="1">
                                  <a:latin typeface="Cambria Math" panose="02040503050406030204" pitchFamily="18" charset="0"/>
                                </a:rPr>
                              </m:ctrlPr>
                            </m:sSubPr>
                            <m:e>
                              <m:f>
                                <m:fPr>
                                  <m:ctrlPr>
                                    <a:rPr lang="en-US" i="1">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8</m:t>
                                  </m:r>
                                </m:den>
                              </m:f>
                              <m:r>
                                <a:rPr lang="en-US" i="1">
                                  <a:latin typeface="Cambria Math" panose="02040503050406030204" pitchFamily="18" charset="0"/>
                                </a:rPr>
                                <m:t>𝑎</m:t>
                              </m:r>
                            </m:e>
                            <m:sub>
                              <m:r>
                                <a:rPr lang="en-US" b="0" i="1" smtClean="0">
                                  <a:latin typeface="Cambria Math" panose="02040503050406030204" pitchFamily="18" charset="0"/>
                                </a:rPr>
                                <m:t>4</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b="0" i="1" smtClean="0">
                                  <a:latin typeface="Cambria Math" panose="02040503050406030204" pitchFamily="18" charset="0"/>
                                </a:rPr>
                                <m:t>4</m:t>
                              </m:r>
                            </m:sup>
                          </m:sSubSup>
                          <m:r>
                            <a:rPr lang="en-US" i="1">
                              <a:latin typeface="Cambria Math" panose="02040503050406030204" pitchFamily="18" charset="0"/>
                            </a:rPr>
                            <m:t>+…</m:t>
                          </m:r>
                        </m:e>
                      </m:d>
                      <m:r>
                        <a:rPr lang="en-US" b="0" i="1" smtClean="0">
                          <a:latin typeface="Cambria Math" panose="02040503050406030204" pitchFamily="18" charset="0"/>
                        </a:rPr>
                        <m:t>+</m:t>
                      </m:r>
                    </m:oMath>
                  </m:oMathPara>
                </a14:m>
                <a:endParaRPr lang="en-US" b="0" dirty="0" smtClean="0"/>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1</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b="0" i="1" smtClean="0">
                                  <a:latin typeface="Cambria Math" panose="02040503050406030204" pitchFamily="18" charset="0"/>
                                </a:rPr>
                                <m:t> </m:t>
                              </m:r>
                            </m:sup>
                          </m:sSubSup>
                          <m:r>
                            <a:rPr lang="en-US" i="1">
                              <a:latin typeface="Cambria Math" panose="02040503050406030204" pitchFamily="18" charset="0"/>
                            </a:rPr>
                            <m:t>+</m:t>
                          </m:r>
                          <m:sSub>
                            <m:sSubPr>
                              <m:ctrlPr>
                                <a:rPr lang="en-US" i="1">
                                  <a:latin typeface="Cambria Math" panose="02040503050406030204" pitchFamily="18" charset="0"/>
                                </a:rPr>
                              </m:ctrlPr>
                            </m:sSubPr>
                            <m:e>
                              <m:f>
                                <m:fPr>
                                  <m:ctrlPr>
                                    <a:rPr lang="en-US" i="1">
                                      <a:latin typeface="Cambria Math" panose="02040503050406030204" pitchFamily="18" charset="0"/>
                                    </a:rPr>
                                  </m:ctrlPr>
                                </m:fPr>
                                <m:num>
                                  <m:r>
                                    <a:rPr lang="en-US" i="1">
                                      <a:latin typeface="Cambria Math" panose="02040503050406030204" pitchFamily="18" charset="0"/>
                                    </a:rPr>
                                    <m:t>3</m:t>
                                  </m:r>
                                </m:num>
                                <m:den>
                                  <m:r>
                                    <a:rPr lang="en-US" b="0" i="1" smtClean="0">
                                      <a:latin typeface="Cambria Math" panose="02040503050406030204" pitchFamily="18" charset="0"/>
                                    </a:rPr>
                                    <m:t>4</m:t>
                                  </m:r>
                                </m:den>
                              </m:f>
                              <m:r>
                                <a:rPr lang="en-US" i="1">
                                  <a:latin typeface="Cambria Math" panose="02040503050406030204" pitchFamily="18" charset="0"/>
                                </a:rPr>
                                <m:t>𝑎</m:t>
                              </m:r>
                            </m:e>
                            <m:sub>
                              <m:r>
                                <a:rPr lang="en-US" b="0" i="1" smtClean="0">
                                  <a:latin typeface="Cambria Math" panose="02040503050406030204" pitchFamily="18" charset="0"/>
                                </a:rPr>
                                <m:t>3</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b="0" i="1" smtClean="0">
                                  <a:latin typeface="Cambria Math" panose="02040503050406030204" pitchFamily="18" charset="0"/>
                                </a:rPr>
                                <m:t>3</m:t>
                              </m:r>
                            </m:sup>
                          </m:sSubSup>
                          <m:r>
                            <a:rPr lang="en-US" i="1">
                              <a:latin typeface="Cambria Math" panose="02040503050406030204" pitchFamily="18" charset="0"/>
                            </a:rPr>
                            <m:t>+…</m:t>
                          </m:r>
                        </m:e>
                      </m:d>
                      <m:r>
                        <a:rPr lang="en-US" b="0" i="1" smtClean="0">
                          <a:latin typeface="Cambria Math" panose="02040503050406030204" pitchFamily="18" charset="0"/>
                        </a:rPr>
                        <m:t>𝑠𝑖𝑛</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oMath>
                  </m:oMathPara>
                </a14:m>
                <a:endParaRPr lang="en-US" b="0" dirty="0" smtClean="0">
                  <a:ea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i="1">
                                  <a:latin typeface="Cambria Math" panose="02040503050406030204" pitchFamily="18" charset="0"/>
                                </a:rPr>
                                <m:t>2</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b="0" i="1" smtClean="0">
                                  <a:latin typeface="Cambria Math" panose="02040503050406030204" pitchFamily="18" charset="0"/>
                                </a:rPr>
                                <m:t>4</m:t>
                              </m:r>
                            </m:sup>
                          </m:sSubSup>
                          <m:r>
                            <a:rPr lang="en-US" i="1">
                              <a:latin typeface="Cambria Math" panose="02040503050406030204" pitchFamily="18" charset="0"/>
                            </a:rPr>
                            <m:t>+…</m:t>
                          </m:r>
                        </m:e>
                      </m:d>
                      <m:r>
                        <a:rPr lang="en-US" b="0" i="1" smtClean="0">
                          <a:latin typeface="Cambria Math" panose="02040503050406030204" pitchFamily="18" charset="0"/>
                        </a:rPr>
                        <m:t>𝑐𝑜𝑠</m:t>
                      </m:r>
                      <m:r>
                        <a:rPr lang="en-US" b="0" i="1" smtClean="0">
                          <a:latin typeface="Cambria Math" panose="02040503050406030204" pitchFamily="18" charset="0"/>
                        </a:rPr>
                        <m:t>2</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r>
                        <a:rPr lang="en-US" b="0" i="0" smtClean="0">
                          <a:latin typeface="Cambria Math" panose="02040503050406030204" pitchFamily="18" charset="0"/>
                          <a:ea typeface="Cambria Math" panose="02040503050406030204" pitchFamily="18" charset="0"/>
                        </a:rPr>
                        <m:t>−</m:t>
                      </m:r>
                    </m:oMath>
                  </m:oMathPara>
                </a14:m>
                <a:endParaRPr lang="en-US" b="0" dirty="0" smtClean="0">
                  <a:ea typeface="Cambria Math" panose="020405030504060302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4</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b="0" i="1" smtClean="0">
                                  <a:latin typeface="Cambria Math" panose="02040503050406030204" pitchFamily="18" charset="0"/>
                                </a:rPr>
                                <m:t>3</m:t>
                              </m:r>
                            </m:sup>
                          </m:sSubSup>
                          <m:r>
                            <a:rPr lang="en-US" b="0" i="1" smtClean="0">
                              <a:latin typeface="Cambria Math" panose="02040503050406030204" pitchFamily="18" charset="0"/>
                            </a:rPr>
                            <m:t>+…</m:t>
                          </m:r>
                        </m:e>
                      </m:d>
                      <m:r>
                        <a:rPr lang="en-US" b="0" i="1" smtClean="0">
                          <a:latin typeface="Cambria Math" panose="02040503050406030204" pitchFamily="18" charset="0"/>
                        </a:rPr>
                        <m:t>𝑠𝑖𝑛</m:t>
                      </m:r>
                      <m:r>
                        <a:rPr lang="en-US" b="0" i="1" smtClean="0">
                          <a:latin typeface="Cambria Math" panose="02040503050406030204" pitchFamily="18" charset="0"/>
                        </a:rPr>
                        <m:t>3</m:t>
                      </m:r>
                      <m:r>
                        <a:rPr lang="en-US" b="0" i="1">
                          <a:latin typeface="Cambria Math" panose="02040503050406030204" pitchFamily="18" charset="0"/>
                          <a:ea typeface="Cambria Math" panose="02040503050406030204" pitchFamily="18" charset="0"/>
                        </a:rPr>
                        <m:t>𝜔</m:t>
                      </m:r>
                      <m:r>
                        <a:rPr lang="en-US" b="0"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f>
                                <m:fPr>
                                  <m:ctrlPr>
                                    <a:rPr lang="en-US" i="1">
                                      <a:latin typeface="Cambria Math" panose="02040503050406030204" pitchFamily="18" charset="0"/>
                                    </a:rPr>
                                  </m:ctrlPr>
                                </m:fPr>
                                <m:num>
                                  <m:r>
                                    <a:rPr lang="en-US" b="0" i="1" smtClean="0">
                                      <a:latin typeface="Cambria Math" panose="02040503050406030204" pitchFamily="18" charset="0"/>
                                    </a:rPr>
                                    <m:t>1</m:t>
                                  </m:r>
                                </m:num>
                                <m:den>
                                  <m:r>
                                    <a:rPr lang="en-US" i="1">
                                      <a:latin typeface="Cambria Math" panose="02040503050406030204" pitchFamily="18" charset="0"/>
                                    </a:rPr>
                                    <m:t>8</m:t>
                                  </m:r>
                                </m:den>
                              </m:f>
                              <m:r>
                                <a:rPr lang="en-US" i="1">
                                  <a:latin typeface="Cambria Math" panose="02040503050406030204" pitchFamily="18" charset="0"/>
                                </a:rPr>
                                <m:t>𝑎</m:t>
                              </m:r>
                            </m:e>
                            <m:sub>
                              <m:r>
                                <a:rPr lang="en-US" i="1">
                                  <a:latin typeface="Cambria Math" panose="02040503050406030204" pitchFamily="18" charset="0"/>
                                </a:rPr>
                                <m:t>4</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i="1">
                                  <a:latin typeface="Cambria Math" panose="02040503050406030204" pitchFamily="18" charset="0"/>
                                </a:rPr>
                                <m:t>4</m:t>
                              </m:r>
                            </m:sup>
                          </m:sSubSup>
                          <m:r>
                            <a:rPr lang="en-US" i="1">
                              <a:latin typeface="Cambria Math" panose="02040503050406030204" pitchFamily="18" charset="0"/>
                            </a:rPr>
                            <m:t>+…</m:t>
                          </m:r>
                        </m:e>
                      </m:d>
                      <m:r>
                        <a:rPr lang="en-US" i="1">
                          <a:latin typeface="Cambria Math" panose="02040503050406030204" pitchFamily="18" charset="0"/>
                        </a:rPr>
                        <m:t>𝑠𝑖𝑛</m:t>
                      </m:r>
                      <m:r>
                        <a:rPr lang="en-US" b="0" i="1" smtClean="0">
                          <a:latin typeface="Cambria Math" panose="02040503050406030204" pitchFamily="18" charset="0"/>
                        </a:rPr>
                        <m:t>4</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oMath>
                  </m:oMathPara>
                </a14:m>
                <a:endParaRPr lang="en-US" dirty="0" smtClean="0"/>
              </a:p>
              <a:p>
                <a:pPr marL="0" indent="0" algn="just">
                  <a:buNone/>
                </a:pPr>
                <a:r>
                  <a:rPr lang="en-US" dirty="0" smtClean="0"/>
                  <a:t> </a:t>
                </a:r>
              </a:p>
              <a:p>
                <a:pPr marL="0" indent="0" algn="just">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928" t="-2661"/>
                </a:stretch>
              </a:blipFill>
            </p:spPr>
            <p:txBody>
              <a:bodyPr/>
              <a:lstStyle/>
              <a:p>
                <a:r>
                  <a:rPr lang="ru-RU">
                    <a:noFill/>
                  </a:rPr>
                  <a:t> </a:t>
                </a:r>
              </a:p>
            </p:txBody>
          </p:sp>
        </mc:Fallback>
      </mc:AlternateContent>
    </p:spTree>
    <p:extLst>
      <p:ext uri="{BB962C8B-B14F-4D97-AF65-F5344CB8AC3E}">
        <p14:creationId xmlns:p14="http://schemas.microsoft.com/office/powerpoint/2010/main" val="15403679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pPr marL="0" indent="0" algn="just">
                  <a:buNone/>
                </a:pPr>
                <a:r>
                  <a:rPr lang="ru-RU" dirty="0" smtClean="0"/>
                  <a:t>Видим на выходе</a:t>
                </a:r>
                <a:r>
                  <a:rPr lang="en-US" dirty="0" smtClean="0"/>
                  <a:t> </a:t>
                </a:r>
                <a:r>
                  <a:rPr lang="ru-RU" dirty="0" smtClean="0"/>
                  <a:t>сигнал состоящий из </a:t>
                </a:r>
                <a:r>
                  <a:rPr lang="en-US" dirty="0" smtClean="0"/>
                  <a:t>N </a:t>
                </a:r>
                <a:r>
                  <a:rPr lang="ru-RU" dirty="0" smtClean="0"/>
                  <a:t>гармоник, где </a:t>
                </a:r>
                <a:r>
                  <a:rPr lang="en-US" dirty="0" smtClean="0"/>
                  <a:t>N  - </a:t>
                </a:r>
                <a:r>
                  <a:rPr lang="ru-RU" dirty="0" smtClean="0"/>
                  <a:t>максимальная степень в разложении нелинейности в степенной ряд:</a:t>
                </a:r>
              </a:p>
              <a:p>
                <a:pPr marL="0" indent="0" algn="jus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r>
                        <a:rPr lang="en-US" b="0" i="1" smtClean="0">
                          <a:latin typeface="Cambria Math" panose="02040503050406030204" pitchFamily="18" charset="0"/>
                        </a:rPr>
                        <m:t>𝑠𝑖𝑛</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r>
                        <a:rPr lang="en-US" b="0" i="1" smtClean="0">
                          <a:latin typeface="Cambria Math" panose="02040503050406030204" pitchFamily="18" charset="0"/>
                        </a:rPr>
                        <m:t>𝑐𝑜𝑠</m:t>
                      </m:r>
                      <m:r>
                        <a:rPr lang="en-US" b="0" i="1" smtClean="0">
                          <a:latin typeface="Cambria Math" panose="02040503050406030204" pitchFamily="18" charset="0"/>
                        </a:rPr>
                        <m:t>2</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3</m:t>
                          </m:r>
                        </m:sub>
                      </m:sSub>
                      <m:r>
                        <a:rPr lang="en-US" i="1" smtClean="0">
                          <a:latin typeface="Cambria Math" panose="02040503050406030204" pitchFamily="18" charset="0"/>
                        </a:rPr>
                        <m:t>𝑠</m:t>
                      </m:r>
                      <m:r>
                        <a:rPr lang="en-US" b="0" i="1" smtClean="0">
                          <a:latin typeface="Cambria Math" panose="02040503050406030204" pitchFamily="18" charset="0"/>
                        </a:rPr>
                        <m:t>𝑖𝑛</m:t>
                      </m:r>
                      <m:r>
                        <a:rPr lang="en-US" b="0" i="1" smtClean="0">
                          <a:latin typeface="Cambria Math" panose="02040503050406030204" pitchFamily="18" charset="0"/>
                        </a:rPr>
                        <m:t>3</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rPr>
                        <m:t>+…+</m:t>
                      </m:r>
                    </m:oMath>
                  </m:oMathPara>
                </a14:m>
                <a:endParaRPr lang="en-US" dirty="0" smtClean="0"/>
              </a:p>
              <a:p>
                <a:pPr marL="0" indent="0" algn="just">
                  <a:buNone/>
                </a:pPr>
                <a:r>
                  <a:rPr lang="ru-RU" dirty="0" smtClean="0"/>
                  <a:t>При этом постоянный уровень и уровни четных гармоник зависят от коэффициентов при четных степенях разложения, а уровни нечётных гармоник, соответственно, от коэффициентов при нечётных степенях разложения.</a:t>
                </a:r>
              </a:p>
              <a:p>
                <a:pPr marL="0" indent="0" algn="just">
                  <a:buNone/>
                </a:pPr>
                <a:r>
                  <a:rPr lang="ru-RU" dirty="0" smtClean="0"/>
                  <a:t>Эффект получения из гармонического сигнала постоянного уровня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0</m:t>
                        </m:r>
                      </m:sub>
                    </m:sSub>
                    <m:r>
                      <a:rPr lang="ru-RU"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0</m:t>
                        </m:r>
                      </m:sub>
                    </m:sSub>
                    <m:r>
                      <a:rPr lang="en-US" i="1">
                        <a:latin typeface="Cambria Math" panose="02040503050406030204" pitchFamily="18" charset="0"/>
                      </a:rPr>
                      <m:t>+</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i="1">
                                <a:latin typeface="Cambria Math" panose="02040503050406030204" pitchFamily="18" charset="0"/>
                              </a:rPr>
                              <m:t>2</m:t>
                            </m:r>
                          </m:sup>
                        </m:sSubSup>
                        <m:r>
                          <a:rPr lang="en-US" i="1">
                            <a:latin typeface="Cambria Math" panose="02040503050406030204" pitchFamily="18" charset="0"/>
                          </a:rPr>
                          <m:t>+</m:t>
                        </m:r>
                        <m:sSub>
                          <m:sSubPr>
                            <m:ctrlPr>
                              <a:rPr lang="en-US" i="1">
                                <a:latin typeface="Cambria Math" panose="02040503050406030204" pitchFamily="18" charset="0"/>
                              </a:rPr>
                            </m:ctrlPr>
                          </m:sSubPr>
                          <m:e>
                            <m:f>
                              <m:fPr>
                                <m:ctrlPr>
                                  <a:rPr lang="en-US" i="1">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8</m:t>
                                </m:r>
                              </m:den>
                            </m:f>
                            <m:r>
                              <a:rPr lang="en-US" i="1">
                                <a:latin typeface="Cambria Math" panose="02040503050406030204" pitchFamily="18" charset="0"/>
                              </a:rPr>
                              <m:t>𝑎</m:t>
                            </m:r>
                          </m:e>
                          <m:sub>
                            <m:r>
                              <a:rPr lang="en-US" i="1">
                                <a:latin typeface="Cambria Math" panose="02040503050406030204" pitchFamily="18" charset="0"/>
                              </a:rPr>
                              <m:t>4</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i="1">
                                <a:latin typeface="Cambria Math" panose="02040503050406030204" pitchFamily="18" charset="0"/>
                              </a:rPr>
                              <m:t>4</m:t>
                            </m:r>
                          </m:sup>
                        </m:sSubSup>
                        <m:r>
                          <a:rPr lang="en-US" i="1">
                            <a:latin typeface="Cambria Math" panose="02040503050406030204" pitchFamily="18" charset="0"/>
                          </a:rPr>
                          <m:t>+…</m:t>
                        </m:r>
                      </m:e>
                    </m:d>
                  </m:oMath>
                </a14:m>
                <a:r>
                  <a:rPr lang="ru-RU" dirty="0" smtClean="0"/>
                  <a:t> носит название </a:t>
                </a:r>
                <a:r>
                  <a:rPr lang="ru-RU" b="1" dirty="0" smtClean="0"/>
                  <a:t>детектирование или выпрямление</a:t>
                </a:r>
                <a:r>
                  <a:rPr lang="ru-RU" dirty="0"/>
                  <a:t> </a:t>
                </a:r>
                <a:r>
                  <a:rPr lang="ru-RU" dirty="0" smtClean="0"/>
                  <a:t>– это по сути преобразование переменного тока в постоянный.</a:t>
                </a:r>
                <a:endParaRPr lang="en-US" b="1" dirty="0" smtClean="0"/>
              </a:p>
              <a:p>
                <a:pPr marL="0" indent="0" algn="just">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801" r="-986"/>
                </a:stretch>
              </a:blipFill>
            </p:spPr>
            <p:txBody>
              <a:bodyPr/>
              <a:lstStyle/>
              <a:p>
                <a:r>
                  <a:rPr lang="ru-RU">
                    <a:noFill/>
                  </a:rPr>
                  <a:t> </a:t>
                </a:r>
              </a:p>
            </p:txBody>
          </p:sp>
        </mc:Fallback>
      </mc:AlternateContent>
    </p:spTree>
    <p:extLst>
      <p:ext uri="{BB962C8B-B14F-4D97-AF65-F5344CB8AC3E}">
        <p14:creationId xmlns:p14="http://schemas.microsoft.com/office/powerpoint/2010/main" val="31388445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a:bodyPr>
              <a:lstStyle/>
              <a:p>
                <a:pPr marL="0" indent="0" algn="just">
                  <a:buNone/>
                </a:pPr>
                <a:r>
                  <a:rPr lang="ru-RU" dirty="0" smtClean="0"/>
                  <a:t>Следующий компонент сигнала </a:t>
                </a: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i="1">
                                <a:latin typeface="Cambria Math" panose="02040503050406030204" pitchFamily="18" charset="0"/>
                              </a:rPr>
                              <m:t> </m:t>
                            </m:r>
                          </m:sup>
                        </m:sSubSup>
                        <m:r>
                          <a:rPr lang="en-US" i="1">
                            <a:latin typeface="Cambria Math" panose="02040503050406030204" pitchFamily="18" charset="0"/>
                          </a:rPr>
                          <m:t>+</m:t>
                        </m:r>
                        <m:sSub>
                          <m:sSubPr>
                            <m:ctrlPr>
                              <a:rPr lang="en-US" i="1">
                                <a:latin typeface="Cambria Math" panose="02040503050406030204" pitchFamily="18" charset="0"/>
                              </a:rPr>
                            </m:ctrlPr>
                          </m:sSubPr>
                          <m:e>
                            <m:f>
                              <m:fPr>
                                <m:ctrlPr>
                                  <a:rPr lang="en-US" i="1">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4</m:t>
                                </m:r>
                              </m:den>
                            </m:f>
                            <m:r>
                              <a:rPr lang="en-US" i="1">
                                <a:latin typeface="Cambria Math" panose="02040503050406030204" pitchFamily="18" charset="0"/>
                              </a:rPr>
                              <m:t>𝑎</m:t>
                            </m:r>
                          </m:e>
                          <m:sub>
                            <m:r>
                              <a:rPr lang="en-US" i="1">
                                <a:latin typeface="Cambria Math" panose="02040503050406030204" pitchFamily="18" charset="0"/>
                              </a:rPr>
                              <m:t>3</m:t>
                            </m:r>
                          </m:sub>
                        </m:sSub>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sub>
                          <m:sup>
                            <m:r>
                              <a:rPr lang="en-US" i="1">
                                <a:latin typeface="Cambria Math" panose="02040503050406030204" pitchFamily="18" charset="0"/>
                              </a:rPr>
                              <m:t>3</m:t>
                            </m:r>
                          </m:sup>
                        </m:sSubSup>
                        <m:r>
                          <a:rPr lang="en-US" i="1">
                            <a:latin typeface="Cambria Math" panose="02040503050406030204" pitchFamily="18" charset="0"/>
                          </a:rPr>
                          <m:t>+…</m:t>
                        </m:r>
                      </m:e>
                    </m:d>
                    <m:r>
                      <a:rPr lang="en-US" i="1">
                        <a:latin typeface="Cambria Math" panose="02040503050406030204" pitchFamily="18" charset="0"/>
                      </a:rPr>
                      <m:t>𝑠𝑖𝑛</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𝑡</m:t>
                    </m:r>
                  </m:oMath>
                </a14:m>
                <a:r>
                  <a:rPr lang="ru-RU" dirty="0" smtClean="0"/>
                  <a:t>  тоже выглядит интересно: на выходе мы видим сигнал той же частоты , но с амплитудой имеющей нелинейную зависимость от входной амплитуды. Этот эффект называется в случае сжатия диапазона амплитуды </a:t>
                </a:r>
                <a:r>
                  <a:rPr lang="ru-RU" b="1" dirty="0" err="1" smtClean="0"/>
                  <a:t>компандирование</a:t>
                </a:r>
                <a:r>
                  <a:rPr lang="ru-RU" b="1" dirty="0" smtClean="0"/>
                  <a:t>, </a:t>
                </a:r>
                <a:r>
                  <a:rPr lang="ru-RU" dirty="0" smtClean="0"/>
                  <a:t>а в случае растяжения – </a:t>
                </a:r>
                <a:r>
                  <a:rPr lang="ru-RU" b="1" dirty="0" err="1" smtClean="0"/>
                  <a:t>экспандирование</a:t>
                </a:r>
                <a:r>
                  <a:rPr lang="ru-RU" b="1" dirty="0" smtClean="0"/>
                  <a:t>.</a:t>
                </a:r>
              </a:p>
              <a:p>
                <a:pPr marL="0" indent="0" algn="just">
                  <a:buNone/>
                </a:pPr>
                <a:r>
                  <a:rPr lang="ru-RU" dirty="0" smtClean="0"/>
                  <a:t>Более высокочастотные компоненты – есть генерация гармоник входного сигнала. При этом </a:t>
                </a:r>
                <a:r>
                  <a:rPr lang="en-US" b="1" dirty="0" smtClean="0"/>
                  <a:t>k-</a:t>
                </a:r>
                <a:r>
                  <a:rPr lang="ru-RU" b="1" dirty="0" smtClean="0"/>
                  <a:t>тая гармоника </a:t>
                </a:r>
                <a:r>
                  <a:rPr lang="ru-RU" dirty="0" smtClean="0"/>
                  <a:t>возникает только при наличии соответствующей четности членов степенного разложения со степенями </a:t>
                </a:r>
                <a:r>
                  <a:rPr lang="ru-RU" b="1" dirty="0" smtClean="0"/>
                  <a:t>более </a:t>
                </a:r>
                <a:r>
                  <a:rPr lang="en-US" b="1" dirty="0"/>
                  <a:t>k</a:t>
                </a:r>
                <a:endParaRPr lang="en-US" b="1" dirty="0" smtClean="0"/>
              </a:p>
              <a:p>
                <a:pPr marL="0" indent="0" algn="just">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r="-1159" b="-1681"/>
                </a:stretch>
              </a:blipFill>
            </p:spPr>
            <p:txBody>
              <a:bodyPr/>
              <a:lstStyle/>
              <a:p>
                <a:r>
                  <a:rPr lang="ru-RU">
                    <a:noFill/>
                  </a:rPr>
                  <a:t> </a:t>
                </a:r>
              </a:p>
            </p:txBody>
          </p:sp>
        </mc:Fallback>
      </mc:AlternateContent>
    </p:spTree>
    <p:extLst>
      <p:ext uri="{BB962C8B-B14F-4D97-AF65-F5344CB8AC3E}">
        <p14:creationId xmlns:p14="http://schemas.microsoft.com/office/powerpoint/2010/main" val="35642369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Если теперь выделить из всего получившегося ансамбля гармоник только интересующие нас «полезные», а в этом как раз поможет «фильтр» - линейное звено с импульсным откликом Н, то получается масса полезных устройств.</a:t>
            </a:r>
          </a:p>
          <a:p>
            <a:pPr algn="just"/>
            <a:r>
              <a:rPr lang="ru-RU" dirty="0" smtClean="0"/>
              <a:t>Если интересно </a:t>
            </a:r>
            <a:r>
              <a:rPr lang="ru-RU" b="1" dirty="0" smtClean="0"/>
              <a:t>детектирование (выпрямление) </a:t>
            </a:r>
            <a:r>
              <a:rPr lang="ru-RU" dirty="0" smtClean="0"/>
              <a:t>входного сигнала – линейное звено должно быть ФНЧ с полосой среза меньше </a:t>
            </a:r>
            <a:r>
              <a:rPr lang="el-GR" dirty="0" smtClean="0"/>
              <a:t>ω</a:t>
            </a:r>
            <a:endParaRPr lang="ru-RU" dirty="0" smtClean="0"/>
          </a:p>
          <a:p>
            <a:pPr algn="just"/>
            <a:r>
              <a:rPr lang="ru-RU" dirty="0" smtClean="0"/>
              <a:t>Если необходимо нелинейное изменение диапазона – требуется полосовой фильтр выделяющий частоту </a:t>
            </a:r>
            <a:r>
              <a:rPr lang="el-GR" dirty="0"/>
              <a:t>ω</a:t>
            </a:r>
            <a:endParaRPr lang="ru-RU" dirty="0"/>
          </a:p>
          <a:p>
            <a:pPr algn="just"/>
            <a:r>
              <a:rPr lang="ru-RU" dirty="0" smtClean="0"/>
              <a:t>Если важно получение высокочастотного сигнала – а это например задачи прямого синтеза частот </a:t>
            </a:r>
            <a:r>
              <a:rPr lang="en-US" dirty="0" smtClean="0"/>
              <a:t>– </a:t>
            </a:r>
            <a:r>
              <a:rPr lang="ru-RU" dirty="0" smtClean="0"/>
              <a:t>нужен полосовой фильтр </a:t>
            </a:r>
            <a:r>
              <a:rPr lang="ru-RU" smtClean="0"/>
              <a:t>на требуемую частоту.</a:t>
            </a:r>
            <a:endParaRPr lang="en-US" dirty="0" smtClean="0"/>
          </a:p>
          <a:p>
            <a:pPr marL="0" indent="0" algn="just">
              <a:buNone/>
            </a:pPr>
            <a:endParaRPr lang="ru-RU" dirty="0"/>
          </a:p>
        </p:txBody>
      </p:sp>
    </p:spTree>
    <p:extLst>
      <p:ext uri="{BB962C8B-B14F-4D97-AF65-F5344CB8AC3E}">
        <p14:creationId xmlns:p14="http://schemas.microsoft.com/office/powerpoint/2010/main" val="28780407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Методы расчета нелинейных цепей</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pPr marL="0" indent="0" algn="just">
                  <a:buNone/>
                </a:pPr>
                <a:r>
                  <a:rPr lang="ru-RU" dirty="0" smtClean="0"/>
                  <a:t>Для некоторых видов нелинейных звеньев возможно довольно легко оценить спектральную плотность выходного сигнала.</a:t>
                </a:r>
              </a:p>
              <a:p>
                <a:pPr marL="0" indent="0" algn="just">
                  <a:buNone/>
                </a:pPr>
                <a:r>
                  <a:rPr lang="ru-RU" dirty="0" smtClean="0"/>
                  <a:t>Ограничитель: 			Выходной сигнал имеет форму </a:t>
                </a:r>
              </a:p>
              <a:p>
                <a:pPr marL="0" indent="0" algn="just">
                  <a:buNone/>
                </a:pPr>
                <a:r>
                  <a:rPr lang="ru-RU" dirty="0"/>
                  <a:t>	</a:t>
                </a:r>
                <a:r>
                  <a:rPr lang="ru-RU" dirty="0" smtClean="0"/>
                  <a:t>				близкую к прямоугольной</a:t>
                </a:r>
              </a:p>
              <a:p>
                <a:pPr marL="0" indent="0" algn="just">
                  <a:buNone/>
                </a:pPr>
                <a:endParaRPr lang="ru-RU" dirty="0"/>
              </a:p>
              <a:p>
                <a:pPr marL="0" indent="0" algn="just">
                  <a:buNone/>
                </a:pPr>
                <a:endParaRPr lang="ru-RU" dirty="0" smtClean="0"/>
              </a:p>
              <a:p>
                <a:pPr marL="0" indent="0" algn="just">
                  <a:buNone/>
                </a:pPr>
                <a:r>
                  <a:rPr lang="ru-RU" dirty="0" smtClean="0"/>
                  <a:t>Если мы вспомним спектр прямоугольного импульса, то он имеет спад частотной характеристики пропорциональный  </a:t>
                </a:r>
                <a14:m>
                  <m:oMath xmlns:m="http://schemas.openxmlformats.org/officeDocument/2006/math">
                    <m:f>
                      <m:fPr>
                        <m:ctrlPr>
                          <a:rPr lang="ru-RU" i="1" smtClean="0">
                            <a:latin typeface="Cambria Math" panose="02040503050406030204" pitchFamily="18" charset="0"/>
                          </a:rPr>
                        </m:ctrlPr>
                      </m:fPr>
                      <m:num>
                        <m:r>
                          <a:rPr lang="ru-RU" b="0" i="1" smtClean="0">
                            <a:latin typeface="Cambria Math" panose="02040503050406030204" pitchFamily="18" charset="0"/>
                          </a:rPr>
                          <m:t>1</m:t>
                        </m:r>
                      </m:num>
                      <m:den>
                        <m:r>
                          <a:rPr lang="ru-RU" i="1" smtClean="0">
                            <a:latin typeface="Cambria Math" panose="02040503050406030204" pitchFamily="18" charset="0"/>
                            <a:ea typeface="Cambria Math" panose="02040503050406030204" pitchFamily="18" charset="0"/>
                          </a:rPr>
                          <m:t>𝜔</m:t>
                        </m:r>
                      </m:den>
                    </m:f>
                  </m:oMath>
                </a14:m>
                <a:endParaRPr lang="ru-RU" dirty="0" smtClean="0"/>
              </a:p>
              <a:p>
                <a:pPr marL="0" indent="0" algn="just">
                  <a:buNone/>
                </a:pPr>
                <a:r>
                  <a:rPr lang="ru-RU" dirty="0" smtClean="0"/>
                  <a:t>Аналогично, если выходной сигнал имеет форму, близкую к треугольной, то спектр будет иметь характер </a:t>
                </a:r>
                <a14:m>
                  <m:oMath xmlns:m="http://schemas.openxmlformats.org/officeDocument/2006/math">
                    <m:f>
                      <m:fPr>
                        <m:ctrlPr>
                          <a:rPr lang="ru-RU" i="1">
                            <a:latin typeface="Cambria Math" panose="02040503050406030204" pitchFamily="18" charset="0"/>
                          </a:rPr>
                        </m:ctrlPr>
                      </m:fPr>
                      <m:num>
                        <m:r>
                          <a:rPr lang="ru-RU" i="1">
                            <a:latin typeface="Cambria Math" panose="02040503050406030204" pitchFamily="18" charset="0"/>
                          </a:rPr>
                          <m:t>1</m:t>
                        </m:r>
                      </m:num>
                      <m:den>
                        <m:sSup>
                          <m:sSupPr>
                            <m:ctrlPr>
                              <a:rPr lang="ru-RU" i="1" smtClean="0">
                                <a:latin typeface="Cambria Math" panose="02040503050406030204" pitchFamily="18" charset="0"/>
                              </a:rPr>
                            </m:ctrlPr>
                          </m:sSupPr>
                          <m:e>
                            <m:r>
                              <a:rPr lang="ru-RU" i="1" smtClean="0">
                                <a:latin typeface="Cambria Math" panose="02040503050406030204" pitchFamily="18" charset="0"/>
                                <a:ea typeface="Cambria Math" panose="02040503050406030204" pitchFamily="18" charset="0"/>
                              </a:rPr>
                              <m:t>𝜔</m:t>
                            </m:r>
                          </m:e>
                          <m:sup>
                            <m:r>
                              <a:rPr lang="ru-RU" b="0" i="1" smtClean="0">
                                <a:latin typeface="Cambria Math" panose="02040503050406030204" pitchFamily="18" charset="0"/>
                              </a:rPr>
                              <m:t>2</m:t>
                            </m:r>
                          </m:sup>
                        </m:sSup>
                      </m:den>
                    </m:f>
                  </m:oMath>
                </a14:m>
                <a:r>
                  <a:rPr lang="ru-RU" dirty="0" smtClean="0"/>
                  <a:t>, и так далее.</a:t>
                </a:r>
                <a:endParaRPr lang="en-US" dirty="0" smtClean="0"/>
              </a:p>
              <a:p>
                <a:pPr marL="0" indent="0" algn="just">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2801" r="-986" b="-980"/>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3440936" y="2726809"/>
            <a:ext cx="1628775" cy="1190625"/>
          </a:xfrm>
          <a:prstGeom prst="rect">
            <a:avLst/>
          </a:prstGeom>
        </p:spPr>
      </p:pic>
      <p:pic>
        <p:nvPicPr>
          <p:cNvPr id="5" name="Рисунок 4"/>
          <p:cNvPicPr>
            <a:picLocks noChangeAspect="1"/>
          </p:cNvPicPr>
          <p:nvPr/>
        </p:nvPicPr>
        <p:blipFill>
          <a:blip r:embed="rId4"/>
          <a:stretch>
            <a:fillRect/>
          </a:stretch>
        </p:blipFill>
        <p:spPr>
          <a:xfrm>
            <a:off x="6179820" y="3517224"/>
            <a:ext cx="2458430" cy="800419"/>
          </a:xfrm>
          <a:prstGeom prst="rect">
            <a:avLst/>
          </a:prstGeom>
        </p:spPr>
      </p:pic>
    </p:spTree>
    <p:extLst>
      <p:ext uri="{BB962C8B-B14F-4D97-AF65-F5344CB8AC3E}">
        <p14:creationId xmlns:p14="http://schemas.microsoft.com/office/powerpoint/2010/main" val="14847420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Нелинейная цепь и сумма сигналов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20000"/>
              </a:bodyPr>
              <a:lstStyle/>
              <a:p>
                <a:pPr marL="0" indent="0" algn="just">
                  <a:buNone/>
                </a:pPr>
                <a:r>
                  <a:rPr lang="ru-RU" dirty="0" smtClean="0"/>
                  <a:t>Теперь рассмотрим еще один существенный аспект касающийся нелинейных цепей: прохождение через нелинейную цепь суммы гармонических сигналов.</a:t>
                </a:r>
              </a:p>
              <a:p>
                <a:pPr marL="0" indent="0" algn="just">
                  <a:buNone/>
                </a:pPr>
                <a:r>
                  <a:rPr lang="ru-RU" dirty="0" smtClean="0"/>
                  <a:t>Рассмотрим цепь с квадратичной нелинейностью</a:t>
                </a:r>
                <a:r>
                  <a:rPr lang="en-US" dirty="0" smtClean="0"/>
                  <a:t>:</a:t>
                </a:r>
                <a:r>
                  <a:rPr lang="ru-RU" dirty="0" smtClean="0"/>
                  <a:t>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r>
                  <a:rPr lang="en-US" dirty="0" smtClean="0"/>
                  <a:t>, </a:t>
                </a:r>
                <a:r>
                  <a:rPr lang="ru-RU" dirty="0" smtClean="0"/>
                  <a:t>на которую подан сигнал</a:t>
                </a:r>
                <a:endParaRPr lang="en-US" dirty="0" smtClean="0"/>
              </a:p>
              <a:p>
                <a:pPr marL="0" indent="0" algn="just">
                  <a:buNone/>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i="1">
                              <a:latin typeface="Cambria Math" panose="02040503050406030204" pitchFamily="18" charset="0"/>
                            </a:rPr>
                            <m:t>𝑢</m:t>
                          </m:r>
                        </m:e>
                        <m:sub>
                          <m:r>
                            <a:rPr lang="en-US" i="1">
                              <a:latin typeface="Cambria Math" panose="02040503050406030204" pitchFamily="18" charset="0"/>
                            </a:rPr>
                            <m:t>𝑚</m:t>
                          </m:r>
                          <m:r>
                            <a:rPr lang="ru-RU" b="0" i="1" smtClean="0">
                              <a:latin typeface="Cambria Math" panose="02040503050406030204" pitchFamily="18" charset="0"/>
                            </a:rPr>
                            <m:t>1</m:t>
                          </m:r>
                        </m:sub>
                      </m:sSub>
                      <m:r>
                        <a:rPr lang="en-US" i="1">
                          <a:latin typeface="Cambria Math" panose="02040503050406030204" pitchFamily="18" charset="0"/>
                        </a:rPr>
                        <m:t>𝑠𝑖𝑛</m:t>
                      </m:r>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b="0" i="1" smtClean="0">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sSub>
                        <m:sSubPr>
                          <m:ctrlPr>
                            <a:rPr lang="ru-RU" i="1">
                              <a:latin typeface="Cambria Math" panose="02040503050406030204" pitchFamily="18" charset="0"/>
                            </a:rPr>
                          </m:ctrlPr>
                        </m:sSubPr>
                        <m:e>
                          <m:r>
                            <a:rPr lang="ru-RU" b="0" i="1" smtClean="0">
                              <a:latin typeface="Cambria Math" panose="02040503050406030204" pitchFamily="18" charset="0"/>
                            </a:rPr>
                            <m:t>+</m:t>
                          </m:r>
                          <m:r>
                            <a:rPr lang="en-US" i="1">
                              <a:latin typeface="Cambria Math" panose="02040503050406030204" pitchFamily="18" charset="0"/>
                            </a:rPr>
                            <m:t>𝑢</m:t>
                          </m:r>
                        </m:e>
                        <m:sub>
                          <m:r>
                            <a:rPr lang="en-US" i="1">
                              <a:latin typeface="Cambria Math" panose="02040503050406030204" pitchFamily="18" charset="0"/>
                            </a:rPr>
                            <m:t>𝑚</m:t>
                          </m:r>
                          <m:r>
                            <a:rPr lang="ru-RU" b="0" i="1" smtClean="0">
                              <a:latin typeface="Cambria Math" panose="02040503050406030204" pitchFamily="18" charset="0"/>
                            </a:rPr>
                            <m:t>2</m:t>
                          </m:r>
                        </m:sub>
                      </m:sSub>
                      <m:r>
                        <a:rPr lang="en-US" i="1">
                          <a:latin typeface="Cambria Math" panose="02040503050406030204" pitchFamily="18" charset="0"/>
                        </a:rPr>
                        <m:t>𝑠𝑖𝑛</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oMath>
                  </m:oMathPara>
                </a14:m>
                <a:endParaRPr lang="en-US" dirty="0"/>
              </a:p>
              <a:p>
                <a:pPr marL="0" indent="0" algn="just">
                  <a:buNone/>
                </a:pPr>
                <a:r>
                  <a:rPr lang="ru-RU" dirty="0" smtClean="0"/>
                  <a:t>На выходе нелинейного звена имеем:</a:t>
                </a:r>
                <a:endParaRPr lang="en-US" dirty="0"/>
              </a:p>
              <a:p>
                <a:pPr marL="0" indent="0" algn="ctr">
                  <a:buNone/>
                </a:pP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ru-RU" b="0" i="1" smtClean="0">
                            <a:latin typeface="Cambria Math" panose="02040503050406030204" pitchFamily="18" charset="0"/>
                          </a:rPr>
                          <m:t>2</m:t>
                        </m:r>
                      </m:sub>
                    </m:sSub>
                    <m:d>
                      <m:dPr>
                        <m:ctrlPr>
                          <a:rPr lang="en-US" b="0" i="1" smtClean="0">
                            <a:latin typeface="Cambria Math" panose="02040503050406030204" pitchFamily="18" charset="0"/>
                          </a:rPr>
                        </m:ctrlPr>
                      </m:dPr>
                      <m:e>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𝑚</m:t>
                            </m:r>
                            <m:r>
                              <a:rPr lang="ru-RU" b="0" i="1" smtClean="0">
                                <a:latin typeface="Cambria Math" panose="02040503050406030204" pitchFamily="18" charset="0"/>
                              </a:rPr>
                              <m:t>1</m:t>
                            </m:r>
                          </m:sub>
                          <m:sup>
                            <m:r>
                              <a:rPr lang="en-US" b="0" i="1" smtClean="0">
                                <a:latin typeface="Cambria Math" panose="02040503050406030204" pitchFamily="18" charset="0"/>
                              </a:rPr>
                              <m:t>2</m:t>
                            </m:r>
                          </m:sup>
                        </m:sSubSup>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𝑠𝑖𝑛</m:t>
                            </m:r>
                          </m:e>
                          <m:sup>
                            <m:r>
                              <a:rPr lang="en-US" b="0" i="1" smtClean="0">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en-US" b="0" i="1" smtClean="0">
                                <a:latin typeface="Cambria Math" panose="02040503050406030204" pitchFamily="18" charset="0"/>
                              </a:rPr>
                              <m:t>2</m:t>
                            </m:r>
                          </m:sub>
                          <m:sup>
                            <m:r>
                              <a:rPr lang="en-US" i="1">
                                <a:latin typeface="Cambria Math" panose="02040503050406030204" pitchFamily="18" charset="0"/>
                              </a:rPr>
                              <m:t>2</m:t>
                            </m:r>
                          </m:sup>
                        </m:sSubSup>
                        <m:sSup>
                          <m:sSupPr>
                            <m:ctrlPr>
                              <a:rPr lang="en-US" i="1">
                                <a:latin typeface="Cambria Math" panose="02040503050406030204" pitchFamily="18" charset="0"/>
                              </a:rPr>
                            </m:ctrlPr>
                          </m:sSupPr>
                          <m:e>
                            <m:r>
                              <a:rPr lang="en-US" i="1">
                                <a:latin typeface="Cambria Math" panose="02040503050406030204" pitchFamily="18" charset="0"/>
                              </a:rPr>
                              <m:t>𝑠𝑖𝑛</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ru-RU" i="1">
                            <a:latin typeface="Cambria Math" panose="02040503050406030204" pitchFamily="18" charset="0"/>
                          </a:rPr>
                          <m:t>2</m:t>
                        </m:r>
                      </m:sub>
                    </m:sSub>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b="0" i="1" smtClean="0">
                                <a:latin typeface="Cambria Math" panose="02040503050406030204" pitchFamily="18" charset="0"/>
                              </a:rPr>
                              <m:t>2</m:t>
                            </m:r>
                            <m:r>
                              <a:rPr lang="en-US" i="1">
                                <a:latin typeface="Cambria Math" panose="02040503050406030204" pitchFamily="18" charset="0"/>
                              </a:rPr>
                              <m:t>𝑢</m:t>
                            </m:r>
                          </m:e>
                          <m:sub>
                            <m:r>
                              <a:rPr lang="en-US" i="1">
                                <a:latin typeface="Cambria Math" panose="02040503050406030204" pitchFamily="18" charset="0"/>
                              </a:rPr>
                              <m:t>𝑚</m:t>
                            </m:r>
                            <m:r>
                              <a:rPr lang="ru-RU" i="1">
                                <a:latin typeface="Cambria Math" panose="02040503050406030204" pitchFamily="18" charset="0"/>
                              </a:rPr>
                              <m:t>1</m:t>
                            </m:r>
                          </m:sub>
                          <m:sup>
                            <m:r>
                              <a:rPr lang="en-US" b="0" i="1" smtClean="0">
                                <a:latin typeface="Cambria Math" panose="02040503050406030204" pitchFamily="18" charset="0"/>
                              </a:rPr>
                              <m:t> </m:t>
                            </m:r>
                          </m:sup>
                        </m:sSubSup>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en-US" i="1">
                                    <a:latin typeface="Cambria Math" panose="02040503050406030204" pitchFamily="18" charset="0"/>
                                  </a:rPr>
                                  <m:t>2</m:t>
                                </m:r>
                              </m:sub>
                              <m:sup>
                                <m:r>
                                  <a:rPr lang="en-US" b="0" i="1" smtClean="0">
                                    <a:latin typeface="Cambria Math" panose="02040503050406030204" pitchFamily="18" charset="0"/>
                                  </a:rPr>
                                  <m:t> </m:t>
                                </m:r>
                              </m:sup>
                            </m:sSubSup>
                            <m:r>
                              <a:rPr lang="en-US" i="1">
                                <a:latin typeface="Cambria Math" panose="02040503050406030204" pitchFamily="18" charset="0"/>
                              </a:rPr>
                              <m:t>𝑠𝑖𝑛</m:t>
                            </m:r>
                          </m:e>
                          <m:sup>
                            <m:r>
                              <a:rPr lang="en-US" b="0" i="1" smtClean="0">
                                <a:latin typeface="Cambria Math" panose="02040503050406030204" pitchFamily="18" charset="0"/>
                              </a:rPr>
                              <m:t> </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sSup>
                          <m:sSupPr>
                            <m:ctrlPr>
                              <a:rPr lang="en-US" i="1">
                                <a:latin typeface="Cambria Math" panose="02040503050406030204" pitchFamily="18" charset="0"/>
                              </a:rPr>
                            </m:ctrlPr>
                          </m:sSupPr>
                          <m:e>
                            <m:r>
                              <a:rPr lang="en-US" i="1">
                                <a:latin typeface="Cambria Math" panose="02040503050406030204" pitchFamily="18" charset="0"/>
                              </a:rPr>
                              <m:t>𝑠𝑖𝑛</m:t>
                            </m:r>
                          </m:e>
                          <m:sup>
                            <m:r>
                              <a:rPr lang="en-US" b="0" i="1" smtClean="0">
                                <a:latin typeface="Cambria Math" panose="02040503050406030204" pitchFamily="18" charset="0"/>
                              </a:rPr>
                              <m:t> </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e>
                    </m:d>
                  </m:oMath>
                </a14:m>
                <a:r>
                  <a:rPr lang="en-US" dirty="0" smtClean="0"/>
                  <a:t> </a:t>
                </a:r>
              </a:p>
              <a:p>
                <a:pPr marL="0" indent="0" algn="just">
                  <a:buNone/>
                </a:pPr>
                <a:r>
                  <a:rPr lang="ru-RU" dirty="0" smtClean="0"/>
                  <a:t>Первое слагаемое – это выпрямление и генерация гармоник, а вот второе, если его преобразовать дает сигнал </a:t>
                </a:r>
                <a:r>
                  <a:rPr lang="ru-RU" b="1" dirty="0" smtClean="0"/>
                  <a:t>суммарной</a:t>
                </a:r>
                <a:r>
                  <a:rPr lang="ru-RU" dirty="0" smtClean="0"/>
                  <a:t> и </a:t>
                </a:r>
                <a:r>
                  <a:rPr lang="ru-RU" b="1" dirty="0" smtClean="0"/>
                  <a:t>разностной</a:t>
                </a:r>
                <a:r>
                  <a:rPr lang="ru-RU" dirty="0" smtClean="0"/>
                  <a:t> частоты.</a:t>
                </a: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t="-3501" r="-986"/>
                </a:stretch>
              </a:blipFill>
            </p:spPr>
            <p:txBody>
              <a:bodyPr/>
              <a:lstStyle/>
              <a:p>
                <a:r>
                  <a:rPr lang="ru-RU">
                    <a:noFill/>
                  </a:rPr>
                  <a:t> </a:t>
                </a:r>
              </a:p>
            </p:txBody>
          </p:sp>
        </mc:Fallback>
      </mc:AlternateContent>
    </p:spTree>
    <p:extLst>
      <p:ext uri="{BB962C8B-B14F-4D97-AF65-F5344CB8AC3E}">
        <p14:creationId xmlns:p14="http://schemas.microsoft.com/office/powerpoint/2010/main" val="32872191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Нелинейная цепь и сумма сигналов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fontScale="92500" lnSpcReduction="10000"/>
              </a:bodyPr>
              <a:lstStyle/>
              <a:p>
                <a:pPr marL="0" indent="0" algn="just">
                  <a:buNone/>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2</m:t>
                              </m:r>
                              <m:r>
                                <a:rPr lang="en-US" i="1">
                                  <a:latin typeface="Cambria Math" panose="02040503050406030204" pitchFamily="18" charset="0"/>
                                </a:rPr>
                                <m:t>𝑢</m:t>
                              </m:r>
                            </m:e>
                            <m:sub>
                              <m:r>
                                <a:rPr lang="en-US" i="1">
                                  <a:latin typeface="Cambria Math" panose="02040503050406030204" pitchFamily="18" charset="0"/>
                                </a:rPr>
                                <m:t>𝑚</m:t>
                              </m:r>
                              <m:r>
                                <a:rPr lang="ru-RU" i="1">
                                  <a:latin typeface="Cambria Math" panose="02040503050406030204" pitchFamily="18" charset="0"/>
                                </a:rPr>
                                <m:t>1</m:t>
                              </m:r>
                            </m:sub>
                            <m:sup>
                              <m:r>
                                <a:rPr lang="en-US" i="1">
                                  <a:latin typeface="Cambria Math" panose="02040503050406030204" pitchFamily="18" charset="0"/>
                                </a:rPr>
                                <m:t> </m:t>
                              </m:r>
                            </m:sup>
                          </m:sSubSup>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en-US" i="1">
                                      <a:latin typeface="Cambria Math" panose="02040503050406030204" pitchFamily="18" charset="0"/>
                                    </a:rPr>
                                    <m:t>2</m:t>
                                  </m:r>
                                </m:sub>
                                <m:sup>
                                  <m:r>
                                    <a:rPr lang="en-US" i="1">
                                      <a:latin typeface="Cambria Math" panose="02040503050406030204" pitchFamily="18" charset="0"/>
                                    </a:rPr>
                                    <m:t> </m:t>
                                  </m:r>
                                </m:sup>
                              </m:sSubSup>
                              <m:r>
                                <a:rPr lang="en-US" i="1">
                                  <a:latin typeface="Cambria Math" panose="02040503050406030204" pitchFamily="18" charset="0"/>
                                </a:rPr>
                                <m:t>𝑠𝑖𝑛</m:t>
                              </m:r>
                            </m:e>
                            <m:sup>
                              <m:r>
                                <a:rPr lang="en-US" i="1">
                                  <a:latin typeface="Cambria Math" panose="02040503050406030204" pitchFamily="18" charset="0"/>
                                </a:rPr>
                                <m:t> </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sSup>
                            <m:sSupPr>
                              <m:ctrlPr>
                                <a:rPr lang="en-US" i="1">
                                  <a:latin typeface="Cambria Math" panose="02040503050406030204" pitchFamily="18" charset="0"/>
                                </a:rPr>
                              </m:ctrlPr>
                            </m:sSupPr>
                            <m:e>
                              <m:r>
                                <a:rPr lang="en-US" i="1">
                                  <a:latin typeface="Cambria Math" panose="02040503050406030204" pitchFamily="18" charset="0"/>
                                </a:rPr>
                                <m:t>𝑠𝑖𝑛</m:t>
                              </m:r>
                            </m:e>
                            <m:sup>
                              <m:r>
                                <a:rPr lang="en-US" i="1">
                                  <a:latin typeface="Cambria Math" panose="02040503050406030204" pitchFamily="18" charset="0"/>
                                </a:rPr>
                                <m:t> </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e>
                      </m:d>
                      <m:r>
                        <a:rPr lang="ru-RU"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ru-RU" i="1">
                              <a:latin typeface="Cambria Math" panose="02040503050406030204" pitchFamily="18" charset="0"/>
                            </a:rPr>
                            <m:t>1</m:t>
                          </m:r>
                        </m:sub>
                        <m:sup>
                          <m:r>
                            <a:rPr lang="en-US" i="1">
                              <a:latin typeface="Cambria Math" panose="02040503050406030204" pitchFamily="18" charset="0"/>
                            </a:rPr>
                            <m:t> </m:t>
                          </m:r>
                        </m:sup>
                      </m:sSubSup>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en-US" i="1">
                                  <a:latin typeface="Cambria Math" panose="02040503050406030204" pitchFamily="18" charset="0"/>
                                </a:rPr>
                                <m:t>2</m:t>
                              </m:r>
                            </m:sub>
                            <m:sup>
                              <m:r>
                                <a:rPr lang="en-US" i="1">
                                  <a:latin typeface="Cambria Math" panose="02040503050406030204" pitchFamily="18" charset="0"/>
                                </a:rPr>
                                <m:t> </m:t>
                              </m:r>
                            </m:sup>
                          </m:sSubSup>
                        </m:e>
                        <m:sup>
                          <m:r>
                            <a:rPr lang="en-US" i="1">
                              <a:latin typeface="Cambria Math" panose="02040503050406030204" pitchFamily="18" charset="0"/>
                            </a:rPr>
                            <m:t> </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2</m:t>
                                  </m:r>
                                </m:sub>
                              </m:sSub>
                            </m:e>
                          </m:d>
                        </m:e>
                      </m:func>
                      <m:r>
                        <a:rPr lang="en-US" b="0" i="1" smtClean="0">
                          <a:latin typeface="Cambria Math" panose="02040503050406030204" pitchFamily="18" charset="0"/>
                        </a:rPr>
                        <m:t>𝑡</m:t>
                      </m:r>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e>
                          </m:d>
                        </m:e>
                      </m:func>
                      <m:r>
                        <a:rPr lang="en-US" i="1">
                          <a:latin typeface="Cambria Math" panose="02040503050406030204" pitchFamily="18" charset="0"/>
                        </a:rPr>
                        <m:t>𝑡</m:t>
                      </m:r>
                      <m:r>
                        <a:rPr lang="en-US" b="0" i="1" smtClean="0">
                          <a:latin typeface="Cambria Math" panose="02040503050406030204" pitchFamily="18" charset="0"/>
                        </a:rPr>
                        <m:t>]</m:t>
                      </m:r>
                    </m:oMath>
                  </m:oMathPara>
                </a14:m>
                <a:endParaRPr lang="en-US" dirty="0" smtClean="0"/>
              </a:p>
              <a:p>
                <a:pPr marL="0" indent="0" algn="just">
                  <a:buNone/>
                </a:pPr>
                <a:r>
                  <a:rPr lang="ru-RU" dirty="0" smtClean="0"/>
                  <a:t>Процесс возникновения </a:t>
                </a:r>
                <a:r>
                  <a:rPr lang="ru-RU" b="1" dirty="0" smtClean="0"/>
                  <a:t>суммарных</a:t>
                </a:r>
                <a:r>
                  <a:rPr lang="ru-RU" dirty="0" smtClean="0"/>
                  <a:t> и </a:t>
                </a:r>
                <a:r>
                  <a:rPr lang="ru-RU" b="1" dirty="0" smtClean="0"/>
                  <a:t>разностных</a:t>
                </a:r>
                <a:r>
                  <a:rPr lang="ru-RU" dirty="0" smtClean="0"/>
                  <a:t> частот в выходном сигнале называется </a:t>
                </a:r>
                <a:r>
                  <a:rPr lang="ru-RU" b="1" dirty="0" smtClean="0"/>
                  <a:t>преобразованием частоты</a:t>
                </a:r>
                <a:r>
                  <a:rPr lang="ru-RU" dirty="0" smtClean="0"/>
                  <a:t>.</a:t>
                </a:r>
              </a:p>
              <a:p>
                <a:pPr marL="0" indent="0" algn="just">
                  <a:buNone/>
                </a:pPr>
                <a:r>
                  <a:rPr lang="ru-RU" dirty="0" smtClean="0"/>
                  <a:t>В общем случае полиноминального разложения с полиномом </a:t>
                </a:r>
                <a:r>
                  <a:rPr lang="en-US" i="1" dirty="0" smtClean="0"/>
                  <a:t>n</a:t>
                </a:r>
                <a:r>
                  <a:rPr lang="ru-RU" i="1" dirty="0" smtClean="0"/>
                  <a:t>-</a:t>
                </a:r>
                <a:r>
                  <a:rPr lang="ru-RU" dirty="0" smtClean="0"/>
                  <a:t>той степени на выходе будут присутствовать комбинационные частоты </a:t>
                </a:r>
                <a14:m>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sSub>
                      <m:sSubPr>
                        <m:ctrlPr>
                          <a:rPr lang="ru-RU" i="1" smtClean="0">
                            <a:latin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1</m:t>
                        </m:r>
                      </m:sub>
                    </m:sSub>
                    <m:r>
                      <a:rPr lang="ru-RU" i="1" smtClean="0">
                        <a:latin typeface="Cambria Math" panose="02040503050406030204" pitchFamily="18" charset="0"/>
                        <a:ea typeface="Cambria Math" panose="02040503050406030204" pitchFamily="18" charset="0"/>
                      </a:rPr>
                      <m:t>±</m:t>
                    </m:r>
                    <m:sSub>
                      <m:sSubPr>
                        <m:ctrlPr>
                          <a:rPr lang="ru-RU"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sSub>
                      <m:sSubPr>
                        <m:ctrlPr>
                          <a:rPr lang="ru-RU" i="1" smtClean="0">
                            <a:latin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en-US" b="0" i="0"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oMath>
                </a14:m>
                <a:endParaRPr lang="en-US" dirty="0" smtClean="0"/>
              </a:p>
              <a:p>
                <a:pPr marL="0" indent="0" algn="just">
                  <a:buNone/>
                </a:pPr>
                <a:r>
                  <a:rPr lang="ru-RU" dirty="0" smtClean="0"/>
                  <a:t>Например если посмотреть прохождение суммы сигналов через звено с чисто кубической нелинейностью то на выходе будут комбинационные частоты вида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1</m:t>
                        </m:r>
                      </m:sub>
                    </m:sSub>
                    <m:r>
                      <a:rPr lang="ru-RU" i="1">
                        <a:latin typeface="Cambria Math" panose="02040503050406030204" pitchFamily="18" charset="0"/>
                        <a:ea typeface="Cambria Math" panose="02040503050406030204" pitchFamily="18" charset="0"/>
                      </a:rPr>
                      <m:t>±</m:t>
                    </m:r>
                    <m:r>
                      <a:rPr lang="ru-RU" b="0" i="1" smtClean="0">
                        <a:latin typeface="Cambria Math" panose="02040503050406030204" pitchFamily="18" charset="0"/>
                      </a:rPr>
                      <m:t>2</m:t>
                    </m:r>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r>
                      <a:rPr lang="en-US" b="0" i="0" smtClean="0">
                        <a:latin typeface="Cambria Math" panose="02040503050406030204" pitchFamily="18" charset="0"/>
                      </a:rPr>
                      <m:t>,</m:t>
                    </m:r>
                    <m:r>
                      <a:rPr lang="en-US" b="0" i="1" smtClean="0">
                        <a:latin typeface="Cambria Math" panose="02040503050406030204" pitchFamily="18" charset="0"/>
                      </a:rPr>
                      <m:t>2</m:t>
                    </m:r>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1</m:t>
                        </m:r>
                      </m:sub>
                    </m:sSub>
                    <m:r>
                      <a:rPr lang="ru-RU" i="1">
                        <a:latin typeface="Cambria Math" panose="02040503050406030204" pitchFamily="18" charset="0"/>
                        <a:ea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oMath>
                </a14:m>
                <a:endParaRPr lang="en-US" dirty="0" smtClean="0"/>
              </a:p>
              <a:p>
                <a:pPr marL="0" indent="0" algn="just">
                  <a:buNone/>
                </a:pPr>
                <a:r>
                  <a:rPr lang="ru-RU" dirty="0" smtClean="0"/>
                  <a:t>С точки зрения практического применения стараются выбирать такую нелинейность, чтобы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1</m:t>
                        </m:r>
                      </m:sub>
                    </m:sSub>
                    <m:r>
                      <a:rPr lang="ru-RU" b="0" i="0"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𝑚</m:t>
                        </m:r>
                      </m:e>
                      <m:sub>
                        <m:r>
                          <a:rPr lang="en-US" i="1">
                            <a:latin typeface="Cambria Math" panose="02040503050406030204" pitchFamily="18" charset="0"/>
                          </a:rPr>
                          <m:t>2</m:t>
                        </m:r>
                      </m:sub>
                    </m:sSub>
                    <m:r>
                      <a:rPr lang="ru-RU" b="0" i="1" smtClean="0">
                        <a:latin typeface="Cambria Math" panose="02040503050406030204" pitchFamily="18" charset="0"/>
                      </a:rPr>
                      <m:t>=1</m:t>
                    </m:r>
                  </m:oMath>
                </a14:m>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043" r="-986"/>
                </a:stretch>
              </a:blipFill>
            </p:spPr>
            <p:txBody>
              <a:bodyPr/>
              <a:lstStyle/>
              <a:p>
                <a:r>
                  <a:rPr lang="ru-RU">
                    <a:noFill/>
                  </a:rPr>
                  <a:t> </a:t>
                </a:r>
              </a:p>
            </p:txBody>
          </p:sp>
        </mc:Fallback>
      </mc:AlternateContent>
    </p:spTree>
    <p:extLst>
      <p:ext uri="{BB962C8B-B14F-4D97-AF65-F5344CB8AC3E}">
        <p14:creationId xmlns:p14="http://schemas.microsoft.com/office/powerpoint/2010/main" val="25324805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Модулятор</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p:txBody>
              <a:bodyPr>
                <a:normAutofit lnSpcReduction="10000"/>
              </a:bodyPr>
              <a:lstStyle/>
              <a:p>
                <a:pPr marL="0" indent="0" algn="just">
                  <a:buNone/>
                </a:pPr>
                <a:r>
                  <a:rPr lang="ru-RU" dirty="0" smtClean="0"/>
                  <a:t>Рассмотрим пример.</a:t>
                </a:r>
              </a:p>
              <a:p>
                <a:pPr marL="0" indent="0" algn="just">
                  <a:buNone/>
                </a:pPr>
                <a:r>
                  <a:rPr lang="ru-RU" dirty="0" smtClean="0"/>
                  <a:t>Есть звено с квадратичной характеристикой. На него подается два сигнала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ru-RU" i="1">
                            <a:latin typeface="Cambria Math" panose="02040503050406030204" pitchFamily="18" charset="0"/>
                          </a:rPr>
                          <m:t>1</m:t>
                        </m:r>
                      </m:sub>
                    </m:sSub>
                    <m:r>
                      <a:rPr lang="ru-RU" b="0" i="1" smtClean="0">
                        <a:latin typeface="Cambria Math" panose="02040503050406030204" pitchFamily="18" charset="0"/>
                      </a:rPr>
                      <m:t>(</m:t>
                    </m:r>
                    <m:r>
                      <a:rPr lang="en-US" b="0" i="1" smtClean="0">
                        <a:latin typeface="Cambria Math" panose="02040503050406030204" pitchFamily="18" charset="0"/>
                      </a:rPr>
                      <m:t>𝑡</m:t>
                    </m:r>
                    <m:r>
                      <a:rPr lang="ru-RU" b="0" i="1" smtClean="0">
                        <a:latin typeface="Cambria Math" panose="02040503050406030204" pitchFamily="18" charset="0"/>
                      </a:rPr>
                      <m:t>)</m:t>
                    </m:r>
                    <m:sSub>
                      <m:sSubPr>
                        <m:ctrlPr>
                          <a:rPr lang="ru-RU"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𝑢</m:t>
                        </m:r>
                      </m:e>
                      <m:sub>
                        <m:r>
                          <a:rPr lang="en-US" i="1">
                            <a:latin typeface="Cambria Math" panose="02040503050406030204" pitchFamily="18" charset="0"/>
                          </a:rPr>
                          <m:t>𝑚</m:t>
                        </m:r>
                        <m:r>
                          <a:rPr lang="en-US" b="0" i="1" smtClean="0">
                            <a:latin typeface="Cambria Math" panose="02040503050406030204" pitchFamily="18" charset="0"/>
                          </a:rPr>
                          <m:t>1</m:t>
                        </m:r>
                      </m:sub>
                    </m:sSub>
                    <m:r>
                      <a:rPr lang="en-US" i="1">
                        <a:latin typeface="Cambria Math" panose="02040503050406030204" pitchFamily="18" charset="0"/>
                      </a:rPr>
                      <m:t>𝑠𝑖𝑛</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oMath>
                </a14:m>
                <a:r>
                  <a:rPr lang="en-US" dirty="0" smtClean="0"/>
                  <a:t> </a:t>
                </a:r>
                <a:r>
                  <a:rPr lang="ru-RU" dirty="0" smtClean="0"/>
                  <a:t>и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ru-RU" b="0" i="1" smtClean="0">
                            <a:latin typeface="Cambria Math" panose="02040503050406030204" pitchFamily="18" charset="0"/>
                          </a:rPr>
                          <m:t>2</m:t>
                        </m:r>
                      </m:sub>
                    </m:sSub>
                    <m:d>
                      <m:dPr>
                        <m:ctrlPr>
                          <a:rPr lang="ru-RU" i="1">
                            <a:latin typeface="Cambria Math" panose="02040503050406030204" pitchFamily="18" charset="0"/>
                          </a:rPr>
                        </m:ctrlPr>
                      </m:dPr>
                      <m:e>
                        <m:r>
                          <a:rPr lang="en-US" i="1">
                            <a:latin typeface="Cambria Math" panose="02040503050406030204" pitchFamily="18" charset="0"/>
                          </a:rPr>
                          <m:t>𝑡</m:t>
                        </m:r>
                      </m:e>
                    </m:d>
                    <m:sSub>
                      <m:sSubPr>
                        <m:ctrlPr>
                          <a:rPr lang="ru-RU"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𝑢</m:t>
                        </m:r>
                      </m:e>
                      <m:sub>
                        <m:r>
                          <a:rPr lang="en-US" i="1">
                            <a:latin typeface="Cambria Math" panose="02040503050406030204" pitchFamily="18" charset="0"/>
                          </a:rPr>
                          <m:t>𝑚</m:t>
                        </m:r>
                        <m:r>
                          <a:rPr lang="ru-RU" b="0" i="1" smtClean="0">
                            <a:latin typeface="Cambria Math" panose="02040503050406030204" pitchFamily="18" charset="0"/>
                          </a:rPr>
                          <m:t>2</m:t>
                        </m:r>
                      </m:sub>
                    </m:sSub>
                    <m:d>
                      <m:dPr>
                        <m:ctrlPr>
                          <a:rPr lang="ru-RU" b="0" i="1" smtClean="0">
                            <a:latin typeface="Cambria Math" panose="02040503050406030204" pitchFamily="18" charset="0"/>
                          </a:rPr>
                        </m:ctrlPr>
                      </m:dPr>
                      <m:e>
                        <m:r>
                          <a:rPr lang="ru-RU" b="0" i="1" smtClean="0">
                            <a:latin typeface="Cambria Math" panose="02040503050406030204" pitchFamily="18" charset="0"/>
                          </a:rPr>
                          <m:t>1+</m:t>
                        </m:r>
                        <m:r>
                          <a:rPr lang="en-US" b="0" i="1" smtClean="0">
                            <a:latin typeface="Cambria Math" panose="02040503050406030204" pitchFamily="18" charset="0"/>
                          </a:rPr>
                          <m:t>𝑚</m:t>
                        </m:r>
                        <m:r>
                          <a:rPr lang="en-US" i="1">
                            <a:latin typeface="Cambria Math" panose="02040503050406030204" pitchFamily="18" charset="0"/>
                          </a:rPr>
                          <m:t>𝑠𝑖𝑛</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e>
                    </m:d>
                  </m:oMath>
                </a14:m>
                <a:endParaRPr lang="ru-RU" b="0" dirty="0" smtClean="0">
                  <a:ea typeface="Cambria Math" panose="02040503050406030204" pitchFamily="18" charset="0"/>
                </a:endParaRPr>
              </a:p>
              <a:p>
                <a:pPr marL="0" indent="0" algn="just">
                  <a:buNone/>
                </a:pPr>
                <a:r>
                  <a:rPr lang="ru-RU" dirty="0" smtClean="0"/>
                  <a:t>На выходе устройства будет присутствовать комбинационная компонента вида </a:t>
                </a:r>
                <a14:m>
                  <m:oMath xmlns:m="http://schemas.openxmlformats.org/officeDocument/2006/math">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2</m:t>
                            </m:r>
                            <m:r>
                              <a:rPr lang="en-US" i="1">
                                <a:latin typeface="Cambria Math" panose="02040503050406030204" pitchFamily="18" charset="0"/>
                              </a:rPr>
                              <m:t>𝑢</m:t>
                            </m:r>
                          </m:e>
                          <m:sub>
                            <m:r>
                              <a:rPr lang="en-US" i="1">
                                <a:latin typeface="Cambria Math" panose="02040503050406030204" pitchFamily="18" charset="0"/>
                              </a:rPr>
                              <m:t>𝑚</m:t>
                            </m:r>
                            <m:r>
                              <a:rPr lang="ru-RU" i="1">
                                <a:latin typeface="Cambria Math" panose="02040503050406030204" pitchFamily="18" charset="0"/>
                              </a:rPr>
                              <m:t>1</m:t>
                            </m:r>
                          </m:sub>
                          <m:sup>
                            <m:r>
                              <a:rPr lang="en-US" i="1">
                                <a:latin typeface="Cambria Math" panose="02040503050406030204" pitchFamily="18" charset="0"/>
                              </a:rPr>
                              <m:t> </m:t>
                            </m:r>
                          </m:sup>
                        </m:sSubSup>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en-US" i="1">
                                    <a:latin typeface="Cambria Math" panose="02040503050406030204" pitchFamily="18" charset="0"/>
                                  </a:rPr>
                                  <m:t>2</m:t>
                                </m:r>
                              </m:sub>
                              <m:sup>
                                <m:r>
                                  <a:rPr lang="en-US" i="1">
                                    <a:latin typeface="Cambria Math" panose="02040503050406030204" pitchFamily="18" charset="0"/>
                                  </a:rPr>
                                  <m:t> </m:t>
                                </m:r>
                              </m:sup>
                            </m:sSubSup>
                            <m:r>
                              <a:rPr lang="en-US" i="1">
                                <a:latin typeface="Cambria Math" panose="02040503050406030204" pitchFamily="18" charset="0"/>
                              </a:rPr>
                              <m:t>𝑠𝑖𝑛</m:t>
                            </m:r>
                          </m:e>
                          <m:sup>
                            <m:r>
                              <a:rPr lang="en-US" i="1">
                                <a:latin typeface="Cambria Math" panose="02040503050406030204" pitchFamily="18" charset="0"/>
                              </a:rPr>
                              <m:t> </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ru-RU"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𝑚</m:t>
                        </m:r>
                        <m:sSup>
                          <m:sSupPr>
                            <m:ctrlPr>
                              <a:rPr lang="en-US" i="1">
                                <a:latin typeface="Cambria Math" panose="02040503050406030204" pitchFamily="18" charset="0"/>
                              </a:rPr>
                            </m:ctrlPr>
                          </m:sSupPr>
                          <m:e>
                            <m:r>
                              <a:rPr lang="en-US" i="1">
                                <a:latin typeface="Cambria Math" panose="02040503050406030204" pitchFamily="18" charset="0"/>
                              </a:rPr>
                              <m:t>𝑠𝑖𝑛</m:t>
                            </m:r>
                          </m:e>
                          <m:sup>
                            <m:r>
                              <a:rPr lang="en-US" i="1">
                                <a:latin typeface="Cambria Math" panose="02040503050406030204" pitchFamily="18" charset="0"/>
                              </a:rPr>
                              <m:t> </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e>
                    </m:d>
                    <m:r>
                      <a:rPr lang="ru-RU"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2</m:t>
                        </m:r>
                        <m:r>
                          <a:rPr lang="en-US" i="1">
                            <a:latin typeface="Cambria Math" panose="02040503050406030204" pitchFamily="18" charset="0"/>
                          </a:rPr>
                          <m:t>𝑢</m:t>
                        </m:r>
                      </m:e>
                      <m:sub>
                        <m:r>
                          <a:rPr lang="en-US" i="1">
                            <a:latin typeface="Cambria Math" panose="02040503050406030204" pitchFamily="18" charset="0"/>
                          </a:rPr>
                          <m:t>𝑚</m:t>
                        </m:r>
                        <m:r>
                          <a:rPr lang="ru-RU" i="1">
                            <a:latin typeface="Cambria Math" panose="02040503050406030204" pitchFamily="18" charset="0"/>
                          </a:rPr>
                          <m:t>1</m:t>
                        </m:r>
                      </m:sub>
                      <m:sup>
                        <m:r>
                          <a:rPr lang="en-US" i="1">
                            <a:latin typeface="Cambria Math" panose="02040503050406030204" pitchFamily="18" charset="0"/>
                          </a:rPr>
                          <m:t> </m:t>
                        </m:r>
                      </m:sup>
                    </m:sSubSup>
                    <m:sSup>
                      <m:sSupPr>
                        <m:ctrlPr>
                          <a:rPr lang="en-US" i="1">
                            <a:latin typeface="Cambria Math" panose="02040503050406030204" pitchFamily="18" charset="0"/>
                          </a:rPr>
                        </m:ctrlPr>
                      </m:sSupPr>
                      <m:e>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en-US" i="1">
                                    <a:latin typeface="Cambria Math" panose="02040503050406030204" pitchFamily="18" charset="0"/>
                                  </a:rPr>
                                  <m:t>2</m:t>
                                </m:r>
                              </m:sub>
                              <m:sup>
                                <m:r>
                                  <a:rPr lang="en-US" i="1">
                                    <a:latin typeface="Cambria Math" panose="02040503050406030204" pitchFamily="18" charset="0"/>
                                  </a:rPr>
                                  <m:t> </m:t>
                                </m:r>
                              </m:sup>
                            </m:sSubSup>
                            <m:r>
                              <a:rPr lang="en-US" i="1">
                                <a:latin typeface="Cambria Math" panose="02040503050406030204" pitchFamily="18" charset="0"/>
                              </a:rPr>
                              <m:t>𝑠𝑖𝑛</m:t>
                            </m:r>
                          </m:e>
                          <m:sup>
                            <m:r>
                              <a:rPr lang="en-US" i="1">
                                <a:latin typeface="Cambria Math" panose="02040503050406030204" pitchFamily="18" charset="0"/>
                              </a:rPr>
                              <m:t> </m:t>
                            </m:r>
                          </m:sup>
                        </m:s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𝑡</m:t>
                        </m:r>
                      </m:e>
                      <m:sup>
                        <m:r>
                          <a:rPr lang="en-US" i="1">
                            <a:latin typeface="Cambria Math" panose="02040503050406030204" pitchFamily="18" charset="0"/>
                          </a:rPr>
                          <m:t> </m:t>
                        </m:r>
                      </m:sup>
                    </m:sSup>
                    <m:r>
                      <a:rPr lang="en-US" b="0" i="1" smtClean="0">
                        <a:latin typeface="Cambria Math" panose="02040503050406030204" pitchFamily="18" charset="0"/>
                      </a:rPr>
                      <m:t>+</m:t>
                    </m:r>
                    <m:r>
                      <a:rPr lang="en-US" b="0" i="1" smtClean="0">
                        <a:latin typeface="Cambria Math" panose="02040503050406030204" pitchFamily="18" charset="0"/>
                      </a:rPr>
                      <m:t>𝑚</m:t>
                    </m:r>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ru-RU" i="1">
                            <a:latin typeface="Cambria Math" panose="02040503050406030204" pitchFamily="18" charset="0"/>
                          </a:rPr>
                          <m:t>1</m:t>
                        </m:r>
                      </m:sub>
                      <m:sup>
                        <m:r>
                          <a:rPr lang="en-US" i="1">
                            <a:latin typeface="Cambria Math" panose="02040503050406030204" pitchFamily="18" charset="0"/>
                          </a:rPr>
                          <m:t> </m:t>
                        </m:r>
                      </m:sup>
                    </m:sSubSup>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𝑚</m:t>
                        </m:r>
                        <m:r>
                          <a:rPr lang="ru-RU" i="1">
                            <a:latin typeface="Cambria Math" panose="02040503050406030204" pitchFamily="18" charset="0"/>
                          </a:rPr>
                          <m:t>1</m:t>
                        </m:r>
                      </m:sub>
                      <m:sup>
                        <m:r>
                          <a:rPr lang="en-US" i="1">
                            <a:latin typeface="Cambria Math" panose="02040503050406030204" pitchFamily="18" charset="0"/>
                          </a:rPr>
                          <m:t> </m:t>
                        </m:r>
                      </m:sup>
                    </m:sSub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e>
                        </m:d>
                      </m:e>
                    </m:func>
                    <m:r>
                      <a:rPr lang="en-US" i="1">
                        <a:latin typeface="Cambria Math" panose="02040503050406030204" pitchFamily="18" charset="0"/>
                      </a:rPr>
                      <m:t>𝑡</m:t>
                    </m:r>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rPr>
                                  <m:t>2</m:t>
                                </m:r>
                              </m:sub>
                            </m:sSub>
                          </m:e>
                        </m:d>
                      </m:e>
                    </m:func>
                    <m:r>
                      <a:rPr lang="en-US" i="1">
                        <a:latin typeface="Cambria Math" panose="02040503050406030204" pitchFamily="18" charset="0"/>
                      </a:rPr>
                      <m:t>𝑡</m:t>
                    </m:r>
                    <m:r>
                      <a:rPr lang="en-US" i="1">
                        <a:latin typeface="Cambria Math" panose="02040503050406030204" pitchFamily="18" charset="0"/>
                      </a:rPr>
                      <m:t>]</m:t>
                    </m:r>
                  </m:oMath>
                </a14:m>
                <a:endParaRPr lang="en-US" dirty="0" smtClean="0"/>
              </a:p>
              <a:p>
                <a:pPr marL="0" indent="0" algn="just">
                  <a:buNone/>
                </a:pPr>
                <a:r>
                  <a:rPr lang="ru-RU" dirty="0" smtClean="0"/>
                  <a:t>Если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2</m:t>
                        </m:r>
                      </m:sub>
                    </m:sSub>
                  </m:oMath>
                </a14:m>
                <a:r>
                  <a:rPr lang="ru-RU" dirty="0" smtClean="0"/>
                  <a:t> такое устройство осуществляет так называемую амплитудную модуляцию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en-US" i="1">
                            <a:latin typeface="Cambria Math" panose="02040503050406030204" pitchFamily="18" charset="0"/>
                            <a:ea typeface="Cambria Math" panose="02040503050406030204" pitchFamily="18" charset="0"/>
                          </a:rPr>
                          <m:t>1</m:t>
                        </m:r>
                      </m:sub>
                    </m:sSub>
                    <m:r>
                      <a:rPr lang="ru-RU" b="0" i="1" smtClean="0">
                        <a:latin typeface="Cambria Math" panose="02040503050406030204" pitchFamily="18" charset="0"/>
                        <a:ea typeface="Cambria Math" panose="02040503050406030204" pitchFamily="18" charset="0"/>
                      </a:rPr>
                      <m:t>−</m:t>
                    </m:r>
                  </m:oMath>
                </a14:m>
                <a:r>
                  <a:rPr lang="ru-RU" dirty="0" smtClean="0"/>
                  <a:t> несущая частота,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𝜔</m:t>
                        </m:r>
                      </m:e>
                      <m:sub>
                        <m:r>
                          <a:rPr lang="ru-RU" b="0" i="1" smtClean="0">
                            <a:latin typeface="Cambria Math" panose="02040503050406030204" pitchFamily="18" charset="0"/>
                            <a:ea typeface="Cambria Math" panose="02040503050406030204" pitchFamily="18" charset="0"/>
                          </a:rPr>
                          <m:t>2</m:t>
                        </m:r>
                      </m:sub>
                    </m:sSub>
                    <m:r>
                      <a:rPr lang="ru-RU" b="0" i="1" smtClean="0">
                        <a:latin typeface="Cambria Math" panose="02040503050406030204" pitchFamily="18" charset="0"/>
                        <a:ea typeface="Cambria Math" panose="02040503050406030204" pitchFamily="18" charset="0"/>
                      </a:rPr>
                      <m:t> − </m:t>
                    </m:r>
                  </m:oMath>
                </a14:m>
                <a:r>
                  <a:rPr lang="ru-RU" dirty="0" smtClean="0"/>
                  <a:t>частоту модуляции, </a:t>
                </a:r>
                <a:r>
                  <a:rPr lang="en-US" dirty="0" smtClean="0"/>
                  <a:t>m</a:t>
                </a:r>
                <a:r>
                  <a:rPr lang="ru-RU" dirty="0" smtClean="0"/>
                  <a:t> – глубина модуляции.</a:t>
                </a:r>
              </a:p>
              <a:p>
                <a:pPr marL="0" indent="0" algn="just">
                  <a:buNone/>
                </a:pPr>
                <a:r>
                  <a:rPr lang="ru-RU" dirty="0" smtClean="0"/>
                  <a:t> </a:t>
                </a:r>
                <a:endParaRPr lang="en-US" dirty="0"/>
              </a:p>
              <a:p>
                <a:pPr marL="0" indent="0" algn="just">
                  <a:buNone/>
                </a:pPr>
                <a:endParaRPr lang="ru-RU" dirty="0" smtClean="0"/>
              </a:p>
              <a:p>
                <a:pPr marL="0" indent="0" algn="just">
                  <a:buNone/>
                </a:pPr>
                <a:endParaRPr lang="en-US" dirty="0"/>
              </a:p>
              <a:p>
                <a:pPr marL="0" indent="0" algn="just">
                  <a:buNone/>
                </a:pPr>
                <a:endParaRPr lang="en-US" dirty="0"/>
              </a:p>
              <a:p>
                <a:pPr marL="0" indent="0" algn="just">
                  <a:buNone/>
                </a:pPr>
                <a:endParaRPr lang="ru-RU"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blipFill rotWithShape="0">
                <a:blip r:embed="rId2"/>
                <a:stretch>
                  <a:fillRect l="-1217" t="-3081" r="-1159"/>
                </a:stretch>
              </a:blipFill>
            </p:spPr>
            <p:txBody>
              <a:bodyPr/>
              <a:lstStyle/>
              <a:p>
                <a:r>
                  <a:rPr lang="ru-RU">
                    <a:noFill/>
                  </a:rPr>
                  <a:t> </a:t>
                </a:r>
              </a:p>
            </p:txBody>
          </p:sp>
        </mc:Fallback>
      </mc:AlternateContent>
      <p:pic>
        <p:nvPicPr>
          <p:cNvPr id="4" name="Рисунок 3"/>
          <p:cNvPicPr>
            <a:picLocks noChangeAspect="1"/>
          </p:cNvPicPr>
          <p:nvPr/>
        </p:nvPicPr>
        <p:blipFill>
          <a:blip r:embed="rId3"/>
          <a:stretch>
            <a:fillRect/>
          </a:stretch>
        </p:blipFill>
        <p:spPr>
          <a:xfrm>
            <a:off x="7000875" y="5093413"/>
            <a:ext cx="2912745" cy="1395970"/>
          </a:xfrm>
          <a:prstGeom prst="rect">
            <a:avLst/>
          </a:prstGeom>
        </p:spPr>
      </p:pic>
    </p:spTree>
    <p:extLst>
      <p:ext uri="{BB962C8B-B14F-4D97-AF65-F5344CB8AC3E}">
        <p14:creationId xmlns:p14="http://schemas.microsoft.com/office/powerpoint/2010/main" val="1402260517"/>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13469</TotalTime>
  <Words>1377</Words>
  <Application>Microsoft Office PowerPoint</Application>
  <PresentationFormat>Широкоэкранный</PresentationFormat>
  <Paragraphs>156</Paragraphs>
  <Slides>31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31</vt:i4>
      </vt:variant>
    </vt:vector>
  </HeadingPairs>
  <TitlesOfParts>
    <vt:vector size="36" baseType="lpstr">
      <vt:lpstr>Arial</vt:lpstr>
      <vt:lpstr>Calibri</vt:lpstr>
      <vt:lpstr>Calibri Light</vt:lpstr>
      <vt:lpstr>Cambria Math</vt:lpstr>
      <vt:lpstr>Тема Office</vt:lpstr>
      <vt:lpstr>Лекция 10</vt:lpstr>
      <vt:lpstr>Что есть нелинейные цепи</vt:lpstr>
      <vt:lpstr>Что есть нелинейные цепи</vt:lpstr>
      <vt:lpstr>Что есть нелинейные цепи</vt:lpstr>
      <vt:lpstr>Характеристики нелинейных элементов</vt:lpstr>
      <vt:lpstr>Характеристики нелинейных элементов</vt:lpstr>
      <vt:lpstr>Характеристики нелинейных элементов</vt:lpstr>
      <vt:lpstr>Характеристики нелинейных элементов</vt:lpstr>
      <vt:lpstr>Примеры ВАХ нелинейных элементов</vt:lpstr>
      <vt:lpstr>Примеры ВАХ нелинейных элементов</vt:lpstr>
      <vt:lpstr>Примеры ВАХ нелинейных элементов</vt:lpstr>
      <vt:lpstr>Примеры ВАХ нелинейных элементов</vt:lpstr>
      <vt:lpstr>Примеры ВАХ нелинейных элементов</vt:lpstr>
      <vt:lpstr>Примеры ВАХ нелинейных элементов</vt:lpstr>
      <vt:lpstr>Примеры ВАХ нелинейных элементов</vt:lpstr>
      <vt:lpstr>Расчёт схем с нелинейными элементами</vt:lpstr>
      <vt:lpstr>Расчёт схем с нелинейными элементами</vt:lpstr>
      <vt:lpstr>Расчёт схем с нелинейными элементами</vt:lpstr>
      <vt:lpstr>Расчёт схем с нелинейными элементами</vt:lpstr>
      <vt:lpstr>Расчёт схем с нелинейными элементами</vt:lpstr>
      <vt:lpstr>Методы расчета нелинейных цепей</vt:lpstr>
      <vt:lpstr>Методы расчета нелинейных цепей</vt:lpstr>
      <vt:lpstr>Методы расчета нелинейных цепей</vt:lpstr>
      <vt:lpstr>Методы расчета нелинейных цепей</vt:lpstr>
      <vt:lpstr>Методы расчета нелинейных цепей</vt:lpstr>
      <vt:lpstr>Методы расчета нелинейных цепей</vt:lpstr>
      <vt:lpstr>Методы расчета нелинейных цепей</vt:lpstr>
      <vt:lpstr>Методы расчета нелинейных цепей</vt:lpstr>
      <vt:lpstr>Нелинейная цепь и сумма сигналов</vt:lpstr>
      <vt:lpstr>Нелинейная цепь и сумма сигналов</vt:lpstr>
      <vt:lpstr>Модулятор</vt:lpstr>
    </vt:vector>
  </TitlesOfParts>
  <Company>BINP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Радиоэлектроника</dc:title>
  <dc:creator>BINP User</dc:creator>
  <cp:lastModifiedBy>BINP User</cp:lastModifiedBy>
  <cp:revision>409</cp:revision>
  <dcterms:created xsi:type="dcterms:W3CDTF">2020-09-02T13:49:40Z</dcterms:created>
  <dcterms:modified xsi:type="dcterms:W3CDTF">2021-09-09T12:35:26Z</dcterms:modified>
</cp:coreProperties>
</file>