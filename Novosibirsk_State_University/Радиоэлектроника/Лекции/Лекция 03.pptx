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82" r:id="rId4"/>
    <p:sldId id="281" r:id="rId5"/>
    <p:sldId id="284" r:id="rId6"/>
    <p:sldId id="286" r:id="rId7"/>
    <p:sldId id="287" r:id="rId8"/>
    <p:sldId id="288" r:id="rId9"/>
    <p:sldId id="297" r:id="rId10"/>
    <p:sldId id="293" r:id="rId11"/>
    <p:sldId id="299" r:id="rId12"/>
    <p:sldId id="300" r:id="rId13"/>
    <p:sldId id="298" r:id="rId14"/>
    <p:sldId id="294" r:id="rId15"/>
    <p:sldId id="289" r:id="rId16"/>
    <p:sldId id="290" r:id="rId17"/>
    <p:sldId id="291" r:id="rId18"/>
    <p:sldId id="295" r:id="rId19"/>
    <p:sldId id="296" r:id="rId20"/>
    <p:sldId id="292" r:id="rId21"/>
    <p:sldId id="283" r:id="rId22"/>
    <p:sldId id="302" r:id="rId23"/>
    <p:sldId id="301" r:id="rId24"/>
    <p:sldId id="274" r:id="rId25"/>
    <p:sldId id="273" r:id="rId26"/>
    <p:sldId id="269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22.09.2022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159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22.09.2022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7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22.09.2022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02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22.09.2022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264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22.09.2022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22.09.2022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12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22.09.2022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8047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22.09.2022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89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22.09.2022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8983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22.09.2022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21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7F890-8936-473A-AEE0-9462A4D15301}" type="datetimeFigureOut">
              <a:rPr lang="ru-RU" smtClean="0"/>
              <a:t>22.09.2022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1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7F890-8936-473A-AEE0-9462A4D15301}" type="datetimeFigureOut">
              <a:rPr lang="ru-RU" smtClean="0"/>
              <a:t>22.09.2022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2AA0A-C727-452B-8E2D-EB79C39F62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2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dirty="0" smtClean="0"/>
              <a:t>3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US" b="1" i="1" dirty="0" smtClean="0"/>
          </a:p>
          <a:p>
            <a:pPr marL="0" indent="0" algn="ctr">
              <a:buNone/>
            </a:pPr>
            <a:r>
              <a:rPr lang="ru-RU" b="1" dirty="0"/>
              <a:t>Методы расчета электрических цепей</a:t>
            </a:r>
            <a:r>
              <a:rPr lang="ru-RU" dirty="0"/>
              <a:t>: </a:t>
            </a:r>
            <a:endParaRPr lang="en-US" dirty="0" smtClean="0"/>
          </a:p>
          <a:p>
            <a:pPr marL="0" indent="0" algn="ctr">
              <a:buNone/>
            </a:pPr>
            <a:r>
              <a:rPr lang="ru-RU" dirty="0"/>
              <a:t>М</a:t>
            </a:r>
            <a:r>
              <a:rPr lang="ru-RU" dirty="0" smtClean="0"/>
              <a:t>етод </a:t>
            </a:r>
            <a:r>
              <a:rPr lang="ru-RU" dirty="0"/>
              <a:t>контурных </a:t>
            </a:r>
            <a:r>
              <a:rPr lang="ru-RU" dirty="0" smtClean="0"/>
              <a:t>токов, графы. </a:t>
            </a:r>
          </a:p>
          <a:p>
            <a:pPr marL="0" indent="0" algn="ctr">
              <a:buNone/>
            </a:pPr>
            <a:r>
              <a:rPr lang="ru-RU" dirty="0"/>
              <a:t>М</a:t>
            </a:r>
            <a:r>
              <a:rPr lang="ru-RU" dirty="0" smtClean="0"/>
              <a:t>етод </a:t>
            </a:r>
            <a:r>
              <a:rPr lang="ru-RU" dirty="0"/>
              <a:t>узловых потенциалов. </a:t>
            </a:r>
            <a:endParaRPr lang="en-US" dirty="0" smtClean="0"/>
          </a:p>
          <a:p>
            <a:pPr marL="0" indent="0" algn="ctr">
              <a:buNone/>
            </a:pPr>
            <a:r>
              <a:rPr lang="ru-RU" dirty="0" smtClean="0"/>
              <a:t>Матричный </a:t>
            </a:r>
            <a:r>
              <a:rPr lang="ru-RU" dirty="0"/>
              <a:t>метод расчета электрических </a:t>
            </a:r>
            <a:r>
              <a:rPr lang="ru-RU" dirty="0" smtClean="0"/>
              <a:t>цепей. </a:t>
            </a:r>
            <a:endParaRPr lang="en-US" b="1" i="1" dirty="0" smtClean="0"/>
          </a:p>
          <a:p>
            <a:pPr marL="0" indent="0" algn="ctr">
              <a:buNone/>
            </a:pPr>
            <a:r>
              <a:rPr lang="ru-RU" b="1" i="1" dirty="0" smtClean="0"/>
              <a:t>Свойства линейных электрических цепей:</a:t>
            </a:r>
          </a:p>
          <a:p>
            <a:pPr marL="0" indent="0" algn="ctr">
              <a:buNone/>
            </a:pPr>
            <a:r>
              <a:rPr lang="ru-RU" i="1" dirty="0" smtClean="0"/>
              <a:t>Теорема наложения и теорема компенсации,</a:t>
            </a:r>
          </a:p>
          <a:p>
            <a:pPr marL="0" indent="0" algn="ctr">
              <a:buNone/>
            </a:pPr>
            <a:r>
              <a:rPr lang="ru-RU" i="1" dirty="0" smtClean="0"/>
              <a:t>Теорема об эквивалентном источнике,</a:t>
            </a:r>
          </a:p>
          <a:p>
            <a:pPr marL="0" indent="0" algn="ctr">
              <a:buNone/>
            </a:pPr>
            <a:r>
              <a:rPr lang="ru-RU" i="1" dirty="0"/>
              <a:t>Обратимость (Взаимность) пассивных цепей,</a:t>
            </a:r>
            <a:endParaRPr lang="ru-RU" b="1" i="1" dirty="0"/>
          </a:p>
          <a:p>
            <a:pPr marL="0" indent="0" algn="ctr">
              <a:buNone/>
            </a:pPr>
            <a:endParaRPr 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279555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Методы расчета электрических цепей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b="1" i="1" dirty="0" smtClean="0"/>
              <a:t>Система уравнений для любой электрической цепи позволяющий определить все токи и напряжения получается в соответствии с 1 и 2 законами Кирхгоффа.</a:t>
            </a:r>
          </a:p>
          <a:p>
            <a:pPr algn="just"/>
            <a:r>
              <a:rPr lang="ru-RU" dirty="0" smtClean="0"/>
              <a:t>Если электрическая цепь состоит из </a:t>
            </a:r>
            <a:r>
              <a:rPr lang="en-US" b="1" i="1" dirty="0" smtClean="0"/>
              <a:t>P</a:t>
            </a:r>
            <a:r>
              <a:rPr lang="ru-RU" b="1" i="1" dirty="0" smtClean="0"/>
              <a:t> </a:t>
            </a:r>
            <a:r>
              <a:rPr lang="ru-RU" dirty="0" smtClean="0"/>
              <a:t>ребер и </a:t>
            </a:r>
            <a:r>
              <a:rPr lang="ru-RU" b="1" i="1" dirty="0"/>
              <a:t>У</a:t>
            </a:r>
            <a:r>
              <a:rPr lang="ru-RU" b="1" i="1" dirty="0" smtClean="0"/>
              <a:t> </a:t>
            </a:r>
            <a:r>
              <a:rPr lang="ru-RU" dirty="0" smtClean="0"/>
              <a:t>узлов, то система будет содержать Р уравнений, из которых </a:t>
            </a:r>
            <a:r>
              <a:rPr lang="ru-RU" b="1" i="1" dirty="0" smtClean="0"/>
              <a:t>У-1</a:t>
            </a:r>
            <a:r>
              <a:rPr lang="ru-RU" dirty="0" smtClean="0"/>
              <a:t> уравнений записывается по 1 закону Кирхгоффа, а остальные </a:t>
            </a:r>
            <a:r>
              <a:rPr lang="ru-RU" b="1" dirty="0" smtClean="0"/>
              <a:t>Р-У+1</a:t>
            </a:r>
            <a:r>
              <a:rPr lang="ru-RU" dirty="0" smtClean="0"/>
              <a:t> по второму закону Кирхгоффа.</a:t>
            </a:r>
          </a:p>
          <a:p>
            <a:pPr algn="just"/>
            <a:r>
              <a:rPr lang="ru-RU" dirty="0" smtClean="0"/>
              <a:t>Однако, не все уравнения в этой системе независимы!  Уравнения для узлов дают нам зависимость для </a:t>
            </a:r>
            <a:r>
              <a:rPr lang="ru-RU" b="1" dirty="0" smtClean="0"/>
              <a:t>У-1</a:t>
            </a:r>
            <a:r>
              <a:rPr lang="ru-RU" dirty="0" smtClean="0"/>
              <a:t> токов и, таким образом независимыми остаются </a:t>
            </a:r>
            <a:r>
              <a:rPr lang="ru-RU" b="1" dirty="0" smtClean="0"/>
              <a:t>К=Р-У+1</a:t>
            </a:r>
            <a:r>
              <a:rPr lang="ru-RU" dirty="0" smtClean="0"/>
              <a:t> уравнений для </a:t>
            </a:r>
            <a:r>
              <a:rPr lang="ru-RU" b="1" dirty="0" smtClean="0"/>
              <a:t>К</a:t>
            </a:r>
            <a:r>
              <a:rPr lang="ru-RU" dirty="0" smtClean="0"/>
              <a:t> независимых контуров.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8245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Методы расчета электрических цепей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ru-RU" b="1" i="1" dirty="0" smtClean="0"/>
              <a:t>Метод, </a:t>
            </a:r>
            <a:r>
              <a:rPr lang="ru-RU" i="1" dirty="0" smtClean="0"/>
              <a:t>который основан на анализе этой системы из К уравнений, и который оперирует К независимыми «виртуальными» токами называется  </a:t>
            </a:r>
            <a:r>
              <a:rPr lang="ru-RU" b="1" i="1" dirty="0" smtClean="0"/>
              <a:t>Методом контурных токов. </a:t>
            </a:r>
          </a:p>
          <a:p>
            <a:pPr algn="just"/>
            <a:r>
              <a:rPr lang="ru-RU" i="1" dirty="0" smtClean="0"/>
              <a:t>При этом реальный ток в каждом элементе складывается из суммы токов контуров в которые этот элемент входит.</a:t>
            </a:r>
          </a:p>
          <a:p>
            <a:pPr algn="just"/>
            <a:r>
              <a:rPr lang="ru-RU" b="1" i="1" dirty="0" smtClean="0"/>
              <a:t>Главный вопрос: как определить эти самые контура</a:t>
            </a:r>
            <a:r>
              <a:rPr lang="ru-RU" i="1" dirty="0" smtClean="0"/>
              <a:t>? Для простых схем можно просто смотря на схему. Но если схема сложная, то это может оказаться нетривиальной задачей. Есть удобный метод, который называется </a:t>
            </a:r>
            <a:r>
              <a:rPr lang="ru-RU" b="1" i="1" dirty="0" smtClean="0"/>
              <a:t>метод максимального дерева</a:t>
            </a:r>
            <a:r>
              <a:rPr lang="ru-RU" i="1" dirty="0" smtClean="0"/>
              <a:t>, основанный на теории планарных графов.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32419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Метод максимального дерева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 smtClean="0"/>
              <a:t>Преобразуем нашу схему в планарный граф – располагаем ветви на плоскости без взаимных пересечений.</a:t>
            </a:r>
          </a:p>
          <a:p>
            <a:pPr algn="just"/>
            <a:r>
              <a:rPr lang="ru-RU" b="1" i="1" dirty="0" smtClean="0"/>
              <a:t>Начинаем удалять ветви так, чтобы не образовывалось изолированных (не принадлежащих графу) узлов.</a:t>
            </a:r>
          </a:p>
          <a:p>
            <a:pPr algn="just"/>
            <a:r>
              <a:rPr lang="ru-RU" b="1" i="1" dirty="0" smtClean="0"/>
              <a:t>Получившаяся при удалении максимально возможного числа ветвей картинка называется Максимальным деревом.</a:t>
            </a:r>
          </a:p>
          <a:p>
            <a:pPr algn="just"/>
            <a:r>
              <a:rPr lang="ru-RU" b="1" i="1" dirty="0" smtClean="0"/>
              <a:t>Добавление любой исключенной ветви дает нам независимый контур.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418382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Метод максимального дерева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 smtClean="0"/>
              <a:t>Пример: есть схема. Найдем максимальное дерево</a:t>
            </a:r>
            <a:endParaRPr lang="ru-RU" b="1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526" y="2818657"/>
            <a:ext cx="2746056" cy="241242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440" y="3050225"/>
            <a:ext cx="2861122" cy="218085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169" y="2523629"/>
            <a:ext cx="2110283" cy="370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8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Метод контурных токов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ru-RU" i="1" dirty="0" smtClean="0"/>
              <a:t>Мы получили </a:t>
            </a:r>
            <a:r>
              <a:rPr lang="ru-RU" b="1" i="1" dirty="0" smtClean="0"/>
              <a:t>К</a:t>
            </a:r>
            <a:r>
              <a:rPr lang="ru-RU" i="1" dirty="0" smtClean="0"/>
              <a:t> независимых контуров. Для каждого контура по 2 закону Кирхгоффа запишем уравнение используя следующие правила:</a:t>
            </a:r>
          </a:p>
          <a:p>
            <a:pPr algn="just"/>
            <a:r>
              <a:rPr lang="ru-RU" b="1" i="1" dirty="0" smtClean="0"/>
              <a:t>Все </a:t>
            </a:r>
            <a:r>
              <a:rPr lang="ru-RU" b="1" i="1" dirty="0"/>
              <a:t>токи в </a:t>
            </a:r>
            <a:r>
              <a:rPr lang="ru-RU" b="1" i="1" dirty="0" smtClean="0"/>
              <a:t>ветвях выражаем </a:t>
            </a:r>
            <a:r>
              <a:rPr lang="ru-RU" b="1" i="1" dirty="0"/>
              <a:t>через контурные токи. В каждом контуре необходимо выбрать направление обхода (например, по часовой стрелке).  </a:t>
            </a:r>
          </a:p>
          <a:p>
            <a:pPr algn="just"/>
            <a:r>
              <a:rPr lang="ru-RU" b="1" i="1" dirty="0" smtClean="0"/>
              <a:t>Для </a:t>
            </a:r>
            <a:r>
              <a:rPr lang="ru-RU" b="1" i="1" dirty="0"/>
              <a:t>каждого контура записываем уравнение по второму закону Кирхгофа:</a:t>
            </a:r>
          </a:p>
          <a:p>
            <a:pPr algn="just"/>
            <a:r>
              <a:rPr lang="ru-RU" b="1" i="1" dirty="0" smtClean="0"/>
              <a:t>В </a:t>
            </a:r>
            <a:r>
              <a:rPr lang="ru-RU" b="1" i="1" dirty="0"/>
              <a:t>левой части каждого уравнения записываем сумму токов в звеньях, входящих в контур, умноженных на сопротивление соответствующего звена. Суммирование происходит с учётом знака: если ток в звене совпадает с направлением обхода контура, слагаемое записывается со знаком «плюс», в противном случае — со знаком «минус».</a:t>
            </a:r>
          </a:p>
          <a:p>
            <a:pPr algn="just"/>
            <a:r>
              <a:rPr lang="ru-RU" b="1" i="1" dirty="0"/>
              <a:t> </a:t>
            </a:r>
            <a:r>
              <a:rPr lang="ru-RU" b="1" i="1" dirty="0" smtClean="0"/>
              <a:t>В </a:t>
            </a:r>
            <a:r>
              <a:rPr lang="ru-RU" b="1" i="1" dirty="0"/>
              <a:t>правой части каждого уравнения записываем сумму ЭДС источников, а также сумму произведений токов источников на сопротивление соответствующего звена. Суммирование также происходит с учётом знака, в зависимости от совпадения или несовпадения направления источника с направлением контурного </a:t>
            </a:r>
            <a:r>
              <a:rPr lang="ru-RU" b="1" i="1" dirty="0" smtClean="0"/>
              <a:t>тока.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120527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Метод контурных токов. Пример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i="1" dirty="0" smtClean="0"/>
                  <a:t>Рассмотрим схему. Построим максимальное дерево и уравнения:</a:t>
                </a:r>
              </a:p>
              <a:p>
                <a:pPr lvl="8" algn="just"/>
                <a:r>
                  <a:rPr lang="en-US" b="1" dirty="0" smtClean="0"/>
                  <a:t> 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                    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               </m:t>
                            </m:r>
                          </m:e>
                        </m:eqArr>
                      </m:e>
                    </m:d>
                  </m:oMath>
                </a14:m>
                <a:endParaRPr lang="en-US" b="1" i="1" dirty="0" smtClean="0"/>
              </a:p>
              <a:p>
                <a:pPr lvl="8" algn="just"/>
                <a:endParaRPr lang="en-US" b="1" i="1" dirty="0"/>
              </a:p>
              <a:p>
                <a:pPr lvl="8" algn="just"/>
                <a:r>
                  <a:rPr lang="en-US" b="1" dirty="0" smtClean="0"/>
                  <a:t>    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d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                      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)=−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𝟔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                  </m:t>
                            </m:r>
                          </m:e>
                        </m:eqArr>
                      </m:e>
                    </m:d>
                  </m:oMath>
                </a14:m>
                <a:endParaRPr lang="en-US" b="1" dirty="0" smtClean="0"/>
              </a:p>
              <a:p>
                <a:pPr lvl="8" algn="just"/>
                <a:r>
                  <a:rPr lang="ru-RU" b="1" dirty="0" smtClean="0"/>
                  <a:t>Это же можно записать и в матричном виде:</a:t>
                </a:r>
                <a:endParaRPr lang="en-US" b="1" dirty="0" smtClean="0"/>
              </a:p>
              <a:p>
                <a:pPr lvl="8" algn="just"/>
                <a:endParaRPr lang="en-US" b="1" i="1" dirty="0" smtClean="0"/>
              </a:p>
              <a:p>
                <a:pPr marL="3657600" lvl="8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15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5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sz="15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5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ru-RU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500" b="1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851150"/>
            <a:ext cx="3877673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49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Метод узловых потенциалов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i="1" dirty="0" smtClean="0"/>
                  <a:t>Есть другой подход основанный на нахождении напряжений на узлах схемы относительно одного базисного, напряжение на котором принимается за нуль. Эти напряжения называются узловыми напряжениями. </a:t>
                </a:r>
              </a:p>
              <a:p>
                <a:pPr algn="just"/>
                <a:r>
                  <a:rPr lang="ru-RU" b="1" i="1" dirty="0" smtClean="0"/>
                  <a:t>Рассмотрим узел и примыкающие к нему звенья:</a:t>
                </a:r>
              </a:p>
              <a:p>
                <a:pPr algn="just"/>
                <a:r>
                  <a:rPr lang="ru-RU" b="1" i="1" dirty="0" smtClean="0"/>
                  <a:t>Согласно 1 закону Кирхгоффа и закону Ома имеем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𝝋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nary>
                    <m:r>
                      <a:rPr lang="en-US" b="1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𝝋</m:t>
                    </m:r>
                    <m:nary>
                      <m:naryPr>
                        <m:chr m:val="∑"/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  <m: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ru-RU" b="1" dirty="0" smtClean="0"/>
              </a:p>
              <a:p>
                <a:pPr marL="0" indent="0" algn="just">
                  <a:buNone/>
                </a:pPr>
                <a:r>
                  <a:rPr lang="ru-RU" b="1" i="1" dirty="0" smtClean="0"/>
                  <a:t>Или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d>
                          <m:dPr>
                            <m:ctrlPr>
                              <a:rPr lang="ru-RU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ru-RU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ru-RU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𝑱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𝒀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1" i="1" smtClean="0">
                        <a:latin typeface="Cambria Math" panose="02040503050406030204" pitchFamily="18" charset="0"/>
                      </a:rPr>
                      <m:t>где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den>
                    </m:f>
                  </m:oMath>
                </a14:m>
                <a:endParaRPr lang="ru-RU" b="1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701" y="3075710"/>
            <a:ext cx="2277709" cy="151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2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Метод узловых потенциалов. Пример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i="1" dirty="0" smtClean="0"/>
                  <a:t>Рассмотрим схему. Построим систему:</a:t>
                </a:r>
              </a:p>
              <a:p>
                <a:pPr lvl="8" algn="just"/>
                <a:r>
                  <a:rPr lang="en-US" b="1" dirty="0" smtClean="0"/>
                  <a:t> 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b="1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  <m:e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den>
                            </m:f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</m:den>
                            </m:f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</m:t>
                            </m:r>
                          </m:e>
                          <m:e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𝟒</m:t>
                                </m:r>
                              </m:den>
                            </m:f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𝟓</m:t>
                                </m:r>
                              </m:den>
                            </m:f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</m:t>
                            </m:r>
                          </m:e>
                        </m:eqArr>
                      </m:e>
                    </m:d>
                  </m:oMath>
                </a14:m>
                <a:endParaRPr lang="en-US" b="1" i="1" dirty="0" smtClean="0"/>
              </a:p>
              <a:p>
                <a:pPr lvl="8" algn="just"/>
                <a:endParaRPr lang="en-US" b="1" i="1" dirty="0"/>
              </a:p>
              <a:p>
                <a:pPr lvl="8" algn="just"/>
                <a:r>
                  <a:rPr lang="en-US" b="1" dirty="0" smtClean="0"/>
                  <a:t>    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𝑬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   </m:t>
                            </m:r>
                          </m: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𝝋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d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                      </m:t>
                            </m:r>
                          </m:e>
                        </m:eqArr>
                      </m:e>
                    </m:d>
                  </m:oMath>
                </a14:m>
                <a:endParaRPr lang="en-US" b="1" dirty="0" smtClean="0"/>
              </a:p>
              <a:p>
                <a:pPr lvl="8" algn="just"/>
                <a:r>
                  <a:rPr lang="ru-RU" b="1" dirty="0" smtClean="0"/>
                  <a:t>Это же можно записать и в матричном виде:</a:t>
                </a:r>
                <a:endParaRPr lang="en-US" b="1" dirty="0" smtClean="0"/>
              </a:p>
              <a:p>
                <a:pPr lvl="8" algn="just"/>
                <a:endParaRPr lang="en-US" b="1" i="1" dirty="0" smtClean="0"/>
              </a:p>
              <a:p>
                <a:pPr marL="3657600" lvl="8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sz="15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5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e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sz="15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sz="15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𝝋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5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5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500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500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sz="1500" b="1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767" y="2406364"/>
            <a:ext cx="2926907" cy="221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8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Решение систем линейных уравнений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 smtClean="0"/>
              <a:t>Как видно из 2 примеров, нам требуется решить систему линейных неоднородных уравнений . Есть 2 распространенных способа: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i="1" dirty="0" smtClean="0"/>
              <a:t>Методом </a:t>
            </a:r>
            <a:r>
              <a:rPr lang="ru-RU" b="1" i="1" dirty="0" err="1" smtClean="0"/>
              <a:t>Крамера</a:t>
            </a:r>
            <a:r>
              <a:rPr lang="ru-RU" b="1" i="1" dirty="0" smtClean="0"/>
              <a:t>  - через определители матрицы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b="1" i="1" dirty="0" smtClean="0"/>
              <a:t>Метод Гаусса</a:t>
            </a:r>
            <a:endParaRPr lang="ru-RU" b="1" i="1" dirty="0"/>
          </a:p>
        </p:txBody>
      </p:sp>
    </p:spTree>
    <p:extLst>
      <p:ext uri="{BB962C8B-B14F-4D97-AF65-F5344CB8AC3E}">
        <p14:creationId xmlns:p14="http://schemas.microsoft.com/office/powerpoint/2010/main" val="25507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Формулы </a:t>
            </a:r>
            <a:r>
              <a:rPr lang="ru-RU" sz="3200" dirty="0" err="1" smtClean="0"/>
              <a:t>Крамера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algn="just"/>
                <a:r>
                  <a:rPr lang="ru-RU" b="1" i="1" dirty="0" smtClean="0"/>
                  <a:t>Пусть у нас есть матричная запись СЛАУ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𝟑𝟐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𝟑𝟑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i="1" dirty="0" smtClean="0"/>
              </a:p>
              <a:p>
                <a:pPr marL="0" indent="0" algn="just">
                  <a:buNone/>
                </a:pPr>
                <a:r>
                  <a:rPr lang="ru-RU" b="1" i="1" dirty="0" smtClean="0"/>
                  <a:t>Тогда решение для </a:t>
                </a:r>
                <a:r>
                  <a:rPr lang="en-US" b="1" i="1" dirty="0" smtClean="0"/>
                  <a:t>i1, i2, i3 </a:t>
                </a:r>
                <a:r>
                  <a:rPr lang="ru-RU" b="1" i="1" dirty="0" smtClean="0"/>
                  <a:t>может быть найдено как: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𝒊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∆[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b="1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endParaRPr lang="ru-RU" b="1" i="1" dirty="0" smtClean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где </m:t>
                      </m:r>
                      <m:r>
                        <a:rPr lang="ru-R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∆=</m:t>
                      </m:r>
                      <m:d>
                        <m:dPr>
                          <m:begChr m:val="|"/>
                          <m:endChr m:val="|"/>
                          <m:ctrlPr>
                            <a:rPr lang="ru-R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𝟐𝟏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𝟑𝟏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𝟑𝟐</m:t>
                                </m:r>
                              </m:e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𝟑𝟑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ru-RU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ru-R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−частный определитель в котором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ru-R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−тый</m:t>
                      </m:r>
                    </m:oMath>
                  </m:oMathPara>
                </a14:m>
                <a:endParaRPr lang="ru-RU" b="1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столбец заменен на столбец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mr>
                        <m:m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mr>
                        <m:m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mr>
                      </m:m>
                    </m:oMath>
                  </m:oMathPara>
                </a14:m>
                <a:endParaRPr lang="ru-RU" b="1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754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68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Метод Гаусса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algn="just"/>
                <a:r>
                  <a:rPr lang="ru-RU" b="1" i="1" dirty="0" smtClean="0"/>
                  <a:t>Пусть у нас есть матричная запись СЛАУ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𝟑𝟐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𝟑𝟑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b="1" i="1" dirty="0" smtClean="0"/>
              </a:p>
              <a:p>
                <a:pPr marL="0" indent="0" algn="just">
                  <a:buNone/>
                </a:pPr>
                <a:r>
                  <a:rPr lang="ru-RU" b="1" i="1" dirty="0" smtClean="0"/>
                  <a:t>Тогда решение для </a:t>
                </a:r>
                <a:r>
                  <a:rPr lang="en-US" b="1" i="1" dirty="0" smtClean="0"/>
                  <a:t>i1, i2, i3 </a:t>
                </a:r>
                <a:r>
                  <a:rPr lang="ru-RU" b="1" i="1" dirty="0" smtClean="0"/>
                  <a:t>может быть найдено после серии подстановок, таких, чтобы матрица приняла треугольный вид</a:t>
                </a:r>
                <a:endParaRPr lang="en-US" b="1" i="1" dirty="0" smtClean="0"/>
              </a:p>
              <a:p>
                <a:pPr marL="0" indent="0" algn="just">
                  <a:buNone/>
                </a:pPr>
                <a:endParaRPr lang="en-US" b="1" i="1" dirty="0" smtClean="0"/>
              </a:p>
              <a:p>
                <a:pPr marL="0" indent="0" algn="just">
                  <a:buNone/>
                </a:pPr>
                <a:r>
                  <a:rPr lang="ru-RU" b="1" i="1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𝟏𝟑</m:t>
                              </m:r>
                            </m:e>
                          </m:mr>
                          <m:mr>
                            <m:e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acc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𝟐𝟐</m:t>
                              </m:r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acc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𝟐𝟑</m:t>
                              </m:r>
                            </m:e>
                          </m:mr>
                          <m:mr>
                            <m:e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acc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𝟑𝟑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ru-RU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mr>
                        </m:m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</m:acc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</m:acc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1" i="1" dirty="0" smtClean="0"/>
                  <a:t> , </a:t>
                </a:r>
                <a:r>
                  <a:rPr lang="ru-RU" b="1" i="1" dirty="0" smtClean="0"/>
                  <a:t>где:</a:t>
                </a:r>
                <a:endParaRPr lang="ru-RU" b="1" i="1" dirty="0"/>
              </a:p>
              <a:p>
                <a:pPr marL="0" indent="0" algn="just">
                  <a:buNone/>
                </a:pPr>
                <a:endParaRPr lang="en-US" b="1" i="1" dirty="0" smtClean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𝒊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𝟐𝟏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𝟏𝟏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𝟐𝟏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𝟏𝟏</m:t>
                        </m:r>
                      </m:den>
                    </m:f>
                  </m:oMath>
                </a14:m>
                <a:r>
                  <a:rPr lang="en-US" b="1" i="1" dirty="0" smtClean="0"/>
                  <a:t>, </a:t>
                </a:r>
              </a:p>
              <a:p>
                <a:pPr marL="0" indent="0" algn="just">
                  <a:buNone/>
                </a:pPr>
                <a:endParaRPr lang="en-US" b="1" i="1" dirty="0" smtClean="0"/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𝟑𝟑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𝟏𝟑</m:t>
                        </m:r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𝟏𝟏</m:t>
                            </m:r>
                          </m:den>
                        </m:f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𝟏𝟐</m:t>
                        </m:r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𝟑𝟏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𝟏𝟏</m:t>
                            </m:r>
                          </m:den>
                        </m:f>
                      </m:num>
                      <m:den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𝟏𝟏</m:t>
                        </m:r>
                      </m:den>
                    </m:f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𝟏𝟐</m:t>
                        </m:r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𝟑𝟏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𝟏𝟏</m:t>
                            </m:r>
                          </m:den>
                        </m:f>
                      </m:num>
                      <m:den>
                        <m:acc>
                          <m:accPr>
                            <m:chr m:val="̂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𝟐𝟐</m:t>
                        </m:r>
                      </m:den>
                    </m:f>
                    <m:r>
                      <m:rPr>
                        <m:nor/>
                      </m:rPr>
                      <a:rPr lang="en-US" b="1" i="1" dirty="0"/>
                      <m:t> </m:t>
                    </m:r>
                  </m:oMath>
                </a14:m>
                <a:endParaRPr lang="en-US" b="1" i="1" dirty="0"/>
              </a:p>
              <a:p>
                <a:pPr marL="0" indent="0" algn="just">
                  <a:buNone/>
                </a:pPr>
                <a:endParaRPr lang="ru-RU" b="1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38" t="-2521" r="-5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215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Теорема об эквивалентном источнике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ru-RU" b="1" i="1" dirty="0" smtClean="0"/>
              <a:t>Ток </a:t>
            </a:r>
            <a:r>
              <a:rPr lang="ru-RU" b="1" i="1" dirty="0"/>
              <a:t>произвольной ветви линейной электрической цепи не изменится, если автономный двухполюсник, к которому подключена данная ветвь, заменять эквивалентным линеаризованным источником, который может быть представлен последовательной или параллельной схемой замещения. </a:t>
            </a:r>
            <a:endParaRPr lang="ru-RU" b="1" i="1" dirty="0" smtClean="0"/>
          </a:p>
          <a:p>
            <a:pPr algn="just"/>
            <a:r>
              <a:rPr lang="ru-RU" b="1" i="1" dirty="0" smtClean="0"/>
              <a:t>ЭДС </a:t>
            </a:r>
            <a:r>
              <a:rPr lang="ru-RU" b="1" i="1" dirty="0"/>
              <a:t>источника напряжения </a:t>
            </a:r>
            <a:r>
              <a:rPr lang="ru-RU" b="1" i="1" dirty="0" smtClean="0"/>
              <a:t>в </a:t>
            </a:r>
            <a:r>
              <a:rPr lang="ru-RU" b="1" i="1" dirty="0"/>
              <a:t>последовательной схеме замещения </a:t>
            </a:r>
            <a:r>
              <a:rPr lang="ru-RU" b="1" i="1" dirty="0" smtClean="0"/>
              <a:t>равна </a:t>
            </a:r>
            <a:r>
              <a:rPr lang="ru-RU" b="1" i="1" dirty="0"/>
              <a:t>напряжению холостого </a:t>
            </a:r>
            <a:r>
              <a:rPr lang="ru-RU" b="1" i="1" dirty="0" smtClean="0"/>
              <a:t>хода, а эквивалентное сопротивление равно его входному </a:t>
            </a:r>
            <a:r>
              <a:rPr lang="ru-RU" b="1" i="1" dirty="0"/>
              <a:t>сопротивлению. </a:t>
            </a:r>
            <a:endParaRPr lang="ru-RU" b="1" i="1" dirty="0" smtClean="0"/>
          </a:p>
          <a:p>
            <a:pPr algn="just"/>
            <a:r>
              <a:rPr lang="ru-RU" b="1" i="1" dirty="0" smtClean="0"/>
              <a:t>Ток </a:t>
            </a:r>
            <a:r>
              <a:rPr lang="ru-RU" b="1" i="1" dirty="0"/>
              <a:t>идеального источника тока </a:t>
            </a:r>
            <a:r>
              <a:rPr lang="ru-RU" b="1" i="1" dirty="0" smtClean="0"/>
              <a:t>в </a:t>
            </a:r>
            <a:r>
              <a:rPr lang="ru-RU" b="1" i="1" dirty="0"/>
              <a:t>параллельной схеме замещения </a:t>
            </a:r>
            <a:r>
              <a:rPr lang="ru-RU" b="1" i="1" dirty="0" smtClean="0"/>
              <a:t>равен </a:t>
            </a:r>
            <a:r>
              <a:rPr lang="ru-RU" b="1" i="1" dirty="0"/>
              <a:t>току короткого замыкания автономного двухполюсника у а внутренняя проводимость </a:t>
            </a:r>
            <a:r>
              <a:rPr lang="ru-RU" b="1" i="1" dirty="0" smtClean="0"/>
              <a:t>— </a:t>
            </a:r>
            <a:r>
              <a:rPr lang="ru-RU" b="1" i="1" dirty="0"/>
              <a:t>его </a:t>
            </a:r>
            <a:r>
              <a:rPr lang="ru-RU" b="1" i="1" dirty="0" smtClean="0"/>
              <a:t>входной </a:t>
            </a:r>
            <a:r>
              <a:rPr lang="ru-RU" b="1" i="1" dirty="0"/>
              <a:t>проводимости </a:t>
            </a:r>
          </a:p>
        </p:txBody>
      </p:sp>
    </p:spTree>
    <p:extLst>
      <p:ext uri="{BB962C8B-B14F-4D97-AF65-F5344CB8AC3E}">
        <p14:creationId xmlns:p14="http://schemas.microsoft.com/office/powerpoint/2010/main" val="326580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Теорема наложения (суперпозиции)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 smtClean="0"/>
              <a:t>При наличии в схеме нескольких источников ЭДС ток </a:t>
            </a:r>
            <a:r>
              <a:rPr lang="ru-RU" b="1" i="1" dirty="0"/>
              <a:t>в k – й ветви линейной электрической цепи равен алгебраической сумме токов, вызываемых каждым из источников в отдельности.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27" y="4387401"/>
            <a:ext cx="11488545" cy="12799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4866014" y="3475894"/>
                <a:ext cx="2459969" cy="5254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i="1" dirty="0">
                    <a:solidFill>
                      <a:prstClr val="black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>
                          <m:fPr>
                            <m:ctrlPr>
                              <a:rPr lang="en-US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ru-RU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014" y="3475894"/>
                <a:ext cx="2459969" cy="525400"/>
              </a:xfrm>
              <a:prstGeom prst="rect">
                <a:avLst/>
              </a:prstGeom>
              <a:blipFill rotWithShape="0">
                <a:blip r:embed="rId3"/>
                <a:stretch>
                  <a:fillRect t="-72093" b="-1139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1461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Теорема об эквивалентном источнике</a:t>
            </a:r>
            <a:endParaRPr lang="ru-RU" sz="32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7293" y="2133600"/>
            <a:ext cx="4757414" cy="283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917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Теорема об эквивалентном источнике</a:t>
            </a:r>
            <a:endParaRPr lang="ru-RU" sz="3200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00" y="1929606"/>
            <a:ext cx="86868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17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Теорема об эквивалентном источнике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Применим теорему о наложении</a:t>
            </a:r>
          </a:p>
          <a:p>
            <a:pPr marL="0" indent="0">
              <a:buNone/>
            </a:pP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706" y="2398254"/>
            <a:ext cx="6732587" cy="377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0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Теорема компенсации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 smtClean="0"/>
              <a:t>Токи </a:t>
            </a:r>
            <a:r>
              <a:rPr lang="ru-RU" b="1" i="1" dirty="0"/>
              <a:t>и напряжения ветвей произвольной электрической цепи не изменятся, если любую ветвь этой цепи заменить идеальным источником ЭДС, напряжение которого равно напряжению данной ветви и имеет одинаковое с ним направление, либо идеальным источником тока, ток которого равен току рассматриваемой ветви и совпадает с ним по направлению.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83" y="4735830"/>
            <a:ext cx="7016433" cy="130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04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Теорема компенсации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Объект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 smtClean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6" name="Объект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Объект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303" y="2926080"/>
            <a:ext cx="5635394" cy="15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5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Преобразование звезда - треугольник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 smtClean="0"/>
                  <a:t> </a:t>
                </a:r>
                <a:endParaRPr lang="en-US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 </a:t>
                </a:r>
                <a:endParaRPr lang="en-US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789" y="2293621"/>
            <a:ext cx="5198913" cy="195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76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Четырехполюсники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 smtClean="0"/>
              <a:t>Если нас интересует не вся схема, а только одна ветвь, которая рассматривается как входная, и одна ветвь – </a:t>
            </a:r>
            <a:r>
              <a:rPr lang="ru-RU" b="1" i="1" dirty="0" err="1" smtClean="0"/>
              <a:t>рассматривающаяся</a:t>
            </a:r>
            <a:r>
              <a:rPr lang="ru-RU" b="1" i="1" dirty="0" smtClean="0"/>
              <a:t> как выходная, то мы можем заменить всю остальную схему черным ящиком и перейти к упрощенному представлению:</a:t>
            </a:r>
            <a:endParaRPr lang="ru-RU" b="1" i="1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84" y="3995356"/>
            <a:ext cx="4571683" cy="198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69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Четырехполюсники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ru-RU" b="1" i="1" dirty="0" smtClean="0"/>
                  <a:t>При этом если внутри нет источников ЭДС то черный ящик называется пассивным четырехполюсником, в противном случае говорят об активном четырехполюснике.</a:t>
                </a:r>
              </a:p>
              <a:p>
                <a:pPr algn="just"/>
                <a:r>
                  <a:rPr lang="ru-RU" b="1" i="1" dirty="0" smtClean="0"/>
                  <a:t>В любом случае такую систему характеризует система из двух уравнений, которая связывает токи и напряжения </a:t>
                </a:r>
                <a:r>
                  <a:rPr lang="en-US" b="1" i="1" dirty="0" smtClean="0"/>
                  <a:t>I </a:t>
                </a:r>
                <a:r>
                  <a:rPr lang="ru-RU" b="1" i="1" dirty="0" smtClean="0"/>
                  <a:t>и </a:t>
                </a:r>
                <a:r>
                  <a:rPr lang="en-US" b="1" i="1" dirty="0" smtClean="0"/>
                  <a:t>k </a:t>
                </a:r>
                <a:r>
                  <a:rPr lang="ru-RU" b="1" i="1" dirty="0" smtClean="0"/>
                  <a:t>ветви.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ru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𝟐𝟏</m:t>
                                </m:r>
                              </m:e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ru-RU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b="1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87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Входные и передаточные сопротивления и проводимости. </a:t>
            </a:r>
            <a:br>
              <a:rPr lang="ru-RU" sz="3200" dirty="0" smtClean="0"/>
            </a:br>
            <a:r>
              <a:rPr lang="ru-RU" sz="3200" dirty="0" smtClean="0"/>
              <a:t>Обратимость (Взаимность) пассивных электрических цепей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b="1" i="1" dirty="0" smtClean="0"/>
              <a:t>Если ЭДС, находящаяся в каком-либо контуре пассивной цепи вызывает в другом контуре данной цепи ток, то эта же ЭДС, перемещенная во второй контур, вызовет в первом контуре ток той же величины.</a:t>
            </a:r>
            <a:endParaRPr lang="ru-RU" b="1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559" y="4001294"/>
            <a:ext cx="7442881" cy="162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95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Входные и передаточные сопротивления и проводимости. </a:t>
            </a:r>
            <a:br>
              <a:rPr lang="ru-RU" sz="3200" dirty="0" smtClean="0"/>
            </a:br>
            <a:r>
              <a:rPr lang="ru-RU" sz="3200" dirty="0" smtClean="0"/>
              <a:t>Обратимость (Взаимность) пассивных электрических цепей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indent="0" algn="just">
                  <a:buNone/>
                </a:pPr>
                <a:r>
                  <a:rPr lang="ru-RU" b="1" i="1" dirty="0" smtClean="0"/>
                  <a:t>Определим понятие входной проводимости и взаимной (передаточной) проводимости:</a:t>
                </a:r>
              </a:p>
              <a:p>
                <a:pPr marL="0" indent="0" algn="just">
                  <a:buNone/>
                </a:pPr>
                <a:r>
                  <a:rPr lang="ru-RU" i="1" dirty="0" smtClean="0"/>
                  <a:t>Из метода контурных токов: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i="1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𝑖𝑘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𝑧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i="1" dirty="0" smtClean="0"/>
              </a:p>
              <a:p>
                <a:pPr marL="0" indent="0" algn="just">
                  <a:buNone/>
                </a:pPr>
                <a:r>
                  <a:rPr lang="ru-RU" i="1" dirty="0" smtClean="0"/>
                  <a:t>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i="1" dirty="0" smtClean="0"/>
                  <a:t> </a:t>
                </a:r>
                <a:r>
                  <a:rPr lang="ru-RU" i="1" dirty="0" smtClean="0"/>
                  <a:t>имеющая размерность проводимости называется </a:t>
                </a:r>
                <a:r>
                  <a:rPr lang="ru-RU" b="1" i="1" dirty="0" smtClean="0"/>
                  <a:t>входной проводимостью контура </a:t>
                </a:r>
                <a:r>
                  <a:rPr lang="en-US" b="1" i="1" dirty="0" err="1" smtClean="0"/>
                  <a:t>i</a:t>
                </a:r>
                <a:r>
                  <a:rPr lang="en-US" b="1" i="1" dirty="0" smtClean="0"/>
                  <a:t>. </a:t>
                </a:r>
              </a:p>
              <a:p>
                <a:pPr marL="0" indent="0" algn="just">
                  <a:buNone/>
                </a:pPr>
                <a:r>
                  <a:rPr lang="ru-RU" i="1" dirty="0"/>
                  <a:t>Величина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i="1" dirty="0"/>
                  <a:t> </a:t>
                </a:r>
                <a:r>
                  <a:rPr lang="ru-RU" i="1" dirty="0"/>
                  <a:t>имеющая размерность проводимости называется </a:t>
                </a:r>
                <a:r>
                  <a:rPr lang="ru-RU" b="1" i="1" dirty="0" smtClean="0"/>
                  <a:t>передаточной проводимостью контуров </a:t>
                </a:r>
                <a:r>
                  <a:rPr lang="en-US" b="1" i="1" dirty="0" err="1" smtClean="0"/>
                  <a:t>i</a:t>
                </a:r>
                <a:r>
                  <a:rPr lang="ru-RU" b="1" i="1" dirty="0" smtClean="0"/>
                  <a:t> и </a:t>
                </a:r>
                <a:r>
                  <a:rPr lang="en-US" b="1" i="1" dirty="0" smtClean="0"/>
                  <a:t>k. </a:t>
                </a:r>
                <a:endParaRPr lang="en-US" b="1" i="1" dirty="0"/>
              </a:p>
              <a:p>
                <a:pPr marL="0" indent="0" algn="just">
                  <a:buNone/>
                </a:pPr>
                <a:endParaRPr lang="ru-RU" b="1" i="1" dirty="0" smtClean="0"/>
              </a:p>
              <a:p>
                <a:pPr marL="0" indent="0" algn="just">
                  <a:buNone/>
                </a:pPr>
                <a:r>
                  <a:rPr lang="ru-RU" i="1" dirty="0" smtClean="0"/>
                  <a:t>Если в схеме есть только одна ЭДС и она в контуре </a:t>
                </a:r>
                <a:r>
                  <a:rPr lang="en-US" i="1" dirty="0" err="1" smtClean="0"/>
                  <a:t>i</a:t>
                </a:r>
                <a:r>
                  <a:rPr lang="ru-RU" i="1" dirty="0" smtClean="0"/>
                  <a:t>, то</a:t>
                </a:r>
                <a:r>
                  <a:rPr lang="en-US" i="1" dirty="0"/>
                  <a:t>:</a:t>
                </a:r>
                <a:r>
                  <a:rPr lang="ru-RU" i="1" dirty="0" smtClean="0"/>
                  <a:t> </a:t>
                </a:r>
              </a:p>
              <a:p>
                <a:pPr marL="0" indent="0" algn="just">
                  <a:buNone/>
                </a:pPr>
                <a:r>
                  <a:rPr lang="ru-RU" i="1" dirty="0" smtClean="0"/>
                  <a:t>входная проводимость – это отношение контурного тока в контуре </a:t>
                </a:r>
                <a:r>
                  <a:rPr lang="en-US" i="1" dirty="0" err="1" smtClean="0"/>
                  <a:t>i</a:t>
                </a:r>
                <a:r>
                  <a:rPr lang="ru-RU" i="1" dirty="0" smtClean="0"/>
                  <a:t> к ЭДС действующей в том же контуре</a:t>
                </a:r>
              </a:p>
              <a:p>
                <a:pPr marL="0" indent="0" algn="just">
                  <a:buNone/>
                </a:pPr>
                <a:r>
                  <a:rPr lang="ru-RU" i="1" dirty="0" smtClean="0"/>
                  <a:t>передаточная </a:t>
                </a:r>
                <a:r>
                  <a:rPr lang="ru-RU" i="1" dirty="0"/>
                  <a:t>проводимость – это отношение контурного тока в контуре </a:t>
                </a:r>
                <a:r>
                  <a:rPr lang="en-US" i="1" dirty="0"/>
                  <a:t>k</a:t>
                </a:r>
                <a:r>
                  <a:rPr lang="ru-RU" i="1" dirty="0" smtClean="0"/>
                  <a:t> </a:t>
                </a:r>
                <a:r>
                  <a:rPr lang="ru-RU" i="1" dirty="0"/>
                  <a:t>к ЭДС действующей </a:t>
                </a:r>
                <a:r>
                  <a:rPr lang="ru-RU" i="1" dirty="0" smtClean="0"/>
                  <a:t>в контуре </a:t>
                </a:r>
                <a:r>
                  <a:rPr lang="en-US" i="1" dirty="0" smtClean="0"/>
                  <a:t>I</a:t>
                </a:r>
                <a:endParaRPr lang="ru-RU" i="1" dirty="0" smtClean="0"/>
              </a:p>
              <a:p>
                <a:pPr marL="0" indent="0" algn="just">
                  <a:buNone/>
                </a:pPr>
                <a:r>
                  <a:rPr lang="ru-RU" b="1" i="1" dirty="0"/>
                  <a:t>Входное </a:t>
                </a:r>
                <a:r>
                  <a:rPr lang="en-US" b="1" i="1" dirty="0"/>
                  <a:t>(</a:t>
                </a:r>
                <a:r>
                  <a:rPr lang="ru-RU" b="1" i="1" dirty="0"/>
                  <a:t>собственное</a:t>
                </a:r>
                <a:r>
                  <a:rPr lang="en-US" b="1" i="1" dirty="0"/>
                  <a:t>) </a:t>
                </a:r>
                <a:r>
                  <a:rPr lang="ru-RU" b="1" i="1" dirty="0"/>
                  <a:t>сопротивление контура </a:t>
                </a:r>
                <a:r>
                  <a:rPr lang="en-US" b="1" i="1" dirty="0" err="1" smtClean="0"/>
                  <a:t>i</a:t>
                </a:r>
                <a:r>
                  <a:rPr lang="ru-RU" b="1" i="1" dirty="0" smtClean="0"/>
                  <a:t>: </a:t>
                </a:r>
                <a:r>
                  <a:rPr lang="en-US" b="1" i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𝑖𝑖</m:t>
                            </m:r>
                          </m:sub>
                        </m:sSub>
                      </m:den>
                    </m:f>
                  </m:oMath>
                </a14:m>
                <a:endParaRPr lang="ru-RU" i="1" dirty="0"/>
              </a:p>
              <a:p>
                <a:pPr marL="0" indent="0" algn="just">
                  <a:buNone/>
                </a:pPr>
                <a:endParaRPr lang="en-US" b="1" i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522" t="-3641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941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Входные и передаточные сопротивления и проводимости. </a:t>
            </a:r>
            <a:br>
              <a:rPr lang="ru-RU" sz="3200" dirty="0" smtClean="0"/>
            </a:br>
            <a:r>
              <a:rPr lang="ru-RU" sz="3200" dirty="0" smtClean="0"/>
              <a:t>Обратимость (Взаимность) пассивных электрических цепей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b="1" i="1" dirty="0" smtClean="0"/>
                  <a:t>Запишем контурные токи нас интересующие:</a:t>
                </a:r>
                <a:endParaRPr lang="ru-RU" i="1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1)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2)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i="1" dirty="0" smtClean="0"/>
              </a:p>
              <a:p>
                <a:pPr marL="0" indent="0" algn="just">
                  <a:buNone/>
                </a:pPr>
                <a:r>
                  <a:rPr lang="ru-RU" i="1" dirty="0" smtClean="0"/>
                  <a:t>Так как матрица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ru-RU" i="1" dirty="0" smtClean="0"/>
                  <a:t> симметрична, то миноры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ru-RU" i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en-US" i="1" dirty="0" smtClean="0"/>
                  <a:t> </a:t>
                </a:r>
                <a:r>
                  <a:rPr lang="ru-RU" i="1" dirty="0" smtClean="0"/>
                  <a:t>равны</a:t>
                </a:r>
              </a:p>
              <a:p>
                <a:pPr marL="0" indent="0" algn="just">
                  <a:buNone/>
                </a:pPr>
                <a:r>
                  <a:rPr lang="ru-RU" i="1" dirty="0" smtClean="0"/>
                  <a:t>Отсюда имеем что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, ч.т.д.</m:t>
                    </m:r>
                  </m:oMath>
                </a14:m>
                <a:endParaRPr lang="ru-RU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716" y="4222750"/>
            <a:ext cx="6822567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817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dirty="0" smtClean="0"/>
              <a:t>Входные и передаточные сопротивления и проводимости. </a:t>
            </a:r>
            <a:br>
              <a:rPr lang="ru-RU" sz="3200" dirty="0" smtClean="0"/>
            </a:br>
            <a:r>
              <a:rPr lang="ru-RU" sz="3200" dirty="0" smtClean="0"/>
              <a:t>Обратимость (Взаимность) пассивных электрических цепей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i="1" dirty="0" smtClean="0"/>
              <a:t>Аналогично, можно получить определение для источников тока:</a:t>
            </a:r>
          </a:p>
          <a:p>
            <a:pPr algn="just"/>
            <a:r>
              <a:rPr lang="ru-RU" b="1" i="1" dirty="0" smtClean="0"/>
              <a:t>Если источник тока, подключенный к паре узлов пассивной цепи вызывает на двух других </a:t>
            </a:r>
            <a:r>
              <a:rPr lang="ru-RU" b="1" i="1" smtClean="0"/>
              <a:t>узлах разность </a:t>
            </a:r>
            <a:r>
              <a:rPr lang="ru-RU" b="1" i="1" dirty="0" smtClean="0"/>
              <a:t>потенциалов </a:t>
            </a:r>
            <a:r>
              <a:rPr lang="en-US" b="1" i="1" dirty="0" smtClean="0"/>
              <a:t>E</a:t>
            </a:r>
            <a:r>
              <a:rPr lang="ru-RU" b="1" i="1" dirty="0" smtClean="0"/>
              <a:t>, то этот же источник тока, подключенный к этим узлам, вызовет на исходных </a:t>
            </a:r>
            <a:r>
              <a:rPr lang="ru-RU" b="1" i="1" dirty="0"/>
              <a:t>з</a:t>
            </a:r>
            <a:r>
              <a:rPr lang="ru-RU" b="1" i="1" dirty="0" smtClean="0"/>
              <a:t>ажимах разность потенциалов </a:t>
            </a:r>
            <a:r>
              <a:rPr lang="en-US" b="1" i="1" dirty="0" smtClean="0"/>
              <a:t>E</a:t>
            </a:r>
            <a:r>
              <a:rPr lang="ru-RU" b="1" i="1" dirty="0" smtClean="0"/>
              <a:t>.</a:t>
            </a:r>
            <a:endParaRPr lang="ru-RU" b="1" i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862" y="4483100"/>
            <a:ext cx="6274276" cy="136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09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3434</TotalTime>
  <Words>1000</Words>
  <Application>Microsoft Office PowerPoint</Application>
  <PresentationFormat>Широкоэкранный</PresentationFormat>
  <Paragraphs>122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Тема Office</vt:lpstr>
      <vt:lpstr>Лекция 3</vt:lpstr>
      <vt:lpstr>Методы расчета электрических цепей</vt:lpstr>
      <vt:lpstr>Методы расчета электрических цепей</vt:lpstr>
      <vt:lpstr>Метод максимального дерева</vt:lpstr>
      <vt:lpstr>Метод максимального дерева</vt:lpstr>
      <vt:lpstr>Метод контурных токов</vt:lpstr>
      <vt:lpstr>Метод контурных токов. Пример</vt:lpstr>
      <vt:lpstr>Метод узловых потенциалов</vt:lpstr>
      <vt:lpstr>Метод узловых потенциалов. Пример</vt:lpstr>
      <vt:lpstr>Решение систем линейных уравнений</vt:lpstr>
      <vt:lpstr>Формулы Крамера</vt:lpstr>
      <vt:lpstr>Метод Гаусса</vt:lpstr>
      <vt:lpstr>Теорема об эквивалентном источнике</vt:lpstr>
      <vt:lpstr>Теорема наложения (суперпозиции)</vt:lpstr>
      <vt:lpstr>Теорема об эквивалентном источнике</vt:lpstr>
      <vt:lpstr>Теорема об эквивалентном источнике</vt:lpstr>
      <vt:lpstr>Теорема об эквивалентном источнике</vt:lpstr>
      <vt:lpstr>Теорема компенсации</vt:lpstr>
      <vt:lpstr>Теорема компенсации</vt:lpstr>
      <vt:lpstr>Преобразование звезда - треугольник</vt:lpstr>
      <vt:lpstr>Четырехполюсники</vt:lpstr>
      <vt:lpstr>Четырехполюсники</vt:lpstr>
      <vt:lpstr>Входные и передаточные сопротивления и проводимости.  Обратимость (Взаимность) пассивных электрических цепей</vt:lpstr>
      <vt:lpstr>Входные и передаточные сопротивления и проводимости.  Обратимость (Взаимность) пассивных электрических цепей</vt:lpstr>
      <vt:lpstr>Входные и передаточные сопротивления и проводимости.  Обратимость (Взаимность) пассивных электрических цепей</vt:lpstr>
      <vt:lpstr>Входные и передаточные сопротивления и проводимости.  Обратимость (Взаимность) пассивных электрических цепей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Радиоэлектроника</dc:title>
  <dc:creator>BINP User</dc:creator>
  <cp:lastModifiedBy>BINP User</cp:lastModifiedBy>
  <cp:revision>178</cp:revision>
  <dcterms:created xsi:type="dcterms:W3CDTF">2020-09-02T13:49:40Z</dcterms:created>
  <dcterms:modified xsi:type="dcterms:W3CDTF">2022-09-22T09:26:49Z</dcterms:modified>
</cp:coreProperties>
</file>