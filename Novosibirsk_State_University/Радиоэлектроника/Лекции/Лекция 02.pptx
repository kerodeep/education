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3" r:id="rId3"/>
    <p:sldId id="271" r:id="rId4"/>
    <p:sldId id="272" r:id="rId5"/>
    <p:sldId id="285" r:id="rId6"/>
    <p:sldId id="286" r:id="rId7"/>
    <p:sldId id="260" r:id="rId8"/>
    <p:sldId id="275" r:id="rId9"/>
    <p:sldId id="276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5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7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2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26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1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12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04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08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98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21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1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7F890-8936-473A-AEE0-9462A4D15301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2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1" dirty="0" smtClean="0"/>
              <a:t>Лекция </a:t>
            </a:r>
            <a:r>
              <a:rPr lang="en-US" b="1" i="1" dirty="0" smtClean="0"/>
              <a:t>2</a:t>
            </a:r>
            <a:endParaRPr lang="ru-RU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i="1" dirty="0" smtClean="0"/>
              <a:t>Мощность в электрической цепи</a:t>
            </a:r>
          </a:p>
          <a:p>
            <a:pPr marL="0" indent="0" algn="ctr">
              <a:buNone/>
            </a:pPr>
            <a:r>
              <a:rPr lang="ru-RU" b="1" i="1" dirty="0" smtClean="0"/>
              <a:t>Реактивные элементы</a:t>
            </a:r>
          </a:p>
          <a:p>
            <a:pPr marL="0" indent="0" algn="ctr">
              <a:buNone/>
            </a:pPr>
            <a:r>
              <a:rPr lang="ru-RU" b="1" i="1" dirty="0" smtClean="0"/>
              <a:t>Цепи переменного тока.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27955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Назначение электрической цепи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i="1" dirty="0" smtClean="0"/>
              <a:t>Основное назначение электрической цепи – представить в символьном виде некоторую систему передачи энергии либо информации с целью дать понимание принципа ее работы.</a:t>
            </a:r>
          </a:p>
          <a:p>
            <a:r>
              <a:rPr lang="ru-RU" b="1" i="1" dirty="0" smtClean="0"/>
              <a:t>При работе данной системы происходит передача электрической энергии от некоторого набора источников к потребителям по линиям передачи. Потребитель может выделять эту энергию в виде тепла, света, механической работы, может накапливать. Линии передачи также рассматриваются как неидеальные – они сами являются потребителями электрической энергии.</a:t>
            </a:r>
          </a:p>
        </p:txBody>
      </p:sp>
    </p:spTree>
    <p:extLst>
      <p:ext uri="{BB962C8B-B14F-4D97-AF65-F5344CB8AC3E}">
        <p14:creationId xmlns:p14="http://schemas.microsoft.com/office/powerpoint/2010/main" val="371053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Закон Джоуля-Ленца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b="1" i="1" dirty="0" smtClean="0"/>
                  <a:t>Электрическая мощность – </a:t>
                </a:r>
                <a:r>
                  <a:rPr lang="ru-RU" dirty="0" smtClean="0"/>
                  <a:t>физическая величина, характеризующая </a:t>
                </a:r>
                <a:r>
                  <a:rPr lang="ru-RU" dirty="0"/>
                  <a:t>скорость передачи или преобразования электрической </a:t>
                </a:r>
                <a:r>
                  <a:rPr lang="ru-RU" dirty="0" smtClean="0"/>
                  <a:t>энергии.</a:t>
                </a:r>
                <a:r>
                  <a:rPr lang="en-US" dirty="0"/>
                  <a:t> </a:t>
                </a:r>
                <a:r>
                  <a:rPr lang="ru-RU" dirty="0" smtClean="0"/>
                  <a:t>Единица измерения – Ватт (Вт) </a:t>
                </a:r>
                <a:r>
                  <a:rPr lang="en-US" dirty="0" smtClean="0"/>
                  <a:t>{W}</a:t>
                </a:r>
              </a:p>
              <a:p>
                <a:r>
                  <a:rPr lang="ru-RU" dirty="0" smtClean="0"/>
                  <a:t>Понятие электрической мощности возникло как описание теплового воздействия электрического тока. Закон, описывающий это воздействие – </a:t>
                </a:r>
                <a:r>
                  <a:rPr lang="ru-RU" b="1" i="1" dirty="0" smtClean="0"/>
                  <a:t>Закон Джоуля-Ленца </a:t>
                </a:r>
                <a:r>
                  <a:rPr lang="ru-RU" dirty="0" smtClean="0"/>
                  <a:t>(1841):</a:t>
                </a:r>
              </a:p>
              <a:p>
                <a:pPr marL="457200" lvl="1" indent="0" algn="just">
                  <a:buNone/>
                </a:pPr>
                <a:r>
                  <a:rPr lang="ru-RU" dirty="0" smtClean="0"/>
                  <a:t>Мощность </a:t>
                </a:r>
                <a:r>
                  <a:rPr lang="ru-RU" dirty="0"/>
                  <a:t>тепла, выделяемого в единице объёма среды при протекании постоянного электрического тока, равна произведению плотности электрического тока на величину напряженности электрического поля</a:t>
                </a:r>
                <a:r>
                  <a:rPr lang="ru-RU" dirty="0" smtClean="0"/>
                  <a:t>.</a:t>
                </a: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m:rPr>
                              <m:nor/>
                            </m:rPr>
                            <a:rPr lang="ru-RU" dirty="0"/>
                            <m:t>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 r="-15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140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Мгновенная электрическая мощность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i="1" dirty="0" smtClean="0"/>
              <a:t>Работу совершают источники электрической энергии.</a:t>
            </a:r>
          </a:p>
          <a:p>
            <a:pPr marL="0" indent="0">
              <a:buNone/>
            </a:pPr>
            <a:r>
              <a:rPr lang="ru-RU" dirty="0" smtClean="0"/>
              <a:t>В электрической цепи при этом энергия может </a:t>
            </a:r>
          </a:p>
          <a:p>
            <a:r>
              <a:rPr lang="ru-RU" dirty="0" smtClean="0"/>
              <a:t>Выделятся в виде тепла (закон Джоуля-Ленца)</a:t>
            </a:r>
          </a:p>
          <a:p>
            <a:r>
              <a:rPr lang="ru-RU" dirty="0" smtClean="0"/>
              <a:t>Накапливаться в виде энергии электрического поля</a:t>
            </a:r>
          </a:p>
          <a:p>
            <a:r>
              <a:rPr lang="ru-RU" dirty="0" smtClean="0"/>
              <a:t>Накапливаться в виде энергии магнитного поля</a:t>
            </a:r>
          </a:p>
          <a:p>
            <a:r>
              <a:rPr lang="ru-RU" dirty="0" smtClean="0"/>
              <a:t>Преобразовываться в другой вид энергии (механическая работа, световое излучение)</a:t>
            </a:r>
          </a:p>
          <a:p>
            <a:pPr marL="0" indent="0">
              <a:buNone/>
            </a:pPr>
            <a:r>
              <a:rPr lang="ru-RU" b="1" dirty="0" smtClean="0"/>
              <a:t>Если ток в источнике ЭДС протекает от минуса к плюсу источник совершает работу, если от плюса к минусу – поглощает энергию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41449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Направление потока энергии в источнике ЭДС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 smtClean="0"/>
                  <a:t>Если </a:t>
                </a:r>
                <a:r>
                  <a:rPr lang="ru-RU" b="1" dirty="0" smtClean="0"/>
                  <a:t>ток в источнике ЭДС протекает от минуса к плюсу источник совершает работу, если от плюса к минусу – поглощает энергию</a:t>
                </a:r>
                <a:r>
                  <a:rPr lang="ru-RU" dirty="0" smtClean="0"/>
                  <a:t>.</a:t>
                </a:r>
              </a:p>
              <a:p>
                <a:pPr marL="0" indent="0">
                  <a:buNone/>
                </a:pPr>
                <a:r>
                  <a:rPr lang="ru-RU" dirty="0" smtClean="0"/>
                  <a:t>Это справедливо и для источников тока и для источников напряжения.</a:t>
                </a:r>
              </a:p>
              <a:p>
                <a:pPr marL="0" indent="0">
                  <a:buNone/>
                </a:pPr>
                <a:r>
                  <a:rPr lang="ru-RU" dirty="0" smtClean="0"/>
                  <a:t>Рассмотрим схему:</a:t>
                </a:r>
              </a:p>
              <a:p>
                <a:pPr marL="0" indent="0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Имеем 1 контур: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1=0;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endParaRPr lang="ru-RU" b="1" dirty="0" smtClean="0"/>
              </a:p>
              <a:p>
                <a:pPr marL="0" indent="0">
                  <a:buNone/>
                </a:pPr>
                <a:r>
                  <a:rPr lang="en-US" dirty="0" smtClean="0"/>
                  <a:t>			</a:t>
                </a:r>
                <a:r>
                  <a:rPr lang="ru-RU" dirty="0" smtClean="0"/>
                  <a:t>Таким образом если ток положителен, то работу 			совершает </a:t>
                </a:r>
                <a:r>
                  <a:rPr lang="en-US" dirty="0" smtClean="0"/>
                  <a:t>E1, </a:t>
                </a:r>
                <a:r>
                  <a:rPr lang="ru-RU" dirty="0" smtClean="0"/>
                  <a:t>а выделяется (поглощается) </a:t>
                </a:r>
                <a:r>
                  <a:rPr lang="en-US" dirty="0" smtClean="0"/>
                  <a:t>				</a:t>
                </a:r>
                <a:r>
                  <a:rPr lang="ru-RU" dirty="0" smtClean="0"/>
                  <a:t>мощность на </a:t>
                </a:r>
                <a:r>
                  <a:rPr lang="en-US" dirty="0" smtClean="0"/>
                  <a:t>R1 </a:t>
                </a:r>
                <a:r>
                  <a:rPr lang="ru-RU" dirty="0" smtClean="0"/>
                  <a:t>и </a:t>
                </a:r>
                <a:r>
                  <a:rPr lang="en-US" dirty="0" smtClean="0"/>
                  <a:t>E2</a:t>
                </a:r>
                <a:endParaRPr lang="ru-RU" dirty="0" smtClean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b="-11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669" y="4199720"/>
            <a:ext cx="1532721" cy="150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339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Направление потока энергии в источнике ЭДС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 smtClean="0"/>
                  <a:t>Пример схемы с источником тока</a:t>
                </a:r>
                <a:r>
                  <a:rPr lang="ru-RU" dirty="0" smtClean="0"/>
                  <a:t>:</a:t>
                </a:r>
              </a:p>
              <a:p>
                <a:pPr marL="0" indent="0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Имеем 1 контур. Обойдем его по направлению 				тока: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1=0;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ru-RU" b="1" dirty="0" smtClean="0"/>
              </a:p>
              <a:p>
                <a:pPr marL="0" indent="0">
                  <a:buNone/>
                </a:pPr>
                <a:r>
                  <a:rPr lang="en-US" dirty="0" smtClean="0"/>
                  <a:t>			</a:t>
                </a:r>
                <a:r>
                  <a:rPr lang="ru-RU" dirty="0" smtClean="0"/>
                  <a:t>Получаем, что в этом случае</a:t>
                </a:r>
                <a:r>
                  <a:rPr lang="en-US" dirty="0" smtClean="0"/>
                  <a:t> </a:t>
                </a:r>
                <a:r>
                  <a:rPr lang="ru-RU" dirty="0" smtClean="0"/>
                  <a:t>работу совершает 				источник тока </a:t>
                </a:r>
                <a:r>
                  <a:rPr lang="en-US" dirty="0" smtClean="0"/>
                  <a:t>I1, </a:t>
                </a:r>
                <a:r>
                  <a:rPr lang="ru-RU" dirty="0" smtClean="0"/>
                  <a:t>в поглощается мощность на </a:t>
                </a:r>
                <a:r>
                  <a:rPr lang="en-US" dirty="0" smtClean="0"/>
                  <a:t>R1 </a:t>
                </a:r>
                <a:r>
                  <a:rPr lang="ru-RU" dirty="0" smtClean="0"/>
                  <a:t>и </a:t>
                </a:r>
                <a:r>
                  <a:rPr lang="en-US" dirty="0" smtClean="0"/>
                  <a:t>			E1. </a:t>
                </a:r>
                <a:endParaRPr lang="ru-RU" dirty="0" smtClean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7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629" y="4247222"/>
            <a:ext cx="1895941" cy="133418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629" y="2500859"/>
            <a:ext cx="1989737" cy="140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781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Мощность на сопротивлении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472055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ru-RU" b="1" i="1" dirty="0" smtClean="0"/>
                  <a:t>Если ток и напряжение на элементе подчиняются закону Ома – т.е. элемент электрической цепи представляет собой сопротивление, то </a:t>
                </a:r>
              </a:p>
              <a:p>
                <a:r>
                  <a:rPr lang="ru-RU" b="1" i="1" dirty="0" smtClean="0"/>
                  <a:t>Мощность выделяется </a:t>
                </a:r>
                <a:endParaRPr lang="en-US" b="1" i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𝑼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𝑰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𝑼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en-US" b="1" i="1" dirty="0" smtClean="0"/>
              </a:p>
              <a:p>
                <a:r>
                  <a:rPr lang="ru-RU" b="1" i="1" dirty="0" smtClean="0"/>
                  <a:t>Совещается работа (выделяется количество теплоты)</a:t>
                </a:r>
                <a:endParaRPr lang="ru-RU" b="1" i="1" dirty="0"/>
              </a:p>
              <a:p>
                <a:pPr marL="0" indent="0">
                  <a:buNone/>
                </a:pPr>
                <a:endParaRPr lang="en-US" b="1" i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𝑼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</m:t>
                          </m:r>
                          <m:nary>
                            <m:nary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𝑼</m:t>
                                      </m:r>
                                    </m:e>
                                    <m:sup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𝑹</m:t>
                                  </m:r>
                                </m:den>
                              </m:f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𝒅𝒕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ru-RU" b="1" i="1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472055" cy="4351338"/>
              </a:xfrm>
              <a:blipFill rotWithShape="0">
                <a:blip r:embed="rId2"/>
                <a:stretch>
                  <a:fillRect l="-1152" t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941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Энергия, запасаемая в конденсаторе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ru-RU" b="1" dirty="0" smtClean="0"/>
                  <a:t>Энергия </a:t>
                </a:r>
                <a:r>
                  <a:rPr lang="ru-RU" b="1" dirty="0" smtClean="0"/>
                  <a:t>запасенная в конденсаторе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𝑪</m:t>
                    </m:r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ru-RU" b="1" dirty="0" smtClean="0"/>
              </a:p>
              <a:p>
                <a:pPr marL="0" indent="0" algn="ctr">
                  <a:buNone/>
                </a:pPr>
                <a:r>
                  <a:rPr lang="ru-RU" b="1" dirty="0" smtClean="0"/>
                  <a:t>Считаем, что начальный заряд равен нулю, тогда.</a:t>
                </a:r>
                <a:endParaRPr lang="ru-RU" b="1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den>
                      </m:f>
                      <m:nary>
                        <m:nary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𝝉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𝝉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𝝉</m:t>
                          </m:r>
                        </m:e>
                      </m:nary>
                    </m:oMath>
                  </m:oMathPara>
                </a14:m>
                <a:endParaRPr lang="ru-RU" b="1" dirty="0" smtClean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ru-RU" b="1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ru-RU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ru-RU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den>
                      </m:f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𝝉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  <m:d>
                                    <m:d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𝝉</m:t>
                                      </m:r>
                                    </m:e>
                                  </m:d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𝝉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ru-RU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 smtClean="0"/>
              </a:p>
              <a:p>
                <a:pPr marL="0" indent="0">
                  <a:buNone/>
                </a:pPr>
                <a:endParaRPr lang="ru-RU" dirty="0" smtClean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21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Индуктивность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ru-RU" b="1" i="1" dirty="0" smtClean="0"/>
                  <a:t>Связь между напряжением на индуктивности и силой тока через него: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)=−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𝑳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𝑳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</m:oMath>
                </a14:m>
                <a:r>
                  <a:rPr lang="ru-RU" b="1" i="1" dirty="0" smtClean="0"/>
                  <a:t>.</a:t>
                </a:r>
                <a:endParaRPr lang="en-US" b="1" i="1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При подаче на катушку индуктивности постоянного напряжения, ток в ней будет линейно возрастать.</a:t>
                </a:r>
              </a:p>
              <a:p>
                <a:pPr marL="0" indent="0" algn="ctr">
                  <a:buNone/>
                </a:pPr>
                <a:r>
                  <a:rPr lang="ru-RU" b="1" dirty="0" smtClean="0"/>
                  <a:t>Энергия</a:t>
                </a:r>
                <a:r>
                  <a:rPr lang="ru-RU" b="1" dirty="0" smtClean="0"/>
                  <a:t>, запасенная в индуктивности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𝑳</m:t>
                    </m:r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dirty="0" smtClean="0"/>
              </a:p>
              <a:p>
                <a:pPr marL="0" indent="0" algn="ctr">
                  <a:buNone/>
                </a:pPr>
                <a:r>
                  <a:rPr lang="ru-RU" b="1" dirty="0" smtClean="0"/>
                  <a:t>Будем считать, что в нулевой момент времени индуктивность не содержала в себе энергии.</a:t>
                </a:r>
                <a:endParaRPr lang="ru-RU" b="1" dirty="0" smtClean="0"/>
              </a:p>
              <a:p>
                <a:pPr marL="0" indent="0" algn="ctr">
                  <a:buNone/>
                </a:pPr>
                <a:r>
                  <a:rPr lang="ru-RU" dirty="0" smtClean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ru-RU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den>
                    </m:f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𝝉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𝑼</m:t>
                                </m:r>
                                <m:d>
                                  <m:d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</m:d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𝝉</m:t>
                                </m:r>
                              </m:e>
                            </m:nary>
                          </m:e>
                        </m:d>
                      </m:e>
                      <m:sup>
                        <m:r>
                          <a:rPr lang="ru-RU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ru-RU" dirty="0" smtClean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3551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Электрические цепи переменного тока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i="1" dirty="0" smtClean="0"/>
              <a:t>Постоянный и переменный ток:</a:t>
            </a:r>
          </a:p>
          <a:p>
            <a:pPr marL="0" indent="0">
              <a:buNone/>
            </a:pPr>
            <a:r>
              <a:rPr lang="ru-RU" dirty="0" smtClean="0"/>
              <a:t>Источник ЭДС в электрической цепи не обязательно имеет постоянную во времени величину.</a:t>
            </a:r>
          </a:p>
          <a:p>
            <a:pPr marL="0" indent="0">
              <a:buNone/>
            </a:pPr>
            <a:r>
              <a:rPr lang="ru-RU" dirty="0" smtClean="0"/>
              <a:t>В общем он может меняться по любому закону, однако выделяют два отдельных случая:</a:t>
            </a:r>
          </a:p>
          <a:p>
            <a:r>
              <a:rPr lang="ru-RU" b="1" i="1" dirty="0" smtClean="0"/>
              <a:t>Источники постоянного тока </a:t>
            </a:r>
            <a:r>
              <a:rPr lang="en-US" b="1" i="1" dirty="0" smtClean="0"/>
              <a:t>(Direct Current (DC) source )</a:t>
            </a:r>
            <a:endParaRPr lang="ru-RU" b="1" i="1" dirty="0" smtClean="0"/>
          </a:p>
          <a:p>
            <a:r>
              <a:rPr lang="ru-RU" b="1" i="1" dirty="0" smtClean="0"/>
              <a:t>Источники переменного тока</a:t>
            </a:r>
            <a:r>
              <a:rPr lang="en-US" b="1" i="1" dirty="0" smtClean="0"/>
              <a:t> (Alternating Current (AC) source)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32808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Электрические цепи переменного тока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ru-RU" b="1" i="1" dirty="0" smtClean="0"/>
                  <a:t>Источники постоянного тока </a:t>
                </a:r>
                <a:r>
                  <a:rPr lang="en-US" b="1" i="1" dirty="0" smtClean="0"/>
                  <a:t> - </a:t>
                </a:r>
                <a:r>
                  <a:rPr lang="ru-RU" b="1" i="1" dirty="0" smtClean="0"/>
                  <a:t>источники ЭДС не зависящие от времени. </a:t>
                </a:r>
                <a:r>
                  <a:rPr lang="ru-RU" dirty="0" smtClean="0"/>
                  <a:t>(Термин не связан с идеальным/реальным  источником тока, так называются и источники напряжения и источники тока)</a:t>
                </a:r>
              </a:p>
              <a:p>
                <a:r>
                  <a:rPr lang="ru-RU" b="1" i="1" dirty="0" smtClean="0"/>
                  <a:t>Источники переменного тока</a:t>
                </a:r>
                <a:r>
                  <a:rPr lang="en-US" b="1" i="1" dirty="0" smtClean="0"/>
                  <a:t> </a:t>
                </a:r>
                <a:r>
                  <a:rPr lang="ru-RU" b="1" i="1" dirty="0" smtClean="0"/>
                  <a:t> - источники ЭДС выходное напряжение (выходной ток) которых изменяется во времени по синусоидальному закону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𝒔𝒊𝒏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𝝎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i="1" dirty="0" smtClean="0"/>
              </a:p>
              <a:p>
                <a:pPr marL="0" indent="0">
                  <a:buNone/>
                </a:pPr>
                <a:r>
                  <a:rPr lang="ru-RU" b="1" i="1" dirty="0" smtClean="0"/>
                  <a:t>При этом параметры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𝝎</m:t>
                    </m:r>
                  </m:oMath>
                </a14:m>
                <a:r>
                  <a:rPr lang="ru-RU" b="1" i="1" dirty="0" smtClean="0"/>
                  <a:t> – круговая частота, </a:t>
                </a:r>
                <a:r>
                  <a:rPr lang="en-US" b="1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ru-RU" b="1" i="1" dirty="0" smtClean="0"/>
                  <a:t> – фаза не       зависят от времени</a:t>
                </a:r>
              </a:p>
              <a:p>
                <a:pPr marL="0" indent="0">
                  <a:buNone/>
                </a:pPr>
                <a:r>
                  <a:rPr lang="ru-RU" b="1" i="1" dirty="0" smtClean="0"/>
                  <a:t>Вместо круговой частоты часто используется просто Частота: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ru-RU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num>
                      <m:den>
                        <m:r>
                          <a:rPr lang="ru-RU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ru-RU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den>
                    </m:f>
                    <m:r>
                      <a:rPr lang="ru-RU" b="1" i="1" smtClean="0">
                        <a:latin typeface="Cambria Math" panose="02040503050406030204" pitchFamily="18" charset="0"/>
                      </a:rPr>
                      <m:t>, выражаемая в Герцах </m:t>
                    </m:r>
                    <m:d>
                      <m:d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1" i="1" smtClean="0">
                            <a:latin typeface="Cambria Math" panose="02040503050406030204" pitchFamily="18" charset="0"/>
                          </a:rPr>
                          <m:t>Гц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𝑯𝒛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b="1" i="1" dirty="0" smtClean="0"/>
                  <a:t> </a:t>
                </a:r>
              </a:p>
              <a:p>
                <a:pPr marL="0" indent="0">
                  <a:buNone/>
                </a:pPr>
                <a:r>
                  <a:rPr lang="ru-RU" b="1" i="1" dirty="0" smtClean="0"/>
                  <a:t>1Гц=1/с = 1 период колебаний в секунду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801" r="-1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461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Электрические цепи переменного тока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i="1" dirty="0" smtClean="0"/>
                  <a:t>Если источник </a:t>
                </a:r>
                <a:r>
                  <a:rPr lang="ru-RU" b="1" i="1" dirty="0"/>
                  <a:t> ЭДС </a:t>
                </a:r>
                <a:r>
                  <a:rPr lang="ru-RU" b="1" i="1" dirty="0" smtClean="0"/>
                  <a:t>в электрической цепи имеет закон изменения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𝑽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𝒔𝒊𝒏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𝝎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b="1" i="1" dirty="0" smtClean="0"/>
                  <a:t> , то все токи и напряжения в </a:t>
                </a:r>
                <a:r>
                  <a:rPr lang="ru-RU" b="1" i="1" u="sng" dirty="0" smtClean="0"/>
                  <a:t>линейной</a:t>
                </a:r>
                <a:r>
                  <a:rPr lang="ru-RU" b="1" i="1" dirty="0" smtClean="0"/>
                  <a:t> электрической цепи так же будут выражаться как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𝑽𝒂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𝒔𝒊𝒏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𝝎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𝝋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b="1" i="1" dirty="0"/>
                  <a:t> </a:t>
                </a:r>
                <a:endParaRPr lang="en-US" b="1" i="1" dirty="0" smtClean="0"/>
              </a:p>
              <a:p>
                <a:pPr marL="0" indent="0">
                  <a:buNone/>
                </a:pPr>
                <a:r>
                  <a:rPr lang="ru-RU" dirty="0" smtClean="0"/>
                  <a:t>Стоит отметить, что в случае, если цепь состоит только из резисторов, то фаза не изменится по отношению фазе источника ЭДС, что прямо следует из закона Ома.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2490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Электрические цепи переменного тока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b="1" i="1" dirty="0" smtClean="0"/>
                  <a:t>Для цепей переменного тока мгновенная мощность перестает показывать где мощность поглощается а где выделяется, и в каком количестве. Она описывает только некий определенный момент времени, </a:t>
                </a:r>
                <a:r>
                  <a:rPr lang="ru-RU" b="1" i="1" u="sng" dirty="0" smtClean="0"/>
                  <a:t>не весь период.</a:t>
                </a:r>
                <a:endParaRPr lang="en-US" b="1" i="1" u="sng" dirty="0" smtClean="0"/>
              </a:p>
              <a:p>
                <a:pPr marL="0" indent="0">
                  <a:buNone/>
                </a:pPr>
                <a:r>
                  <a:rPr lang="ru-RU" dirty="0" smtClean="0"/>
                  <a:t>Поэтому для цепей переменного тока вводят дополнительные энергетические параметры:</a:t>
                </a:r>
              </a:p>
              <a:p>
                <a:r>
                  <a:rPr lang="ru-RU" b="1" i="1" dirty="0" smtClean="0"/>
                  <a:t>Активная мощность (Вт)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  <m:nary>
                      <m:nary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𝒅𝒕</m:t>
                        </m:r>
                      </m:e>
                    </m:nary>
                    <m:r>
                      <a:rPr lang="en-US" b="1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ru-RU" b="1" i="1" smtClean="0">
                        <a:latin typeface="Cambria Math" panose="02040503050406030204" pitchFamily="18" charset="0"/>
                      </a:rPr>
                      <m:t>среднее за период значение мгновенной мощности</m:t>
                    </m:r>
                  </m:oMath>
                </a14:m>
                <a:endParaRPr lang="ru-RU" b="1" i="1" dirty="0" smtClean="0"/>
              </a:p>
              <a:p>
                <a:r>
                  <a:rPr lang="ru-RU" b="1" i="1" dirty="0" smtClean="0"/>
                  <a:t>Реактивная мощность (вар) </a:t>
                </a:r>
                <a:r>
                  <a:rPr lang="ru-RU" dirty="0" smtClean="0"/>
                  <a:t>показывает какая часть энергии циркулирует в электрической цепи не совершая работу</a:t>
                </a:r>
                <a:r>
                  <a:rPr lang="ru-RU" b="1" i="1" dirty="0" smtClean="0"/>
                  <a:t>.</a:t>
                </a:r>
              </a:p>
              <a:p>
                <a:r>
                  <a:rPr lang="ru-RU" b="1" i="1" dirty="0" smtClean="0"/>
                  <a:t>Полная мощность </a:t>
                </a:r>
                <a:r>
                  <a:rPr lang="ru-RU" b="1" i="1" dirty="0"/>
                  <a:t>(В·А</a:t>
                </a:r>
                <a:r>
                  <a:rPr lang="ru-RU" b="1" i="1" dirty="0" smtClean="0"/>
                  <a:t>)</a:t>
                </a:r>
                <a:r>
                  <a:rPr lang="en-US" b="1" i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ru-RU" b="1" i="1" smtClean="0">
                            <a:latin typeface="Cambria Math" panose="02040503050406030204" pitchFamily="18" charset="0"/>
                          </a:rPr>
                          <m:t>эфф</m:t>
                        </m:r>
                      </m:sub>
                    </m:sSub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ru-RU" b="1" i="1" smtClean="0">
                            <a:latin typeface="Cambria Math" panose="02040503050406030204" pitchFamily="18" charset="0"/>
                          </a:rPr>
                          <m:t>эфф</m:t>
                        </m:r>
                      </m:sub>
                    </m:sSub>
                  </m:oMath>
                </a14:m>
                <a:r>
                  <a:rPr lang="ru-RU" b="1" i="1" dirty="0" smtClean="0"/>
                  <a:t> - </a:t>
                </a:r>
                <a:r>
                  <a:rPr lang="ru-RU" dirty="0" smtClean="0"/>
                  <a:t>выражается через </a:t>
                </a:r>
                <a:r>
                  <a:rPr lang="ru-RU" b="1" dirty="0" smtClean="0"/>
                  <a:t>действующие</a:t>
                </a:r>
                <a:r>
                  <a:rPr lang="ru-RU" dirty="0" smtClean="0"/>
                  <a:t> (эффективные) значения тока и напряжения</a:t>
                </a:r>
                <a:endParaRPr lang="ru-RU" dirty="0"/>
              </a:p>
              <a:p>
                <a:endParaRPr lang="ru-RU" b="1" i="1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53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Действующие значение тока и напряжения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i="1" dirty="0" smtClean="0"/>
                  <a:t>Действующее или среднеквадратичное значение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ru-RU" b="1" i="1" smtClean="0">
                              <a:latin typeface="Cambria Math" panose="02040503050406030204" pitchFamily="18" charset="0"/>
                            </a:rPr>
                            <m:t>эфф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  <m:nary>
                            <m:nary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𝑼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𝒅𝒕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ru-RU" b="1" i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ru-RU" b="1" i="1">
                              <a:latin typeface="Cambria Math" panose="02040503050406030204" pitchFamily="18" charset="0"/>
                            </a:rPr>
                            <m:t>эфф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  <m:nary>
                            <m:nary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𝒅𝒕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b="1" i="1" dirty="0" smtClean="0"/>
                  <a:t>Активная мощность выделяющаяся на резисторе при протекании через него переменного тока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</m:e>
                            <m:sub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эфф</m:t>
                              </m:r>
                            </m:sub>
                            <m:sup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ru-RU" b="1" i="1" smtClean="0">
                              <a:latin typeface="Cambria Math" panose="02040503050406030204" pitchFamily="18" charset="0"/>
                            </a:rPr>
                            <m:t>эфф</m:t>
                          </m:r>
                        </m:sub>
                        <m:sup>
                          <m:r>
                            <a:rPr lang="ru-RU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ru-RU" b="1" i="1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873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Действующие значение тока и напряжения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ru-RU" b="1" i="1" dirty="0" smtClean="0"/>
                  <a:t>Если в электрической цепи ток и напряжение сдвинуты на фазу </a:t>
                </a:r>
                <a:r>
                  <a:rPr lang="el-GR" b="1" i="1" dirty="0" smtClean="0"/>
                  <a:t>ϕ</a:t>
                </a:r>
                <a:r>
                  <a:rPr lang="ru-RU" b="1" i="1" dirty="0" smtClean="0"/>
                  <a:t>, то подставляя значения в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  <m:nary>
                      <m:nary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𝑼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𝒅𝒕</m:t>
                        </m:r>
                      </m:e>
                    </m:nary>
                  </m:oMath>
                </a14:m>
                <a:r>
                  <a:rPr lang="ru-RU" b="1" i="1" dirty="0" smtClean="0"/>
                  <a:t> имеем:</a:t>
                </a:r>
              </a:p>
              <a:p>
                <a:r>
                  <a:rPr lang="ru-RU" b="1" i="1" dirty="0" smtClean="0"/>
                  <a:t>Активная мощность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ru-RU" b="1" i="1">
                            <a:latin typeface="Cambria Math" panose="02040503050406030204" pitchFamily="18" charset="0"/>
                          </a:rPr>
                          <m:t>эфф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ru-RU" b="1" i="1">
                            <a:latin typeface="Cambria Math" panose="02040503050406030204" pitchFamily="18" charset="0"/>
                          </a:rPr>
                          <m:t>эфф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𝒄𝒐𝒔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b="1" i="1" dirty="0" smtClean="0">
                    <a:ea typeface="Cambria Math" panose="02040503050406030204" pitchFamily="18" charset="0"/>
                  </a:rPr>
                  <a:t> = 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𝒄𝒐𝒔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b="1" i="1" dirty="0"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ru-RU" b="1" i="1" dirty="0" smtClean="0"/>
                  <a:t>Реактивная </a:t>
                </a:r>
                <a:r>
                  <a:rPr lang="ru-RU" b="1" i="1" dirty="0"/>
                  <a:t>мощность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ru-RU" b="1" i="1">
                            <a:latin typeface="Cambria Math" panose="02040503050406030204" pitchFamily="18" charset="0"/>
                          </a:rPr>
                          <m:t>эфф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ru-RU" b="1" i="1">
                            <a:latin typeface="Cambria Math" panose="02040503050406030204" pitchFamily="18" charset="0"/>
                          </a:rPr>
                          <m:t>эфф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𝒔𝒊𝒏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ru-RU" b="1" i="1" dirty="0" smtClean="0">
                    <a:ea typeface="Cambria Math" panose="02040503050406030204" pitchFamily="18" charset="0"/>
                  </a:rPr>
                  <a:t>=</a:t>
                </a:r>
                <a:r>
                  <a:rPr lang="en-US" b="1" i="1" dirty="0">
                    <a:ea typeface="Cambria Math" panose="02040503050406030204" pitchFamily="18" charset="0"/>
                  </a:rPr>
                  <a:t> S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𝒔𝒊𝒏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b="1" i="1" dirty="0">
                    <a:ea typeface="Cambria Math" panose="02040503050406030204" pitchFamily="18" charset="0"/>
                  </a:rPr>
                  <a:t> </a:t>
                </a:r>
                <a:endParaRPr lang="en-US" b="1" i="1" dirty="0" smtClean="0">
                  <a:ea typeface="Cambria Math" panose="02040503050406030204" pitchFamily="18" charset="0"/>
                </a:endParaRPr>
              </a:p>
              <a:p>
                <a:r>
                  <a:rPr lang="ru-RU" b="1" i="1" dirty="0" smtClean="0">
                    <a:ea typeface="Cambria Math" panose="02040503050406030204" pitchFamily="18" charset="0"/>
                  </a:rPr>
                  <a:t>Полная мощность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e>
                    </m:rad>
                  </m:oMath>
                </a14:m>
                <a:endParaRPr lang="en-US" b="1" i="1" dirty="0" smtClean="0">
                  <a:ea typeface="Cambria Math" panose="02040503050406030204" pitchFamily="18" charset="0"/>
                </a:endParaRPr>
              </a:p>
              <a:p>
                <a:r>
                  <a:rPr lang="en-US" b="1" i="1" dirty="0" smtClean="0">
                    <a:ea typeface="Cambria Math" panose="02040503050406030204" pitchFamily="18" charset="0"/>
                  </a:rPr>
                  <a:t>Cos </a:t>
                </a:r>
                <a:r>
                  <a:rPr lang="el-GR" b="1" i="1" dirty="0" smtClean="0">
                    <a:ea typeface="Cambria Math" panose="02040503050406030204" pitchFamily="18" charset="0"/>
                  </a:rPr>
                  <a:t>ϕ</a:t>
                </a:r>
                <a:r>
                  <a:rPr lang="en-US" b="1" i="1" dirty="0" smtClean="0">
                    <a:ea typeface="Cambria Math" panose="02040503050406030204" pitchFamily="18" charset="0"/>
                  </a:rPr>
                  <a:t> – </a:t>
                </a:r>
                <a:r>
                  <a:rPr lang="ru-RU" b="1" i="1" dirty="0" smtClean="0">
                    <a:ea typeface="Cambria Math" panose="02040503050406030204" pitchFamily="18" charset="0"/>
                  </a:rPr>
                  <a:t>коэффициент мощности</a:t>
                </a:r>
                <a:r>
                  <a:rPr lang="en-US" b="1" i="1" dirty="0" smtClean="0">
                    <a:ea typeface="Cambria Math" panose="02040503050406030204" pitchFamily="18" charset="0"/>
                  </a:rPr>
                  <a:t> = P/S</a:t>
                </a:r>
              </a:p>
              <a:p>
                <a:pPr marL="0" indent="0">
                  <a:buNone/>
                </a:pPr>
                <a:r>
                  <a:rPr lang="ru-RU" dirty="0" smtClean="0">
                    <a:ea typeface="Cambria Math" panose="02040503050406030204" pitchFamily="18" charset="0"/>
                  </a:rPr>
                  <a:t>Коэффициент мощности около единицы – показывает, что мощность, отбираемая от источника ЭДС, совершает полезную работу и в системе не циркулирует «лишней, бесполезной» энергии. </a:t>
                </a:r>
                <a:endParaRPr lang="en-US" dirty="0">
                  <a:ea typeface="Cambria Math" panose="02040503050406030204" pitchFamily="18" charset="0"/>
                </a:endParaRPr>
              </a:p>
              <a:p>
                <a:endParaRPr lang="ru-RU" b="1" i="1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 b="-9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59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Действующие значение тока и напряжения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 smtClean="0"/>
              <a:t>Реактивная мощность сама по себе работы не совершает, однако, ток в цепи при этом протекает, вызывая ненужные тепловые потери энергии в проводниках</a:t>
            </a:r>
            <a:r>
              <a:rPr lang="ru-RU" dirty="0" smtClean="0">
                <a:ea typeface="Cambria Math" panose="02040503050406030204" pitchFamily="18" charset="0"/>
              </a:rPr>
              <a:t>. Ненужные</a:t>
            </a:r>
            <a:r>
              <a:rPr lang="ru-RU" smtClean="0">
                <a:ea typeface="Cambria Math" panose="02040503050406030204" pitchFamily="18" charset="0"/>
              </a:rPr>
              <a:t>, потому что </a:t>
            </a:r>
            <a:r>
              <a:rPr lang="ru-RU" dirty="0" smtClean="0">
                <a:ea typeface="Cambria Math" panose="02040503050406030204" pitchFamily="18" charset="0"/>
              </a:rPr>
              <a:t>если бы потребитель энергии переменного тока имел коэффициент мощности близкий к единице – ему требовалась бы меньшая величина электрического тока для совершения той же работы. В реальной жизни реактивная мощность вызывает еще и дополнительную нагрузку на генерирующие мощности, поэтому при учете </a:t>
            </a:r>
            <a:r>
              <a:rPr lang="ru-RU" b="1" dirty="0" smtClean="0">
                <a:ea typeface="Cambria Math" panose="02040503050406030204" pitchFamily="18" charset="0"/>
              </a:rPr>
              <a:t>потребленной</a:t>
            </a:r>
            <a:r>
              <a:rPr lang="ru-RU" dirty="0" smtClean="0">
                <a:ea typeface="Cambria Math" panose="02040503050406030204" pitchFamily="18" charset="0"/>
              </a:rPr>
              <a:t> энергии сейчас учитывается </a:t>
            </a:r>
            <a:r>
              <a:rPr lang="ru-RU" b="1" dirty="0" smtClean="0">
                <a:ea typeface="Cambria Math" panose="02040503050406030204" pitchFamily="18" charset="0"/>
              </a:rPr>
              <a:t>полная</a:t>
            </a:r>
            <a:r>
              <a:rPr lang="ru-RU" dirty="0" smtClean="0">
                <a:ea typeface="Cambria Math" panose="02040503050406030204" pitchFamily="18" charset="0"/>
              </a:rPr>
              <a:t> мощность. Что делает еще более полезным устройства с </a:t>
            </a:r>
            <a:r>
              <a:rPr lang="ru-RU" b="1" dirty="0" smtClean="0">
                <a:ea typeface="Cambria Math" panose="02040503050406030204" pitchFamily="18" charset="0"/>
              </a:rPr>
              <a:t>коррекцией коэффициента мощности (</a:t>
            </a:r>
            <a:r>
              <a:rPr lang="en-US" b="1" dirty="0" smtClean="0">
                <a:ea typeface="Cambria Math" panose="02040503050406030204" pitchFamily="18" charset="0"/>
              </a:rPr>
              <a:t>PFC – Power Factor Correction</a:t>
            </a:r>
            <a:r>
              <a:rPr lang="ru-RU" b="1" dirty="0" smtClean="0">
                <a:ea typeface="Cambria Math" panose="02040503050406030204" pitchFamily="18" charset="0"/>
              </a:rPr>
              <a:t>)</a:t>
            </a:r>
            <a:r>
              <a:rPr lang="en-US" b="1" dirty="0" smtClean="0">
                <a:ea typeface="Cambria Math" panose="02040503050406030204" pitchFamily="18" charset="0"/>
              </a:rPr>
              <a:t> – </a:t>
            </a:r>
            <a:r>
              <a:rPr lang="ru-RU" dirty="0" smtClean="0">
                <a:ea typeface="Cambria Math" panose="02040503050406030204" pitchFamily="18" charset="0"/>
              </a:rPr>
              <a:t>комплексом схемных решений, поднимающих коэффициент мощности потребителя до значений близких к единице (0.92 – 0</a:t>
            </a:r>
            <a:r>
              <a:rPr lang="en-US" dirty="0" smtClean="0">
                <a:ea typeface="Cambria Math" panose="02040503050406030204" pitchFamily="18" charset="0"/>
              </a:rPr>
              <a:t>.98</a:t>
            </a:r>
            <a:r>
              <a:rPr lang="ru-RU" dirty="0" smtClean="0">
                <a:ea typeface="Cambria Math" panose="02040503050406030204" pitchFamily="18" charset="0"/>
              </a:rPr>
              <a:t>)</a:t>
            </a:r>
            <a:r>
              <a:rPr lang="en-US" dirty="0">
                <a:ea typeface="Cambria Math" panose="02040503050406030204" pitchFamily="18" charset="0"/>
              </a:rPr>
              <a:t>.</a:t>
            </a:r>
            <a:r>
              <a:rPr lang="ru-RU" dirty="0" smtClean="0">
                <a:ea typeface="Cambria Math" panose="02040503050406030204" pitchFamily="18" charset="0"/>
              </a:rPr>
              <a:t> </a:t>
            </a:r>
            <a:endParaRPr lang="ru-RU" b="1" i="1" dirty="0" smtClean="0"/>
          </a:p>
        </p:txBody>
      </p:sp>
    </p:spTree>
    <p:extLst>
      <p:ext uri="{BB962C8B-B14F-4D97-AF65-F5344CB8AC3E}">
        <p14:creationId xmlns:p14="http://schemas.microsoft.com/office/powerpoint/2010/main" val="260020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Векторные диаграммы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Гармоническое колебание на векторной </a:t>
            </a:r>
            <a:r>
              <a:rPr lang="ru-RU" dirty="0"/>
              <a:t>диаграмме</a:t>
            </a:r>
          </a:p>
          <a:p>
            <a:endParaRPr lang="ru-RU" dirty="0"/>
          </a:p>
        </p:txBody>
      </p:sp>
      <p:pic>
        <p:nvPicPr>
          <p:cNvPr id="5" name="Объект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2805906"/>
            <a:ext cx="4724400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84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Векторные диаграммы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/>
              <a:t>Сумма (или </a:t>
            </a:r>
            <a:r>
              <a:rPr lang="ru-RU" dirty="0" smtClean="0"/>
              <a:t>разность</a:t>
            </a:r>
            <a:r>
              <a:rPr lang="ru-RU" dirty="0"/>
              <a:t>) двух и более колебаний на векторной диаграмме представляется при </a:t>
            </a:r>
            <a:r>
              <a:rPr lang="ru-RU" dirty="0" smtClean="0"/>
              <a:t>геометрической </a:t>
            </a:r>
            <a:r>
              <a:rPr lang="ru-RU" dirty="0"/>
              <a:t>суммой (или разностью) </a:t>
            </a:r>
            <a:r>
              <a:rPr lang="ru-RU" dirty="0" smtClean="0"/>
              <a:t>векторов </a:t>
            </a:r>
            <a:r>
              <a:rPr lang="ru-RU" dirty="0"/>
              <a:t>этих колебаний. Мгновенное значение искомой величины определяется при этом проекцией вектора суммы на ось </a:t>
            </a:r>
            <a:r>
              <a:rPr lang="ru-RU" dirty="0" err="1"/>
              <a:t>Оx</a:t>
            </a:r>
            <a:r>
              <a:rPr lang="ru-RU" dirty="0"/>
              <a:t>, амплитуда — длиной этого вектора, а </a:t>
            </a:r>
            <a:r>
              <a:rPr lang="ru-RU" dirty="0" smtClean="0"/>
              <a:t>мгновенная фаза </a:t>
            </a:r>
            <a:r>
              <a:rPr lang="ru-RU" dirty="0"/>
              <a:t>— углом его поворота относительно </a:t>
            </a:r>
            <a:r>
              <a:rPr lang="ru-RU" dirty="0" err="1" smtClean="0"/>
              <a:t>Ox</a:t>
            </a:r>
            <a:r>
              <a:rPr lang="ru-RU" dirty="0" smtClean="0"/>
              <a:t>. При этом угол между векторами остается постоянным (так как мы рассматривает колебания с одной и той же частотой, хот и с разными фазами.)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9213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Векторные диаграммы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Несколько гармонических колебаний с одной частотой и разными фазами на векторной диаграмме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4869114" y="1576147"/>
            <a:ext cx="2453773" cy="485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45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Векторные диаграммы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 smtClean="0"/>
                  <a:t>Ток в индуктивности: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⁡(2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ru-RU" dirty="0" smtClean="0"/>
                  <a:t>Таким образом для переменного тока имеем: 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Δφ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где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Δφ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931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Векторные диаграммы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Векторная диаграмма тока и напряжения в катушке индуктивности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078" y="2448792"/>
            <a:ext cx="1675843" cy="361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894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Комплексные числа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ru-RU" dirty="0" smtClean="0"/>
                  <a:t>Мнимая единица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dirty="0" smtClean="0"/>
                  <a:t> (</a:t>
                </a:r>
                <a:r>
                  <a:rPr lang="ru-RU" dirty="0" smtClean="0"/>
                  <a:t>от лат </a:t>
                </a:r>
                <a:r>
                  <a:rPr lang="la-Latn" i="1" dirty="0" smtClean="0"/>
                  <a:t>imaginarius</a:t>
                </a:r>
                <a:r>
                  <a:rPr lang="ru-RU" i="1" dirty="0" smtClean="0"/>
                  <a:t> </a:t>
                </a:r>
                <a:r>
                  <a:rPr lang="ru-RU" dirty="0" smtClean="0"/>
                  <a:t>– мнимый</a:t>
                </a:r>
                <a:r>
                  <a:rPr lang="en-US" dirty="0" smtClean="0"/>
                  <a:t>)</a:t>
                </a:r>
                <a:r>
                  <a:rPr lang="ru-RU" dirty="0" smtClean="0"/>
                  <a:t> </a:t>
                </a:r>
                <a:r>
                  <a:rPr lang="en-US" dirty="0" smtClean="0"/>
                  <a:t>– </a:t>
                </a:r>
                <a:r>
                  <a:rPr lang="ru-RU" dirty="0" smtClean="0"/>
                  <a:t>корень из </a:t>
                </a:r>
                <a:r>
                  <a:rPr lang="ru-RU" b="1" dirty="0" smtClean="0"/>
                  <a:t>минус единицы</a:t>
                </a:r>
                <a:r>
                  <a:rPr lang="ru-RU" dirty="0" smtClean="0"/>
                  <a:t>:</a:t>
                </a:r>
                <a:r>
                  <a:rPr lang="ru-RU" i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u-RU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rad>
                  </m:oMath>
                </a14:m>
                <a:endParaRPr lang="ru-RU" b="1" dirty="0" smtClean="0"/>
              </a:p>
              <a:p>
                <a:pPr algn="just"/>
                <a:r>
                  <a:rPr lang="ru-RU" b="1" dirty="0" smtClean="0"/>
                  <a:t>Введение такого «мнимого» числа порождает новое множество чисел – комплексные числа, состоящие их вещественной и мнимой части: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𝒊𝒃</m:t>
                    </m:r>
                  </m:oMath>
                </a14:m>
                <a:endParaRPr lang="en-US" b="1" dirty="0" smtClean="0"/>
              </a:p>
              <a:p>
                <a:pPr algn="just"/>
                <a:r>
                  <a:rPr lang="ru-RU" dirty="0" smtClean="0"/>
                  <a:t>Данное множество образует </a:t>
                </a:r>
                <a:r>
                  <a:rPr lang="ru-RU" b="1" dirty="0" smtClean="0"/>
                  <a:t>поле чисел</a:t>
                </a:r>
                <a:r>
                  <a:rPr lang="ru-RU" dirty="0" smtClean="0"/>
                  <a:t>, т.е. для таких чисел возможны все те же операции, что и для вещественных: </a:t>
                </a:r>
                <a:r>
                  <a:rPr lang="ru-RU" b="1" dirty="0" smtClean="0"/>
                  <a:t>сложение, взятие противоположного значения, умножение, деление.</a:t>
                </a:r>
              </a:p>
              <a:p>
                <a:pPr algn="just"/>
                <a:r>
                  <a:rPr lang="ru-RU" dirty="0" smtClean="0"/>
                  <a:t>Кроме базовых операций для комплексных чисел определяются операции: </a:t>
                </a:r>
                <a:r>
                  <a:rPr lang="ru-RU" b="1" dirty="0" smtClean="0"/>
                  <a:t>сопряжения, взятия модуля, логарифмирования, извлечения корня степени </a:t>
                </a:r>
                <a:r>
                  <a:rPr lang="en-US" b="1" dirty="0" smtClean="0"/>
                  <a:t>n, </a:t>
                </a:r>
                <a:r>
                  <a:rPr lang="ru-RU" b="1" dirty="0" smtClean="0"/>
                  <a:t>возведения в степень </a:t>
                </a:r>
                <a:r>
                  <a:rPr lang="en-US" b="1" dirty="0" smtClean="0"/>
                  <a:t>n</a:t>
                </a:r>
                <a:r>
                  <a:rPr lang="en-US" b="1" dirty="0"/>
                  <a:t>.</a:t>
                </a:r>
                <a:endParaRPr lang="ru-RU" b="1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928" t="-2801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74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Базовые операции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 smtClean="0"/>
                  <a:t>Сложение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ru-RU" dirty="0" smtClean="0"/>
                  <a:t>Вычитание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𝑖𝑏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 smtClean="0"/>
              </a:p>
              <a:p>
                <a:r>
                  <a:rPr lang="ru-RU" dirty="0" smtClean="0"/>
                  <a:t>Отрицательное число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𝑖𝑏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𝑖𝑏</m:t>
                    </m:r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r>
                  <a:rPr lang="ru-RU" dirty="0" smtClean="0"/>
                  <a:t>Умножение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𝑖𝑏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ru-RU" dirty="0" smtClean="0"/>
                  <a:t>Деление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𝑖𝑏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𝑖𝑑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𝑏𝑑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 smtClean="0"/>
              </a:p>
              <a:p>
                <a:r>
                  <a:rPr lang="ru-RU" dirty="0" smtClean="0"/>
                  <a:t>Обратный элемент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266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Другие операции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 smtClean="0"/>
                  <a:t>Модуль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𝑖𝑏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ru-RU" dirty="0" smtClean="0"/>
              </a:p>
              <a:p>
                <a:r>
                  <a:rPr lang="ru-RU" dirty="0"/>
                  <a:t>Модуль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𝑖𝑏</m:t>
                            </m:r>
                          </m:e>
                        </m:d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ru-RU" dirty="0" smtClean="0"/>
              </a:p>
              <a:p>
                <a:r>
                  <a:rPr lang="ru-RU" dirty="0" smtClean="0"/>
                  <a:t>Логарифм (определяется из формулы Эйлера далее)</a:t>
                </a: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ru-RU" b="0" dirty="0" smtClean="0"/>
              </a:p>
              <a:p>
                <a:r>
                  <a:rPr lang="ru-RU" dirty="0"/>
                  <a:t>Взятие вещественной части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 smtClean="0"/>
              </a:p>
              <a:p>
                <a:r>
                  <a:rPr lang="ru-RU" dirty="0"/>
                  <a:t>Взятие </a:t>
                </a:r>
                <a:r>
                  <a:rPr lang="ru-RU" dirty="0" smtClean="0"/>
                  <a:t>мнимой части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𝑖𝑏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ru-RU" i="1" dirty="0" smtClean="0"/>
              </a:p>
              <a:p>
                <a:r>
                  <a:rPr lang="ru-RU" dirty="0" smtClean="0"/>
                  <a:t>Сопряженное число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𝑖𝑏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𝑖𝑏</m:t>
                    </m:r>
                  </m:oMath>
                </a14:m>
                <a:endParaRPr lang="ru-RU" i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043" t="-11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0419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Геометрическое представление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Комплексное число может быть представлено точкой в двумерном пространстве. Т.е. это точка на плоскости </a:t>
            </a:r>
            <a:r>
              <a:rPr lang="en-US" dirty="0" smtClean="0"/>
              <a:t>XY</a:t>
            </a:r>
            <a:r>
              <a:rPr lang="ru-RU" dirty="0" smtClean="0"/>
              <a:t>, для которой вещественная часть комплексного числа – координата по оси ОХ,</a:t>
            </a:r>
            <a:r>
              <a:rPr lang="en-US" dirty="0" smtClean="0"/>
              <a:t> a </a:t>
            </a:r>
            <a:r>
              <a:rPr lang="ru-RU" dirty="0" smtClean="0"/>
              <a:t>число при мнимой единице – координата по оси </a:t>
            </a:r>
            <a:r>
              <a:rPr lang="en-US" dirty="0" smtClean="0"/>
              <a:t>OY</a:t>
            </a:r>
          </a:p>
          <a:p>
            <a:pPr marL="0" indent="0" algn="just">
              <a:buNone/>
            </a:pPr>
            <a:r>
              <a:rPr lang="ru-RU" dirty="0" smtClean="0"/>
              <a:t> 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74821" y="3690346"/>
            <a:ext cx="2440988" cy="222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5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Геометрическое представление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При этом та же точка на плоскости может быть представлена и в радиальных координатах: через радиус-вектор из нуля и угол.</a:t>
            </a:r>
          </a:p>
          <a:p>
            <a:pPr algn="just"/>
            <a:r>
              <a:rPr lang="ru-RU" dirty="0" smtClean="0"/>
              <a:t>Длина вектора носит название </a:t>
            </a:r>
            <a:r>
              <a:rPr lang="ru-RU" b="1" dirty="0" smtClean="0"/>
              <a:t>модуля</a:t>
            </a:r>
            <a:r>
              <a:rPr lang="ru-RU" dirty="0" smtClean="0"/>
              <a:t> комплексного числа</a:t>
            </a:r>
          </a:p>
          <a:p>
            <a:pPr algn="just"/>
            <a:r>
              <a:rPr lang="ru-RU" dirty="0" smtClean="0"/>
              <a:t>Угол (фаза) называется </a:t>
            </a:r>
            <a:r>
              <a:rPr lang="ru-RU" b="1" dirty="0" smtClean="0"/>
              <a:t>аргументом</a:t>
            </a:r>
            <a:r>
              <a:rPr lang="ru-RU" dirty="0" smtClean="0"/>
              <a:t> комплексного числа</a:t>
            </a:r>
            <a:endParaRPr lang="en-US" dirty="0" smtClean="0"/>
          </a:p>
          <a:p>
            <a:pPr marL="0" indent="0" algn="just">
              <a:buNone/>
            </a:pPr>
            <a:r>
              <a:rPr lang="ru-RU" dirty="0" smtClean="0"/>
              <a:t> 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59842" y="3740020"/>
            <a:ext cx="2473171" cy="222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8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Геометрическое представление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При этом та же точка на плоскости может быть представлена и в радиальных координатах: через радиус-вектор из нуля и угол.</a:t>
            </a:r>
          </a:p>
          <a:p>
            <a:pPr algn="just"/>
            <a:r>
              <a:rPr lang="ru-RU" dirty="0" smtClean="0"/>
              <a:t>Длина вектора носит название </a:t>
            </a:r>
            <a:r>
              <a:rPr lang="ru-RU" b="1" dirty="0" smtClean="0"/>
              <a:t>модуля</a:t>
            </a:r>
            <a:r>
              <a:rPr lang="ru-RU" dirty="0" smtClean="0"/>
              <a:t> комплексного числа</a:t>
            </a:r>
          </a:p>
          <a:p>
            <a:pPr algn="just"/>
            <a:r>
              <a:rPr lang="ru-RU" dirty="0" smtClean="0"/>
              <a:t>Угол (фаза) называется </a:t>
            </a:r>
            <a:r>
              <a:rPr lang="ru-RU" b="1" dirty="0" smtClean="0"/>
              <a:t>аргументом</a:t>
            </a:r>
            <a:r>
              <a:rPr lang="ru-RU" dirty="0" smtClean="0"/>
              <a:t> комплексного числа</a:t>
            </a:r>
            <a:endParaRPr lang="en-US" dirty="0" smtClean="0"/>
          </a:p>
          <a:p>
            <a:pPr marL="0" indent="0" algn="just">
              <a:buNone/>
            </a:pPr>
            <a:r>
              <a:rPr lang="ru-RU" dirty="0" smtClean="0"/>
              <a:t> 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59842" y="3740020"/>
            <a:ext cx="2473171" cy="222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981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Геометрическое представление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Операция сопряжения в геометрическом представлении – взятие зеркального отражения относительно реальной оси</a:t>
            </a:r>
            <a:endParaRPr lang="en-US" dirty="0" smtClean="0"/>
          </a:p>
          <a:p>
            <a:pPr marL="0" indent="0" algn="just">
              <a:buNone/>
            </a:pPr>
            <a:r>
              <a:rPr lang="ru-RU" dirty="0" smtClean="0"/>
              <a:t> 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98095" y="2632018"/>
            <a:ext cx="2595809" cy="345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83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Геометрическое представление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В геометрическом представлении умножение на мнимую единицу – это поворот на 90 градусов против часовой стрелки.</a:t>
            </a:r>
          </a:p>
          <a:p>
            <a:pPr algn="just"/>
            <a:r>
              <a:rPr lang="ru-RU" dirty="0" smtClean="0"/>
              <a:t>Мнимая единица в квадрате соответственно даст минус единицу – поворот на 180 градусов.</a:t>
            </a:r>
          </a:p>
          <a:p>
            <a:pPr algn="just"/>
            <a:r>
              <a:rPr lang="ru-RU" dirty="0" smtClean="0"/>
              <a:t>Сложение двух чисел – сложение векторов, вычитание – вычитание векторов</a:t>
            </a:r>
          </a:p>
          <a:p>
            <a:pPr algn="just"/>
            <a:r>
              <a:rPr lang="ru-RU" dirty="0" smtClean="0"/>
              <a:t>Умножение двух чисел: модули чисел перемножаются, а аргументы складываются.</a:t>
            </a:r>
            <a:endParaRPr lang="en-US" dirty="0" smtClean="0"/>
          </a:p>
          <a:p>
            <a:pPr marL="0" indent="0" algn="just">
              <a:buNone/>
            </a:pPr>
            <a:r>
              <a:rPr lang="ru-RU" dirty="0" smtClean="0"/>
              <a:t> 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8182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Формула Эйлера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Комплексное число может бут записано:</a:t>
                </a:r>
              </a:p>
              <a:p>
                <a:pPr algn="just"/>
                <a:r>
                  <a:rPr lang="ru-RU" dirty="0" smtClean="0"/>
                  <a:t>Алгебраически: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𝐳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𝒊𝒃</m:t>
                    </m:r>
                  </m:oMath>
                </a14:m>
                <a:endParaRPr lang="en-US" b="1" dirty="0"/>
              </a:p>
              <a:p>
                <a:pPr algn="just"/>
                <a:r>
                  <a:rPr lang="ru-RU" dirty="0" smtClean="0"/>
                  <a:t>Через геометрическое представление: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𝒄𝒐𝒔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𝒊𝒔𝒊𝒏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pPr algn="just"/>
                <a:r>
                  <a:rPr lang="ru-RU" dirty="0" smtClean="0"/>
                  <a:t>Однако существует третья форма записи называемая </a:t>
                </a:r>
                <a:r>
                  <a:rPr lang="ru-RU" b="1" dirty="0" smtClean="0"/>
                  <a:t>Показательной формой комплексного числа: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𝒓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𝝋</m:t>
                        </m:r>
                      </m:sup>
                    </m:sSup>
                  </m:oMath>
                </a14:m>
                <a:endParaRPr lang="ru-RU" b="1" dirty="0" smtClean="0"/>
              </a:p>
              <a:p>
                <a:pPr algn="just"/>
                <a:r>
                  <a:rPr lang="ru-RU" dirty="0" smtClean="0"/>
                  <a:t>Отсюда </a:t>
                </a:r>
                <a:r>
                  <a:rPr lang="ru-RU" b="1" dirty="0" smtClean="0"/>
                  <a:t>Формула Эйлера (определение комплексной экспоненты)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𝝋</m:t>
                          </m:r>
                        </m:sup>
                      </m:sSup>
                      <m:r>
                        <a:rPr lang="ru-RU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𝒄𝒐𝒔</m:t>
                      </m:r>
                      <m:r>
                        <a:rPr lang="en-US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  <m:r>
                        <a:rPr lang="en-US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𝒊𝒔𝒊𝒏</m:t>
                      </m:r>
                      <m:r>
                        <a:rPr lang="en-US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en-US" b="1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 </a:t>
                </a: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5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Формула Эйлера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Из формулы Эйлера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𝝋</m:t>
                        </m:r>
                      </m:sup>
                    </m:sSup>
                    <m:r>
                      <a:rPr lang="ru-RU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𝒄𝒐𝒔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𝒊𝒔𝒊𝒏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ru-RU" b="1" dirty="0" smtClean="0"/>
                  <a:t> </a:t>
                </a:r>
                <a:r>
                  <a:rPr lang="ru-RU" dirty="0" smtClean="0"/>
                  <a:t>можно</a:t>
                </a:r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Получить комплексную запись для тригонометрических функций: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𝒔𝒊𝒏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ru-RU" dirty="0" smtClean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𝝋</m:t>
                            </m:r>
                          </m:sup>
                        </m:sSup>
                        <m:r>
                          <a:rPr lang="ru-RU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ru-RU" b="1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𝝋</m:t>
                            </m:r>
                          </m:sup>
                        </m:sSup>
                      </m:num>
                      <m:den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𝒄𝒐𝒔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ru-RU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𝝋</m:t>
                            </m:r>
                          </m:sup>
                        </m:sSup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ru-RU" b="1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𝝋</m:t>
                            </m:r>
                          </m:sup>
                        </m:sSup>
                      </m:num>
                      <m:den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217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8988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Снова векторные диаграммы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Несколько гармонических колебаний с одной частотой и разными фазами на векторной диаграмме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Объект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0">
            <a:off x="4869114" y="1576147"/>
            <a:ext cx="2453773" cy="485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75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Снова векторные диаграммы</a:t>
            </a:r>
            <a:r>
              <a:rPr lang="en-US" dirty="0" smtClean="0"/>
              <a:t> – </a:t>
            </a:r>
            <a:r>
              <a:rPr lang="ru-RU" dirty="0" smtClean="0"/>
              <a:t>комплексная запись гармонического колебания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 smtClean="0"/>
                  <a:t>Если теперь записать в виде комплексного числа вращающийся вектор с начальной фазой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ru-RU" dirty="0" smtClean="0"/>
                  <a:t>, который есть представление гармонического колебания то получим 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𝒄𝒐𝒔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𝝋</m:t>
                        </m:r>
                      </m:e>
                    </m:d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𝒊𝒔𝒊𝒏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𝝋</m:t>
                        </m:r>
                      </m:e>
                    </m:d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]=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𝑨𝒆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l-GR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𝝋</m:t>
                        </m:r>
                      </m:sup>
                    </m:sSup>
                  </m:oMath>
                </a14:m>
                <a:r>
                  <a:rPr lang="ru-RU" dirty="0" smtClean="0"/>
                  <a:t> </a:t>
                </a:r>
              </a:p>
              <a:p>
                <a:pPr marL="0" indent="0" algn="ctr">
                  <a:buNone/>
                </a:pPr>
                <a:endParaRPr lang="ru-RU" dirty="0"/>
              </a:p>
              <a:p>
                <a:pPr marL="0" indent="0" algn="ctr">
                  <a:buNone/>
                </a:pPr>
                <a:endParaRPr lang="ru-RU" dirty="0" smtClean="0"/>
              </a:p>
              <a:p>
                <a:pPr marL="0" indent="0" algn="ctr">
                  <a:buNone/>
                </a:pPr>
                <a:endParaRPr lang="ru-RU" dirty="0"/>
              </a:p>
              <a:p>
                <a:pPr marL="0" indent="0" algn="ctr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r>
                  <a:rPr lang="ru-RU" dirty="0" smtClean="0"/>
                  <a:t>В теории цепей исторически принято использовать вместо </a:t>
                </a:r>
                <a:r>
                  <a:rPr lang="en-US" b="1" i="1" dirty="0" err="1" smtClean="0"/>
                  <a:t>i</a:t>
                </a:r>
                <a:r>
                  <a:rPr lang="en-US" dirty="0" smtClean="0"/>
                  <a:t> </a:t>
                </a:r>
                <a:r>
                  <a:rPr lang="ru-RU" dirty="0" smtClean="0"/>
                  <a:t>букву </a:t>
                </a:r>
                <a:r>
                  <a:rPr lang="en-US" b="1" i="1" dirty="0" smtClean="0"/>
                  <a:t>j</a:t>
                </a:r>
              </a:p>
              <a:p>
                <a:pPr marL="0" indent="0">
                  <a:buNone/>
                </a:pPr>
                <a:endParaRPr lang="ru-RU" b="1" i="1" dirty="0" smtClean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217" t="-2241" b="-32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Объект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3548115"/>
            <a:ext cx="4365171" cy="220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803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</a:t>
            </a:r>
            <a:r>
              <a:rPr lang="ru-RU" dirty="0" smtClean="0"/>
              <a:t>омплексная запись гармонического колебания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dirty="0" smtClean="0"/>
                  <a:t>Таким образом </a:t>
                </a:r>
                <a:endParaRPr lang="en-US" dirty="0" smtClean="0"/>
              </a:p>
              <a:p>
                <a:r>
                  <a:rPr lang="ru-RU" dirty="0" smtClean="0"/>
                  <a:t>если у нас есть источник</a:t>
                </a:r>
                <a:r>
                  <a:rPr lang="en-US" dirty="0" smtClean="0"/>
                  <a:t> </a:t>
                </a:r>
                <a:r>
                  <a:rPr lang="ru-RU" dirty="0" smtClean="0"/>
                  <a:t>ЭДС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𝑼𝒄𝒐𝒔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𝝎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ru-RU" b="1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ru-RU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то в комплексном виде мы получим для него выражение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𝑼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  <m:r>
                          <a:rPr lang="el-GR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sup>
                    </m:sSup>
                  </m:oMath>
                </a14:m>
                <a:r>
                  <a:rPr lang="ru-RU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ru-RU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ru-RU" dirty="0"/>
                  <a:t>если у нас есть источник </a:t>
                </a:r>
                <a:r>
                  <a:rPr lang="ru-RU" dirty="0" smtClean="0"/>
                  <a:t>ЭДС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𝑼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𝒔𝒊𝒏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𝝎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ru-RU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то в комплексном виде мы получим для него выражение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𝑼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  <m:r>
                          <a:rPr lang="el-GR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sup>
                    </m:sSup>
                  </m:oMath>
                </a14:m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ru-RU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ru-RU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При переходе к </a:t>
                </a:r>
                <a:r>
                  <a:rPr lang="ru-RU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комплексным амплитудам </a:t>
                </a:r>
                <a:r>
                  <a:rPr lang="ru-RU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вращение вектора «выключается» и остается только начальная фаза.</a:t>
                </a:r>
              </a:p>
              <a:p>
                <a:r>
                  <a:rPr lang="ru-RU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Для первого </a:t>
                </a:r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(cos) </a:t>
                </a:r>
                <a:r>
                  <a:rPr lang="ru-RU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случая будем иметь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𝑼</m:t>
                        </m:r>
                      </m:e>
                    </m:acc>
                    <m:r>
                      <a:rPr lang="ru-RU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𝑼</m:t>
                    </m:r>
                  </m:oMath>
                </a14:m>
                <a:endParaRPr lang="en-US" b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Для </a:t>
                </a:r>
                <a:r>
                  <a:rPr lang="ru-RU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второго </a:t>
                </a:r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(sin) </a:t>
                </a:r>
                <a:r>
                  <a:rPr lang="ru-RU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случая 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будем иметь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𝑼</m:t>
                        </m:r>
                      </m:e>
                    </m:acc>
                    <m:r>
                      <a:rPr lang="ru-RU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𝒋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𝑼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𝑼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  <m:f>
                          <m:f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num>
                          <m:den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sup>
                    </m:sSup>
                  </m:oMath>
                </a14:m>
                <a:endParaRPr lang="en-US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 smtClean="0"/>
                  <a:t> 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6733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Комплексные сопротивления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 smtClean="0"/>
                  <a:t>Таким образом</a:t>
                </a:r>
                <a:r>
                  <a:rPr lang="en-US" dirty="0" smtClean="0"/>
                  <a:t> </a:t>
                </a:r>
                <a:r>
                  <a:rPr lang="ru-RU" dirty="0" smtClean="0"/>
                  <a:t>возвращаясь к цепям переменного тока имеем следующую запись для комплексных сопротивлений резистора, индуктивности и электрического конденсатора:</a:t>
                </a:r>
              </a:p>
              <a:p>
                <a:pPr>
                  <a:lnSpc>
                    <a:spcPct val="150000"/>
                  </a:lnSpc>
                </a:pPr>
                <a:r>
                  <a:rPr lang="ru-RU" dirty="0" smtClean="0"/>
                  <a:t>Сопротивление </a:t>
                </a:r>
                <a:r>
                  <a:rPr lang="en-US" dirty="0" smtClean="0"/>
                  <a:t>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 smtClean="0"/>
              </a:p>
              <a:p>
                <a:pPr>
                  <a:lnSpc>
                    <a:spcPct val="150000"/>
                  </a:lnSpc>
                </a:pPr>
                <a:r>
                  <a:rPr lang="ru-RU" dirty="0" smtClean="0"/>
                  <a:t>Индуктивность </a:t>
                </a:r>
                <a:r>
                  <a:rPr lang="en-US" dirty="0"/>
                  <a:t>L</a:t>
                </a:r>
                <a:r>
                  <a:rPr lang="en-US" dirty="0" smtClean="0"/>
                  <a:t>: </a:t>
                </a: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ru-RU" dirty="0" smtClean="0"/>
                  <a:t>Емкость С</a:t>
                </a:r>
                <a:r>
                  <a:rPr lang="en-US" dirty="0" smtClean="0"/>
                  <a:t>: </a:t>
                </a:r>
                <a:r>
                  <a:rPr lang="ru-RU" dirty="0" smtClean="0"/>
                  <a:t>	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endParaRPr lang="en-US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 smtClean="0"/>
                  <a:t> 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043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Метод комплексных амплитуд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dirty="0" smtClean="0"/>
                  <a:t>В комплексном виде можно представить и мощность</a:t>
                </a:r>
              </a:p>
              <a:p>
                <a:pPr>
                  <a:lnSpc>
                    <a:spcPct val="150000"/>
                  </a:lnSpc>
                </a:pPr>
                <a:r>
                  <a:rPr lang="ru-RU" dirty="0" smtClean="0"/>
                  <a:t>Комплексная мощность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</m:oMath>
                </a14:m>
                <a:endParaRPr lang="en-US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b="1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Полная мощность: </a:t>
                </a:r>
                <a:r>
                  <a:rPr lang="en-US" b="1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S=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acc>
                      </m:e>
                    </m:d>
                  </m:oMath>
                </a14:m>
                <a:endParaRPr lang="en-US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b="1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Активная мощность: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𝒄𝒐𝒔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𝑹𝒆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acc>
                      </m:e>
                    </m:d>
                  </m:oMath>
                </a14:m>
                <a:endParaRPr lang="en-US" b="1" i="1" dirty="0" smtClean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b="1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Реактивная </a:t>
                </a:r>
                <a:r>
                  <a:rPr lang="ru-RU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мощность: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𝒔𝒊𝒏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𝑰𝒎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acc>
                      </m:e>
                    </m:d>
                  </m:oMath>
                </a14:m>
                <a:endParaRPr lang="en-US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 smtClean="0"/>
                  <a:t> 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967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2712</TotalTime>
  <Words>1175</Words>
  <Application>Microsoft Office PowerPoint</Application>
  <PresentationFormat>Широкоэкранный</PresentationFormat>
  <Paragraphs>188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Тема Office</vt:lpstr>
      <vt:lpstr>Лекция 2</vt:lpstr>
      <vt:lpstr>Назначение электрической цепи</vt:lpstr>
      <vt:lpstr>Закон Джоуля-Ленца</vt:lpstr>
      <vt:lpstr>Мгновенная электрическая мощность</vt:lpstr>
      <vt:lpstr>Направление потока энергии в источнике ЭДС</vt:lpstr>
      <vt:lpstr>Направление потока энергии в источнике ЭДС</vt:lpstr>
      <vt:lpstr>Мощность на сопротивлении</vt:lpstr>
      <vt:lpstr>Энергия, запасаемая в конденсаторе</vt:lpstr>
      <vt:lpstr>Индуктивность</vt:lpstr>
      <vt:lpstr>Электрические цепи переменного тока</vt:lpstr>
      <vt:lpstr>Электрические цепи переменного тока</vt:lpstr>
      <vt:lpstr>Электрические цепи переменного тока</vt:lpstr>
      <vt:lpstr>Электрические цепи переменного тока</vt:lpstr>
      <vt:lpstr>Действующие значение тока и напряжения</vt:lpstr>
      <vt:lpstr>Действующие значение тока и напряжения</vt:lpstr>
      <vt:lpstr>Действующие значение тока и напряжения</vt:lpstr>
      <vt:lpstr>Векторные диаграммы</vt:lpstr>
      <vt:lpstr>Векторные диаграммы</vt:lpstr>
      <vt:lpstr>Векторные диаграммы</vt:lpstr>
      <vt:lpstr>Векторные диаграммы</vt:lpstr>
      <vt:lpstr>Векторные диаграммы</vt:lpstr>
      <vt:lpstr>Комплексные числа</vt:lpstr>
      <vt:lpstr>Базовые операции</vt:lpstr>
      <vt:lpstr>Другие операции</vt:lpstr>
      <vt:lpstr>Геометрическое представление</vt:lpstr>
      <vt:lpstr>Геометрическое представление</vt:lpstr>
      <vt:lpstr>Геометрическое представление</vt:lpstr>
      <vt:lpstr>Геометрическое представление</vt:lpstr>
      <vt:lpstr>Геометрическое представление</vt:lpstr>
      <vt:lpstr>Формула Эйлера</vt:lpstr>
      <vt:lpstr>Формула Эйлера</vt:lpstr>
      <vt:lpstr>Снова векторные диаграммы</vt:lpstr>
      <vt:lpstr>Снова векторные диаграммы – комплексная запись гармонического колебания</vt:lpstr>
      <vt:lpstr>Комплексная запись гармонического колебания</vt:lpstr>
      <vt:lpstr>Комплексные сопротивления</vt:lpstr>
      <vt:lpstr>Метод комплексных амплитуд</vt:lpstr>
    </vt:vector>
  </TitlesOfParts>
  <Company>BINP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Радиоэлектроника</dc:title>
  <dc:creator>BINP User</dc:creator>
  <cp:lastModifiedBy>BINP User</cp:lastModifiedBy>
  <cp:revision>105</cp:revision>
  <dcterms:created xsi:type="dcterms:W3CDTF">2020-09-02T13:49:40Z</dcterms:created>
  <dcterms:modified xsi:type="dcterms:W3CDTF">2021-09-09T05:18:10Z</dcterms:modified>
</cp:coreProperties>
</file>