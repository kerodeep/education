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80" r:id="rId3"/>
    <p:sldId id="383" r:id="rId4"/>
    <p:sldId id="384" r:id="rId5"/>
    <p:sldId id="385" r:id="rId6"/>
    <p:sldId id="386" r:id="rId7"/>
    <p:sldId id="387" r:id="rId8"/>
    <p:sldId id="388" r:id="rId9"/>
    <p:sldId id="389" r:id="rId10"/>
    <p:sldId id="390" r:id="rId11"/>
    <p:sldId id="391" r:id="rId12"/>
    <p:sldId id="392" r:id="rId13"/>
    <p:sldId id="306" r:id="rId14"/>
    <p:sldId id="393" r:id="rId15"/>
    <p:sldId id="394" r:id="rId16"/>
    <p:sldId id="396" r:id="rId17"/>
    <p:sldId id="397" r:id="rId18"/>
    <p:sldId id="395" r:id="rId19"/>
    <p:sldId id="398" r:id="rId20"/>
    <p:sldId id="399" r:id="rId21"/>
    <p:sldId id="402" r:id="rId22"/>
    <p:sldId id="404" r:id="rId23"/>
    <p:sldId id="405" r:id="rId24"/>
    <p:sldId id="400" r:id="rId25"/>
    <p:sldId id="401" r:id="rId26"/>
    <p:sldId id="406" r:id="rId27"/>
    <p:sldId id="407" r:id="rId28"/>
    <p:sldId id="409" r:id="rId29"/>
    <p:sldId id="410" r:id="rId30"/>
    <p:sldId id="411" r:id="rId31"/>
    <p:sldId id="408" r:id="rId32"/>
    <p:sldId id="412" r:id="rId33"/>
    <p:sldId id="413" r:id="rId34"/>
    <p:sldId id="414" r:id="rId35"/>
    <p:sldId id="417" r:id="rId36"/>
    <p:sldId id="415" r:id="rId37"/>
    <p:sldId id="419" r:id="rId38"/>
    <p:sldId id="416" r:id="rId39"/>
    <p:sldId id="418" r:id="rId40"/>
    <p:sldId id="421" r:id="rId41"/>
    <p:sldId id="420" r:id="rId42"/>
    <p:sldId id="422" r:id="rId43"/>
    <p:sldId id="423" r:id="rId44"/>
    <p:sldId id="424" r:id="rId45"/>
    <p:sldId id="425" r:id="rId46"/>
    <p:sldId id="428" r:id="rId47"/>
    <p:sldId id="426" r:id="rId48"/>
    <p:sldId id="430" r:id="rId49"/>
    <p:sldId id="429" r:id="rId50"/>
    <p:sldId id="431" r:id="rId51"/>
    <p:sldId id="432" r:id="rId5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autoAdjust="0"/>
  </p:normalViewPr>
  <p:slideViewPr>
    <p:cSldViewPr snapToGrid="0">
      <p:cViewPr varScale="1">
        <p:scale>
          <a:sx n="161" d="100"/>
          <a:sy n="161" d="100"/>
        </p:scale>
        <p:origin x="150" y="22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1687F890-8936-473A-AEE0-9462A4D15301}" type="datetimeFigureOut">
              <a:rPr lang="ru-RU" smtClean="0"/>
              <a:pPr/>
              <a:t>29.09.2021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3219159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687F890-8936-473A-AEE0-9462A4D15301}" type="datetimeFigureOut">
              <a:rPr lang="ru-RU" smtClean="0"/>
              <a:pPr/>
              <a:t>29.09.2021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1757748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1687F890-8936-473A-AEE0-9462A4D15301}" type="datetimeFigureOut">
              <a:rPr lang="ru-RU" smtClean="0"/>
              <a:pPr/>
              <a:t>29.09.2021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3573028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1687F890-8936-473A-AEE0-9462A4D15301}" type="datetimeFigureOut">
              <a:rPr lang="ru-RU" smtClean="0"/>
              <a:pPr/>
              <a:t>29.09.2021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3497264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1687F890-8936-473A-AEE0-9462A4D15301}" type="datetimeFigureOut">
              <a:rPr lang="ru-RU" smtClean="0"/>
              <a:pPr/>
              <a:t>29.09.2021</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210919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1687F890-8936-473A-AEE0-9462A4D15301}" type="datetimeFigureOut">
              <a:rPr lang="ru-RU" smtClean="0"/>
              <a:pPr/>
              <a:t>29.09.2021</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1704121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1687F890-8936-473A-AEE0-9462A4D15301}" type="datetimeFigureOut">
              <a:rPr lang="ru-RU" smtClean="0"/>
              <a:pPr/>
              <a:t>29.09.2021</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2518047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1687F890-8936-473A-AEE0-9462A4D15301}" type="datetimeFigureOut">
              <a:rPr lang="ru-RU" smtClean="0"/>
              <a:pPr/>
              <a:t>29.09.2021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1050089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1687F890-8936-473A-AEE0-9462A4D15301}" type="datetimeFigureOut">
              <a:rPr lang="ru-RU" smtClean="0"/>
              <a:pPr/>
              <a:t>29.09.2021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3168983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687F890-8936-473A-AEE0-9462A4D15301}" type="datetimeFigureOut">
              <a:rPr lang="ru-RU" smtClean="0"/>
              <a:pPr/>
              <a:t>29.09.2021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2752213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687F890-8936-473A-AEE0-9462A4D15301}" type="datetimeFigureOut">
              <a:rPr lang="ru-RU" smtClean="0"/>
              <a:pPr/>
              <a:t>29.09.2021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2670513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87F890-8936-473A-AEE0-9462A4D15301}" type="datetimeFigureOut">
              <a:rPr lang="ru-RU" smtClean="0"/>
              <a:pPr/>
              <a:t>29.09.2021</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32AA0A-C727-452B-8E2D-EB79C39F6205}" type="slidenum">
              <a:rPr lang="ru-RU" smtClean="0"/>
              <a:pPr/>
              <a:t>‹#›</a:t>
            </a:fld>
            <a:endParaRPr lang="ru-RU"/>
          </a:p>
        </p:txBody>
      </p:sp>
    </p:spTree>
    <p:extLst>
      <p:ext uri="{BB962C8B-B14F-4D97-AF65-F5344CB8AC3E}">
        <p14:creationId xmlns:p14="http://schemas.microsoft.com/office/powerpoint/2010/main" val="267522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i="1" dirty="0" smtClean="0"/>
              <a:t>Лекция </a:t>
            </a:r>
            <a:r>
              <a:rPr lang="en-US" b="1" i="1" dirty="0" smtClean="0"/>
              <a:t>13</a:t>
            </a:r>
            <a:endParaRPr lang="ru-RU" b="1" i="1" dirty="0"/>
          </a:p>
        </p:txBody>
      </p:sp>
      <p:sp>
        <p:nvSpPr>
          <p:cNvPr id="3" name="Объект 2"/>
          <p:cNvSpPr>
            <a:spLocks noGrp="1"/>
          </p:cNvSpPr>
          <p:nvPr>
            <p:ph idx="1"/>
          </p:nvPr>
        </p:nvSpPr>
        <p:spPr/>
        <p:txBody>
          <a:bodyPr/>
          <a:lstStyle/>
          <a:p>
            <a:pPr marL="0" indent="0" algn="ctr">
              <a:buNone/>
            </a:pPr>
            <a:r>
              <a:rPr lang="ru-RU" b="1" i="1" dirty="0" smtClean="0"/>
              <a:t>Вакуумные электронные приборы.</a:t>
            </a:r>
          </a:p>
          <a:p>
            <a:pPr marL="0" indent="0" algn="ctr">
              <a:buNone/>
            </a:pPr>
            <a:r>
              <a:rPr lang="ru-RU" b="1" i="1" dirty="0" smtClean="0"/>
              <a:t>Электровакуумные приборы,</a:t>
            </a:r>
          </a:p>
          <a:p>
            <a:pPr marL="0" indent="0" algn="ctr">
              <a:buNone/>
            </a:pPr>
            <a:r>
              <a:rPr lang="ru-RU" b="1" i="1" dirty="0" smtClean="0"/>
              <a:t>Газоразрядные (ионные) приборы.</a:t>
            </a:r>
            <a:endParaRPr lang="ru-RU" i="1" dirty="0" smtClean="0"/>
          </a:p>
          <a:p>
            <a:pPr marL="0" indent="0" algn="ctr">
              <a:buNone/>
            </a:pPr>
            <a:endParaRPr lang="ru-RU" i="1" dirty="0" smtClean="0"/>
          </a:p>
          <a:p>
            <a:pPr marL="0" indent="0" algn="ctr">
              <a:buNone/>
            </a:pPr>
            <a:endParaRPr lang="ru-RU" i="1" dirty="0" smtClean="0"/>
          </a:p>
          <a:p>
            <a:pPr marL="0" indent="0" algn="ctr">
              <a:buNone/>
            </a:pPr>
            <a:endParaRPr lang="ru-RU" i="1" dirty="0" smtClean="0"/>
          </a:p>
        </p:txBody>
      </p:sp>
    </p:spTree>
    <p:extLst>
      <p:ext uri="{BB962C8B-B14F-4D97-AF65-F5344CB8AC3E}">
        <p14:creationId xmlns:p14="http://schemas.microsoft.com/office/powerpoint/2010/main" val="27955526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Явление термоэлектронной эмиссии</a:t>
            </a:r>
            <a:endParaRPr lang="ru-RU" dirty="0"/>
          </a:p>
        </p:txBody>
      </p:sp>
      <p:sp>
        <p:nvSpPr>
          <p:cNvPr id="3" name="Объект 2"/>
          <p:cNvSpPr>
            <a:spLocks noGrp="1"/>
          </p:cNvSpPr>
          <p:nvPr>
            <p:ph idx="1"/>
          </p:nvPr>
        </p:nvSpPr>
        <p:spPr/>
        <p:txBody>
          <a:bodyPr>
            <a:normAutofit fontScale="92500" lnSpcReduction="20000"/>
          </a:bodyPr>
          <a:lstStyle/>
          <a:p>
            <a:pPr marL="0" indent="0" algn="just">
              <a:buNone/>
            </a:pPr>
            <a:r>
              <a:rPr lang="ru-RU" b="1" i="1" dirty="0"/>
              <a:t>Проводимость в кристаллах.</a:t>
            </a:r>
          </a:p>
          <a:p>
            <a:pPr marL="0" indent="0" algn="just">
              <a:buNone/>
            </a:pPr>
            <a:r>
              <a:rPr lang="ru-RU" dirty="0"/>
              <a:t>Если рассматривать структуру атомов различных элементов, то можно выделить оболочки, которые полностью заполнены электронами (внутренние), и не полностью заполненные (внешние). Последние слабее связаны с ядром, и легче вступают во взаимодействие с другими атомами. Электроны на внешней оболочке называют </a:t>
            </a:r>
            <a:r>
              <a:rPr lang="ru-RU" b="1" dirty="0"/>
              <a:t>валентными</a:t>
            </a:r>
            <a:r>
              <a:rPr lang="ru-RU" dirty="0"/>
              <a:t>.</a:t>
            </a:r>
          </a:p>
          <a:p>
            <a:pPr marL="0" indent="0" algn="just">
              <a:buNone/>
            </a:pPr>
            <a:r>
              <a:rPr lang="ru-RU" dirty="0"/>
              <a:t>Если атомы объединены связями – составляют кристаллическую решетку то существует влияние на валентные электроны ядер соседних атомов. В результате чего каждый отдельный разрешенный энергетический уровень расщепляется на ряд новых энергетических уровней, энергии которых близки друг к другу. Совокупность уровней, на каждом из которых могут находиться электроны, называют разрешенной зоной. Промежутки между разрешенными зонами носят название запрещенных зон. </a:t>
            </a:r>
          </a:p>
        </p:txBody>
      </p:sp>
    </p:spTree>
    <p:extLst>
      <p:ext uri="{BB962C8B-B14F-4D97-AF65-F5344CB8AC3E}">
        <p14:creationId xmlns:p14="http://schemas.microsoft.com/office/powerpoint/2010/main" val="28896982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Явление термоэлектронной эмиссии</a:t>
            </a:r>
            <a:endParaRPr lang="ru-RU" dirty="0"/>
          </a:p>
        </p:txBody>
      </p:sp>
      <p:sp>
        <p:nvSpPr>
          <p:cNvPr id="3" name="Объект 2"/>
          <p:cNvSpPr>
            <a:spLocks noGrp="1"/>
          </p:cNvSpPr>
          <p:nvPr>
            <p:ph idx="1"/>
          </p:nvPr>
        </p:nvSpPr>
        <p:spPr/>
        <p:txBody>
          <a:bodyPr>
            <a:normAutofit/>
          </a:bodyPr>
          <a:lstStyle/>
          <a:p>
            <a:pPr marL="0" indent="0" algn="just">
              <a:buNone/>
            </a:pPr>
            <a:r>
              <a:rPr lang="ru-RU" b="1" i="1" dirty="0"/>
              <a:t>Проводимость в кристаллах</a:t>
            </a:r>
            <a:r>
              <a:rPr lang="ru-RU" b="1" i="1" dirty="0" smtClean="0"/>
              <a:t>.</a:t>
            </a:r>
            <a:endParaRPr lang="ru-RU" b="1" i="1"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2912" y="2268187"/>
            <a:ext cx="8731746" cy="3616036"/>
          </a:xfrm>
          <a:prstGeom prst="rect">
            <a:avLst/>
          </a:prstGeom>
        </p:spPr>
      </p:pic>
    </p:spTree>
    <p:extLst>
      <p:ext uri="{BB962C8B-B14F-4D97-AF65-F5344CB8AC3E}">
        <p14:creationId xmlns:p14="http://schemas.microsoft.com/office/powerpoint/2010/main" val="6286775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Явление термоэлектронной эмиссии</a:t>
            </a:r>
            <a:endParaRPr lang="ru-RU" dirty="0"/>
          </a:p>
        </p:txBody>
      </p:sp>
      <p:sp>
        <p:nvSpPr>
          <p:cNvPr id="3" name="Объект 2"/>
          <p:cNvSpPr>
            <a:spLocks noGrp="1"/>
          </p:cNvSpPr>
          <p:nvPr>
            <p:ph idx="1"/>
          </p:nvPr>
        </p:nvSpPr>
        <p:spPr/>
        <p:txBody>
          <a:bodyPr>
            <a:normAutofit fontScale="77500" lnSpcReduction="20000"/>
          </a:bodyPr>
          <a:lstStyle/>
          <a:p>
            <a:pPr marL="0" indent="0" algn="just">
              <a:buNone/>
            </a:pPr>
            <a:r>
              <a:rPr lang="ru-RU" b="1" i="1" dirty="0"/>
              <a:t>Проводимость в кристаллах</a:t>
            </a:r>
            <a:r>
              <a:rPr lang="ru-RU" b="1" i="1" dirty="0" smtClean="0"/>
              <a:t>.</a:t>
            </a:r>
          </a:p>
          <a:p>
            <a:pPr marL="0" indent="0" algn="just">
              <a:buNone/>
            </a:pPr>
            <a:r>
              <a:rPr lang="ru-RU" dirty="0"/>
              <a:t>В энергетическом спектре твердого тела можно выделить три вида зон:</a:t>
            </a:r>
          </a:p>
          <a:p>
            <a:pPr marL="0" indent="0" algn="just">
              <a:buNone/>
            </a:pPr>
            <a:r>
              <a:rPr lang="ru-RU" dirty="0"/>
              <a:t>1) разрешенные (полностью заполненные) зоны;</a:t>
            </a:r>
          </a:p>
          <a:p>
            <a:pPr marL="0" indent="0" algn="just">
              <a:buNone/>
            </a:pPr>
            <a:r>
              <a:rPr lang="ru-RU" dirty="0"/>
              <a:t>2) запрещенные зоны;</a:t>
            </a:r>
          </a:p>
          <a:p>
            <a:pPr marL="0" indent="0" algn="just">
              <a:buNone/>
            </a:pPr>
            <a:r>
              <a:rPr lang="ru-RU" dirty="0"/>
              <a:t>3) зоны проводимости.</a:t>
            </a:r>
          </a:p>
          <a:p>
            <a:pPr marL="0" indent="0" algn="just">
              <a:buNone/>
            </a:pPr>
            <a:r>
              <a:rPr lang="ru-RU" b="1" dirty="0"/>
              <a:t>Разрешенная зона </a:t>
            </a:r>
            <a:r>
              <a:rPr lang="ru-RU" dirty="0"/>
              <a:t>характеризуется тем, что все уровни ее при температуре 0К заполнены электронами. Верхнюю заполненную часть разрешенной зоны называют </a:t>
            </a:r>
            <a:r>
              <a:rPr lang="ru-RU" b="1" dirty="0"/>
              <a:t>валентной</a:t>
            </a:r>
            <a:r>
              <a:rPr lang="ru-RU" dirty="0"/>
              <a:t>.</a:t>
            </a:r>
          </a:p>
          <a:p>
            <a:pPr marL="0" indent="0" algn="just">
              <a:buNone/>
            </a:pPr>
            <a:r>
              <a:rPr lang="ru-RU" b="1" dirty="0"/>
              <a:t>Запрещенная зона </a:t>
            </a:r>
            <a:r>
              <a:rPr lang="ru-RU" dirty="0"/>
              <a:t>характеризуется тем, что в ее пределах нет энергетических уровней, на которых могли бы находиться электроны.</a:t>
            </a:r>
          </a:p>
          <a:p>
            <a:pPr marL="0" indent="0" algn="just">
              <a:buNone/>
            </a:pPr>
            <a:r>
              <a:rPr lang="ru-RU" b="1" dirty="0"/>
              <a:t>Зона проводимости </a:t>
            </a:r>
            <a:r>
              <a:rPr lang="ru-RU" dirty="0"/>
              <a:t>характеризуется тем, что электроны, находящиеся в ней, обладают энергиями, позволяющими им освобождаться от связи с атомами и передвигаться внутри твердого тела (например, под действием электрических полей) (свободные электроны</a:t>
            </a:r>
            <a:r>
              <a:rPr lang="ru-RU" dirty="0" smtClean="0"/>
              <a:t>).</a:t>
            </a:r>
            <a:endParaRPr lang="ru-RU" dirty="0"/>
          </a:p>
        </p:txBody>
      </p:sp>
    </p:spTree>
    <p:extLst>
      <p:ext uri="{BB962C8B-B14F-4D97-AF65-F5344CB8AC3E}">
        <p14:creationId xmlns:p14="http://schemas.microsoft.com/office/powerpoint/2010/main" val="17758679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Явление термоэлектронной эмиссии</a:t>
            </a:r>
          </a:p>
        </p:txBody>
      </p:sp>
      <p:sp>
        <p:nvSpPr>
          <p:cNvPr id="3" name="Объект 2"/>
          <p:cNvSpPr>
            <a:spLocks noGrp="1"/>
          </p:cNvSpPr>
          <p:nvPr>
            <p:ph idx="1"/>
          </p:nvPr>
        </p:nvSpPr>
        <p:spPr/>
        <p:txBody>
          <a:bodyPr>
            <a:normAutofit/>
          </a:bodyPr>
          <a:lstStyle/>
          <a:p>
            <a:pPr marL="0" indent="0" algn="just">
              <a:buNone/>
            </a:pPr>
            <a:r>
              <a:rPr lang="ru-RU" b="1" i="1" dirty="0"/>
              <a:t>Проводимость в кристаллах.</a:t>
            </a:r>
          </a:p>
          <a:p>
            <a:pPr marL="0" indent="0" algn="just">
              <a:buNone/>
            </a:pPr>
            <a:r>
              <a:rPr lang="ru-RU" dirty="0" smtClean="0"/>
              <a:t>						</a:t>
            </a:r>
            <a:r>
              <a:rPr lang="ru-RU" b="1" dirty="0"/>
              <a:t>Проводник (металл)</a:t>
            </a:r>
          </a:p>
          <a:p>
            <a:pPr marL="0" indent="0" algn="just">
              <a:buNone/>
            </a:pPr>
            <a:endParaRPr lang="ru-RU" dirty="0" smtClean="0"/>
          </a:p>
          <a:p>
            <a:pPr marL="0" indent="0" algn="just">
              <a:buNone/>
            </a:pPr>
            <a:r>
              <a:rPr lang="ru-RU" dirty="0" smtClean="0"/>
              <a:t>						</a:t>
            </a:r>
            <a:r>
              <a:rPr lang="ru-RU" i="1" dirty="0" smtClean="0"/>
              <a:t>Зона проводимости</a:t>
            </a:r>
          </a:p>
          <a:p>
            <a:pPr marL="0" indent="0" algn="just">
              <a:buNone/>
            </a:pPr>
            <a:r>
              <a:rPr lang="ru-RU" i="1" dirty="0"/>
              <a:t>	</a:t>
            </a:r>
            <a:r>
              <a:rPr lang="ru-RU" i="1" dirty="0" smtClean="0"/>
              <a:t>					перекрывается с </a:t>
            </a:r>
          </a:p>
          <a:p>
            <a:pPr marL="0" indent="0" algn="just">
              <a:buNone/>
            </a:pPr>
            <a:r>
              <a:rPr lang="ru-RU" i="1" dirty="0"/>
              <a:t>	</a:t>
            </a:r>
            <a:r>
              <a:rPr lang="ru-RU" i="1" dirty="0" smtClean="0"/>
              <a:t>					валентной зоной</a:t>
            </a:r>
            <a:endParaRPr lang="ru-RU" i="1" dirty="0"/>
          </a:p>
          <a:p>
            <a:pPr marL="0" indent="0" algn="just">
              <a:buNone/>
            </a:pPr>
            <a:endParaRPr lang="ru-RU" dirty="0" smtClean="0"/>
          </a:p>
          <a:p>
            <a:pPr marL="0" indent="0" algn="just">
              <a:buNone/>
            </a:pPr>
            <a:endParaRPr lang="ru-RU" dirty="0"/>
          </a:p>
        </p:txBody>
      </p:sp>
      <p:pic>
        <p:nvPicPr>
          <p:cNvPr id="5" name="Рисунок 4"/>
          <p:cNvPicPr>
            <a:picLocks noChangeAspect="1"/>
          </p:cNvPicPr>
          <p:nvPr/>
        </p:nvPicPr>
        <p:blipFill>
          <a:blip r:embed="rId2"/>
          <a:stretch>
            <a:fillRect/>
          </a:stretch>
        </p:blipFill>
        <p:spPr>
          <a:xfrm>
            <a:off x="2206213" y="2538226"/>
            <a:ext cx="3219450" cy="2838450"/>
          </a:xfrm>
          <a:prstGeom prst="rect">
            <a:avLst/>
          </a:prstGeom>
        </p:spPr>
      </p:pic>
    </p:spTree>
    <p:extLst>
      <p:ext uri="{BB962C8B-B14F-4D97-AF65-F5344CB8AC3E}">
        <p14:creationId xmlns:p14="http://schemas.microsoft.com/office/powerpoint/2010/main" val="11646434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Явление термоэлектронной эмиссии</a:t>
            </a:r>
          </a:p>
        </p:txBody>
      </p:sp>
      <p:sp>
        <p:nvSpPr>
          <p:cNvPr id="3" name="Объект 2"/>
          <p:cNvSpPr>
            <a:spLocks noGrp="1"/>
          </p:cNvSpPr>
          <p:nvPr>
            <p:ph idx="1"/>
          </p:nvPr>
        </p:nvSpPr>
        <p:spPr/>
        <p:txBody>
          <a:bodyPr>
            <a:normAutofit/>
          </a:bodyPr>
          <a:lstStyle/>
          <a:p>
            <a:pPr marL="0" indent="0" algn="just">
              <a:buNone/>
            </a:pPr>
            <a:r>
              <a:rPr lang="ru-RU" b="1" i="1" dirty="0"/>
              <a:t>Проводимость в кристаллах.</a:t>
            </a:r>
          </a:p>
          <a:p>
            <a:pPr marL="0" indent="0" algn="just">
              <a:buNone/>
            </a:pPr>
            <a:r>
              <a:rPr lang="ru-RU" dirty="0" smtClean="0"/>
              <a:t>						</a:t>
            </a:r>
            <a:r>
              <a:rPr lang="ru-RU" b="1" dirty="0" smtClean="0"/>
              <a:t>Диэлектрик(изолятор)</a:t>
            </a:r>
            <a:endParaRPr lang="ru-RU" b="1" dirty="0"/>
          </a:p>
          <a:p>
            <a:pPr marL="0" indent="0" algn="just">
              <a:buNone/>
            </a:pPr>
            <a:endParaRPr lang="ru-RU" dirty="0" smtClean="0"/>
          </a:p>
          <a:p>
            <a:pPr marL="0" indent="0" algn="just">
              <a:buNone/>
            </a:pPr>
            <a:r>
              <a:rPr lang="ru-RU" dirty="0" smtClean="0"/>
              <a:t>						</a:t>
            </a:r>
            <a:r>
              <a:rPr lang="ru-RU" i="1" dirty="0" smtClean="0"/>
              <a:t>Между зоной проводимости</a:t>
            </a:r>
          </a:p>
          <a:p>
            <a:pPr marL="0" indent="0" algn="just">
              <a:buNone/>
            </a:pPr>
            <a:r>
              <a:rPr lang="ru-RU" i="1" dirty="0"/>
              <a:t>	</a:t>
            </a:r>
            <a:r>
              <a:rPr lang="ru-RU" i="1" dirty="0" smtClean="0"/>
              <a:t>					и валентной зоной есть</a:t>
            </a:r>
          </a:p>
          <a:p>
            <a:pPr marL="0" indent="0" algn="just">
              <a:buNone/>
            </a:pPr>
            <a:r>
              <a:rPr lang="ru-RU" i="1" dirty="0"/>
              <a:t>	</a:t>
            </a:r>
            <a:r>
              <a:rPr lang="ru-RU" i="1" dirty="0" smtClean="0"/>
              <a:t>					запрещенная зона более 							нескольких эВ</a:t>
            </a:r>
            <a:endParaRPr lang="ru-RU" i="1" dirty="0"/>
          </a:p>
          <a:p>
            <a:pPr marL="0" indent="0" algn="just">
              <a:buNone/>
            </a:pPr>
            <a:endParaRPr lang="ru-RU" dirty="0" smtClean="0"/>
          </a:p>
          <a:p>
            <a:pPr marL="0" indent="0" algn="just">
              <a:buNone/>
            </a:pPr>
            <a:endParaRPr lang="ru-RU" dirty="0"/>
          </a:p>
        </p:txBody>
      </p:sp>
      <p:pic>
        <p:nvPicPr>
          <p:cNvPr id="4" name="Рисунок 3"/>
          <p:cNvPicPr>
            <a:picLocks noChangeAspect="1"/>
          </p:cNvPicPr>
          <p:nvPr/>
        </p:nvPicPr>
        <p:blipFill>
          <a:blip r:embed="rId2"/>
          <a:stretch>
            <a:fillRect/>
          </a:stretch>
        </p:blipFill>
        <p:spPr>
          <a:xfrm>
            <a:off x="2296452" y="2529681"/>
            <a:ext cx="3228975" cy="2943225"/>
          </a:xfrm>
          <a:prstGeom prst="rect">
            <a:avLst/>
          </a:prstGeom>
        </p:spPr>
      </p:pic>
    </p:spTree>
    <p:extLst>
      <p:ext uri="{BB962C8B-B14F-4D97-AF65-F5344CB8AC3E}">
        <p14:creationId xmlns:p14="http://schemas.microsoft.com/office/powerpoint/2010/main" val="26017991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Явление термоэлектронной эмиссии</a:t>
            </a:r>
          </a:p>
        </p:txBody>
      </p:sp>
      <p:sp>
        <p:nvSpPr>
          <p:cNvPr id="3" name="Объект 2"/>
          <p:cNvSpPr>
            <a:spLocks noGrp="1"/>
          </p:cNvSpPr>
          <p:nvPr>
            <p:ph idx="1"/>
          </p:nvPr>
        </p:nvSpPr>
        <p:spPr/>
        <p:txBody>
          <a:bodyPr>
            <a:normAutofit/>
          </a:bodyPr>
          <a:lstStyle/>
          <a:p>
            <a:pPr marL="0" indent="0" algn="just">
              <a:buNone/>
            </a:pPr>
            <a:r>
              <a:rPr lang="ru-RU" b="1" i="1" dirty="0"/>
              <a:t>Проводимость в кристаллах.</a:t>
            </a:r>
          </a:p>
          <a:p>
            <a:pPr marL="0" indent="0" algn="just">
              <a:buNone/>
            </a:pPr>
            <a:r>
              <a:rPr lang="ru-RU" dirty="0" smtClean="0"/>
              <a:t>						</a:t>
            </a:r>
            <a:r>
              <a:rPr lang="ru-RU" b="1" dirty="0" smtClean="0"/>
              <a:t>Полупроводник</a:t>
            </a:r>
            <a:endParaRPr lang="ru-RU" b="1" dirty="0"/>
          </a:p>
          <a:p>
            <a:pPr marL="0" indent="0" algn="just">
              <a:buNone/>
            </a:pPr>
            <a:endParaRPr lang="ru-RU" dirty="0" smtClean="0"/>
          </a:p>
          <a:p>
            <a:pPr marL="0" indent="0" algn="just">
              <a:buNone/>
            </a:pPr>
            <a:r>
              <a:rPr lang="ru-RU" dirty="0" smtClean="0"/>
              <a:t>						</a:t>
            </a:r>
            <a:r>
              <a:rPr lang="ru-RU" i="1" dirty="0"/>
              <a:t>Между зоной проводимости</a:t>
            </a:r>
          </a:p>
          <a:p>
            <a:pPr marL="0" indent="0" algn="just">
              <a:buNone/>
            </a:pPr>
            <a:r>
              <a:rPr lang="ru-RU" i="1" dirty="0"/>
              <a:t>						и валентной зоной есть</a:t>
            </a:r>
          </a:p>
          <a:p>
            <a:pPr marL="0" indent="0" algn="just">
              <a:buNone/>
            </a:pPr>
            <a:r>
              <a:rPr lang="ru-RU" i="1" dirty="0"/>
              <a:t>						запрещенная </a:t>
            </a:r>
            <a:r>
              <a:rPr lang="ru-RU" i="1" dirty="0" smtClean="0"/>
              <a:t>зона</a:t>
            </a:r>
          </a:p>
          <a:p>
            <a:pPr marL="0" indent="0" algn="just">
              <a:buNone/>
            </a:pPr>
            <a:r>
              <a:rPr lang="ru-RU" i="1" dirty="0"/>
              <a:t>	</a:t>
            </a:r>
            <a:r>
              <a:rPr lang="ru-RU" i="1" dirty="0" smtClean="0"/>
              <a:t>					в несколько </a:t>
            </a:r>
            <a:r>
              <a:rPr lang="ru-RU" i="1" dirty="0"/>
              <a:t>эВ</a:t>
            </a:r>
          </a:p>
          <a:p>
            <a:pPr marL="0" indent="0" algn="just">
              <a:buNone/>
            </a:pPr>
            <a:endParaRPr lang="ru-RU" dirty="0" smtClean="0"/>
          </a:p>
          <a:p>
            <a:pPr marL="0" indent="0" algn="just">
              <a:buNone/>
            </a:pPr>
            <a:endParaRPr lang="ru-RU" dirty="0"/>
          </a:p>
        </p:txBody>
      </p:sp>
      <p:pic>
        <p:nvPicPr>
          <p:cNvPr id="4" name="Рисунок 3"/>
          <p:cNvPicPr>
            <a:picLocks noChangeAspect="1"/>
          </p:cNvPicPr>
          <p:nvPr/>
        </p:nvPicPr>
        <p:blipFill>
          <a:blip r:embed="rId2"/>
          <a:stretch>
            <a:fillRect/>
          </a:stretch>
        </p:blipFill>
        <p:spPr>
          <a:xfrm>
            <a:off x="1847603" y="2400609"/>
            <a:ext cx="3200400" cy="2733675"/>
          </a:xfrm>
          <a:prstGeom prst="rect">
            <a:avLst/>
          </a:prstGeom>
        </p:spPr>
      </p:pic>
    </p:spTree>
    <p:extLst>
      <p:ext uri="{BB962C8B-B14F-4D97-AF65-F5344CB8AC3E}">
        <p14:creationId xmlns:p14="http://schemas.microsoft.com/office/powerpoint/2010/main" val="31817046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Явление термоэлектронной эмиссии</a:t>
            </a:r>
            <a:endParaRPr lang="ru-RU" dirty="0"/>
          </a:p>
        </p:txBody>
      </p:sp>
      <p:sp>
        <p:nvSpPr>
          <p:cNvPr id="3" name="Объект 2"/>
          <p:cNvSpPr>
            <a:spLocks noGrp="1"/>
          </p:cNvSpPr>
          <p:nvPr>
            <p:ph idx="1"/>
          </p:nvPr>
        </p:nvSpPr>
        <p:spPr/>
        <p:txBody>
          <a:bodyPr>
            <a:normAutofit/>
          </a:bodyPr>
          <a:lstStyle/>
          <a:p>
            <a:pPr marL="0" indent="0" algn="just">
              <a:buNone/>
            </a:pPr>
            <a:r>
              <a:rPr lang="ru-RU" b="1" i="1" dirty="0" smtClean="0"/>
              <a:t>Работа выхода</a:t>
            </a:r>
          </a:p>
          <a:p>
            <a:pPr marL="0" indent="0" algn="just">
              <a:buNone/>
            </a:pPr>
            <a:endParaRPr lang="ru-RU" b="1" i="1" dirty="0" smtClean="0"/>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8178" y="2373662"/>
            <a:ext cx="6155644" cy="3687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82079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Явление термоэлектронной эмиссии</a:t>
            </a:r>
            <a:endParaRPr lang="ru-RU" dirty="0"/>
          </a:p>
        </p:txBody>
      </p:sp>
      <p:sp>
        <p:nvSpPr>
          <p:cNvPr id="3" name="Объект 2"/>
          <p:cNvSpPr>
            <a:spLocks noGrp="1"/>
          </p:cNvSpPr>
          <p:nvPr>
            <p:ph idx="1"/>
          </p:nvPr>
        </p:nvSpPr>
        <p:spPr/>
        <p:txBody>
          <a:bodyPr>
            <a:normAutofit/>
          </a:bodyPr>
          <a:lstStyle/>
          <a:p>
            <a:pPr marL="0" indent="0" algn="just">
              <a:buNone/>
            </a:pPr>
            <a:r>
              <a:rPr lang="ru-RU" b="1" i="1" dirty="0" smtClean="0"/>
              <a:t>Работа выхода</a:t>
            </a:r>
          </a:p>
          <a:p>
            <a:pPr marL="0" indent="0" algn="just">
              <a:buNone/>
            </a:pPr>
            <a:endParaRPr lang="ru-RU" b="1" i="1" dirty="0" smtClean="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087" y="2415795"/>
            <a:ext cx="7489825" cy="384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Рисунок 3"/>
          <p:cNvPicPr>
            <a:picLocks noChangeAspect="1"/>
          </p:cNvPicPr>
          <p:nvPr/>
        </p:nvPicPr>
        <p:blipFill>
          <a:blip r:embed="rId3"/>
          <a:stretch>
            <a:fillRect/>
          </a:stretch>
        </p:blipFill>
        <p:spPr>
          <a:xfrm>
            <a:off x="915204" y="4681229"/>
            <a:ext cx="1514475" cy="1390650"/>
          </a:xfrm>
          <a:prstGeom prst="rect">
            <a:avLst/>
          </a:prstGeom>
        </p:spPr>
      </p:pic>
      <p:pic>
        <p:nvPicPr>
          <p:cNvPr id="7" name="Рисунок 6"/>
          <p:cNvPicPr>
            <a:picLocks noChangeAspect="1"/>
          </p:cNvPicPr>
          <p:nvPr/>
        </p:nvPicPr>
        <p:blipFill>
          <a:blip r:embed="rId4"/>
          <a:stretch>
            <a:fillRect/>
          </a:stretch>
        </p:blipFill>
        <p:spPr>
          <a:xfrm>
            <a:off x="1031874" y="3576453"/>
            <a:ext cx="1319213" cy="1240955"/>
          </a:xfrm>
          <a:prstGeom prst="rect">
            <a:avLst/>
          </a:prstGeom>
        </p:spPr>
      </p:pic>
    </p:spTree>
    <p:extLst>
      <p:ext uri="{BB962C8B-B14F-4D97-AF65-F5344CB8AC3E}">
        <p14:creationId xmlns:p14="http://schemas.microsoft.com/office/powerpoint/2010/main" val="7875410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Явление термоэлектронной эмиссии</a:t>
            </a:r>
            <a:endParaRPr lang="ru-RU" dirty="0"/>
          </a:p>
        </p:txBody>
      </p:sp>
      <p:sp>
        <p:nvSpPr>
          <p:cNvPr id="3" name="Объект 2"/>
          <p:cNvSpPr>
            <a:spLocks noGrp="1"/>
          </p:cNvSpPr>
          <p:nvPr>
            <p:ph idx="1"/>
          </p:nvPr>
        </p:nvSpPr>
        <p:spPr/>
        <p:txBody>
          <a:bodyPr>
            <a:normAutofit/>
          </a:bodyPr>
          <a:lstStyle/>
          <a:p>
            <a:pPr marL="0" indent="0" algn="just">
              <a:buNone/>
            </a:pPr>
            <a:r>
              <a:rPr lang="ru-RU" b="1" i="1" dirty="0" smtClean="0"/>
              <a:t>Термоэлектронная эмиссия.</a:t>
            </a:r>
          </a:p>
          <a:p>
            <a:pPr marL="0" indent="0" algn="just">
              <a:buNone/>
            </a:pPr>
            <a:r>
              <a:rPr lang="ru-RU" dirty="0" smtClean="0"/>
              <a:t>Энергия электронов зоны проводимости в целом подчиняется распределению Максвелла-Больцмана:</a:t>
            </a:r>
          </a:p>
          <a:p>
            <a:pPr marL="0" indent="0" algn="just">
              <a:buNone/>
            </a:pPr>
            <a:endParaRPr lang="ru-RU" dirty="0"/>
          </a:p>
          <a:p>
            <a:pPr marL="0" indent="0" algn="just">
              <a:buNone/>
            </a:pPr>
            <a:endParaRPr lang="ru-RU" dirty="0" smtClean="0"/>
          </a:p>
          <a:p>
            <a:pPr marL="0" indent="0" algn="just">
              <a:buNone/>
            </a:pPr>
            <a:endParaRPr lang="ru-RU" dirty="0"/>
          </a:p>
          <a:p>
            <a:pPr marL="0" indent="0" algn="just">
              <a:buNone/>
            </a:pPr>
            <a:endParaRPr lang="ru-RU" dirty="0" smtClean="0"/>
          </a:p>
          <a:p>
            <a:pPr marL="0" indent="0" algn="just">
              <a:buNone/>
            </a:pPr>
            <a:endParaRPr lang="ru-RU" dirty="0"/>
          </a:p>
          <a:p>
            <a:pPr marL="0" indent="0" algn="just">
              <a:buNone/>
            </a:pPr>
            <a:endParaRPr lang="ru-RU" dirty="0" smtClean="0"/>
          </a:p>
          <a:p>
            <a:pPr marL="0" indent="0" algn="just">
              <a:buNone/>
            </a:pPr>
            <a:endParaRPr lang="ru-RU" b="1" i="1" dirty="0" smtClean="0"/>
          </a:p>
        </p:txBody>
      </p:sp>
      <p:pic>
        <p:nvPicPr>
          <p:cNvPr id="8" name="Рисунок 7"/>
          <p:cNvPicPr>
            <a:picLocks noChangeAspect="1"/>
          </p:cNvPicPr>
          <p:nvPr/>
        </p:nvPicPr>
        <p:blipFill>
          <a:blip r:embed="rId2"/>
          <a:stretch>
            <a:fillRect/>
          </a:stretch>
        </p:blipFill>
        <p:spPr>
          <a:xfrm>
            <a:off x="3574473" y="3146869"/>
            <a:ext cx="5706588" cy="2890063"/>
          </a:xfrm>
          <a:prstGeom prst="rect">
            <a:avLst/>
          </a:prstGeom>
        </p:spPr>
      </p:pic>
    </p:spTree>
    <p:extLst>
      <p:ext uri="{BB962C8B-B14F-4D97-AF65-F5344CB8AC3E}">
        <p14:creationId xmlns:p14="http://schemas.microsoft.com/office/powerpoint/2010/main" val="15005885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Явление термоэлектронной эмиссии</a:t>
            </a:r>
            <a:endParaRPr lang="ru-RU" dirty="0"/>
          </a:p>
        </p:txBody>
      </p:sp>
      <p:sp>
        <p:nvSpPr>
          <p:cNvPr id="3" name="Объект 2"/>
          <p:cNvSpPr>
            <a:spLocks noGrp="1"/>
          </p:cNvSpPr>
          <p:nvPr>
            <p:ph idx="1"/>
          </p:nvPr>
        </p:nvSpPr>
        <p:spPr/>
        <p:txBody>
          <a:bodyPr>
            <a:normAutofit/>
          </a:bodyPr>
          <a:lstStyle/>
          <a:p>
            <a:pPr marL="0" indent="0" algn="just">
              <a:buNone/>
            </a:pPr>
            <a:r>
              <a:rPr lang="ru-RU" b="1" i="1" dirty="0" smtClean="0"/>
              <a:t>Термоэлектронная эмиссия.</a:t>
            </a:r>
          </a:p>
          <a:p>
            <a:pPr marL="0" indent="0" algn="just">
              <a:buNone/>
            </a:pPr>
            <a:r>
              <a:rPr lang="ru-RU" dirty="0"/>
              <a:t>Соответственно всегда есть некоторое количество, покидающее проводник. Но это количество незначительно. </a:t>
            </a:r>
          </a:p>
          <a:p>
            <a:pPr marL="0" indent="0" algn="just">
              <a:buNone/>
            </a:pPr>
            <a:r>
              <a:rPr lang="ru-RU" dirty="0"/>
              <a:t>Однако, при повышении температуры проводника средняя энергия электронов так же повышается и начиная с некоторого момента ток электронов с поверхности становится уже значительным. </a:t>
            </a:r>
          </a:p>
          <a:p>
            <a:pPr marL="0" indent="0" algn="just">
              <a:buNone/>
            </a:pPr>
            <a:endParaRPr lang="ru-RU" b="1" i="1" dirty="0" smtClean="0"/>
          </a:p>
        </p:txBody>
      </p:sp>
    </p:spTree>
    <p:extLst>
      <p:ext uri="{BB962C8B-B14F-4D97-AF65-F5344CB8AC3E}">
        <p14:creationId xmlns:p14="http://schemas.microsoft.com/office/powerpoint/2010/main" val="24885942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Явление термоэлектронной эмиссии</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pPr marL="0" indent="0" algn="just">
                  <a:buNone/>
                </a:pPr>
                <a:r>
                  <a:rPr lang="ru-RU" b="1" i="1" dirty="0" smtClean="0"/>
                  <a:t>Термоэлектронная эмиссия.</a:t>
                </a:r>
              </a:p>
              <a:p>
                <a:pPr marL="0" indent="0" algn="just">
                  <a:buNone/>
                </a:pPr>
                <a:r>
                  <a:rPr lang="ru-RU" dirty="0" smtClean="0"/>
                  <a:t>Данное явление называется </a:t>
                </a:r>
                <a:r>
                  <a:rPr lang="ru-RU" b="1" dirty="0" smtClean="0"/>
                  <a:t>термоэлектронной эмиссией</a:t>
                </a:r>
                <a:r>
                  <a:rPr lang="ru-RU" dirty="0" smtClean="0"/>
                  <a:t>.  Оно было открыто даже до появления термина «электрон» : в экспериментах (</a:t>
                </a:r>
                <a:r>
                  <a:rPr lang="ru-RU" dirty="0" err="1" smtClean="0"/>
                  <a:t>Гатри</a:t>
                </a:r>
                <a:r>
                  <a:rPr lang="ru-RU" dirty="0" smtClean="0"/>
                  <a:t> 1873) было замечено, что отрицательно заряженный раскаленный шар теряет заряд, а для положительно заряженного шара такого эффекта нет. Однако объяснение и математическое описание появилось существенно позже и носит название уравнения </a:t>
                </a:r>
                <a:r>
                  <a:rPr lang="ru-RU" altLang="ru-RU" dirty="0" smtClean="0">
                    <a:latin typeface="Times New Roman" panose="02020603050405020304" pitchFamily="18" charset="0"/>
                    <a:cs typeface="Times New Roman" panose="02020603050405020304" pitchFamily="18" charset="0"/>
                  </a:rPr>
                  <a:t>Ричардсона-</a:t>
                </a:r>
                <a:r>
                  <a:rPr lang="ru-RU" altLang="ru-RU" dirty="0" err="1" smtClean="0">
                    <a:latin typeface="Times New Roman" panose="02020603050405020304" pitchFamily="18" charset="0"/>
                    <a:cs typeface="Times New Roman" panose="02020603050405020304" pitchFamily="18" charset="0"/>
                  </a:rPr>
                  <a:t>Дэшмана</a:t>
                </a:r>
                <a:r>
                  <a:rPr lang="ru-RU" altLang="ru-RU" dirty="0" smtClean="0">
                    <a:latin typeface="Times New Roman" panose="02020603050405020304" pitchFamily="18" charset="0"/>
                    <a:cs typeface="Times New Roman" panose="02020603050405020304" pitchFamily="18" charset="0"/>
                  </a:rPr>
                  <a:t>:</a:t>
                </a: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2</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𝜑</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𝐵</m:t>
                                  </m:r>
                                </m:sub>
                              </m:sSub>
                              <m:r>
                                <a:rPr lang="en-US" b="0" i="1" smtClean="0">
                                  <a:latin typeface="Cambria Math" panose="02040503050406030204" pitchFamily="18" charset="0"/>
                                </a:rPr>
                                <m:t>𝑇</m:t>
                              </m:r>
                            </m:den>
                          </m:f>
                        </m:sup>
                      </m:sSup>
                      <m:r>
                        <a:rPr lang="en-US" b="0" i="1" smtClean="0">
                          <a:latin typeface="Cambria Math" panose="02040503050406030204" pitchFamily="18" charset="0"/>
                        </a:rPr>
                        <m:t> , </m:t>
                      </m:r>
                      <m:r>
                        <a:rPr lang="ru-RU" b="0" i="1" smtClean="0">
                          <a:latin typeface="Cambria Math" panose="02040503050406030204" pitchFamily="18" charset="0"/>
                        </a:rPr>
                        <m:t>где </m:t>
                      </m:r>
                      <m:r>
                        <a:rPr lang="ru-RU" b="0" i="1" smtClean="0">
                          <a:latin typeface="Cambria Math" panose="02040503050406030204" pitchFamily="18" charset="0"/>
                          <a:ea typeface="Cambria Math" panose="02040503050406030204" pitchFamily="18" charset="0"/>
                        </a:rPr>
                        <m:t>~120А</m:t>
                      </m:r>
                      <m:sSup>
                        <m:sSupPr>
                          <m:ctrlPr>
                            <a:rPr lang="ru-RU" b="0" i="1" smtClean="0">
                              <a:latin typeface="Cambria Math" panose="02040503050406030204" pitchFamily="18" charset="0"/>
                              <a:ea typeface="Cambria Math" panose="02040503050406030204" pitchFamily="18" charset="0"/>
                            </a:rPr>
                          </m:ctrlPr>
                        </m:sSupPr>
                        <m:e>
                          <m:r>
                            <a:rPr lang="ru-RU" b="0" i="1" smtClean="0">
                              <a:latin typeface="Cambria Math" panose="02040503050406030204" pitchFamily="18" charset="0"/>
                              <a:ea typeface="Cambria Math" panose="02040503050406030204" pitchFamily="18" charset="0"/>
                            </a:rPr>
                            <m:t>/(см</m:t>
                          </m:r>
                        </m:e>
                        <m:sup>
                          <m:r>
                            <a:rPr lang="ru-RU" b="0" i="1" smtClean="0">
                              <a:latin typeface="Cambria Math" panose="02040503050406030204" pitchFamily="18" charset="0"/>
                              <a:ea typeface="Cambria Math" panose="02040503050406030204" pitchFamily="18" charset="0"/>
                            </a:rPr>
                            <m:t>2</m:t>
                          </m:r>
                        </m:sup>
                      </m:sSup>
                      <m:sSup>
                        <m:sSupPr>
                          <m:ctrlPr>
                            <a:rPr lang="ru-RU" b="0" i="1" smtClean="0">
                              <a:latin typeface="Cambria Math" panose="02040503050406030204" pitchFamily="18" charset="0"/>
                              <a:ea typeface="Cambria Math" panose="02040503050406030204" pitchFamily="18" charset="0"/>
                            </a:rPr>
                          </m:ctrlPr>
                        </m:sSupPr>
                        <m:e>
                          <m:r>
                            <a:rPr lang="ru-RU" b="0" i="1" smtClean="0">
                              <a:latin typeface="Cambria Math" panose="02040503050406030204" pitchFamily="18" charset="0"/>
                              <a:ea typeface="Cambria Math" panose="02040503050406030204" pitchFamily="18" charset="0"/>
                            </a:rPr>
                            <m:t>К</m:t>
                          </m:r>
                        </m:e>
                        <m:sup>
                          <m:r>
                            <a:rPr lang="ru-RU" b="0" i="1" smtClean="0">
                              <a:latin typeface="Cambria Math" panose="02040503050406030204" pitchFamily="18" charset="0"/>
                              <a:ea typeface="Cambria Math" panose="02040503050406030204" pitchFamily="18" charset="0"/>
                            </a:rPr>
                            <m:t>2</m:t>
                          </m:r>
                        </m:sup>
                      </m:sSup>
                      <m:r>
                        <a:rPr lang="ru-RU" b="0" i="1"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𝑘</m:t>
                          </m:r>
                        </m:e>
                        <m:sub>
                          <m:r>
                            <a:rPr lang="en-US" b="0" i="1" smtClean="0">
                              <a:latin typeface="Cambria Math" panose="02040503050406030204" pitchFamily="18" charset="0"/>
                              <a:ea typeface="Cambria Math" panose="02040503050406030204" pitchFamily="18" charset="0"/>
                            </a:rPr>
                            <m:t>𝐵</m:t>
                          </m:r>
                        </m:sub>
                      </m:sSub>
                      <m:r>
                        <a:rPr lang="en-US" b="0" i="1" smtClean="0">
                          <a:latin typeface="Cambria Math" panose="02040503050406030204" pitchFamily="18" charset="0"/>
                          <a:ea typeface="Cambria Math" panose="02040503050406030204" pitchFamily="18" charset="0"/>
                        </a:rPr>
                        <m:t>−</m:t>
                      </m:r>
                      <m:r>
                        <a:rPr lang="ru-RU" b="0" i="1" smtClean="0">
                          <a:latin typeface="Cambria Math" panose="02040503050406030204" pitchFamily="18" charset="0"/>
                          <a:ea typeface="Cambria Math" panose="02040503050406030204" pitchFamily="18" charset="0"/>
                        </a:rPr>
                        <m:t>постоянная Больцмана</m:t>
                      </m:r>
                    </m:oMath>
                  </m:oMathPara>
                </a14:m>
                <a:endParaRPr lang="ru-RU" dirty="0" smtClean="0"/>
              </a:p>
              <a:p>
                <a:pPr marL="0" indent="0" algn="just">
                  <a:buNone/>
                </a:pPr>
                <a:endParaRPr lang="ru-RU" b="1" i="1" dirty="0" smtClean="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217" t="-2241" r="-1159"/>
                </a:stretch>
              </a:blipFill>
            </p:spPr>
            <p:txBody>
              <a:bodyPr/>
              <a:lstStyle/>
              <a:p>
                <a:r>
                  <a:rPr lang="ru-RU">
                    <a:noFill/>
                  </a:rPr>
                  <a:t> </a:t>
                </a:r>
              </a:p>
            </p:txBody>
          </p:sp>
        </mc:Fallback>
      </mc:AlternateContent>
    </p:spTree>
    <p:extLst>
      <p:ext uri="{BB962C8B-B14F-4D97-AF65-F5344CB8AC3E}">
        <p14:creationId xmlns:p14="http://schemas.microsoft.com/office/powerpoint/2010/main" val="36232697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диод</a:t>
            </a:r>
            <a:endParaRPr lang="ru-RU" dirty="0"/>
          </a:p>
        </p:txBody>
      </p:sp>
      <p:sp>
        <p:nvSpPr>
          <p:cNvPr id="3" name="Объект 2"/>
          <p:cNvSpPr>
            <a:spLocks noGrp="1"/>
          </p:cNvSpPr>
          <p:nvPr>
            <p:ph idx="1"/>
          </p:nvPr>
        </p:nvSpPr>
        <p:spPr/>
        <p:txBody>
          <a:bodyPr>
            <a:normAutofit fontScale="92500" lnSpcReduction="10000"/>
          </a:bodyPr>
          <a:lstStyle/>
          <a:p>
            <a:pPr marL="0" indent="0" algn="just">
              <a:buNone/>
            </a:pPr>
            <a:r>
              <a:rPr lang="ru-RU" dirty="0" smtClean="0"/>
              <a:t>Теперь если мы поставим рядом нагретый проводник и холодный, мы увидим, что от нагретого (горячего) проводника к холодному имеется ток электронов – это термоэлектронный ток.</a:t>
            </a:r>
          </a:p>
          <a:p>
            <a:pPr marL="0" indent="0" algn="just">
              <a:buNone/>
            </a:pPr>
            <a:r>
              <a:rPr lang="ru-RU" dirty="0" smtClean="0"/>
              <a:t>Однако, если проводники теперь немного отнести друг от друга, то ток прекратится. Это объясняется тем, что покинувшие проводник вследствие термоэлектронной эмиссии электроны дальше особенно не летят и, получив свободу, остаются около поверхности металла, создавая там электронное облако. Через некоторое время система приходит в равновесие, и ток из проводника компенсируется током в проводник их облака.</a:t>
            </a:r>
          </a:p>
          <a:p>
            <a:pPr marL="0" indent="0" algn="just">
              <a:buNone/>
            </a:pPr>
            <a:r>
              <a:rPr lang="ru-RU" b="1" dirty="0" smtClean="0"/>
              <a:t>Таким образом мы получим систему, которая обладает свойством односторонней проводимости.</a:t>
            </a:r>
            <a:endParaRPr lang="ru-RU" b="1" dirty="0"/>
          </a:p>
          <a:p>
            <a:pPr marL="0" indent="0" algn="just">
              <a:buNone/>
            </a:pPr>
            <a:endParaRPr lang="ru-RU" dirty="0"/>
          </a:p>
        </p:txBody>
      </p:sp>
    </p:spTree>
    <p:extLst>
      <p:ext uri="{BB962C8B-B14F-4D97-AF65-F5344CB8AC3E}">
        <p14:creationId xmlns:p14="http://schemas.microsoft.com/office/powerpoint/2010/main" val="32446584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диод</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Однако все изменится, если мы создадим некоторое электрическое поле, двигающее электроны от нагретого проводника в сторону холодного, т.е. создадим между горячим и холодным проводниками разность потенциалов. Тогда мы получим ток от горячего электрода к холодному. При приложении обратной разности потенциалов тока, естественно не будет, так как она будет отправлять электроны обратно на горячий электрод. </a:t>
            </a:r>
          </a:p>
          <a:p>
            <a:pPr marL="0" indent="0" algn="just">
              <a:buNone/>
            </a:pPr>
            <a:r>
              <a:rPr lang="ru-RU" b="1" dirty="0" smtClean="0"/>
              <a:t>Таким образом мы получим систему, которая обладает свойством односторонней проводимости - диод.</a:t>
            </a:r>
            <a:endParaRPr lang="ru-RU" b="1" dirty="0"/>
          </a:p>
          <a:p>
            <a:pPr marL="0" indent="0" algn="just">
              <a:buNone/>
            </a:pPr>
            <a:endParaRPr lang="ru-RU" dirty="0"/>
          </a:p>
        </p:txBody>
      </p:sp>
    </p:spTree>
    <p:extLst>
      <p:ext uri="{BB962C8B-B14F-4D97-AF65-F5344CB8AC3E}">
        <p14:creationId xmlns:p14="http://schemas.microsoft.com/office/powerpoint/2010/main" val="8007029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диод</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Горячий электрод носит название –Катод, холодный – Анод.</a:t>
            </a:r>
            <a:endParaRPr lang="ru-RU" dirty="0"/>
          </a:p>
        </p:txBody>
      </p:sp>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9900" y="2229283"/>
            <a:ext cx="6172200" cy="3895725"/>
          </a:xfrm>
          <a:prstGeom prst="rect">
            <a:avLst/>
          </a:prstGeom>
        </p:spPr>
      </p:pic>
    </p:spTree>
    <p:extLst>
      <p:ext uri="{BB962C8B-B14F-4D97-AF65-F5344CB8AC3E}">
        <p14:creationId xmlns:p14="http://schemas.microsoft.com/office/powerpoint/2010/main" val="31694887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диод</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20000"/>
              </a:bodyPr>
              <a:lstStyle/>
              <a:p>
                <a:pPr marL="0" indent="0" algn="just">
                  <a:buNone/>
                </a:pPr>
                <a:r>
                  <a:rPr lang="ru-RU" b="1" dirty="0" smtClean="0"/>
                  <a:t>Вольт-амперная характеристика электровакуумного диода</a:t>
                </a:r>
              </a:p>
              <a:p>
                <a:pPr marL="0" indent="0" algn="just">
                  <a:buNone/>
                </a:pPr>
                <a:r>
                  <a:rPr lang="ru-RU" dirty="0" smtClean="0"/>
                  <a:t>Как уже отмечалось, ток в электровакуумном диоде протекает только при приложении к аноду положительного относительно катода напряжения. При этом зависимость тока от приложенного напряжения </a:t>
                </a:r>
                <a:r>
                  <a:rPr lang="ru-RU" dirty="0" err="1" smtClean="0"/>
                  <a:t>нелинейна</a:t>
                </a:r>
                <a:r>
                  <a:rPr lang="ru-RU" dirty="0" smtClean="0"/>
                  <a:t> – не подчиняется закону Ома. </a:t>
                </a:r>
              </a:p>
              <a:p>
                <a:pPr marL="0" indent="0" algn="just">
                  <a:buNone/>
                </a:pPr>
                <a:r>
                  <a:rPr lang="ru-RU" dirty="0" smtClean="0"/>
                  <a:t>Практика показывает, что ток анода для конкретного напряжения анод-катод стабилизируется на уровне, существенно меньшем эмиссионной способности катода и, при этом, почти не зависит от температуры. Закон, описывающий зависимость тока анода от напряжения анод-катод носит название закон трех вторых</a:t>
                </a:r>
              </a:p>
              <a:p>
                <a:pPr marL="0" indent="0" algn="just">
                  <a:buNone/>
                </a:pPr>
                <a14:m>
                  <m:oMathPara xmlns:m="http://schemas.openxmlformats.org/officeDocument/2006/math">
                    <m:oMathParaPr>
                      <m:jc m:val="centerGroup"/>
                    </m:oMathParaPr>
                    <m:oMath xmlns:m="http://schemas.openxmlformats.org/officeDocument/2006/math">
                      <m:sSub>
                        <m:sSubPr>
                          <m:ctrlPr>
                            <a:rPr lang="ru-RU"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𝑎</m:t>
                          </m:r>
                        </m:sub>
                      </m:sSub>
                      <m:r>
                        <a:rPr lang="en-US" b="0" i="1" smtClean="0">
                          <a:latin typeface="Cambria Math" panose="02040503050406030204" pitchFamily="18" charset="0"/>
                        </a:rPr>
                        <m:t>=</m:t>
                      </m:r>
                      <m:r>
                        <a:rPr lang="en-US" b="0" i="1" smtClean="0">
                          <a:latin typeface="Cambria Math" panose="02040503050406030204" pitchFamily="18" charset="0"/>
                        </a:rPr>
                        <m:t>𝑔</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𝑈</m:t>
                          </m:r>
                        </m:e>
                        <m:sub>
                          <m:r>
                            <a:rPr lang="en-US" b="0" i="1" smtClean="0">
                              <a:latin typeface="Cambria Math" panose="02040503050406030204" pitchFamily="18" charset="0"/>
                            </a:rPr>
                            <m:t>𝑎</m:t>
                          </m:r>
                        </m:sub>
                        <m:sup>
                          <m:r>
                            <a:rPr lang="en-US" b="0" i="1" smtClean="0">
                              <a:latin typeface="Cambria Math" panose="02040503050406030204" pitchFamily="18" charset="0"/>
                            </a:rPr>
                            <m:t>3/2</m:t>
                          </m:r>
                        </m:sup>
                      </m:sSubSup>
                      <m:r>
                        <a:rPr lang="en-US" b="0" i="1" smtClean="0">
                          <a:latin typeface="Cambria Math" panose="02040503050406030204" pitchFamily="18" charset="0"/>
                        </a:rPr>
                        <m:t>, </m:t>
                      </m:r>
                    </m:oMath>
                  </m:oMathPara>
                </a14:m>
                <a:endParaRPr lang="ru-RU" b="0" i="1" dirty="0" smtClean="0">
                  <a:latin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ru-RU" b="0" i="1" smtClean="0">
                          <a:latin typeface="Cambria Math" panose="02040503050406030204" pitchFamily="18" charset="0"/>
                        </a:rPr>
                        <m:t>где </m:t>
                      </m:r>
                      <m:r>
                        <a:rPr lang="en-US" b="1" i="1" smtClean="0">
                          <a:latin typeface="Cambria Math" panose="02040503050406030204" pitchFamily="18" charset="0"/>
                        </a:rPr>
                        <m:t>𝒈</m:t>
                      </m:r>
                      <m:r>
                        <a:rPr lang="en-US" b="1" i="1" smtClean="0">
                          <a:latin typeface="Cambria Math" panose="02040503050406030204" pitchFamily="18" charset="0"/>
                        </a:rPr>
                        <m:t> −первеанс катода </m:t>
                      </m:r>
                      <m:r>
                        <a:rPr lang="ru-RU" b="0" i="1" smtClean="0">
                          <a:latin typeface="Cambria Math" panose="02040503050406030204" pitchFamily="18" charset="0"/>
                        </a:rPr>
                        <m:t>−некоторая постоянная величина, </m:t>
                      </m:r>
                    </m:oMath>
                  </m:oMathPara>
                </a14:m>
                <a:endParaRPr lang="ru-RU" b="0" i="1" dirty="0" smtClean="0">
                  <a:latin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ru-RU" b="0" i="1" smtClean="0">
                          <a:latin typeface="Cambria Math" panose="02040503050406030204" pitchFamily="18" charset="0"/>
                        </a:rPr>
                        <m:t>которая зависит от геометрии. </m:t>
                      </m:r>
                    </m:oMath>
                  </m:oMathPara>
                </a14:m>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t="-3501" r="-986"/>
                </a:stretch>
              </a:blipFill>
            </p:spPr>
            <p:txBody>
              <a:bodyPr/>
              <a:lstStyle/>
              <a:p>
                <a:r>
                  <a:rPr lang="ru-RU">
                    <a:noFill/>
                  </a:rPr>
                  <a:t> </a:t>
                </a:r>
              </a:p>
            </p:txBody>
          </p:sp>
        </mc:Fallback>
      </mc:AlternateContent>
    </p:spTree>
    <p:extLst>
      <p:ext uri="{BB962C8B-B14F-4D97-AF65-F5344CB8AC3E}">
        <p14:creationId xmlns:p14="http://schemas.microsoft.com/office/powerpoint/2010/main" val="159728903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диод</a:t>
            </a:r>
            <a:endParaRPr lang="ru-RU" dirty="0"/>
          </a:p>
        </p:txBody>
      </p:sp>
      <p:sp>
        <p:nvSpPr>
          <p:cNvPr id="3" name="Объект 2"/>
          <p:cNvSpPr>
            <a:spLocks noGrp="1"/>
          </p:cNvSpPr>
          <p:nvPr>
            <p:ph idx="1"/>
          </p:nvPr>
        </p:nvSpPr>
        <p:spPr/>
        <p:txBody>
          <a:bodyPr>
            <a:normAutofit lnSpcReduction="10000"/>
          </a:bodyPr>
          <a:lstStyle/>
          <a:p>
            <a:pPr marL="0" indent="0" algn="just">
              <a:buNone/>
            </a:pPr>
            <a:r>
              <a:rPr lang="ru-RU" b="1" dirty="0" smtClean="0"/>
              <a:t>Вольт-амперная характеристика электровакуумного диода</a:t>
            </a:r>
          </a:p>
          <a:p>
            <a:pPr marL="0" indent="0" algn="just">
              <a:buNone/>
            </a:pPr>
            <a:r>
              <a:rPr lang="ru-RU" dirty="0" smtClean="0"/>
              <a:t>Закон трех вторых носит так же название уравнения </a:t>
            </a:r>
            <a:r>
              <a:rPr lang="ru-RU" dirty="0" err="1" smtClean="0"/>
              <a:t>Шоттки</a:t>
            </a:r>
            <a:r>
              <a:rPr lang="ru-RU" dirty="0" smtClean="0"/>
              <a:t> и закона </a:t>
            </a:r>
            <a:r>
              <a:rPr lang="ru-RU" dirty="0" err="1" smtClean="0"/>
              <a:t>Чайлда</a:t>
            </a:r>
            <a:r>
              <a:rPr lang="ru-RU" dirty="0"/>
              <a:t> — </a:t>
            </a:r>
            <a:r>
              <a:rPr lang="ru-RU" dirty="0" err="1"/>
              <a:t>Ленгмюра</a:t>
            </a:r>
            <a:r>
              <a:rPr lang="ru-RU" dirty="0"/>
              <a:t> — </a:t>
            </a:r>
            <a:r>
              <a:rPr lang="ru-RU" dirty="0" smtClean="0"/>
              <a:t>Богуславского. Объясняется это явление действием пространственного заряда, который и ограничивает величину тока. </a:t>
            </a:r>
            <a:r>
              <a:rPr lang="ru-RU" dirty="0" err="1" smtClean="0"/>
              <a:t>Чайлд</a:t>
            </a:r>
            <a:r>
              <a:rPr lang="ru-RU" dirty="0" smtClean="0"/>
              <a:t> вывел закон для случая плоско-параллельных пластин, остальные независимо уточнили для случая цилиндрического диода. Закон не действует в области низких напряжений – когда существенно воздействие электронного облака у катода, а так же в области отрицательных напряжений и в случае когда ток анода близок к эмиссионной способности катода (области насыщения) – так как тогда нет главного условия, его вызывающего – большого количества свободных электронов. </a:t>
            </a:r>
            <a:endParaRPr lang="ru-RU" dirty="0"/>
          </a:p>
        </p:txBody>
      </p:sp>
    </p:spTree>
    <p:extLst>
      <p:ext uri="{BB962C8B-B14F-4D97-AF65-F5344CB8AC3E}">
        <p14:creationId xmlns:p14="http://schemas.microsoft.com/office/powerpoint/2010/main" val="1613580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диод</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Вольт-амперная характеристика электровакуумного диода</a:t>
            </a:r>
            <a:endParaRPr lang="ru-RU" dirty="0"/>
          </a:p>
        </p:txBody>
      </p:sp>
      <p:pic>
        <p:nvPicPr>
          <p:cNvPr id="4" name="Рисунок 3"/>
          <p:cNvPicPr>
            <a:picLocks noChangeAspect="1"/>
          </p:cNvPicPr>
          <p:nvPr/>
        </p:nvPicPr>
        <p:blipFill>
          <a:blip r:embed="rId2"/>
          <a:stretch>
            <a:fillRect/>
          </a:stretch>
        </p:blipFill>
        <p:spPr>
          <a:xfrm>
            <a:off x="2691432" y="2229993"/>
            <a:ext cx="5419416" cy="4372564"/>
          </a:xfrm>
          <a:prstGeom prst="rect">
            <a:avLst/>
          </a:prstGeom>
        </p:spPr>
      </p:pic>
    </p:spTree>
    <p:extLst>
      <p:ext uri="{BB962C8B-B14F-4D97-AF65-F5344CB8AC3E}">
        <p14:creationId xmlns:p14="http://schemas.microsoft.com/office/powerpoint/2010/main" val="9310125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диод</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Конструкция электровакуумных диодов</a:t>
            </a:r>
          </a:p>
          <a:p>
            <a:pPr marL="0" indent="0" algn="just">
              <a:buNone/>
            </a:pPr>
            <a:r>
              <a:rPr lang="ru-RU" dirty="0" smtClean="0"/>
              <a:t>Прямонакальный диод		Цилиндрический диод с косвенным</a:t>
            </a:r>
          </a:p>
          <a:p>
            <a:pPr marL="0" indent="0" algn="just">
              <a:buNone/>
            </a:pPr>
            <a:r>
              <a:rPr lang="ru-RU" dirty="0"/>
              <a:t>	</a:t>
            </a:r>
            <a:r>
              <a:rPr lang="ru-RU" dirty="0" smtClean="0"/>
              <a:t>				накалом</a:t>
            </a:r>
            <a:endParaRPr lang="ru-RU" dirty="0"/>
          </a:p>
        </p:txBody>
      </p:sp>
      <p:pic>
        <p:nvPicPr>
          <p:cNvPr id="5" name="Рисунок 4"/>
          <p:cNvPicPr>
            <a:picLocks noChangeAspect="1"/>
          </p:cNvPicPr>
          <p:nvPr/>
        </p:nvPicPr>
        <p:blipFill>
          <a:blip r:embed="rId2"/>
          <a:stretch>
            <a:fillRect/>
          </a:stretch>
        </p:blipFill>
        <p:spPr>
          <a:xfrm>
            <a:off x="1716540" y="3241963"/>
            <a:ext cx="2107315" cy="1958404"/>
          </a:xfrm>
          <a:prstGeom prst="rect">
            <a:avLst/>
          </a:prstGeom>
        </p:spPr>
      </p:pic>
      <p:pic>
        <p:nvPicPr>
          <p:cNvPr id="7" name="Рисунок 6"/>
          <p:cNvPicPr>
            <a:picLocks noChangeAspect="1"/>
          </p:cNvPicPr>
          <p:nvPr/>
        </p:nvPicPr>
        <p:blipFill>
          <a:blip r:embed="rId3"/>
          <a:stretch>
            <a:fillRect/>
          </a:stretch>
        </p:blipFill>
        <p:spPr>
          <a:xfrm>
            <a:off x="4075340" y="4962701"/>
            <a:ext cx="2479840" cy="1165131"/>
          </a:xfrm>
          <a:prstGeom prst="rect">
            <a:avLst/>
          </a:prstGeom>
        </p:spPr>
      </p:pic>
      <p:pic>
        <p:nvPicPr>
          <p:cNvPr id="8" name="Рисунок 7"/>
          <p:cNvPicPr>
            <a:picLocks noChangeAspect="1"/>
          </p:cNvPicPr>
          <p:nvPr/>
        </p:nvPicPr>
        <p:blipFill>
          <a:blip r:embed="rId4"/>
          <a:stretch>
            <a:fillRect/>
          </a:stretch>
        </p:blipFill>
        <p:spPr>
          <a:xfrm>
            <a:off x="7686421" y="2733888"/>
            <a:ext cx="2670786" cy="2811889"/>
          </a:xfrm>
          <a:prstGeom prst="rect">
            <a:avLst/>
          </a:prstGeom>
        </p:spPr>
      </p:pic>
    </p:spTree>
    <p:extLst>
      <p:ext uri="{BB962C8B-B14F-4D97-AF65-F5344CB8AC3E}">
        <p14:creationId xmlns:p14="http://schemas.microsoft.com/office/powerpoint/2010/main" val="40846632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триод</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Триод – </a:t>
            </a:r>
            <a:r>
              <a:rPr lang="ru-RU" b="1" dirty="0" err="1" smtClean="0"/>
              <a:t>трехэлектродный</a:t>
            </a:r>
            <a:r>
              <a:rPr lang="ru-RU" b="1" dirty="0" smtClean="0"/>
              <a:t> электровакуумный прибор который используется для усиления сигналов. </a:t>
            </a:r>
            <a:endParaRPr lang="en-US" b="1" dirty="0" smtClean="0"/>
          </a:p>
          <a:p>
            <a:pPr marL="0" indent="0" algn="just">
              <a:buNone/>
            </a:pPr>
            <a:r>
              <a:rPr lang="ru-RU" dirty="0" smtClean="0"/>
              <a:t>Идея, заключенная в его основе проста – если взять электровакуумный диод и поместить на пути электронов от катода к аноду дополнительный электрод, то подавая на этот электрод отрицательный относительно катода потенциал мы будем уменьшать ток анода, подавая положительный потенциал – увеличивать ток анода.</a:t>
            </a:r>
          </a:p>
        </p:txBody>
      </p:sp>
    </p:spTree>
    <p:extLst>
      <p:ext uri="{BB962C8B-B14F-4D97-AF65-F5344CB8AC3E}">
        <p14:creationId xmlns:p14="http://schemas.microsoft.com/office/powerpoint/2010/main" val="14922294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триод</a:t>
            </a:r>
            <a:endParaRPr lang="ru-RU" dirty="0"/>
          </a:p>
        </p:txBody>
      </p:sp>
      <p:sp>
        <p:nvSpPr>
          <p:cNvPr id="3" name="Объект 2"/>
          <p:cNvSpPr>
            <a:spLocks noGrp="1"/>
          </p:cNvSpPr>
          <p:nvPr>
            <p:ph idx="1"/>
          </p:nvPr>
        </p:nvSpPr>
        <p:spPr/>
        <p:txBody>
          <a:bodyPr>
            <a:normAutofit/>
          </a:bodyPr>
          <a:lstStyle/>
          <a:p>
            <a:pPr marL="0" indent="0" algn="just">
              <a:buNone/>
            </a:pPr>
            <a:r>
              <a:rPr lang="ru-RU" dirty="0"/>
              <a:t>Для сравнительной оценки воздействия полей анода и сетки на </a:t>
            </a:r>
            <a:r>
              <a:rPr lang="ru-RU" dirty="0" smtClean="0"/>
              <a:t>потенциальный </a:t>
            </a:r>
            <a:r>
              <a:rPr lang="ru-RU" dirty="0"/>
              <a:t>барьер у катода вводят понятие действующего напряжения, которое учитывает воздействие как анодного, так и сеточного напряжений.</a:t>
            </a:r>
          </a:p>
          <a:p>
            <a:pPr marL="0" indent="0" algn="just">
              <a:buNone/>
            </a:pPr>
            <a:r>
              <a:rPr lang="ru-RU" dirty="0"/>
              <a:t>Ввиду того, что изменения напряжений на аноде и сетке приводят в основном к изменению электрического поля в пространстве сетка-катод, </a:t>
            </a:r>
            <a:r>
              <a:rPr lang="ru-RU" dirty="0" smtClean="0"/>
              <a:t>можно заменить </a:t>
            </a:r>
            <a:r>
              <a:rPr lang="ru-RU" dirty="0"/>
              <a:t>триод эквивалентным диодом, анод которого находится на месте сетки триода.</a:t>
            </a:r>
          </a:p>
        </p:txBody>
      </p:sp>
      <p:grpSp>
        <p:nvGrpSpPr>
          <p:cNvPr id="4" name="Группа 3"/>
          <p:cNvGrpSpPr>
            <a:grpSpLocks noChangeAspect="1"/>
          </p:cNvGrpSpPr>
          <p:nvPr/>
        </p:nvGrpSpPr>
        <p:grpSpPr>
          <a:xfrm>
            <a:off x="4605881" y="5216579"/>
            <a:ext cx="2347436" cy="1091684"/>
            <a:chOff x="0" y="9036"/>
            <a:chExt cx="4183872" cy="1946082"/>
          </a:xfrm>
        </p:grpSpPr>
        <p:grpSp>
          <p:nvGrpSpPr>
            <p:cNvPr id="5" name="Группа 4"/>
            <p:cNvGrpSpPr/>
            <p:nvPr/>
          </p:nvGrpSpPr>
          <p:grpSpPr>
            <a:xfrm>
              <a:off x="0" y="27992"/>
              <a:ext cx="1632144" cy="1927126"/>
              <a:chOff x="0" y="387220"/>
              <a:chExt cx="1632144" cy="1927126"/>
            </a:xfrm>
          </p:grpSpPr>
          <p:sp>
            <p:nvSpPr>
              <p:cNvPr id="14" name="Овал 13"/>
              <p:cNvSpPr/>
              <p:nvPr/>
            </p:nvSpPr>
            <p:spPr>
              <a:xfrm>
                <a:off x="0" y="639147"/>
                <a:ext cx="1547478" cy="154729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cxnSp>
            <p:nvCxnSpPr>
              <p:cNvPr id="15" name="Прямая соединительная линия 14"/>
              <p:cNvCxnSpPr/>
              <p:nvPr/>
            </p:nvCxnSpPr>
            <p:spPr>
              <a:xfrm>
                <a:off x="508518" y="877077"/>
                <a:ext cx="50419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flipV="1">
                <a:off x="765019" y="387220"/>
                <a:ext cx="0" cy="4883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Дуга 16"/>
              <p:cNvSpPr/>
              <p:nvPr/>
            </p:nvSpPr>
            <p:spPr>
              <a:xfrm>
                <a:off x="415212" y="1595526"/>
                <a:ext cx="718820" cy="718820"/>
              </a:xfrm>
              <a:prstGeom prst="arc">
                <a:avLst>
                  <a:gd name="adj1" fmla="val 10934894"/>
                  <a:gd name="adj2" fmla="val 2156587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cxnSp>
            <p:nvCxnSpPr>
              <p:cNvPr id="18" name="Прямая соединительная линия 17"/>
              <p:cNvCxnSpPr/>
              <p:nvPr/>
            </p:nvCxnSpPr>
            <p:spPr>
              <a:xfrm>
                <a:off x="1133669" y="1950089"/>
                <a:ext cx="4984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Группа 5"/>
            <p:cNvGrpSpPr/>
            <p:nvPr/>
          </p:nvGrpSpPr>
          <p:grpSpPr>
            <a:xfrm>
              <a:off x="2551922" y="9036"/>
              <a:ext cx="1631950" cy="1946014"/>
              <a:chOff x="0" y="368253"/>
              <a:chExt cx="1632144" cy="1946093"/>
            </a:xfrm>
          </p:grpSpPr>
          <p:sp>
            <p:nvSpPr>
              <p:cNvPr id="9" name="Овал 8"/>
              <p:cNvSpPr/>
              <p:nvPr/>
            </p:nvSpPr>
            <p:spPr>
              <a:xfrm>
                <a:off x="0" y="639147"/>
                <a:ext cx="1547478" cy="154729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cxnSp>
            <p:nvCxnSpPr>
              <p:cNvPr id="10" name="Прямая соединительная линия 9"/>
              <p:cNvCxnSpPr/>
              <p:nvPr/>
            </p:nvCxnSpPr>
            <p:spPr>
              <a:xfrm>
                <a:off x="508518" y="1445951"/>
                <a:ext cx="50419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p:nvPr/>
            </p:nvCxnSpPr>
            <p:spPr>
              <a:xfrm flipV="1">
                <a:off x="765019" y="368253"/>
                <a:ext cx="0" cy="10761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Дуга 11"/>
              <p:cNvSpPr/>
              <p:nvPr/>
            </p:nvSpPr>
            <p:spPr>
              <a:xfrm>
                <a:off x="415212" y="1595526"/>
                <a:ext cx="718820" cy="718820"/>
              </a:xfrm>
              <a:prstGeom prst="arc">
                <a:avLst>
                  <a:gd name="adj1" fmla="val 10934894"/>
                  <a:gd name="adj2" fmla="val 2156587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cxnSp>
            <p:nvCxnSpPr>
              <p:cNvPr id="13" name="Прямая соединительная линия 12"/>
              <p:cNvCxnSpPr/>
              <p:nvPr/>
            </p:nvCxnSpPr>
            <p:spPr>
              <a:xfrm>
                <a:off x="1133669" y="1950089"/>
                <a:ext cx="4984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 name="Прямая соединительная линия 6"/>
            <p:cNvCxnSpPr/>
            <p:nvPr/>
          </p:nvCxnSpPr>
          <p:spPr>
            <a:xfrm>
              <a:off x="256592" y="1087017"/>
              <a:ext cx="1063689"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p:nvPr/>
          </p:nvCxnSpPr>
          <p:spPr>
            <a:xfrm>
              <a:off x="1320126" y="1086690"/>
              <a:ext cx="1768306"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288880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триод</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pPr marL="0" indent="0" algn="just">
                  <a:buNone/>
                </a:pPr>
                <a:r>
                  <a:rPr lang="ru-RU" dirty="0" smtClean="0"/>
                  <a:t>Выражение для действующего напряжения может быть представлено в следующем виде:</a:t>
                </a:r>
              </a:p>
              <a:p>
                <a:pPr marL="0" indent="0" algn="just">
                  <a:buNone/>
                </a:pPr>
                <a14:m>
                  <m:oMathPara xmlns:m="http://schemas.openxmlformats.org/officeDocument/2006/math">
                    <m:oMathParaPr>
                      <m:jc m:val="centerGroup"/>
                    </m:oMathParaPr>
                    <m:oMath xmlns:m="http://schemas.openxmlformats.org/officeDocument/2006/math">
                      <m:sSub>
                        <m:sSubPr>
                          <m:ctrlPr>
                            <a:rPr lang="ru-RU" i="1" smtClean="0">
                              <a:latin typeface="Cambria Math" panose="02040503050406030204" pitchFamily="18" charset="0"/>
                            </a:rPr>
                          </m:ctrlPr>
                        </m:sSubPr>
                        <m:e>
                          <m:r>
                            <a:rPr lang="en-US" b="0" i="1" smtClean="0">
                              <a:latin typeface="Cambria Math" panose="02040503050406030204" pitchFamily="18" charset="0"/>
                            </a:rPr>
                            <m:t>𝑈</m:t>
                          </m:r>
                        </m:e>
                        <m:sub>
                          <m:r>
                            <a:rPr lang="ru-RU" b="0" i="1" smtClean="0">
                              <a:latin typeface="Cambria Math" panose="02040503050406030204" pitchFamily="18" charset="0"/>
                            </a:rPr>
                            <m:t>д</m:t>
                          </m:r>
                        </m:sub>
                      </m:sSub>
                      <m:r>
                        <a:rPr lang="ru-RU" b="0" i="1" smtClean="0">
                          <a:latin typeface="Cambria Math" panose="02040503050406030204" pitchFamily="18" charset="0"/>
                        </a:rPr>
                        <m:t>=</m:t>
                      </m:r>
                      <m:f>
                        <m:fPr>
                          <m:ctrlPr>
                            <a:rPr lang="ru-RU" b="0" i="1" smtClean="0">
                              <a:latin typeface="Cambria Math" panose="02040503050406030204" pitchFamily="18" charset="0"/>
                            </a:rPr>
                          </m:ctrlPr>
                        </m:fPr>
                        <m:num>
                          <m:sSub>
                            <m:sSubPr>
                              <m:ctrlPr>
                                <a:rPr lang="ru-RU" b="0" i="1" smtClean="0">
                                  <a:latin typeface="Cambria Math" panose="02040503050406030204" pitchFamily="18" charset="0"/>
                                </a:rPr>
                              </m:ctrlPr>
                            </m:sSubPr>
                            <m:e>
                              <m:r>
                                <a:rPr lang="en-US" b="0" i="1" smtClean="0">
                                  <a:latin typeface="Cambria Math" panose="02040503050406030204" pitchFamily="18" charset="0"/>
                                </a:rPr>
                                <m:t>𝑈</m:t>
                              </m:r>
                            </m:e>
                            <m:sub>
                              <m:r>
                                <a:rPr lang="ru-RU" b="0" i="1" smtClean="0">
                                  <a:latin typeface="Cambria Math" panose="02040503050406030204" pitchFamily="18" charset="0"/>
                                </a:rPr>
                                <m:t>с</m:t>
                              </m:r>
                            </m:sub>
                          </m:sSub>
                          <m:r>
                            <a:rPr lang="ru-RU" b="0" i="1" smtClean="0">
                              <a:latin typeface="Cambria Math" panose="02040503050406030204" pitchFamily="18" charset="0"/>
                            </a:rPr>
                            <m:t>+</m:t>
                          </m:r>
                          <m:r>
                            <a:rPr lang="en-US" b="0" i="1" smtClean="0">
                              <a:latin typeface="Cambria Math" panose="02040503050406030204" pitchFamily="18" charset="0"/>
                            </a:rPr>
                            <m:t>𝐷</m:t>
                          </m:r>
                          <m:sSub>
                            <m:sSubPr>
                              <m:ctrlPr>
                                <a:rPr lang="ru-RU"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𝐴</m:t>
                              </m:r>
                            </m:sub>
                          </m:sSub>
                        </m:num>
                        <m:den>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𝜒</m:t>
                          </m:r>
                          <m:r>
                            <a:rPr lang="en-US" b="0" i="1" smtClean="0">
                              <a:latin typeface="Cambria Math" panose="02040503050406030204" pitchFamily="18" charset="0"/>
                              <a:ea typeface="Cambria Math" panose="02040503050406030204" pitchFamily="18" charset="0"/>
                            </a:rPr>
                            <m:t>𝐷</m:t>
                          </m:r>
                        </m:den>
                      </m:f>
                    </m:oMath>
                  </m:oMathPara>
                </a14:m>
                <a:endParaRPr lang="en-US" dirty="0" smtClean="0"/>
              </a:p>
              <a:p>
                <a:pPr marL="0" indent="0" algn="just">
                  <a:buNone/>
                </a:pPr>
                <a:r>
                  <a:rPr lang="ru-RU" dirty="0" smtClean="0"/>
                  <a:t>Параметр </a:t>
                </a:r>
                <a:r>
                  <a:rPr lang="en-US" dirty="0" smtClean="0"/>
                  <a:t>D – </a:t>
                </a:r>
                <a:r>
                  <a:rPr lang="ru-RU" dirty="0" smtClean="0"/>
                  <a:t>называется проницаемость триода. </a:t>
                </a:r>
                <a:r>
                  <a:rPr lang="en-US" dirty="0" smtClean="0"/>
                  <a:t>D&lt;&lt;1</a:t>
                </a:r>
              </a:p>
              <a:p>
                <a:pPr marL="0" indent="0" algn="just">
                  <a:buNone/>
                </a:pPr>
                <a:r>
                  <a:rPr lang="en-US" dirty="0" smtClean="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𝜒</m:t>
                    </m:r>
                    <m:r>
                      <a:rPr lang="en-US" b="0" i="1" smtClean="0">
                        <a:latin typeface="Cambria Math" panose="02040503050406030204" pitchFamily="18" charset="0"/>
                        <a:ea typeface="Cambria Math" panose="02040503050406030204" pitchFamily="18" charset="0"/>
                      </a:rPr>
                      <m:t> −</m:t>
                    </m:r>
                    <m:r>
                      <a:rPr lang="ru-RU" b="0" i="1" smtClean="0">
                        <a:latin typeface="Cambria Math" panose="02040503050406030204" pitchFamily="18" charset="0"/>
                        <a:ea typeface="Cambria Math" panose="02040503050406030204" pitchFamily="18" charset="0"/>
                      </a:rPr>
                      <m:t>геометрический параметр</m:t>
                    </m:r>
                  </m:oMath>
                </a14:m>
                <a:r>
                  <a:rPr lang="ru-RU" dirty="0" smtClean="0"/>
                  <a:t>. Он характеризует разность площадей анода и сетки. Так как </a:t>
                </a:r>
                <a:r>
                  <a:rPr lang="en-US" dirty="0" smtClean="0"/>
                  <a:t>D&lt;&lt;1 </a:t>
                </a:r>
                <a:r>
                  <a:rPr lang="ru-RU" dirty="0" smtClean="0"/>
                  <a:t>, то вторым членом в знаменателе можно пренебречь, так что имеем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𝑈</m:t>
                        </m:r>
                      </m:e>
                      <m:sub>
                        <m:r>
                          <a:rPr lang="ru-RU" i="1">
                            <a:latin typeface="Cambria Math" panose="02040503050406030204" pitchFamily="18" charset="0"/>
                          </a:rPr>
                          <m:t>д</m:t>
                        </m:r>
                      </m:sub>
                    </m:sSub>
                    <m:r>
                      <a:rPr lang="ru-RU" b="0" i="1" smtClean="0">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𝑈</m:t>
                        </m:r>
                      </m:e>
                      <m:sub>
                        <m:r>
                          <a:rPr lang="ru-RU" i="1">
                            <a:latin typeface="Cambria Math" panose="02040503050406030204" pitchFamily="18" charset="0"/>
                          </a:rPr>
                          <m:t>с</m:t>
                        </m:r>
                      </m:sub>
                    </m:sSub>
                    <m:r>
                      <a:rPr lang="ru-RU" i="1">
                        <a:latin typeface="Cambria Math" panose="02040503050406030204" pitchFamily="18" charset="0"/>
                      </a:rPr>
                      <m:t>+</m:t>
                    </m:r>
                    <m:r>
                      <a:rPr lang="en-US" i="1">
                        <a:latin typeface="Cambria Math" panose="02040503050406030204" pitchFamily="18" charset="0"/>
                      </a:rPr>
                      <m:t>𝐷</m:t>
                    </m:r>
                    <m:sSub>
                      <m:sSubPr>
                        <m:ctrlPr>
                          <a:rPr lang="ru-RU"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𝐴</m:t>
                        </m:r>
                      </m:sub>
                    </m:sSub>
                  </m:oMath>
                </a14:m>
                <a:endParaRPr lang="ru-RU" dirty="0" smtClean="0"/>
              </a:p>
              <a:p>
                <a:pPr marL="0" indent="0" algn="just">
                  <a:buNone/>
                </a:pPr>
                <a:r>
                  <a:rPr lang="ru-RU" dirty="0" smtClean="0"/>
                  <a:t>Тогда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𝐼</m:t>
                        </m:r>
                      </m:e>
                      <m:sub>
                        <m:r>
                          <a:rPr lang="ru-RU" b="0" i="1" smtClean="0">
                            <a:latin typeface="Cambria Math" panose="02040503050406030204" pitchFamily="18" charset="0"/>
                          </a:rPr>
                          <m:t>к</m:t>
                        </m:r>
                      </m:sub>
                    </m:sSub>
                    <m:r>
                      <a:rPr lang="en-US" i="1">
                        <a:latin typeface="Cambria Math" panose="02040503050406030204" pitchFamily="18" charset="0"/>
                      </a:rPr>
                      <m:t>=</m:t>
                    </m:r>
                    <m:r>
                      <a:rPr lang="en-US" i="1">
                        <a:latin typeface="Cambria Math" panose="02040503050406030204" pitchFamily="18" charset="0"/>
                      </a:rPr>
                      <m:t>𝑔</m:t>
                    </m:r>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ru-RU" b="0" i="1" smtClean="0">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𝑈</m:t>
                            </m:r>
                          </m:e>
                          <m:sub>
                            <m:r>
                              <a:rPr lang="ru-RU" i="1">
                                <a:latin typeface="Cambria Math" panose="02040503050406030204" pitchFamily="18" charset="0"/>
                              </a:rPr>
                              <m:t>с</m:t>
                            </m:r>
                          </m:sub>
                        </m:sSub>
                        <m:r>
                          <a:rPr lang="ru-RU" i="1">
                            <a:latin typeface="Cambria Math" panose="02040503050406030204" pitchFamily="18" charset="0"/>
                          </a:rPr>
                          <m:t>+</m:t>
                        </m:r>
                        <m:r>
                          <a:rPr lang="en-US" i="1">
                            <a:latin typeface="Cambria Math" panose="02040503050406030204" pitchFamily="18" charset="0"/>
                          </a:rPr>
                          <m:t>𝐷</m:t>
                        </m:r>
                        <m:sSub>
                          <m:sSubPr>
                            <m:ctrlPr>
                              <a:rPr lang="ru-RU"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𝐴</m:t>
                            </m:r>
                          </m:sub>
                        </m:sSub>
                        <m:r>
                          <a:rPr lang="ru-RU" b="0" i="1" smtClean="0">
                            <a:latin typeface="Cambria Math" panose="02040503050406030204" pitchFamily="18" charset="0"/>
                          </a:rPr>
                          <m:t>)</m:t>
                        </m:r>
                      </m:e>
                      <m:sub>
                        <m:r>
                          <a:rPr lang="ru-RU" b="0" i="1" smtClean="0">
                            <a:latin typeface="Cambria Math" panose="02040503050406030204" pitchFamily="18" charset="0"/>
                          </a:rPr>
                          <m:t> </m:t>
                        </m:r>
                      </m:sub>
                      <m:sup>
                        <m:r>
                          <a:rPr lang="en-US" i="1">
                            <a:latin typeface="Cambria Math" panose="02040503050406030204" pitchFamily="18" charset="0"/>
                          </a:rPr>
                          <m:t>3/2</m:t>
                        </m:r>
                      </m:sup>
                    </m:sSubSup>
                  </m:oMath>
                </a14:m>
                <a:r>
                  <a:rPr lang="en-US" dirty="0" smtClean="0"/>
                  <a:t> </a:t>
                </a:r>
                <a:r>
                  <a:rPr lang="ru-RU" dirty="0" smtClean="0"/>
                  <a:t>, где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𝐼</m:t>
                        </m:r>
                      </m:e>
                      <m:sub>
                        <m:r>
                          <a:rPr lang="ru-RU" i="1">
                            <a:latin typeface="Cambria Math" panose="02040503050406030204" pitchFamily="18" charset="0"/>
                          </a:rPr>
                          <m:t>к</m:t>
                        </m:r>
                      </m:sub>
                    </m:sSub>
                    <m:r>
                      <a:rPr lang="ru-RU" b="0" i="1" smtClean="0">
                        <a:latin typeface="Cambria Math" panose="02040503050406030204" pitchFamily="18" charset="0"/>
                      </a:rPr>
                      <m:t>=</m:t>
                    </m:r>
                    <m:sSub>
                      <m:sSubPr>
                        <m:ctrlPr>
                          <a:rPr lang="ru-RU"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𝐴</m:t>
                        </m:r>
                      </m:sub>
                    </m:sSub>
                    <m:r>
                      <a:rPr lang="en-US" b="0" i="1" smtClean="0">
                        <a:latin typeface="Cambria Math" panose="02040503050406030204" pitchFamily="18" charset="0"/>
                      </a:rPr>
                      <m:t>+</m:t>
                    </m:r>
                    <m:sSub>
                      <m:sSubPr>
                        <m:ctrlPr>
                          <a:rPr lang="ru-RU"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𝐶</m:t>
                        </m:r>
                      </m:sub>
                    </m:sSub>
                  </m:oMath>
                </a14:m>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217" t="-2241" r="-1159"/>
                </a:stretch>
              </a:blipFill>
            </p:spPr>
            <p:txBody>
              <a:bodyPr/>
              <a:lstStyle/>
              <a:p>
                <a:r>
                  <a:rPr lang="ru-RU">
                    <a:noFill/>
                  </a:rPr>
                  <a:t> </a:t>
                </a:r>
              </a:p>
            </p:txBody>
          </p:sp>
        </mc:Fallback>
      </mc:AlternateContent>
    </p:spTree>
    <p:extLst>
      <p:ext uri="{BB962C8B-B14F-4D97-AF65-F5344CB8AC3E}">
        <p14:creationId xmlns:p14="http://schemas.microsoft.com/office/powerpoint/2010/main" val="16654349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триод</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Из этого уравнения можно теперь получить семейства воль-амперных характеристик, которые характеризуют работу триода:</a:t>
            </a:r>
          </a:p>
          <a:p>
            <a:pPr marL="0" indent="0" algn="just">
              <a:buNone/>
            </a:pPr>
            <a:r>
              <a:rPr lang="en-US" dirty="0" err="1"/>
              <a:t>Ia</a:t>
            </a:r>
            <a:r>
              <a:rPr lang="en-US" dirty="0"/>
              <a:t> = f1(</a:t>
            </a:r>
            <a:r>
              <a:rPr lang="en-US" dirty="0" err="1"/>
              <a:t>Uc</a:t>
            </a:r>
            <a:r>
              <a:rPr lang="en-US" dirty="0"/>
              <a:t>), </a:t>
            </a:r>
            <a:r>
              <a:rPr lang="ru-RU" dirty="0"/>
              <a:t>при </a:t>
            </a:r>
            <a:r>
              <a:rPr lang="en-US" dirty="0" err="1"/>
              <a:t>Ua</a:t>
            </a:r>
            <a:r>
              <a:rPr lang="en-US" dirty="0"/>
              <a:t> = </a:t>
            </a:r>
            <a:r>
              <a:rPr lang="en-US" dirty="0" err="1"/>
              <a:t>const</a:t>
            </a:r>
            <a:r>
              <a:rPr lang="en-US" dirty="0"/>
              <a:t> – </a:t>
            </a:r>
            <a:r>
              <a:rPr lang="ru-RU" dirty="0"/>
              <a:t>анодно-сеточная характеристика;</a:t>
            </a:r>
          </a:p>
          <a:p>
            <a:pPr marL="0" indent="0" algn="just">
              <a:buNone/>
            </a:pPr>
            <a:r>
              <a:rPr lang="en-US" dirty="0" err="1"/>
              <a:t>Ia</a:t>
            </a:r>
            <a:r>
              <a:rPr lang="en-US" dirty="0"/>
              <a:t> = f2(</a:t>
            </a:r>
            <a:r>
              <a:rPr lang="en-US" dirty="0" err="1"/>
              <a:t>Ua</a:t>
            </a:r>
            <a:r>
              <a:rPr lang="en-US" dirty="0"/>
              <a:t> ), </a:t>
            </a:r>
            <a:r>
              <a:rPr lang="ru-RU" dirty="0"/>
              <a:t>при </a:t>
            </a:r>
            <a:r>
              <a:rPr lang="en-US" dirty="0" err="1"/>
              <a:t>Uc</a:t>
            </a:r>
            <a:r>
              <a:rPr lang="en-US" dirty="0"/>
              <a:t> = </a:t>
            </a:r>
            <a:r>
              <a:rPr lang="en-US" dirty="0" err="1"/>
              <a:t>const</a:t>
            </a:r>
            <a:r>
              <a:rPr lang="en-US" dirty="0"/>
              <a:t> – </a:t>
            </a:r>
            <a:r>
              <a:rPr lang="ru-RU" dirty="0"/>
              <a:t>анодная характеристика;</a:t>
            </a:r>
          </a:p>
          <a:p>
            <a:pPr marL="0" indent="0" algn="just">
              <a:buNone/>
            </a:pPr>
            <a:r>
              <a:rPr lang="en-US" dirty="0"/>
              <a:t>I</a:t>
            </a:r>
            <a:r>
              <a:rPr lang="ru-RU" dirty="0"/>
              <a:t>с = </a:t>
            </a:r>
            <a:r>
              <a:rPr lang="el-GR" dirty="0"/>
              <a:t>φ1(</a:t>
            </a:r>
            <a:r>
              <a:rPr lang="en-US" dirty="0" err="1"/>
              <a:t>Uc</a:t>
            </a:r>
            <a:r>
              <a:rPr lang="en-US" dirty="0"/>
              <a:t> ), </a:t>
            </a:r>
            <a:r>
              <a:rPr lang="ru-RU" dirty="0"/>
              <a:t>при </a:t>
            </a:r>
            <a:r>
              <a:rPr lang="en-US" dirty="0" err="1"/>
              <a:t>Ua</a:t>
            </a:r>
            <a:r>
              <a:rPr lang="en-US" dirty="0"/>
              <a:t> = </a:t>
            </a:r>
            <a:r>
              <a:rPr lang="en-US" dirty="0" err="1"/>
              <a:t>const</a:t>
            </a:r>
            <a:r>
              <a:rPr lang="en-US" dirty="0"/>
              <a:t> – </a:t>
            </a:r>
            <a:r>
              <a:rPr lang="ru-RU" dirty="0"/>
              <a:t>сеточная характеристика;</a:t>
            </a:r>
          </a:p>
          <a:p>
            <a:pPr marL="0" indent="0" algn="just">
              <a:buNone/>
            </a:pPr>
            <a:r>
              <a:rPr lang="en-US" dirty="0"/>
              <a:t>I</a:t>
            </a:r>
            <a:r>
              <a:rPr lang="ru-RU" dirty="0"/>
              <a:t>с = </a:t>
            </a:r>
            <a:r>
              <a:rPr lang="el-GR" dirty="0"/>
              <a:t>φ2(</a:t>
            </a:r>
            <a:r>
              <a:rPr lang="en-US" dirty="0" err="1"/>
              <a:t>Ua</a:t>
            </a:r>
            <a:r>
              <a:rPr lang="en-US" dirty="0"/>
              <a:t> ), </a:t>
            </a:r>
            <a:r>
              <a:rPr lang="ru-RU" dirty="0"/>
              <a:t>при </a:t>
            </a:r>
            <a:r>
              <a:rPr lang="en-US" dirty="0" err="1"/>
              <a:t>Uc</a:t>
            </a:r>
            <a:r>
              <a:rPr lang="en-US" dirty="0"/>
              <a:t> = </a:t>
            </a:r>
            <a:r>
              <a:rPr lang="en-US" dirty="0" err="1"/>
              <a:t>const</a:t>
            </a:r>
            <a:r>
              <a:rPr lang="en-US" dirty="0"/>
              <a:t> – </a:t>
            </a:r>
            <a:r>
              <a:rPr lang="ru-RU" dirty="0"/>
              <a:t>сеточно-анодная характеристика.</a:t>
            </a:r>
          </a:p>
          <a:p>
            <a:pPr marL="0" indent="0" algn="just">
              <a:buNone/>
            </a:pPr>
            <a:endParaRPr lang="ru-RU" dirty="0" smtClean="0"/>
          </a:p>
        </p:txBody>
      </p:sp>
    </p:spTree>
    <p:extLst>
      <p:ext uri="{BB962C8B-B14F-4D97-AF65-F5344CB8AC3E}">
        <p14:creationId xmlns:p14="http://schemas.microsoft.com/office/powerpoint/2010/main" val="423280125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триод</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Анодно-сеточная характеристика – показывает закон изменения тока анода при изменении напряжения на сетке при заданном напряжении анода.</a:t>
            </a:r>
          </a:p>
          <a:p>
            <a:pPr marL="0" indent="0" algn="just">
              <a:buNone/>
            </a:pPr>
            <a:endParaRPr lang="en-US" b="1" dirty="0" smtClean="0"/>
          </a:p>
        </p:txBody>
      </p:sp>
      <p:grpSp>
        <p:nvGrpSpPr>
          <p:cNvPr id="4" name="Группа 3"/>
          <p:cNvGrpSpPr/>
          <p:nvPr/>
        </p:nvGrpSpPr>
        <p:grpSpPr>
          <a:xfrm>
            <a:off x="3895105" y="3141023"/>
            <a:ext cx="4512423" cy="3358303"/>
            <a:chOff x="47625" y="0"/>
            <a:chExt cx="4608537" cy="4095324"/>
          </a:xfrm>
        </p:grpSpPr>
        <p:grpSp>
          <p:nvGrpSpPr>
            <p:cNvPr id="5" name="Группа 4"/>
            <p:cNvGrpSpPr/>
            <p:nvPr/>
          </p:nvGrpSpPr>
          <p:grpSpPr>
            <a:xfrm>
              <a:off x="47625" y="104775"/>
              <a:ext cx="4467225" cy="3590925"/>
              <a:chOff x="0" y="0"/>
              <a:chExt cx="4467225" cy="3590925"/>
            </a:xfrm>
          </p:grpSpPr>
          <p:grpSp>
            <p:nvGrpSpPr>
              <p:cNvPr id="15" name="Группа 14"/>
              <p:cNvGrpSpPr/>
              <p:nvPr/>
            </p:nvGrpSpPr>
            <p:grpSpPr>
              <a:xfrm>
                <a:off x="0" y="0"/>
                <a:ext cx="4467225" cy="3590925"/>
                <a:chOff x="-142875" y="-657225"/>
                <a:chExt cx="4467225" cy="3590925"/>
              </a:xfrm>
            </p:grpSpPr>
            <p:cxnSp>
              <p:nvCxnSpPr>
                <p:cNvPr id="23" name="Прямая со стрелкой 22"/>
                <p:cNvCxnSpPr/>
                <p:nvPr/>
              </p:nvCxnSpPr>
              <p:spPr>
                <a:xfrm flipV="1">
                  <a:off x="2819400" y="-657225"/>
                  <a:ext cx="0" cy="359092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p:cNvCxnSpPr/>
                <p:nvPr/>
              </p:nvCxnSpPr>
              <p:spPr>
                <a:xfrm>
                  <a:off x="-142875" y="2924175"/>
                  <a:ext cx="4467225"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6" name="Группа 15"/>
              <p:cNvGrpSpPr/>
              <p:nvPr/>
            </p:nvGrpSpPr>
            <p:grpSpPr>
              <a:xfrm>
                <a:off x="184245" y="211540"/>
                <a:ext cx="3746310" cy="3370448"/>
                <a:chOff x="0" y="0"/>
                <a:chExt cx="3746310" cy="3379385"/>
              </a:xfrm>
            </p:grpSpPr>
            <p:sp>
              <p:nvSpPr>
                <p:cNvPr id="17" name="Полилиния 16"/>
                <p:cNvSpPr/>
                <p:nvPr/>
              </p:nvSpPr>
              <p:spPr>
                <a:xfrm>
                  <a:off x="0" y="0"/>
                  <a:ext cx="3062936" cy="3364230"/>
                </a:xfrm>
                <a:custGeom>
                  <a:avLst/>
                  <a:gdLst>
                    <a:gd name="connsiteX0" fmla="*/ 0 w 3295650"/>
                    <a:gd name="connsiteY0" fmla="*/ 3682231 h 3682231"/>
                    <a:gd name="connsiteX1" fmla="*/ 476250 w 3295650"/>
                    <a:gd name="connsiteY1" fmla="*/ 3548881 h 3682231"/>
                    <a:gd name="connsiteX2" fmla="*/ 895350 w 3295650"/>
                    <a:gd name="connsiteY2" fmla="*/ 3310756 h 3682231"/>
                    <a:gd name="connsiteX3" fmla="*/ 1609725 w 3295650"/>
                    <a:gd name="connsiteY3" fmla="*/ 2548756 h 3682231"/>
                    <a:gd name="connsiteX4" fmla="*/ 2181225 w 3295650"/>
                    <a:gd name="connsiteY4" fmla="*/ 1777231 h 3682231"/>
                    <a:gd name="connsiteX5" fmla="*/ 2619375 w 3295650"/>
                    <a:gd name="connsiteY5" fmla="*/ 996181 h 3682231"/>
                    <a:gd name="connsiteX6" fmla="*/ 3152775 w 3295650"/>
                    <a:gd name="connsiteY6" fmla="*/ 148456 h 3682231"/>
                    <a:gd name="connsiteX7" fmla="*/ 3295650 w 3295650"/>
                    <a:gd name="connsiteY7" fmla="*/ 5581 h 3682231"/>
                    <a:gd name="connsiteX0" fmla="*/ 0 w 3429000"/>
                    <a:gd name="connsiteY0" fmla="*/ 3801389 h 3801389"/>
                    <a:gd name="connsiteX1" fmla="*/ 476250 w 3429000"/>
                    <a:gd name="connsiteY1" fmla="*/ 3668039 h 3801389"/>
                    <a:gd name="connsiteX2" fmla="*/ 895350 w 3429000"/>
                    <a:gd name="connsiteY2" fmla="*/ 3429914 h 3801389"/>
                    <a:gd name="connsiteX3" fmla="*/ 1609725 w 3429000"/>
                    <a:gd name="connsiteY3" fmla="*/ 2667914 h 3801389"/>
                    <a:gd name="connsiteX4" fmla="*/ 2181225 w 3429000"/>
                    <a:gd name="connsiteY4" fmla="*/ 1896389 h 3801389"/>
                    <a:gd name="connsiteX5" fmla="*/ 2619375 w 3429000"/>
                    <a:gd name="connsiteY5" fmla="*/ 1115339 h 3801389"/>
                    <a:gd name="connsiteX6" fmla="*/ 3152775 w 3429000"/>
                    <a:gd name="connsiteY6" fmla="*/ 267614 h 3801389"/>
                    <a:gd name="connsiteX7" fmla="*/ 3429000 w 3429000"/>
                    <a:gd name="connsiteY7" fmla="*/ 898 h 3801389"/>
                    <a:gd name="connsiteX0" fmla="*/ 0 w 3429000"/>
                    <a:gd name="connsiteY0" fmla="*/ 3801347 h 3801347"/>
                    <a:gd name="connsiteX1" fmla="*/ 476250 w 3429000"/>
                    <a:gd name="connsiteY1" fmla="*/ 3667997 h 3801347"/>
                    <a:gd name="connsiteX2" fmla="*/ 895350 w 3429000"/>
                    <a:gd name="connsiteY2" fmla="*/ 3429872 h 3801347"/>
                    <a:gd name="connsiteX3" fmla="*/ 1609725 w 3429000"/>
                    <a:gd name="connsiteY3" fmla="*/ 2667872 h 3801347"/>
                    <a:gd name="connsiteX4" fmla="*/ 2181225 w 3429000"/>
                    <a:gd name="connsiteY4" fmla="*/ 1896347 h 3801347"/>
                    <a:gd name="connsiteX5" fmla="*/ 2619375 w 3429000"/>
                    <a:gd name="connsiteY5" fmla="*/ 1115297 h 3801347"/>
                    <a:gd name="connsiteX6" fmla="*/ 3179511 w 3429000"/>
                    <a:gd name="connsiteY6" fmla="*/ 272940 h 3801347"/>
                    <a:gd name="connsiteX7" fmla="*/ 3429000 w 3429000"/>
                    <a:gd name="connsiteY7" fmla="*/ 856 h 3801347"/>
                    <a:gd name="connsiteX0" fmla="*/ 0 w 3410284"/>
                    <a:gd name="connsiteY0" fmla="*/ 3782769 h 3782769"/>
                    <a:gd name="connsiteX1" fmla="*/ 476250 w 3410284"/>
                    <a:gd name="connsiteY1" fmla="*/ 3649419 h 3782769"/>
                    <a:gd name="connsiteX2" fmla="*/ 895350 w 3410284"/>
                    <a:gd name="connsiteY2" fmla="*/ 3411294 h 3782769"/>
                    <a:gd name="connsiteX3" fmla="*/ 1609725 w 3410284"/>
                    <a:gd name="connsiteY3" fmla="*/ 2649294 h 3782769"/>
                    <a:gd name="connsiteX4" fmla="*/ 2181225 w 3410284"/>
                    <a:gd name="connsiteY4" fmla="*/ 1877769 h 3782769"/>
                    <a:gd name="connsiteX5" fmla="*/ 2619375 w 3410284"/>
                    <a:gd name="connsiteY5" fmla="*/ 1096719 h 3782769"/>
                    <a:gd name="connsiteX6" fmla="*/ 3179511 w 3410284"/>
                    <a:gd name="connsiteY6" fmla="*/ 254362 h 3782769"/>
                    <a:gd name="connsiteX7" fmla="*/ 3410284 w 3410284"/>
                    <a:gd name="connsiteY7" fmla="*/ 995 h 3782769"/>
                    <a:gd name="connsiteX0" fmla="*/ 0 w 3410284"/>
                    <a:gd name="connsiteY0" fmla="*/ 3782769 h 3782769"/>
                    <a:gd name="connsiteX1" fmla="*/ 476250 w 3410284"/>
                    <a:gd name="connsiteY1" fmla="*/ 3649419 h 3782769"/>
                    <a:gd name="connsiteX2" fmla="*/ 895350 w 3410284"/>
                    <a:gd name="connsiteY2" fmla="*/ 3411294 h 3782769"/>
                    <a:gd name="connsiteX3" fmla="*/ 1636622 w 3410284"/>
                    <a:gd name="connsiteY3" fmla="*/ 2662714 h 3782769"/>
                    <a:gd name="connsiteX4" fmla="*/ 2181225 w 3410284"/>
                    <a:gd name="connsiteY4" fmla="*/ 1877769 h 3782769"/>
                    <a:gd name="connsiteX5" fmla="*/ 2619375 w 3410284"/>
                    <a:gd name="connsiteY5" fmla="*/ 1096719 h 3782769"/>
                    <a:gd name="connsiteX6" fmla="*/ 3179511 w 3410284"/>
                    <a:gd name="connsiteY6" fmla="*/ 254362 h 3782769"/>
                    <a:gd name="connsiteX7" fmla="*/ 3410284 w 3410284"/>
                    <a:gd name="connsiteY7" fmla="*/ 995 h 3782769"/>
                    <a:gd name="connsiteX0" fmla="*/ 0 w 3179511"/>
                    <a:gd name="connsiteY0" fmla="*/ 3528407 h 3528407"/>
                    <a:gd name="connsiteX1" fmla="*/ 476250 w 3179511"/>
                    <a:gd name="connsiteY1" fmla="*/ 3395057 h 3528407"/>
                    <a:gd name="connsiteX2" fmla="*/ 895350 w 3179511"/>
                    <a:gd name="connsiteY2" fmla="*/ 3156932 h 3528407"/>
                    <a:gd name="connsiteX3" fmla="*/ 1636622 w 3179511"/>
                    <a:gd name="connsiteY3" fmla="*/ 2408352 h 3528407"/>
                    <a:gd name="connsiteX4" fmla="*/ 2181225 w 3179511"/>
                    <a:gd name="connsiteY4" fmla="*/ 1623407 h 3528407"/>
                    <a:gd name="connsiteX5" fmla="*/ 2619375 w 3179511"/>
                    <a:gd name="connsiteY5" fmla="*/ 842357 h 3528407"/>
                    <a:gd name="connsiteX6" fmla="*/ 3179511 w 3179511"/>
                    <a:gd name="connsiteY6" fmla="*/ 0 h 3528407"/>
                    <a:gd name="connsiteX0" fmla="*/ 0 w 3104512"/>
                    <a:gd name="connsiteY0" fmla="*/ 3364618 h 3364618"/>
                    <a:gd name="connsiteX1" fmla="*/ 476250 w 3104512"/>
                    <a:gd name="connsiteY1" fmla="*/ 3231268 h 3364618"/>
                    <a:gd name="connsiteX2" fmla="*/ 895350 w 3104512"/>
                    <a:gd name="connsiteY2" fmla="*/ 2993143 h 3364618"/>
                    <a:gd name="connsiteX3" fmla="*/ 1636622 w 3104512"/>
                    <a:gd name="connsiteY3" fmla="*/ 2244563 h 3364618"/>
                    <a:gd name="connsiteX4" fmla="*/ 2181225 w 3104512"/>
                    <a:gd name="connsiteY4" fmla="*/ 1459618 h 3364618"/>
                    <a:gd name="connsiteX5" fmla="*/ 2619375 w 3104512"/>
                    <a:gd name="connsiteY5" fmla="*/ 678568 h 3364618"/>
                    <a:gd name="connsiteX6" fmla="*/ 3104512 w 3104512"/>
                    <a:gd name="connsiteY6" fmla="*/ 0 h 3364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4512" h="3364618">
                      <a:moveTo>
                        <a:pt x="0" y="3364618"/>
                      </a:moveTo>
                      <a:cubicBezTo>
                        <a:pt x="163512" y="3328899"/>
                        <a:pt x="327025" y="3293180"/>
                        <a:pt x="476250" y="3231268"/>
                      </a:cubicBezTo>
                      <a:cubicBezTo>
                        <a:pt x="625475" y="3169356"/>
                        <a:pt x="701955" y="3157594"/>
                        <a:pt x="895350" y="2993143"/>
                      </a:cubicBezTo>
                      <a:cubicBezTo>
                        <a:pt x="1088745" y="2828692"/>
                        <a:pt x="1422310" y="2500150"/>
                        <a:pt x="1636622" y="2244563"/>
                      </a:cubicBezTo>
                      <a:cubicBezTo>
                        <a:pt x="1850934" y="1988976"/>
                        <a:pt x="2017433" y="1720617"/>
                        <a:pt x="2181225" y="1459618"/>
                      </a:cubicBezTo>
                      <a:cubicBezTo>
                        <a:pt x="2345017" y="1198619"/>
                        <a:pt x="2465494" y="921838"/>
                        <a:pt x="2619375" y="678568"/>
                      </a:cubicBezTo>
                      <a:cubicBezTo>
                        <a:pt x="2773256" y="435298"/>
                        <a:pt x="2972694" y="182621"/>
                        <a:pt x="3104512" y="0"/>
                      </a:cubicBezTo>
                    </a:path>
                  </a:pathLst>
                </a:cu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18" name="Полилиния 17"/>
                <p:cNvSpPr/>
                <p:nvPr/>
              </p:nvSpPr>
              <p:spPr>
                <a:xfrm>
                  <a:off x="429904" y="730155"/>
                  <a:ext cx="2019869" cy="2633980"/>
                </a:xfrm>
                <a:custGeom>
                  <a:avLst/>
                  <a:gdLst>
                    <a:gd name="connsiteX0" fmla="*/ 0 w 2040340"/>
                    <a:gd name="connsiteY0" fmla="*/ 2634018 h 2634018"/>
                    <a:gd name="connsiteX1" fmla="*/ 341194 w 2040340"/>
                    <a:gd name="connsiteY1" fmla="*/ 2408830 h 2634018"/>
                    <a:gd name="connsiteX2" fmla="*/ 675564 w 2040340"/>
                    <a:gd name="connsiteY2" fmla="*/ 2060812 h 2634018"/>
                    <a:gd name="connsiteX3" fmla="*/ 1262418 w 2040340"/>
                    <a:gd name="connsiteY3" fmla="*/ 1323833 h 2634018"/>
                    <a:gd name="connsiteX4" fmla="*/ 1699146 w 2040340"/>
                    <a:gd name="connsiteY4" fmla="*/ 586854 h 2634018"/>
                    <a:gd name="connsiteX5" fmla="*/ 2040340 w 2040340"/>
                    <a:gd name="connsiteY5" fmla="*/ 0 h 2634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0340" h="2634018">
                      <a:moveTo>
                        <a:pt x="0" y="2634018"/>
                      </a:moveTo>
                      <a:cubicBezTo>
                        <a:pt x="114300" y="2569191"/>
                        <a:pt x="228600" y="2504364"/>
                        <a:pt x="341194" y="2408830"/>
                      </a:cubicBezTo>
                      <a:cubicBezTo>
                        <a:pt x="453788" y="2313296"/>
                        <a:pt x="522027" y="2241645"/>
                        <a:pt x="675564" y="2060812"/>
                      </a:cubicBezTo>
                      <a:cubicBezTo>
                        <a:pt x="829101" y="1879979"/>
                        <a:pt x="1091821" y="1569493"/>
                        <a:pt x="1262418" y="1323833"/>
                      </a:cubicBezTo>
                      <a:cubicBezTo>
                        <a:pt x="1433015" y="1078173"/>
                        <a:pt x="1569492" y="807493"/>
                        <a:pt x="1699146" y="586854"/>
                      </a:cubicBezTo>
                      <a:cubicBezTo>
                        <a:pt x="1828800" y="366215"/>
                        <a:pt x="1934570" y="183107"/>
                        <a:pt x="2040340" y="0"/>
                      </a:cubicBezTo>
                    </a:path>
                  </a:pathLst>
                </a:cu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19" name="Полилиния 18"/>
                <p:cNvSpPr/>
                <p:nvPr/>
              </p:nvSpPr>
              <p:spPr>
                <a:xfrm>
                  <a:off x="873352" y="68231"/>
                  <a:ext cx="2838735" cy="3311154"/>
                </a:xfrm>
                <a:custGeom>
                  <a:avLst/>
                  <a:gdLst>
                    <a:gd name="connsiteX0" fmla="*/ 0 w 2838735"/>
                    <a:gd name="connsiteY0" fmla="*/ 3289110 h 3289110"/>
                    <a:gd name="connsiteX1" fmla="*/ 320723 w 2838735"/>
                    <a:gd name="connsiteY1" fmla="*/ 3159456 h 3289110"/>
                    <a:gd name="connsiteX2" fmla="*/ 743803 w 2838735"/>
                    <a:gd name="connsiteY2" fmla="*/ 2852382 h 3289110"/>
                    <a:gd name="connsiteX3" fmla="*/ 1125941 w 2838735"/>
                    <a:gd name="connsiteY3" fmla="*/ 2456597 h 3289110"/>
                    <a:gd name="connsiteX4" fmla="*/ 1494430 w 2838735"/>
                    <a:gd name="connsiteY4" fmla="*/ 1944806 h 3289110"/>
                    <a:gd name="connsiteX5" fmla="*/ 1917511 w 2838735"/>
                    <a:gd name="connsiteY5" fmla="*/ 1221474 h 3289110"/>
                    <a:gd name="connsiteX6" fmla="*/ 2320120 w 2838735"/>
                    <a:gd name="connsiteY6" fmla="*/ 559558 h 3289110"/>
                    <a:gd name="connsiteX7" fmla="*/ 2681785 w 2838735"/>
                    <a:gd name="connsiteY7" fmla="*/ 122830 h 3289110"/>
                    <a:gd name="connsiteX8" fmla="*/ 2838735 w 2838735"/>
                    <a:gd name="connsiteY8" fmla="*/ 0 h 328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8735" h="3289110">
                      <a:moveTo>
                        <a:pt x="0" y="3289110"/>
                      </a:moveTo>
                      <a:cubicBezTo>
                        <a:pt x="98378" y="3260677"/>
                        <a:pt x="196756" y="3232244"/>
                        <a:pt x="320723" y="3159456"/>
                      </a:cubicBezTo>
                      <a:cubicBezTo>
                        <a:pt x="444690" y="3086668"/>
                        <a:pt x="609600" y="2969525"/>
                        <a:pt x="743803" y="2852382"/>
                      </a:cubicBezTo>
                      <a:cubicBezTo>
                        <a:pt x="878006" y="2735239"/>
                        <a:pt x="1000836" y="2607860"/>
                        <a:pt x="1125941" y="2456597"/>
                      </a:cubicBezTo>
                      <a:cubicBezTo>
                        <a:pt x="1251046" y="2305334"/>
                        <a:pt x="1362502" y="2150660"/>
                        <a:pt x="1494430" y="1944806"/>
                      </a:cubicBezTo>
                      <a:cubicBezTo>
                        <a:pt x="1626358" y="1738952"/>
                        <a:pt x="1779896" y="1452349"/>
                        <a:pt x="1917511" y="1221474"/>
                      </a:cubicBezTo>
                      <a:cubicBezTo>
                        <a:pt x="2055126" y="990599"/>
                        <a:pt x="2192741" y="742665"/>
                        <a:pt x="2320120" y="559558"/>
                      </a:cubicBezTo>
                      <a:cubicBezTo>
                        <a:pt x="2447499" y="376451"/>
                        <a:pt x="2595349" y="216090"/>
                        <a:pt x="2681785" y="122830"/>
                      </a:cubicBezTo>
                      <a:cubicBezTo>
                        <a:pt x="2768221" y="29570"/>
                        <a:pt x="2803478" y="14785"/>
                        <a:pt x="2838735" y="0"/>
                      </a:cubicBezTo>
                    </a:path>
                  </a:pathLst>
                </a:cu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0" name="Полилиния 19"/>
                <p:cNvSpPr/>
                <p:nvPr/>
              </p:nvSpPr>
              <p:spPr>
                <a:xfrm>
                  <a:off x="1740089" y="1003110"/>
                  <a:ext cx="1958454" cy="2354239"/>
                </a:xfrm>
                <a:custGeom>
                  <a:avLst/>
                  <a:gdLst>
                    <a:gd name="connsiteX0" fmla="*/ 0 w 1958454"/>
                    <a:gd name="connsiteY0" fmla="*/ 2354239 h 2354239"/>
                    <a:gd name="connsiteX1" fmla="*/ 375314 w 1958454"/>
                    <a:gd name="connsiteY1" fmla="*/ 2094932 h 2354239"/>
                    <a:gd name="connsiteX2" fmla="*/ 723331 w 1958454"/>
                    <a:gd name="connsiteY2" fmla="*/ 1699147 h 2354239"/>
                    <a:gd name="connsiteX3" fmla="*/ 1023582 w 1958454"/>
                    <a:gd name="connsiteY3" fmla="*/ 1235123 h 2354239"/>
                    <a:gd name="connsiteX4" fmla="*/ 1207827 w 1958454"/>
                    <a:gd name="connsiteY4" fmla="*/ 852985 h 2354239"/>
                    <a:gd name="connsiteX5" fmla="*/ 1562669 w 1958454"/>
                    <a:gd name="connsiteY5" fmla="*/ 375314 h 2354239"/>
                    <a:gd name="connsiteX6" fmla="*/ 1726442 w 1958454"/>
                    <a:gd name="connsiteY6" fmla="*/ 156950 h 2354239"/>
                    <a:gd name="connsiteX7" fmla="*/ 1958454 w 1958454"/>
                    <a:gd name="connsiteY7" fmla="*/ 0 h 2354239"/>
                    <a:gd name="connsiteX0" fmla="*/ 0 w 1958454"/>
                    <a:gd name="connsiteY0" fmla="*/ 2354239 h 2354239"/>
                    <a:gd name="connsiteX1" fmla="*/ 375314 w 1958454"/>
                    <a:gd name="connsiteY1" fmla="*/ 2094932 h 2354239"/>
                    <a:gd name="connsiteX2" fmla="*/ 743845 w 1958454"/>
                    <a:gd name="connsiteY2" fmla="*/ 1685710 h 2354239"/>
                    <a:gd name="connsiteX3" fmla="*/ 1023582 w 1958454"/>
                    <a:gd name="connsiteY3" fmla="*/ 1235123 h 2354239"/>
                    <a:gd name="connsiteX4" fmla="*/ 1207827 w 1958454"/>
                    <a:gd name="connsiteY4" fmla="*/ 852985 h 2354239"/>
                    <a:gd name="connsiteX5" fmla="*/ 1562669 w 1958454"/>
                    <a:gd name="connsiteY5" fmla="*/ 375314 h 2354239"/>
                    <a:gd name="connsiteX6" fmla="*/ 1726442 w 1958454"/>
                    <a:gd name="connsiteY6" fmla="*/ 156950 h 2354239"/>
                    <a:gd name="connsiteX7" fmla="*/ 1958454 w 1958454"/>
                    <a:gd name="connsiteY7" fmla="*/ 0 h 2354239"/>
                    <a:gd name="connsiteX0" fmla="*/ 0 w 1958454"/>
                    <a:gd name="connsiteY0" fmla="*/ 2354239 h 2354239"/>
                    <a:gd name="connsiteX1" fmla="*/ 375314 w 1958454"/>
                    <a:gd name="connsiteY1" fmla="*/ 2094932 h 2354239"/>
                    <a:gd name="connsiteX2" fmla="*/ 743845 w 1958454"/>
                    <a:gd name="connsiteY2" fmla="*/ 1685710 h 2354239"/>
                    <a:gd name="connsiteX3" fmla="*/ 1023582 w 1958454"/>
                    <a:gd name="connsiteY3" fmla="*/ 1235123 h 2354239"/>
                    <a:gd name="connsiteX4" fmla="*/ 1214722 w 1958454"/>
                    <a:gd name="connsiteY4" fmla="*/ 853092 h 2354239"/>
                    <a:gd name="connsiteX5" fmla="*/ 1562669 w 1958454"/>
                    <a:gd name="connsiteY5" fmla="*/ 375314 h 2354239"/>
                    <a:gd name="connsiteX6" fmla="*/ 1726442 w 1958454"/>
                    <a:gd name="connsiteY6" fmla="*/ 156950 h 2354239"/>
                    <a:gd name="connsiteX7" fmla="*/ 1958454 w 1958454"/>
                    <a:gd name="connsiteY7" fmla="*/ 0 h 2354239"/>
                    <a:gd name="connsiteX0" fmla="*/ 0 w 1958454"/>
                    <a:gd name="connsiteY0" fmla="*/ 2354239 h 2354239"/>
                    <a:gd name="connsiteX1" fmla="*/ 375314 w 1958454"/>
                    <a:gd name="connsiteY1" fmla="*/ 2094932 h 2354239"/>
                    <a:gd name="connsiteX2" fmla="*/ 743845 w 1958454"/>
                    <a:gd name="connsiteY2" fmla="*/ 1685710 h 2354239"/>
                    <a:gd name="connsiteX3" fmla="*/ 1023582 w 1958454"/>
                    <a:gd name="connsiteY3" fmla="*/ 1235123 h 2354239"/>
                    <a:gd name="connsiteX4" fmla="*/ 1214722 w 1958454"/>
                    <a:gd name="connsiteY4" fmla="*/ 853092 h 2354239"/>
                    <a:gd name="connsiteX5" fmla="*/ 1549111 w 1958454"/>
                    <a:gd name="connsiteY5" fmla="*/ 368536 h 2354239"/>
                    <a:gd name="connsiteX6" fmla="*/ 1726442 w 1958454"/>
                    <a:gd name="connsiteY6" fmla="*/ 156950 h 2354239"/>
                    <a:gd name="connsiteX7" fmla="*/ 1958454 w 1958454"/>
                    <a:gd name="connsiteY7" fmla="*/ 0 h 2354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8454" h="2354239">
                      <a:moveTo>
                        <a:pt x="0" y="2354239"/>
                      </a:moveTo>
                      <a:cubicBezTo>
                        <a:pt x="127379" y="2279176"/>
                        <a:pt x="251340" y="2206353"/>
                        <a:pt x="375314" y="2094932"/>
                      </a:cubicBezTo>
                      <a:cubicBezTo>
                        <a:pt x="499288" y="1983511"/>
                        <a:pt x="635800" y="1829012"/>
                        <a:pt x="743845" y="1685710"/>
                      </a:cubicBezTo>
                      <a:cubicBezTo>
                        <a:pt x="851890" y="1542408"/>
                        <a:pt x="945103" y="1373893"/>
                        <a:pt x="1023582" y="1235123"/>
                      </a:cubicBezTo>
                      <a:cubicBezTo>
                        <a:pt x="1102062" y="1096353"/>
                        <a:pt x="1127134" y="997523"/>
                        <a:pt x="1214722" y="853092"/>
                      </a:cubicBezTo>
                      <a:cubicBezTo>
                        <a:pt x="1302310" y="708661"/>
                        <a:pt x="1463824" y="484560"/>
                        <a:pt x="1549111" y="368536"/>
                      </a:cubicBezTo>
                      <a:cubicBezTo>
                        <a:pt x="1634398" y="252512"/>
                        <a:pt x="1658218" y="218373"/>
                        <a:pt x="1726442" y="156950"/>
                      </a:cubicBezTo>
                      <a:cubicBezTo>
                        <a:pt x="1794666" y="95527"/>
                        <a:pt x="1875430" y="47199"/>
                        <a:pt x="1958454" y="0"/>
                      </a:cubicBezTo>
                    </a:path>
                  </a:pathLst>
                </a:cu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1" name="Полилиния 20"/>
                <p:cNvSpPr/>
                <p:nvPr/>
              </p:nvSpPr>
              <p:spPr>
                <a:xfrm>
                  <a:off x="2326943" y="2129051"/>
                  <a:ext cx="1385248" cy="1241946"/>
                </a:xfrm>
                <a:custGeom>
                  <a:avLst/>
                  <a:gdLst>
                    <a:gd name="connsiteX0" fmla="*/ 0 w 1385248"/>
                    <a:gd name="connsiteY0" fmla="*/ 1241946 h 1241946"/>
                    <a:gd name="connsiteX1" fmla="*/ 259307 w 1385248"/>
                    <a:gd name="connsiteY1" fmla="*/ 1078173 h 1241946"/>
                    <a:gd name="connsiteX2" fmla="*/ 423080 w 1385248"/>
                    <a:gd name="connsiteY2" fmla="*/ 873456 h 1241946"/>
                    <a:gd name="connsiteX3" fmla="*/ 586854 w 1385248"/>
                    <a:gd name="connsiteY3" fmla="*/ 620973 h 1241946"/>
                    <a:gd name="connsiteX4" fmla="*/ 764274 w 1385248"/>
                    <a:gd name="connsiteY4" fmla="*/ 388961 h 1241946"/>
                    <a:gd name="connsiteX5" fmla="*/ 996286 w 1385248"/>
                    <a:gd name="connsiteY5" fmla="*/ 197892 h 1241946"/>
                    <a:gd name="connsiteX6" fmla="*/ 1241946 w 1385248"/>
                    <a:gd name="connsiteY6" fmla="*/ 61415 h 1241946"/>
                    <a:gd name="connsiteX7" fmla="*/ 1385248 w 1385248"/>
                    <a:gd name="connsiteY7" fmla="*/ 0 h 1241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5248" h="1241946">
                      <a:moveTo>
                        <a:pt x="0" y="1241946"/>
                      </a:moveTo>
                      <a:cubicBezTo>
                        <a:pt x="94397" y="1190767"/>
                        <a:pt x="188794" y="1139588"/>
                        <a:pt x="259307" y="1078173"/>
                      </a:cubicBezTo>
                      <a:cubicBezTo>
                        <a:pt x="329820" y="1016758"/>
                        <a:pt x="368489" y="949656"/>
                        <a:pt x="423080" y="873456"/>
                      </a:cubicBezTo>
                      <a:cubicBezTo>
                        <a:pt x="477671" y="797256"/>
                        <a:pt x="529988" y="701722"/>
                        <a:pt x="586854" y="620973"/>
                      </a:cubicBezTo>
                      <a:cubicBezTo>
                        <a:pt x="643720" y="540224"/>
                        <a:pt x="696035" y="459474"/>
                        <a:pt x="764274" y="388961"/>
                      </a:cubicBezTo>
                      <a:cubicBezTo>
                        <a:pt x="832513" y="318447"/>
                        <a:pt x="916674" y="252483"/>
                        <a:pt x="996286" y="197892"/>
                      </a:cubicBezTo>
                      <a:cubicBezTo>
                        <a:pt x="1075898" y="143301"/>
                        <a:pt x="1177119" y="94397"/>
                        <a:pt x="1241946" y="61415"/>
                      </a:cubicBezTo>
                      <a:cubicBezTo>
                        <a:pt x="1306773" y="28433"/>
                        <a:pt x="1346010" y="14216"/>
                        <a:pt x="1385248" y="0"/>
                      </a:cubicBezTo>
                    </a:path>
                  </a:pathLst>
                </a:cu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22" name="Полилиния 21"/>
                <p:cNvSpPr/>
                <p:nvPr/>
              </p:nvSpPr>
              <p:spPr>
                <a:xfrm>
                  <a:off x="2777319" y="3104866"/>
                  <a:ext cx="968991" cy="240019"/>
                </a:xfrm>
                <a:custGeom>
                  <a:avLst/>
                  <a:gdLst>
                    <a:gd name="connsiteX0" fmla="*/ 0 w 968991"/>
                    <a:gd name="connsiteY0" fmla="*/ 240108 h 240108"/>
                    <a:gd name="connsiteX1" fmla="*/ 95534 w 968991"/>
                    <a:gd name="connsiteY1" fmla="*/ 83159 h 240108"/>
                    <a:gd name="connsiteX2" fmla="*/ 225188 w 968991"/>
                    <a:gd name="connsiteY2" fmla="*/ 1273 h 240108"/>
                    <a:gd name="connsiteX3" fmla="*/ 388961 w 968991"/>
                    <a:gd name="connsiteY3" fmla="*/ 42216 h 240108"/>
                    <a:gd name="connsiteX4" fmla="*/ 573206 w 968991"/>
                    <a:gd name="connsiteY4" fmla="*/ 158222 h 240108"/>
                    <a:gd name="connsiteX5" fmla="*/ 832513 w 968991"/>
                    <a:gd name="connsiteY5" fmla="*/ 212813 h 240108"/>
                    <a:gd name="connsiteX6" fmla="*/ 968991 w 968991"/>
                    <a:gd name="connsiteY6" fmla="*/ 226461 h 240108"/>
                    <a:gd name="connsiteX0" fmla="*/ 0 w 968991"/>
                    <a:gd name="connsiteY0" fmla="*/ 240019 h 240019"/>
                    <a:gd name="connsiteX1" fmla="*/ 95534 w 968991"/>
                    <a:gd name="connsiteY1" fmla="*/ 83070 h 240019"/>
                    <a:gd name="connsiteX2" fmla="*/ 225188 w 968991"/>
                    <a:gd name="connsiteY2" fmla="*/ 1184 h 240019"/>
                    <a:gd name="connsiteX3" fmla="*/ 388961 w 968991"/>
                    <a:gd name="connsiteY3" fmla="*/ 42127 h 240019"/>
                    <a:gd name="connsiteX4" fmla="*/ 593691 w 968991"/>
                    <a:gd name="connsiteY4" fmla="*/ 144481 h 240019"/>
                    <a:gd name="connsiteX5" fmla="*/ 832513 w 968991"/>
                    <a:gd name="connsiteY5" fmla="*/ 212724 h 240019"/>
                    <a:gd name="connsiteX6" fmla="*/ 968991 w 968991"/>
                    <a:gd name="connsiteY6" fmla="*/ 226372 h 24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8991" h="240019">
                      <a:moveTo>
                        <a:pt x="0" y="240019"/>
                      </a:moveTo>
                      <a:cubicBezTo>
                        <a:pt x="29001" y="181447"/>
                        <a:pt x="58003" y="122876"/>
                        <a:pt x="95534" y="83070"/>
                      </a:cubicBezTo>
                      <a:cubicBezTo>
                        <a:pt x="133065" y="43264"/>
                        <a:pt x="176283" y="8008"/>
                        <a:pt x="225188" y="1184"/>
                      </a:cubicBezTo>
                      <a:cubicBezTo>
                        <a:pt x="274093" y="-5640"/>
                        <a:pt x="327544" y="18244"/>
                        <a:pt x="388961" y="42127"/>
                      </a:cubicBezTo>
                      <a:cubicBezTo>
                        <a:pt x="450378" y="66010"/>
                        <a:pt x="519766" y="116048"/>
                        <a:pt x="593691" y="144481"/>
                      </a:cubicBezTo>
                      <a:cubicBezTo>
                        <a:pt x="667616" y="172914"/>
                        <a:pt x="769963" y="199076"/>
                        <a:pt x="832513" y="212724"/>
                      </a:cubicBezTo>
                      <a:cubicBezTo>
                        <a:pt x="895063" y="226373"/>
                        <a:pt x="933734" y="225234"/>
                        <a:pt x="968991" y="226372"/>
                      </a:cubicBez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grpSp>
        </p:grpSp>
        <p:grpSp>
          <p:nvGrpSpPr>
            <p:cNvPr id="6" name="Группа 5"/>
            <p:cNvGrpSpPr/>
            <p:nvPr/>
          </p:nvGrpSpPr>
          <p:grpSpPr>
            <a:xfrm>
              <a:off x="302349" y="0"/>
              <a:ext cx="4353813" cy="4095324"/>
              <a:chOff x="302349" y="0"/>
              <a:chExt cx="4353813" cy="4095324"/>
            </a:xfrm>
          </p:grpSpPr>
          <p:sp>
            <p:nvSpPr>
              <p:cNvPr id="7" name="Поле 17"/>
              <p:cNvSpPr txBox="1"/>
              <p:nvPr/>
            </p:nvSpPr>
            <p:spPr>
              <a:xfrm>
                <a:off x="4267200" y="3781425"/>
                <a:ext cx="388962" cy="313899"/>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1800" i="1" baseline="-25000">
                    <a:effectLst/>
                    <a:latin typeface="Times New Roman"/>
                    <a:ea typeface="Calibri"/>
                    <a:cs typeface="Times New Roman"/>
                  </a:rPr>
                  <a:t>C</a:t>
                </a:r>
                <a:endParaRPr lang="ru-RU" sz="1100">
                  <a:effectLst/>
                  <a:ea typeface="Calibri"/>
                  <a:cs typeface="Times New Roman"/>
                </a:endParaRPr>
              </a:p>
            </p:txBody>
          </p:sp>
          <p:sp>
            <p:nvSpPr>
              <p:cNvPr id="8" name="Поле 4"/>
              <p:cNvSpPr txBox="1"/>
              <p:nvPr/>
            </p:nvSpPr>
            <p:spPr>
              <a:xfrm>
                <a:off x="2686050" y="0"/>
                <a:ext cx="388620" cy="3810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I</a:t>
                </a:r>
                <a:r>
                  <a:rPr lang="en-US" sz="2200" baseline="-25000">
                    <a:effectLst/>
                    <a:latin typeface="Times New Roman"/>
                    <a:ea typeface="Calibri"/>
                    <a:cs typeface="Times New Roman"/>
                  </a:rPr>
                  <a:t>a</a:t>
                </a:r>
                <a:endParaRPr lang="ru-RU" sz="1100">
                  <a:effectLst/>
                  <a:ea typeface="Calibri"/>
                  <a:cs typeface="Times New Roman"/>
                </a:endParaRPr>
              </a:p>
            </p:txBody>
          </p:sp>
          <p:sp>
            <p:nvSpPr>
              <p:cNvPr id="9" name="Поле 5"/>
              <p:cNvSpPr txBox="1"/>
              <p:nvPr/>
            </p:nvSpPr>
            <p:spPr>
              <a:xfrm>
                <a:off x="3076575" y="2438400"/>
                <a:ext cx="388620" cy="31369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a1</a:t>
                </a:r>
                <a:endParaRPr lang="ru-RU" sz="1100">
                  <a:effectLst/>
                  <a:ea typeface="Calibri"/>
                  <a:cs typeface="Times New Roman"/>
                </a:endParaRPr>
              </a:p>
            </p:txBody>
          </p:sp>
          <p:sp>
            <p:nvSpPr>
              <p:cNvPr id="10" name="Поле 6"/>
              <p:cNvSpPr txBox="1"/>
              <p:nvPr/>
            </p:nvSpPr>
            <p:spPr>
              <a:xfrm>
                <a:off x="2524125" y="2438400"/>
                <a:ext cx="388620" cy="31369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a2</a:t>
                </a:r>
                <a:endParaRPr lang="ru-RU" sz="1100">
                  <a:effectLst/>
                  <a:ea typeface="Calibri"/>
                  <a:cs typeface="Times New Roman"/>
                </a:endParaRPr>
              </a:p>
            </p:txBody>
          </p:sp>
          <p:sp>
            <p:nvSpPr>
              <p:cNvPr id="11" name="Поле 7"/>
              <p:cNvSpPr txBox="1"/>
              <p:nvPr/>
            </p:nvSpPr>
            <p:spPr>
              <a:xfrm>
                <a:off x="1952625" y="2438400"/>
                <a:ext cx="388620" cy="31369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a3</a:t>
                </a:r>
                <a:endParaRPr lang="ru-RU" sz="1100">
                  <a:effectLst/>
                  <a:ea typeface="Calibri"/>
                  <a:cs typeface="Times New Roman"/>
                </a:endParaRPr>
              </a:p>
            </p:txBody>
          </p:sp>
          <p:sp>
            <p:nvSpPr>
              <p:cNvPr id="12" name="Поле 18"/>
              <p:cNvSpPr txBox="1"/>
              <p:nvPr/>
            </p:nvSpPr>
            <p:spPr>
              <a:xfrm>
                <a:off x="302349" y="1133475"/>
                <a:ext cx="1874558" cy="31369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dirty="0">
                    <a:effectLst/>
                    <a:latin typeface="Times New Roman"/>
                    <a:ea typeface="Calibri"/>
                    <a:cs typeface="Times New Roman"/>
                  </a:rPr>
                  <a:t>U</a:t>
                </a:r>
                <a:r>
                  <a:rPr lang="en-US" sz="2200" baseline="-25000" dirty="0">
                    <a:effectLst/>
                    <a:latin typeface="Times New Roman"/>
                    <a:ea typeface="Calibri"/>
                    <a:cs typeface="Times New Roman"/>
                  </a:rPr>
                  <a:t>a4</a:t>
                </a:r>
                <a:r>
                  <a:rPr lang="en-US" sz="1800" dirty="0">
                    <a:effectLst/>
                    <a:latin typeface="Times New Roman"/>
                    <a:ea typeface="Calibri"/>
                    <a:cs typeface="Times New Roman"/>
                  </a:rPr>
                  <a:t> &gt; </a:t>
                </a:r>
                <a:r>
                  <a:rPr lang="en-US" sz="1800" i="1" dirty="0">
                    <a:effectLst/>
                    <a:latin typeface="Times New Roman"/>
                    <a:ea typeface="Calibri"/>
                    <a:cs typeface="Times New Roman"/>
                  </a:rPr>
                  <a:t>U</a:t>
                </a:r>
                <a:r>
                  <a:rPr lang="en-US" sz="2200" baseline="-25000" dirty="0">
                    <a:effectLst/>
                    <a:latin typeface="Times New Roman"/>
                    <a:ea typeface="Calibri"/>
                    <a:cs typeface="Times New Roman"/>
                  </a:rPr>
                  <a:t>a3</a:t>
                </a:r>
                <a:r>
                  <a:rPr lang="en-US" sz="1800" dirty="0">
                    <a:effectLst/>
                    <a:latin typeface="Times New Roman"/>
                    <a:ea typeface="Calibri"/>
                    <a:cs typeface="Times New Roman"/>
                  </a:rPr>
                  <a:t> &gt; </a:t>
                </a:r>
                <a:r>
                  <a:rPr lang="en-US" sz="1800" i="1" dirty="0">
                    <a:effectLst/>
                    <a:latin typeface="Times New Roman"/>
                    <a:ea typeface="Calibri"/>
                    <a:cs typeface="Times New Roman"/>
                  </a:rPr>
                  <a:t>U</a:t>
                </a:r>
                <a:r>
                  <a:rPr lang="en-US" sz="2200" baseline="-25000" dirty="0">
                    <a:effectLst/>
                    <a:latin typeface="Times New Roman"/>
                    <a:ea typeface="Calibri"/>
                    <a:cs typeface="Times New Roman"/>
                  </a:rPr>
                  <a:t>a2</a:t>
                </a:r>
                <a:r>
                  <a:rPr lang="en-US" sz="1800" dirty="0">
                    <a:effectLst/>
                    <a:latin typeface="Times New Roman"/>
                    <a:ea typeface="Calibri"/>
                    <a:cs typeface="Times New Roman"/>
                  </a:rPr>
                  <a:t> &gt; </a:t>
                </a:r>
                <a:r>
                  <a:rPr lang="en-US" sz="1800" i="1" dirty="0">
                    <a:effectLst/>
                    <a:latin typeface="Times New Roman"/>
                    <a:ea typeface="Calibri"/>
                    <a:cs typeface="Times New Roman"/>
                  </a:rPr>
                  <a:t>U</a:t>
                </a:r>
                <a:r>
                  <a:rPr lang="en-US" sz="2200" baseline="-25000" dirty="0">
                    <a:effectLst/>
                    <a:latin typeface="Times New Roman"/>
                    <a:ea typeface="Calibri"/>
                    <a:cs typeface="Times New Roman"/>
                  </a:rPr>
                  <a:t>a1</a:t>
                </a:r>
                <a:endParaRPr lang="ru-RU" sz="1100" dirty="0">
                  <a:effectLst/>
                  <a:ea typeface="Calibri"/>
                  <a:cs typeface="Times New Roman"/>
                </a:endParaRPr>
              </a:p>
            </p:txBody>
          </p:sp>
          <p:sp>
            <p:nvSpPr>
              <p:cNvPr id="13" name="Поле 19"/>
              <p:cNvSpPr txBox="1"/>
              <p:nvPr/>
            </p:nvSpPr>
            <p:spPr>
              <a:xfrm>
                <a:off x="1269862" y="2438400"/>
                <a:ext cx="388620" cy="31369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dirty="0">
                    <a:effectLst/>
                    <a:latin typeface="Times New Roman"/>
                    <a:ea typeface="Calibri"/>
                    <a:cs typeface="Times New Roman"/>
                  </a:rPr>
                  <a:t>U</a:t>
                </a:r>
                <a:r>
                  <a:rPr lang="en-US" sz="2200" baseline="-25000" dirty="0">
                    <a:effectLst/>
                    <a:latin typeface="Times New Roman"/>
                    <a:ea typeface="Calibri"/>
                    <a:cs typeface="Times New Roman"/>
                  </a:rPr>
                  <a:t>a4</a:t>
                </a:r>
                <a:endParaRPr lang="ru-RU" sz="1100" dirty="0">
                  <a:effectLst/>
                  <a:ea typeface="Calibri"/>
                  <a:cs typeface="Times New Roman"/>
                </a:endParaRPr>
              </a:p>
            </p:txBody>
          </p:sp>
          <p:sp>
            <p:nvSpPr>
              <p:cNvPr id="14" name="Поле 20"/>
              <p:cNvSpPr txBox="1"/>
              <p:nvPr/>
            </p:nvSpPr>
            <p:spPr>
              <a:xfrm>
                <a:off x="3562350" y="3151803"/>
                <a:ext cx="647700" cy="31369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dirty="0" err="1">
                    <a:effectLst/>
                    <a:latin typeface="Times New Roman"/>
                    <a:ea typeface="Calibri"/>
                    <a:cs typeface="Times New Roman"/>
                  </a:rPr>
                  <a:t>U</a:t>
                </a:r>
                <a:r>
                  <a:rPr lang="en-US" sz="2200" baseline="-25000" dirty="0" err="1">
                    <a:effectLst/>
                    <a:latin typeface="Times New Roman"/>
                    <a:ea typeface="Calibri"/>
                    <a:cs typeface="Times New Roman"/>
                  </a:rPr>
                  <a:t>a</a:t>
                </a:r>
                <a:r>
                  <a:rPr lang="en-US" sz="1800" dirty="0">
                    <a:effectLst/>
                    <a:latin typeface="Times New Roman"/>
                    <a:ea typeface="Calibri"/>
                    <a:cs typeface="Times New Roman"/>
                  </a:rPr>
                  <a:t> = 0</a:t>
                </a:r>
                <a:endParaRPr lang="ru-RU" sz="1100" dirty="0">
                  <a:effectLst/>
                  <a:ea typeface="Calibri"/>
                  <a:cs typeface="Times New Roman"/>
                </a:endParaRPr>
              </a:p>
            </p:txBody>
          </p:sp>
        </p:grpSp>
      </p:grpSp>
    </p:spTree>
    <p:extLst>
      <p:ext uri="{BB962C8B-B14F-4D97-AF65-F5344CB8AC3E}">
        <p14:creationId xmlns:p14="http://schemas.microsoft.com/office/powerpoint/2010/main" val="31217329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триод</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Анодная характеристика – показывает закон изменения тока анода при изменении напряжения анода при заданном напряжении на сетке.</a:t>
            </a:r>
          </a:p>
          <a:p>
            <a:pPr marL="0" indent="0" algn="just">
              <a:buNone/>
            </a:pPr>
            <a:endParaRPr lang="en-US" b="1" dirty="0" smtClean="0"/>
          </a:p>
        </p:txBody>
      </p:sp>
      <p:grpSp>
        <p:nvGrpSpPr>
          <p:cNvPr id="25" name="Группа 24"/>
          <p:cNvGrpSpPr>
            <a:grpSpLocks noChangeAspect="1"/>
          </p:cNvGrpSpPr>
          <p:nvPr/>
        </p:nvGrpSpPr>
        <p:grpSpPr>
          <a:xfrm>
            <a:off x="3271828" y="2922320"/>
            <a:ext cx="6287808" cy="3748329"/>
            <a:chOff x="0" y="0"/>
            <a:chExt cx="6229350" cy="3713480"/>
          </a:xfrm>
        </p:grpSpPr>
        <p:grpSp>
          <p:nvGrpSpPr>
            <p:cNvPr id="26" name="Группа 25"/>
            <p:cNvGrpSpPr/>
            <p:nvPr/>
          </p:nvGrpSpPr>
          <p:grpSpPr>
            <a:xfrm>
              <a:off x="542925" y="295275"/>
              <a:ext cx="5124450" cy="3028950"/>
              <a:chOff x="0" y="0"/>
              <a:chExt cx="5124450" cy="3028950"/>
            </a:xfrm>
          </p:grpSpPr>
          <p:grpSp>
            <p:nvGrpSpPr>
              <p:cNvPr id="47" name="Группа 46"/>
              <p:cNvGrpSpPr/>
              <p:nvPr/>
            </p:nvGrpSpPr>
            <p:grpSpPr>
              <a:xfrm>
                <a:off x="0" y="0"/>
                <a:ext cx="5124450" cy="3028950"/>
                <a:chOff x="0" y="0"/>
                <a:chExt cx="5124450" cy="3028950"/>
              </a:xfrm>
            </p:grpSpPr>
            <p:grpSp>
              <p:nvGrpSpPr>
                <p:cNvPr id="52" name="Группа 51"/>
                <p:cNvGrpSpPr/>
                <p:nvPr/>
              </p:nvGrpSpPr>
              <p:grpSpPr>
                <a:xfrm>
                  <a:off x="0" y="0"/>
                  <a:ext cx="5124450" cy="3028950"/>
                  <a:chOff x="0" y="0"/>
                  <a:chExt cx="5124450" cy="3028950"/>
                </a:xfrm>
              </p:grpSpPr>
              <p:cxnSp>
                <p:nvCxnSpPr>
                  <p:cNvPr id="63" name="Прямая со стрелкой 62"/>
                  <p:cNvCxnSpPr/>
                  <p:nvPr/>
                </p:nvCxnSpPr>
                <p:spPr>
                  <a:xfrm flipV="1">
                    <a:off x="0" y="0"/>
                    <a:ext cx="0" cy="302895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4" name="Прямая со стрелкой 63"/>
                  <p:cNvCxnSpPr/>
                  <p:nvPr/>
                </p:nvCxnSpPr>
                <p:spPr>
                  <a:xfrm>
                    <a:off x="0" y="3028950"/>
                    <a:ext cx="512445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53" name="Группа 52"/>
                <p:cNvGrpSpPr/>
                <p:nvPr/>
              </p:nvGrpSpPr>
              <p:grpSpPr>
                <a:xfrm>
                  <a:off x="0" y="657225"/>
                  <a:ext cx="4295775" cy="2371725"/>
                  <a:chOff x="0" y="0"/>
                  <a:chExt cx="4295775" cy="2371725"/>
                </a:xfrm>
              </p:grpSpPr>
              <p:grpSp>
                <p:nvGrpSpPr>
                  <p:cNvPr id="54" name="Группа 53"/>
                  <p:cNvGrpSpPr/>
                  <p:nvPr/>
                </p:nvGrpSpPr>
                <p:grpSpPr>
                  <a:xfrm>
                    <a:off x="0" y="0"/>
                    <a:ext cx="2571750" cy="2371725"/>
                    <a:chOff x="0" y="0"/>
                    <a:chExt cx="2571750" cy="2371725"/>
                  </a:xfrm>
                </p:grpSpPr>
                <p:sp>
                  <p:nvSpPr>
                    <p:cNvPr id="60" name="Полилиния 59"/>
                    <p:cNvSpPr/>
                    <p:nvPr/>
                  </p:nvSpPr>
                  <p:spPr>
                    <a:xfrm>
                      <a:off x="9525" y="47625"/>
                      <a:ext cx="1514475" cy="2314575"/>
                    </a:xfrm>
                    <a:custGeom>
                      <a:avLst/>
                      <a:gdLst>
                        <a:gd name="connsiteX0" fmla="*/ 0 w 1514475"/>
                        <a:gd name="connsiteY0" fmla="*/ 2314575 h 2314575"/>
                        <a:gd name="connsiteX1" fmla="*/ 47625 w 1514475"/>
                        <a:gd name="connsiteY1" fmla="*/ 1800225 h 2314575"/>
                        <a:gd name="connsiteX2" fmla="*/ 114300 w 1514475"/>
                        <a:gd name="connsiteY2" fmla="*/ 1438275 h 2314575"/>
                        <a:gd name="connsiteX3" fmla="*/ 238125 w 1514475"/>
                        <a:gd name="connsiteY3" fmla="*/ 1190625 h 2314575"/>
                        <a:gd name="connsiteX4" fmla="*/ 514350 w 1514475"/>
                        <a:gd name="connsiteY4" fmla="*/ 895350 h 2314575"/>
                        <a:gd name="connsiteX5" fmla="*/ 971550 w 1514475"/>
                        <a:gd name="connsiteY5" fmla="*/ 514350 h 2314575"/>
                        <a:gd name="connsiteX6" fmla="*/ 1514475 w 1514475"/>
                        <a:gd name="connsiteY6" fmla="*/ 0 h 2314575"/>
                        <a:gd name="connsiteX0" fmla="*/ 0 w 1514475"/>
                        <a:gd name="connsiteY0" fmla="*/ 2314575 h 2314575"/>
                        <a:gd name="connsiteX1" fmla="*/ 47625 w 1514475"/>
                        <a:gd name="connsiteY1" fmla="*/ 1800225 h 2314575"/>
                        <a:gd name="connsiteX2" fmla="*/ 114300 w 1514475"/>
                        <a:gd name="connsiteY2" fmla="*/ 1438275 h 2314575"/>
                        <a:gd name="connsiteX3" fmla="*/ 276225 w 1514475"/>
                        <a:gd name="connsiteY3" fmla="*/ 1190625 h 2314575"/>
                        <a:gd name="connsiteX4" fmla="*/ 514350 w 1514475"/>
                        <a:gd name="connsiteY4" fmla="*/ 895350 h 2314575"/>
                        <a:gd name="connsiteX5" fmla="*/ 971550 w 1514475"/>
                        <a:gd name="connsiteY5" fmla="*/ 514350 h 2314575"/>
                        <a:gd name="connsiteX6" fmla="*/ 1514475 w 1514475"/>
                        <a:gd name="connsiteY6" fmla="*/ 0 h 2314575"/>
                        <a:gd name="connsiteX0" fmla="*/ 0 w 1514475"/>
                        <a:gd name="connsiteY0" fmla="*/ 2314575 h 2314575"/>
                        <a:gd name="connsiteX1" fmla="*/ 47625 w 1514475"/>
                        <a:gd name="connsiteY1" fmla="*/ 1800225 h 2314575"/>
                        <a:gd name="connsiteX2" fmla="*/ 133350 w 1514475"/>
                        <a:gd name="connsiteY2" fmla="*/ 1447800 h 2314575"/>
                        <a:gd name="connsiteX3" fmla="*/ 276225 w 1514475"/>
                        <a:gd name="connsiteY3" fmla="*/ 1190625 h 2314575"/>
                        <a:gd name="connsiteX4" fmla="*/ 514350 w 1514475"/>
                        <a:gd name="connsiteY4" fmla="*/ 895350 h 2314575"/>
                        <a:gd name="connsiteX5" fmla="*/ 971550 w 1514475"/>
                        <a:gd name="connsiteY5" fmla="*/ 514350 h 2314575"/>
                        <a:gd name="connsiteX6" fmla="*/ 1514475 w 1514475"/>
                        <a:gd name="connsiteY6" fmla="*/ 0 h 2314575"/>
                        <a:gd name="connsiteX0" fmla="*/ 0 w 1514475"/>
                        <a:gd name="connsiteY0" fmla="*/ 2314575 h 2314575"/>
                        <a:gd name="connsiteX1" fmla="*/ 47625 w 1514475"/>
                        <a:gd name="connsiteY1" fmla="*/ 1800225 h 2314575"/>
                        <a:gd name="connsiteX2" fmla="*/ 133350 w 1514475"/>
                        <a:gd name="connsiteY2" fmla="*/ 1447800 h 2314575"/>
                        <a:gd name="connsiteX3" fmla="*/ 276225 w 1514475"/>
                        <a:gd name="connsiteY3" fmla="*/ 1190625 h 2314575"/>
                        <a:gd name="connsiteX4" fmla="*/ 542925 w 1514475"/>
                        <a:gd name="connsiteY4" fmla="*/ 904875 h 2314575"/>
                        <a:gd name="connsiteX5" fmla="*/ 971550 w 1514475"/>
                        <a:gd name="connsiteY5" fmla="*/ 514350 h 2314575"/>
                        <a:gd name="connsiteX6" fmla="*/ 1514475 w 1514475"/>
                        <a:gd name="connsiteY6" fmla="*/ 0 h 2314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4475" h="2314575">
                          <a:moveTo>
                            <a:pt x="0" y="2314575"/>
                          </a:moveTo>
                          <a:cubicBezTo>
                            <a:pt x="14287" y="2130425"/>
                            <a:pt x="25400" y="1944687"/>
                            <a:pt x="47625" y="1800225"/>
                          </a:cubicBezTo>
                          <a:cubicBezTo>
                            <a:pt x="69850" y="1655763"/>
                            <a:pt x="95250" y="1549400"/>
                            <a:pt x="133350" y="1447800"/>
                          </a:cubicBezTo>
                          <a:cubicBezTo>
                            <a:pt x="171450" y="1346200"/>
                            <a:pt x="207963" y="1281112"/>
                            <a:pt x="276225" y="1190625"/>
                          </a:cubicBezTo>
                          <a:cubicBezTo>
                            <a:pt x="344487" y="1100138"/>
                            <a:pt x="427038" y="1017587"/>
                            <a:pt x="542925" y="904875"/>
                          </a:cubicBezTo>
                          <a:cubicBezTo>
                            <a:pt x="658812" y="792163"/>
                            <a:pt x="809625" y="665162"/>
                            <a:pt x="971550" y="514350"/>
                          </a:cubicBezTo>
                          <a:cubicBezTo>
                            <a:pt x="1133475" y="363538"/>
                            <a:pt x="1326356" y="182562"/>
                            <a:pt x="1514475" y="0"/>
                          </a:cubicBezTo>
                        </a:path>
                      </a:pathLst>
                    </a:cu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61" name="Полилиния 60"/>
                    <p:cNvSpPr/>
                    <p:nvPr/>
                  </p:nvSpPr>
                  <p:spPr>
                    <a:xfrm>
                      <a:off x="0" y="0"/>
                      <a:ext cx="2000250" cy="2362200"/>
                    </a:xfrm>
                    <a:custGeom>
                      <a:avLst/>
                      <a:gdLst>
                        <a:gd name="connsiteX0" fmla="*/ 0 w 2000250"/>
                        <a:gd name="connsiteY0" fmla="*/ 2362200 h 2362200"/>
                        <a:gd name="connsiteX1" fmla="*/ 104775 w 2000250"/>
                        <a:gd name="connsiteY1" fmla="*/ 1895475 h 2362200"/>
                        <a:gd name="connsiteX2" fmla="*/ 238125 w 2000250"/>
                        <a:gd name="connsiteY2" fmla="*/ 1600200 h 2362200"/>
                        <a:gd name="connsiteX3" fmla="*/ 561975 w 2000250"/>
                        <a:gd name="connsiteY3" fmla="*/ 1276350 h 2362200"/>
                        <a:gd name="connsiteX4" fmla="*/ 1190625 w 2000250"/>
                        <a:gd name="connsiteY4" fmla="*/ 752475 h 2362200"/>
                        <a:gd name="connsiteX5" fmla="*/ 2000250 w 2000250"/>
                        <a:gd name="connsiteY5" fmla="*/ 0 h 236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0250" h="2362200">
                          <a:moveTo>
                            <a:pt x="0" y="2362200"/>
                          </a:moveTo>
                          <a:cubicBezTo>
                            <a:pt x="32544" y="2192337"/>
                            <a:pt x="65088" y="2022475"/>
                            <a:pt x="104775" y="1895475"/>
                          </a:cubicBezTo>
                          <a:cubicBezTo>
                            <a:pt x="144462" y="1768475"/>
                            <a:pt x="161925" y="1703387"/>
                            <a:pt x="238125" y="1600200"/>
                          </a:cubicBezTo>
                          <a:cubicBezTo>
                            <a:pt x="314325" y="1497013"/>
                            <a:pt x="403225" y="1417637"/>
                            <a:pt x="561975" y="1276350"/>
                          </a:cubicBezTo>
                          <a:cubicBezTo>
                            <a:pt x="720725" y="1135062"/>
                            <a:pt x="950913" y="965200"/>
                            <a:pt x="1190625" y="752475"/>
                          </a:cubicBezTo>
                          <a:cubicBezTo>
                            <a:pt x="1430338" y="539750"/>
                            <a:pt x="1715294" y="269875"/>
                            <a:pt x="2000250" y="0"/>
                          </a:cubicBezTo>
                        </a:path>
                      </a:pathLst>
                    </a:cu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62" name="Полилиния 61"/>
                    <p:cNvSpPr/>
                    <p:nvPr/>
                  </p:nvSpPr>
                  <p:spPr>
                    <a:xfrm>
                      <a:off x="0" y="9525"/>
                      <a:ext cx="2571750" cy="2362200"/>
                    </a:xfrm>
                    <a:custGeom>
                      <a:avLst/>
                      <a:gdLst>
                        <a:gd name="connsiteX0" fmla="*/ 0 w 2571750"/>
                        <a:gd name="connsiteY0" fmla="*/ 2362200 h 2362200"/>
                        <a:gd name="connsiteX1" fmla="*/ 85725 w 2571750"/>
                        <a:gd name="connsiteY1" fmla="*/ 2076450 h 2362200"/>
                        <a:gd name="connsiteX2" fmla="*/ 361950 w 2571750"/>
                        <a:gd name="connsiteY2" fmla="*/ 1866900 h 2362200"/>
                        <a:gd name="connsiteX3" fmla="*/ 1171575 w 2571750"/>
                        <a:gd name="connsiteY3" fmla="*/ 1238250 h 2362200"/>
                        <a:gd name="connsiteX4" fmla="*/ 2076450 w 2571750"/>
                        <a:gd name="connsiteY4" fmla="*/ 457200 h 2362200"/>
                        <a:gd name="connsiteX5" fmla="*/ 2571750 w 2571750"/>
                        <a:gd name="connsiteY5" fmla="*/ 0 h 236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71750" h="2362200">
                          <a:moveTo>
                            <a:pt x="0" y="2362200"/>
                          </a:moveTo>
                          <a:cubicBezTo>
                            <a:pt x="12700" y="2260600"/>
                            <a:pt x="25400" y="2159000"/>
                            <a:pt x="85725" y="2076450"/>
                          </a:cubicBezTo>
                          <a:cubicBezTo>
                            <a:pt x="146050" y="1993900"/>
                            <a:pt x="361950" y="1866900"/>
                            <a:pt x="361950" y="1866900"/>
                          </a:cubicBezTo>
                          <a:cubicBezTo>
                            <a:pt x="542925" y="1727200"/>
                            <a:pt x="885825" y="1473200"/>
                            <a:pt x="1171575" y="1238250"/>
                          </a:cubicBezTo>
                          <a:cubicBezTo>
                            <a:pt x="1457325" y="1003300"/>
                            <a:pt x="1843088" y="663575"/>
                            <a:pt x="2076450" y="457200"/>
                          </a:cubicBezTo>
                          <a:cubicBezTo>
                            <a:pt x="2309812" y="250825"/>
                            <a:pt x="2440781" y="125412"/>
                            <a:pt x="2571750" y="0"/>
                          </a:cubicBezTo>
                        </a:path>
                      </a:pathLst>
                    </a:cu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grpSp>
              <p:sp>
                <p:nvSpPr>
                  <p:cNvPr id="55" name="Полилиния 54"/>
                  <p:cNvSpPr/>
                  <p:nvPr/>
                </p:nvSpPr>
                <p:spPr>
                  <a:xfrm>
                    <a:off x="9525" y="257175"/>
                    <a:ext cx="3209925" cy="2114550"/>
                  </a:xfrm>
                  <a:custGeom>
                    <a:avLst/>
                    <a:gdLst>
                      <a:gd name="connsiteX0" fmla="*/ 0 w 3209925"/>
                      <a:gd name="connsiteY0" fmla="*/ 2114550 h 2114550"/>
                      <a:gd name="connsiteX1" fmla="*/ 514350 w 3209925"/>
                      <a:gd name="connsiteY1" fmla="*/ 1933575 h 2114550"/>
                      <a:gd name="connsiteX2" fmla="*/ 1209675 w 3209925"/>
                      <a:gd name="connsiteY2" fmla="*/ 1552575 h 2114550"/>
                      <a:gd name="connsiteX3" fmla="*/ 2190750 w 3209925"/>
                      <a:gd name="connsiteY3" fmla="*/ 923925 h 2114550"/>
                      <a:gd name="connsiteX4" fmla="*/ 3209925 w 3209925"/>
                      <a:gd name="connsiteY4" fmla="*/ 0 h 2114550"/>
                      <a:gd name="connsiteX0" fmla="*/ 0 w 3209925"/>
                      <a:gd name="connsiteY0" fmla="*/ 2114550 h 2114550"/>
                      <a:gd name="connsiteX1" fmla="*/ 514350 w 3209925"/>
                      <a:gd name="connsiteY1" fmla="*/ 1933575 h 2114550"/>
                      <a:gd name="connsiteX2" fmla="*/ 1209675 w 3209925"/>
                      <a:gd name="connsiteY2" fmla="*/ 1552575 h 2114550"/>
                      <a:gd name="connsiteX3" fmla="*/ 2162175 w 3209925"/>
                      <a:gd name="connsiteY3" fmla="*/ 904875 h 2114550"/>
                      <a:gd name="connsiteX4" fmla="*/ 3209925 w 3209925"/>
                      <a:gd name="connsiteY4" fmla="*/ 0 h 211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9925" h="2114550">
                        <a:moveTo>
                          <a:pt x="0" y="2114550"/>
                        </a:moveTo>
                        <a:cubicBezTo>
                          <a:pt x="156369" y="2070893"/>
                          <a:pt x="312738" y="2027237"/>
                          <a:pt x="514350" y="1933575"/>
                        </a:cubicBezTo>
                        <a:cubicBezTo>
                          <a:pt x="715962" y="1839913"/>
                          <a:pt x="935038" y="1724025"/>
                          <a:pt x="1209675" y="1552575"/>
                        </a:cubicBezTo>
                        <a:cubicBezTo>
                          <a:pt x="1484313" y="1381125"/>
                          <a:pt x="1828800" y="1163637"/>
                          <a:pt x="2162175" y="904875"/>
                        </a:cubicBezTo>
                        <a:cubicBezTo>
                          <a:pt x="2495550" y="646113"/>
                          <a:pt x="2867025" y="332581"/>
                          <a:pt x="3209925" y="0"/>
                        </a:cubicBezTo>
                      </a:path>
                    </a:pathLst>
                  </a:cu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grpSp>
                <p:nvGrpSpPr>
                  <p:cNvPr id="56" name="Группа 55"/>
                  <p:cNvGrpSpPr/>
                  <p:nvPr/>
                </p:nvGrpSpPr>
                <p:grpSpPr>
                  <a:xfrm>
                    <a:off x="1209675" y="685800"/>
                    <a:ext cx="3086100" cy="1685925"/>
                    <a:chOff x="0" y="0"/>
                    <a:chExt cx="3086100" cy="1685925"/>
                  </a:xfrm>
                </p:grpSpPr>
                <p:sp>
                  <p:nvSpPr>
                    <p:cNvPr id="57" name="Полилиния 56"/>
                    <p:cNvSpPr/>
                    <p:nvPr/>
                  </p:nvSpPr>
                  <p:spPr>
                    <a:xfrm>
                      <a:off x="0" y="0"/>
                      <a:ext cx="2514600" cy="1685925"/>
                    </a:xfrm>
                    <a:custGeom>
                      <a:avLst/>
                      <a:gdLst>
                        <a:gd name="connsiteX0" fmla="*/ 0 w 2514600"/>
                        <a:gd name="connsiteY0" fmla="*/ 1685925 h 1685925"/>
                        <a:gd name="connsiteX1" fmla="*/ 514350 w 2514600"/>
                        <a:gd name="connsiteY1" fmla="*/ 1485900 h 1685925"/>
                        <a:gd name="connsiteX2" fmla="*/ 1028700 w 2514600"/>
                        <a:gd name="connsiteY2" fmla="*/ 1181100 h 1685925"/>
                        <a:gd name="connsiteX3" fmla="*/ 2514600 w 2514600"/>
                        <a:gd name="connsiteY3" fmla="*/ 0 h 1685925"/>
                        <a:gd name="connsiteX0" fmla="*/ 0 w 2514600"/>
                        <a:gd name="connsiteY0" fmla="*/ 1685925 h 1685925"/>
                        <a:gd name="connsiteX1" fmla="*/ 485775 w 2514600"/>
                        <a:gd name="connsiteY1" fmla="*/ 1476375 h 1685925"/>
                        <a:gd name="connsiteX2" fmla="*/ 1028700 w 2514600"/>
                        <a:gd name="connsiteY2" fmla="*/ 1181100 h 1685925"/>
                        <a:gd name="connsiteX3" fmla="*/ 2514600 w 2514600"/>
                        <a:gd name="connsiteY3" fmla="*/ 0 h 1685925"/>
                        <a:gd name="connsiteX0" fmla="*/ 0 w 2514600"/>
                        <a:gd name="connsiteY0" fmla="*/ 1685925 h 1685925"/>
                        <a:gd name="connsiteX1" fmla="*/ 485775 w 2514600"/>
                        <a:gd name="connsiteY1" fmla="*/ 1476375 h 1685925"/>
                        <a:gd name="connsiteX2" fmla="*/ 1076325 w 2514600"/>
                        <a:gd name="connsiteY2" fmla="*/ 1123950 h 1685925"/>
                        <a:gd name="connsiteX3" fmla="*/ 2514600 w 2514600"/>
                        <a:gd name="connsiteY3" fmla="*/ 0 h 1685925"/>
                      </a:gdLst>
                      <a:ahLst/>
                      <a:cxnLst>
                        <a:cxn ang="0">
                          <a:pos x="connsiteX0" y="connsiteY0"/>
                        </a:cxn>
                        <a:cxn ang="0">
                          <a:pos x="connsiteX1" y="connsiteY1"/>
                        </a:cxn>
                        <a:cxn ang="0">
                          <a:pos x="connsiteX2" y="connsiteY2"/>
                        </a:cxn>
                        <a:cxn ang="0">
                          <a:pos x="connsiteX3" y="connsiteY3"/>
                        </a:cxn>
                      </a:cxnLst>
                      <a:rect l="l" t="t" r="r" b="b"/>
                      <a:pathLst>
                        <a:path w="2514600" h="1685925">
                          <a:moveTo>
                            <a:pt x="0" y="1685925"/>
                          </a:moveTo>
                          <a:cubicBezTo>
                            <a:pt x="171450" y="1627981"/>
                            <a:pt x="306388" y="1570037"/>
                            <a:pt x="485775" y="1476375"/>
                          </a:cubicBezTo>
                          <a:cubicBezTo>
                            <a:pt x="665162" y="1382713"/>
                            <a:pt x="738188" y="1370012"/>
                            <a:pt x="1076325" y="1123950"/>
                          </a:cubicBezTo>
                          <a:cubicBezTo>
                            <a:pt x="1414462" y="877888"/>
                            <a:pt x="1938337" y="466725"/>
                            <a:pt x="2514600" y="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58" name="Полилиния 57"/>
                    <p:cNvSpPr/>
                    <p:nvPr/>
                  </p:nvSpPr>
                  <p:spPr>
                    <a:xfrm>
                      <a:off x="762000" y="485775"/>
                      <a:ext cx="2066925" cy="1181100"/>
                    </a:xfrm>
                    <a:custGeom>
                      <a:avLst/>
                      <a:gdLst>
                        <a:gd name="connsiteX0" fmla="*/ 0 w 2066925"/>
                        <a:gd name="connsiteY0" fmla="*/ 1181100 h 1181100"/>
                        <a:gd name="connsiteX1" fmla="*/ 447675 w 2066925"/>
                        <a:gd name="connsiteY1" fmla="*/ 1047750 h 1181100"/>
                        <a:gd name="connsiteX2" fmla="*/ 981075 w 2066925"/>
                        <a:gd name="connsiteY2" fmla="*/ 790575 h 1181100"/>
                        <a:gd name="connsiteX3" fmla="*/ 1600200 w 2066925"/>
                        <a:gd name="connsiteY3" fmla="*/ 381000 h 1181100"/>
                        <a:gd name="connsiteX4" fmla="*/ 2066925 w 2066925"/>
                        <a:gd name="connsiteY4" fmla="*/ 0 h 1181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6925" h="1181100">
                          <a:moveTo>
                            <a:pt x="0" y="1181100"/>
                          </a:moveTo>
                          <a:cubicBezTo>
                            <a:pt x="142081" y="1146969"/>
                            <a:pt x="284162" y="1112838"/>
                            <a:pt x="447675" y="1047750"/>
                          </a:cubicBezTo>
                          <a:cubicBezTo>
                            <a:pt x="611188" y="982662"/>
                            <a:pt x="788988" y="901700"/>
                            <a:pt x="981075" y="790575"/>
                          </a:cubicBezTo>
                          <a:cubicBezTo>
                            <a:pt x="1173162" y="679450"/>
                            <a:pt x="1419225" y="512762"/>
                            <a:pt x="1600200" y="381000"/>
                          </a:cubicBezTo>
                          <a:cubicBezTo>
                            <a:pt x="1781175" y="249237"/>
                            <a:pt x="1924050" y="124618"/>
                            <a:pt x="2066925" y="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59" name="Полилиния 58"/>
                    <p:cNvSpPr/>
                    <p:nvPr/>
                  </p:nvSpPr>
                  <p:spPr>
                    <a:xfrm>
                      <a:off x="1333500" y="866775"/>
                      <a:ext cx="1752600" cy="809625"/>
                    </a:xfrm>
                    <a:custGeom>
                      <a:avLst/>
                      <a:gdLst>
                        <a:gd name="connsiteX0" fmla="*/ 0 w 1752600"/>
                        <a:gd name="connsiteY0" fmla="*/ 809625 h 809625"/>
                        <a:gd name="connsiteX1" fmla="*/ 514350 w 1752600"/>
                        <a:gd name="connsiteY1" fmla="*/ 676275 h 809625"/>
                        <a:gd name="connsiteX2" fmla="*/ 1209675 w 1752600"/>
                        <a:gd name="connsiteY2" fmla="*/ 333375 h 809625"/>
                        <a:gd name="connsiteX3" fmla="*/ 1752600 w 1752600"/>
                        <a:gd name="connsiteY3" fmla="*/ 0 h 809625"/>
                      </a:gdLst>
                      <a:ahLst/>
                      <a:cxnLst>
                        <a:cxn ang="0">
                          <a:pos x="connsiteX0" y="connsiteY0"/>
                        </a:cxn>
                        <a:cxn ang="0">
                          <a:pos x="connsiteX1" y="connsiteY1"/>
                        </a:cxn>
                        <a:cxn ang="0">
                          <a:pos x="connsiteX2" y="connsiteY2"/>
                        </a:cxn>
                        <a:cxn ang="0">
                          <a:pos x="connsiteX3" y="connsiteY3"/>
                        </a:cxn>
                      </a:cxnLst>
                      <a:rect l="l" t="t" r="r" b="b"/>
                      <a:pathLst>
                        <a:path w="1752600" h="809625">
                          <a:moveTo>
                            <a:pt x="0" y="809625"/>
                          </a:moveTo>
                          <a:cubicBezTo>
                            <a:pt x="156369" y="782637"/>
                            <a:pt x="312738" y="755650"/>
                            <a:pt x="514350" y="676275"/>
                          </a:cubicBezTo>
                          <a:cubicBezTo>
                            <a:pt x="715962" y="596900"/>
                            <a:pt x="1003300" y="446087"/>
                            <a:pt x="1209675" y="333375"/>
                          </a:cubicBezTo>
                          <a:cubicBezTo>
                            <a:pt x="1416050" y="220663"/>
                            <a:pt x="1584325" y="110331"/>
                            <a:pt x="1752600" y="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grpSp>
            </p:grpSp>
          </p:grpSp>
          <p:grpSp>
            <p:nvGrpSpPr>
              <p:cNvPr id="48" name="Группа 47"/>
              <p:cNvGrpSpPr/>
              <p:nvPr/>
            </p:nvGrpSpPr>
            <p:grpSpPr>
              <a:xfrm>
                <a:off x="0" y="409575"/>
                <a:ext cx="3952875" cy="2596299"/>
                <a:chOff x="0" y="0"/>
                <a:chExt cx="3952875" cy="2596299"/>
              </a:xfrm>
            </p:grpSpPr>
            <p:sp>
              <p:nvSpPr>
                <p:cNvPr id="49" name="Полилиния 48"/>
                <p:cNvSpPr/>
                <p:nvPr/>
              </p:nvSpPr>
              <p:spPr>
                <a:xfrm>
                  <a:off x="19050" y="0"/>
                  <a:ext cx="3933825" cy="2429688"/>
                </a:xfrm>
                <a:custGeom>
                  <a:avLst/>
                  <a:gdLst>
                    <a:gd name="connsiteX0" fmla="*/ 0 w 4010025"/>
                    <a:gd name="connsiteY0" fmla="*/ 0 h 2428875"/>
                    <a:gd name="connsiteX1" fmla="*/ 66675 w 4010025"/>
                    <a:gd name="connsiteY1" fmla="*/ 571500 h 2428875"/>
                    <a:gd name="connsiteX2" fmla="*/ 209550 w 4010025"/>
                    <a:gd name="connsiteY2" fmla="*/ 1076325 h 2428875"/>
                    <a:gd name="connsiteX3" fmla="*/ 485775 w 4010025"/>
                    <a:gd name="connsiteY3" fmla="*/ 1590675 h 2428875"/>
                    <a:gd name="connsiteX4" fmla="*/ 904875 w 4010025"/>
                    <a:gd name="connsiteY4" fmla="*/ 1914525 h 2428875"/>
                    <a:gd name="connsiteX5" fmla="*/ 1524000 w 4010025"/>
                    <a:gd name="connsiteY5" fmla="*/ 2143125 h 2428875"/>
                    <a:gd name="connsiteX6" fmla="*/ 2228850 w 4010025"/>
                    <a:gd name="connsiteY6" fmla="*/ 2305050 h 2428875"/>
                    <a:gd name="connsiteX7" fmla="*/ 4010025 w 4010025"/>
                    <a:gd name="connsiteY7" fmla="*/ 2428875 h 2428875"/>
                    <a:gd name="connsiteX0" fmla="*/ 0 w 4010025"/>
                    <a:gd name="connsiteY0" fmla="*/ 0 h 2428875"/>
                    <a:gd name="connsiteX1" fmla="*/ 66675 w 4010025"/>
                    <a:gd name="connsiteY1" fmla="*/ 571500 h 2428875"/>
                    <a:gd name="connsiteX2" fmla="*/ 209550 w 4010025"/>
                    <a:gd name="connsiteY2" fmla="*/ 1076325 h 2428875"/>
                    <a:gd name="connsiteX3" fmla="*/ 514350 w 4010025"/>
                    <a:gd name="connsiteY3" fmla="*/ 1581150 h 2428875"/>
                    <a:gd name="connsiteX4" fmla="*/ 904875 w 4010025"/>
                    <a:gd name="connsiteY4" fmla="*/ 1914525 h 2428875"/>
                    <a:gd name="connsiteX5" fmla="*/ 1524000 w 4010025"/>
                    <a:gd name="connsiteY5" fmla="*/ 2143125 h 2428875"/>
                    <a:gd name="connsiteX6" fmla="*/ 2228850 w 4010025"/>
                    <a:gd name="connsiteY6" fmla="*/ 2305050 h 2428875"/>
                    <a:gd name="connsiteX7" fmla="*/ 4010025 w 4010025"/>
                    <a:gd name="connsiteY7" fmla="*/ 2428875 h 2428875"/>
                    <a:gd name="connsiteX0" fmla="*/ 0 w 4010025"/>
                    <a:gd name="connsiteY0" fmla="*/ 0 h 2436263"/>
                    <a:gd name="connsiteX1" fmla="*/ 66675 w 4010025"/>
                    <a:gd name="connsiteY1" fmla="*/ 571500 h 2436263"/>
                    <a:gd name="connsiteX2" fmla="*/ 209550 w 4010025"/>
                    <a:gd name="connsiteY2" fmla="*/ 1076325 h 2436263"/>
                    <a:gd name="connsiteX3" fmla="*/ 514350 w 4010025"/>
                    <a:gd name="connsiteY3" fmla="*/ 1581150 h 2436263"/>
                    <a:gd name="connsiteX4" fmla="*/ 904875 w 4010025"/>
                    <a:gd name="connsiteY4" fmla="*/ 1914525 h 2436263"/>
                    <a:gd name="connsiteX5" fmla="*/ 1524000 w 4010025"/>
                    <a:gd name="connsiteY5" fmla="*/ 2143125 h 2436263"/>
                    <a:gd name="connsiteX6" fmla="*/ 2228850 w 4010025"/>
                    <a:gd name="connsiteY6" fmla="*/ 2305050 h 2436263"/>
                    <a:gd name="connsiteX7" fmla="*/ 3200400 w 4010025"/>
                    <a:gd name="connsiteY7" fmla="*/ 2428875 h 2436263"/>
                    <a:gd name="connsiteX8" fmla="*/ 4010025 w 4010025"/>
                    <a:gd name="connsiteY8" fmla="*/ 2428875 h 2436263"/>
                    <a:gd name="connsiteX0" fmla="*/ 0 w 4019550"/>
                    <a:gd name="connsiteY0" fmla="*/ 0 h 2486436"/>
                    <a:gd name="connsiteX1" fmla="*/ 66675 w 4019550"/>
                    <a:gd name="connsiteY1" fmla="*/ 571500 h 2486436"/>
                    <a:gd name="connsiteX2" fmla="*/ 209550 w 4019550"/>
                    <a:gd name="connsiteY2" fmla="*/ 1076325 h 2486436"/>
                    <a:gd name="connsiteX3" fmla="*/ 514350 w 4019550"/>
                    <a:gd name="connsiteY3" fmla="*/ 1581150 h 2486436"/>
                    <a:gd name="connsiteX4" fmla="*/ 904875 w 4019550"/>
                    <a:gd name="connsiteY4" fmla="*/ 1914525 h 2486436"/>
                    <a:gd name="connsiteX5" fmla="*/ 1524000 w 4019550"/>
                    <a:gd name="connsiteY5" fmla="*/ 2143125 h 2486436"/>
                    <a:gd name="connsiteX6" fmla="*/ 2228850 w 4019550"/>
                    <a:gd name="connsiteY6" fmla="*/ 2305050 h 2486436"/>
                    <a:gd name="connsiteX7" fmla="*/ 3200400 w 4019550"/>
                    <a:gd name="connsiteY7" fmla="*/ 2428875 h 2486436"/>
                    <a:gd name="connsiteX8" fmla="*/ 4019550 w 4019550"/>
                    <a:gd name="connsiteY8" fmla="*/ 2486436 h 2486436"/>
                    <a:gd name="connsiteX0" fmla="*/ 0 w 4019550"/>
                    <a:gd name="connsiteY0" fmla="*/ 0 h 2429688"/>
                    <a:gd name="connsiteX1" fmla="*/ 66675 w 4019550"/>
                    <a:gd name="connsiteY1" fmla="*/ 571500 h 2429688"/>
                    <a:gd name="connsiteX2" fmla="*/ 209550 w 4019550"/>
                    <a:gd name="connsiteY2" fmla="*/ 1076325 h 2429688"/>
                    <a:gd name="connsiteX3" fmla="*/ 514350 w 4019550"/>
                    <a:gd name="connsiteY3" fmla="*/ 1581150 h 2429688"/>
                    <a:gd name="connsiteX4" fmla="*/ 904875 w 4019550"/>
                    <a:gd name="connsiteY4" fmla="*/ 1914525 h 2429688"/>
                    <a:gd name="connsiteX5" fmla="*/ 1524000 w 4019550"/>
                    <a:gd name="connsiteY5" fmla="*/ 2143125 h 2429688"/>
                    <a:gd name="connsiteX6" fmla="*/ 2228850 w 4019550"/>
                    <a:gd name="connsiteY6" fmla="*/ 2305050 h 2429688"/>
                    <a:gd name="connsiteX7" fmla="*/ 3200400 w 4019550"/>
                    <a:gd name="connsiteY7" fmla="*/ 2428875 h 2429688"/>
                    <a:gd name="connsiteX8" fmla="*/ 4019550 w 4019550"/>
                    <a:gd name="connsiteY8" fmla="*/ 2429688 h 2429688"/>
                    <a:gd name="connsiteX0" fmla="*/ 0 w 4276725"/>
                    <a:gd name="connsiteY0" fmla="*/ 0 h 2429688"/>
                    <a:gd name="connsiteX1" fmla="*/ 66675 w 4276725"/>
                    <a:gd name="connsiteY1" fmla="*/ 571500 h 2429688"/>
                    <a:gd name="connsiteX2" fmla="*/ 209550 w 4276725"/>
                    <a:gd name="connsiteY2" fmla="*/ 1076325 h 2429688"/>
                    <a:gd name="connsiteX3" fmla="*/ 514350 w 4276725"/>
                    <a:gd name="connsiteY3" fmla="*/ 1581150 h 2429688"/>
                    <a:gd name="connsiteX4" fmla="*/ 904875 w 4276725"/>
                    <a:gd name="connsiteY4" fmla="*/ 1914525 h 2429688"/>
                    <a:gd name="connsiteX5" fmla="*/ 1524000 w 4276725"/>
                    <a:gd name="connsiteY5" fmla="*/ 2143125 h 2429688"/>
                    <a:gd name="connsiteX6" fmla="*/ 2228850 w 4276725"/>
                    <a:gd name="connsiteY6" fmla="*/ 2305050 h 2429688"/>
                    <a:gd name="connsiteX7" fmla="*/ 3200400 w 4276725"/>
                    <a:gd name="connsiteY7" fmla="*/ 2428875 h 2429688"/>
                    <a:gd name="connsiteX8" fmla="*/ 4276725 w 4276725"/>
                    <a:gd name="connsiteY8" fmla="*/ 2429688 h 2429688"/>
                    <a:gd name="connsiteX0" fmla="*/ 0 w 3933825"/>
                    <a:gd name="connsiteY0" fmla="*/ 0 h 2429688"/>
                    <a:gd name="connsiteX1" fmla="*/ 66675 w 3933825"/>
                    <a:gd name="connsiteY1" fmla="*/ 571500 h 2429688"/>
                    <a:gd name="connsiteX2" fmla="*/ 209550 w 3933825"/>
                    <a:gd name="connsiteY2" fmla="*/ 1076325 h 2429688"/>
                    <a:gd name="connsiteX3" fmla="*/ 514350 w 3933825"/>
                    <a:gd name="connsiteY3" fmla="*/ 1581150 h 2429688"/>
                    <a:gd name="connsiteX4" fmla="*/ 904875 w 3933825"/>
                    <a:gd name="connsiteY4" fmla="*/ 1914525 h 2429688"/>
                    <a:gd name="connsiteX5" fmla="*/ 1524000 w 3933825"/>
                    <a:gd name="connsiteY5" fmla="*/ 2143125 h 2429688"/>
                    <a:gd name="connsiteX6" fmla="*/ 2228850 w 3933825"/>
                    <a:gd name="connsiteY6" fmla="*/ 2305050 h 2429688"/>
                    <a:gd name="connsiteX7" fmla="*/ 3200400 w 3933825"/>
                    <a:gd name="connsiteY7" fmla="*/ 2428875 h 2429688"/>
                    <a:gd name="connsiteX8" fmla="*/ 3933825 w 3933825"/>
                    <a:gd name="connsiteY8" fmla="*/ 2429688 h 242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3825" h="2429688">
                      <a:moveTo>
                        <a:pt x="0" y="0"/>
                      </a:moveTo>
                      <a:cubicBezTo>
                        <a:pt x="15875" y="196056"/>
                        <a:pt x="31750" y="392113"/>
                        <a:pt x="66675" y="571500"/>
                      </a:cubicBezTo>
                      <a:cubicBezTo>
                        <a:pt x="101600" y="750887"/>
                        <a:pt x="134937" y="908050"/>
                        <a:pt x="209550" y="1076325"/>
                      </a:cubicBezTo>
                      <a:cubicBezTo>
                        <a:pt x="284163" y="1244600"/>
                        <a:pt x="398463" y="1441450"/>
                        <a:pt x="514350" y="1581150"/>
                      </a:cubicBezTo>
                      <a:cubicBezTo>
                        <a:pt x="630238" y="1720850"/>
                        <a:pt x="736600" y="1820863"/>
                        <a:pt x="904875" y="1914525"/>
                      </a:cubicBezTo>
                      <a:cubicBezTo>
                        <a:pt x="1073150" y="2008187"/>
                        <a:pt x="1303338" y="2078038"/>
                        <a:pt x="1524000" y="2143125"/>
                      </a:cubicBezTo>
                      <a:cubicBezTo>
                        <a:pt x="1744663" y="2208213"/>
                        <a:pt x="1949450" y="2257425"/>
                        <a:pt x="2228850" y="2305050"/>
                      </a:cubicBezTo>
                      <a:cubicBezTo>
                        <a:pt x="2508250" y="2352675"/>
                        <a:pt x="2903538" y="2408238"/>
                        <a:pt x="3200400" y="2428875"/>
                      </a:cubicBezTo>
                      <a:lnTo>
                        <a:pt x="3933825" y="2429688"/>
                      </a:lnTo>
                    </a:path>
                  </a:pathLst>
                </a:custGeom>
                <a:noFill/>
                <a:ln w="19050">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50" name="Полилиния 49"/>
                <p:cNvSpPr/>
                <p:nvPr/>
              </p:nvSpPr>
              <p:spPr>
                <a:xfrm>
                  <a:off x="0" y="1590675"/>
                  <a:ext cx="3943350" cy="942975"/>
                </a:xfrm>
                <a:custGeom>
                  <a:avLst/>
                  <a:gdLst>
                    <a:gd name="connsiteX0" fmla="*/ 0 w 3943350"/>
                    <a:gd name="connsiteY0" fmla="*/ 0 h 942975"/>
                    <a:gd name="connsiteX1" fmla="*/ 180975 w 3943350"/>
                    <a:gd name="connsiteY1" fmla="*/ 276225 h 942975"/>
                    <a:gd name="connsiteX2" fmla="*/ 419100 w 3943350"/>
                    <a:gd name="connsiteY2" fmla="*/ 523875 h 942975"/>
                    <a:gd name="connsiteX3" fmla="*/ 666750 w 3943350"/>
                    <a:gd name="connsiteY3" fmla="*/ 695325 h 942975"/>
                    <a:gd name="connsiteX4" fmla="*/ 1485900 w 3943350"/>
                    <a:gd name="connsiteY4" fmla="*/ 790575 h 942975"/>
                    <a:gd name="connsiteX5" fmla="*/ 2876550 w 3943350"/>
                    <a:gd name="connsiteY5" fmla="*/ 895350 h 942975"/>
                    <a:gd name="connsiteX6" fmla="*/ 3943350 w 3943350"/>
                    <a:gd name="connsiteY6" fmla="*/ 942975 h 942975"/>
                    <a:gd name="connsiteX0" fmla="*/ 0 w 3943350"/>
                    <a:gd name="connsiteY0" fmla="*/ 0 h 942975"/>
                    <a:gd name="connsiteX1" fmla="*/ 180975 w 3943350"/>
                    <a:gd name="connsiteY1" fmla="*/ 276225 h 942975"/>
                    <a:gd name="connsiteX2" fmla="*/ 419100 w 3943350"/>
                    <a:gd name="connsiteY2" fmla="*/ 523875 h 942975"/>
                    <a:gd name="connsiteX3" fmla="*/ 847725 w 3943350"/>
                    <a:gd name="connsiteY3" fmla="*/ 714375 h 942975"/>
                    <a:gd name="connsiteX4" fmla="*/ 1485900 w 3943350"/>
                    <a:gd name="connsiteY4" fmla="*/ 790575 h 942975"/>
                    <a:gd name="connsiteX5" fmla="*/ 2876550 w 3943350"/>
                    <a:gd name="connsiteY5" fmla="*/ 895350 h 942975"/>
                    <a:gd name="connsiteX6" fmla="*/ 3943350 w 3943350"/>
                    <a:gd name="connsiteY6" fmla="*/ 942975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3350" h="942975">
                      <a:moveTo>
                        <a:pt x="0" y="0"/>
                      </a:moveTo>
                      <a:cubicBezTo>
                        <a:pt x="55562" y="94456"/>
                        <a:pt x="111125" y="188913"/>
                        <a:pt x="180975" y="276225"/>
                      </a:cubicBezTo>
                      <a:cubicBezTo>
                        <a:pt x="250825" y="363538"/>
                        <a:pt x="307975" y="450850"/>
                        <a:pt x="419100" y="523875"/>
                      </a:cubicBezTo>
                      <a:cubicBezTo>
                        <a:pt x="530225" y="596900"/>
                        <a:pt x="669925" y="669925"/>
                        <a:pt x="847725" y="714375"/>
                      </a:cubicBezTo>
                      <a:cubicBezTo>
                        <a:pt x="1025525" y="758825"/>
                        <a:pt x="1147763" y="760413"/>
                        <a:pt x="1485900" y="790575"/>
                      </a:cubicBezTo>
                      <a:cubicBezTo>
                        <a:pt x="1824037" y="820737"/>
                        <a:pt x="2466975" y="869950"/>
                        <a:pt x="2876550" y="895350"/>
                      </a:cubicBezTo>
                      <a:cubicBezTo>
                        <a:pt x="3286125" y="920750"/>
                        <a:pt x="3614737" y="931862"/>
                        <a:pt x="3943350" y="942975"/>
                      </a:cubicBezTo>
                    </a:path>
                  </a:pathLst>
                </a:custGeom>
                <a:noFill/>
                <a:ln w="19050">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51" name="Полилиния 50"/>
                <p:cNvSpPr/>
                <p:nvPr/>
              </p:nvSpPr>
              <p:spPr>
                <a:xfrm>
                  <a:off x="0" y="2247900"/>
                  <a:ext cx="3905250" cy="348399"/>
                </a:xfrm>
                <a:custGeom>
                  <a:avLst/>
                  <a:gdLst>
                    <a:gd name="connsiteX0" fmla="*/ 0 w 3905250"/>
                    <a:gd name="connsiteY0" fmla="*/ 0 h 348399"/>
                    <a:gd name="connsiteX1" fmla="*/ 333375 w 3905250"/>
                    <a:gd name="connsiteY1" fmla="*/ 133350 h 348399"/>
                    <a:gd name="connsiteX2" fmla="*/ 904875 w 3905250"/>
                    <a:gd name="connsiteY2" fmla="*/ 257175 h 348399"/>
                    <a:gd name="connsiteX3" fmla="*/ 1352550 w 3905250"/>
                    <a:gd name="connsiteY3" fmla="*/ 285750 h 348399"/>
                    <a:gd name="connsiteX4" fmla="*/ 2581275 w 3905250"/>
                    <a:gd name="connsiteY4" fmla="*/ 342900 h 348399"/>
                    <a:gd name="connsiteX5" fmla="*/ 3905250 w 3905250"/>
                    <a:gd name="connsiteY5" fmla="*/ 342900 h 34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0" h="348399">
                      <a:moveTo>
                        <a:pt x="0" y="0"/>
                      </a:moveTo>
                      <a:cubicBezTo>
                        <a:pt x="91281" y="45244"/>
                        <a:pt x="182563" y="90488"/>
                        <a:pt x="333375" y="133350"/>
                      </a:cubicBezTo>
                      <a:cubicBezTo>
                        <a:pt x="484188" y="176213"/>
                        <a:pt x="735013" y="231775"/>
                        <a:pt x="904875" y="257175"/>
                      </a:cubicBezTo>
                      <a:cubicBezTo>
                        <a:pt x="1074738" y="282575"/>
                        <a:pt x="1352550" y="285750"/>
                        <a:pt x="1352550" y="285750"/>
                      </a:cubicBezTo>
                      <a:cubicBezTo>
                        <a:pt x="1631950" y="300038"/>
                        <a:pt x="2155825" y="333375"/>
                        <a:pt x="2581275" y="342900"/>
                      </a:cubicBezTo>
                      <a:cubicBezTo>
                        <a:pt x="3006725" y="352425"/>
                        <a:pt x="3455987" y="347662"/>
                        <a:pt x="3905250" y="342900"/>
                      </a:cubicBezTo>
                    </a:path>
                  </a:pathLst>
                </a:custGeom>
                <a:noFill/>
                <a:ln w="19050">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grpSp>
        </p:grpSp>
        <p:sp>
          <p:nvSpPr>
            <p:cNvPr id="27" name="Поле 54"/>
            <p:cNvSpPr txBox="1"/>
            <p:nvPr/>
          </p:nvSpPr>
          <p:spPr>
            <a:xfrm>
              <a:off x="5238750" y="3400425"/>
              <a:ext cx="476250" cy="31305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a</a:t>
              </a:r>
              <a:endParaRPr lang="ru-RU" sz="1100">
                <a:effectLst/>
                <a:ea typeface="Calibri"/>
                <a:cs typeface="Times New Roman"/>
              </a:endParaRPr>
            </a:p>
          </p:txBody>
        </p:sp>
        <p:sp>
          <p:nvSpPr>
            <p:cNvPr id="28" name="Поле 55"/>
            <p:cNvSpPr txBox="1"/>
            <p:nvPr/>
          </p:nvSpPr>
          <p:spPr>
            <a:xfrm>
              <a:off x="0" y="190500"/>
              <a:ext cx="552450" cy="4191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I</a:t>
              </a:r>
              <a:r>
                <a:rPr lang="en-US" sz="2200" baseline="-25000">
                  <a:effectLst/>
                  <a:latin typeface="Times New Roman"/>
                  <a:ea typeface="Calibri"/>
                  <a:cs typeface="Times New Roman"/>
                </a:rPr>
                <a:t>a</a:t>
              </a:r>
              <a:r>
                <a:rPr lang="en-US" sz="1800">
                  <a:effectLst/>
                  <a:latin typeface="Times New Roman"/>
                  <a:ea typeface="Calibri"/>
                  <a:cs typeface="Times New Roman"/>
                </a:rPr>
                <a:t>, </a:t>
              </a:r>
              <a:r>
                <a:rPr lang="en-US" sz="1800" i="1">
                  <a:effectLst/>
                  <a:latin typeface="Times New Roman"/>
                  <a:ea typeface="Calibri"/>
                  <a:cs typeface="Times New Roman"/>
                </a:rPr>
                <a:t>I</a:t>
              </a:r>
              <a:r>
                <a:rPr lang="en-US" sz="2400" baseline="-25000">
                  <a:effectLst/>
                  <a:latin typeface="Times New Roman"/>
                  <a:ea typeface="Calibri"/>
                  <a:cs typeface="Times New Roman"/>
                </a:rPr>
                <a:t>c</a:t>
              </a:r>
              <a:endParaRPr lang="ru-RU" sz="1100">
                <a:effectLst/>
                <a:ea typeface="Calibri"/>
                <a:cs typeface="Times New Roman"/>
              </a:endParaRPr>
            </a:p>
          </p:txBody>
        </p:sp>
        <p:sp>
          <p:nvSpPr>
            <p:cNvPr id="29" name="Поле 56"/>
            <p:cNvSpPr txBox="1"/>
            <p:nvPr/>
          </p:nvSpPr>
          <p:spPr>
            <a:xfrm>
              <a:off x="2800350" y="561975"/>
              <a:ext cx="476250"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C1</a:t>
              </a:r>
              <a:endParaRPr lang="ru-RU" sz="1100">
                <a:effectLst/>
                <a:ea typeface="Calibri"/>
                <a:cs typeface="Times New Roman"/>
              </a:endParaRPr>
            </a:p>
          </p:txBody>
        </p:sp>
        <p:sp>
          <p:nvSpPr>
            <p:cNvPr id="30" name="Поле 57"/>
            <p:cNvSpPr txBox="1"/>
            <p:nvPr/>
          </p:nvSpPr>
          <p:spPr>
            <a:xfrm>
              <a:off x="2190750" y="561975"/>
              <a:ext cx="476250"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C2</a:t>
              </a:r>
              <a:endParaRPr lang="ru-RU" sz="1100">
                <a:effectLst/>
                <a:ea typeface="Calibri"/>
                <a:cs typeface="Times New Roman"/>
              </a:endParaRPr>
            </a:p>
          </p:txBody>
        </p:sp>
        <p:sp>
          <p:nvSpPr>
            <p:cNvPr id="31" name="Поле 58"/>
            <p:cNvSpPr txBox="1"/>
            <p:nvPr/>
          </p:nvSpPr>
          <p:spPr>
            <a:xfrm>
              <a:off x="1609725" y="561975"/>
              <a:ext cx="476250"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C3</a:t>
              </a:r>
              <a:endParaRPr lang="ru-RU" sz="1100">
                <a:effectLst/>
                <a:ea typeface="Calibri"/>
                <a:cs typeface="Times New Roman"/>
              </a:endParaRPr>
            </a:p>
          </p:txBody>
        </p:sp>
        <p:sp>
          <p:nvSpPr>
            <p:cNvPr id="32" name="Поле 59"/>
            <p:cNvSpPr txBox="1"/>
            <p:nvPr/>
          </p:nvSpPr>
          <p:spPr>
            <a:xfrm>
              <a:off x="4324350" y="1371600"/>
              <a:ext cx="476250"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dirty="0">
                  <a:effectLst/>
                  <a:latin typeface="Times New Roman"/>
                  <a:ea typeface="Calibri"/>
                  <a:cs typeface="Times New Roman"/>
                </a:rPr>
                <a:t>U</a:t>
              </a:r>
              <a:r>
                <a:rPr lang="en-US" sz="2200" baseline="-25000" dirty="0">
                  <a:effectLst/>
                  <a:latin typeface="Times New Roman"/>
                  <a:ea typeface="Calibri"/>
                  <a:cs typeface="Times New Roman"/>
                </a:rPr>
                <a:t>C1</a:t>
              </a:r>
              <a:endParaRPr lang="ru-RU" sz="1100" dirty="0">
                <a:effectLst/>
                <a:ea typeface="Calibri"/>
                <a:cs typeface="Times New Roman"/>
              </a:endParaRPr>
            </a:p>
          </p:txBody>
        </p:sp>
        <p:sp>
          <p:nvSpPr>
            <p:cNvPr id="33" name="Поле 60"/>
            <p:cNvSpPr txBox="1"/>
            <p:nvPr/>
          </p:nvSpPr>
          <p:spPr>
            <a:xfrm>
              <a:off x="4476750" y="1733550"/>
              <a:ext cx="476250"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C2</a:t>
              </a:r>
              <a:endParaRPr lang="ru-RU" sz="1100">
                <a:effectLst/>
                <a:ea typeface="Calibri"/>
                <a:cs typeface="Times New Roman"/>
              </a:endParaRPr>
            </a:p>
          </p:txBody>
        </p:sp>
        <p:sp>
          <p:nvSpPr>
            <p:cNvPr id="34" name="Поле 61"/>
            <p:cNvSpPr txBox="1"/>
            <p:nvPr/>
          </p:nvSpPr>
          <p:spPr>
            <a:xfrm>
              <a:off x="4705350" y="2114550"/>
              <a:ext cx="476250"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C3</a:t>
              </a:r>
              <a:endParaRPr lang="ru-RU" sz="1100">
                <a:effectLst/>
                <a:ea typeface="Calibri"/>
                <a:cs typeface="Times New Roman"/>
              </a:endParaRPr>
            </a:p>
          </p:txBody>
        </p:sp>
        <p:sp>
          <p:nvSpPr>
            <p:cNvPr id="35" name="Поле 62"/>
            <p:cNvSpPr txBox="1"/>
            <p:nvPr/>
          </p:nvSpPr>
          <p:spPr>
            <a:xfrm>
              <a:off x="2066925" y="0"/>
              <a:ext cx="809625"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C</a:t>
              </a:r>
              <a:r>
                <a:rPr lang="en-US" sz="1800">
                  <a:effectLst/>
                  <a:latin typeface="Times New Roman"/>
                  <a:ea typeface="Calibri"/>
                  <a:cs typeface="Times New Roman"/>
                </a:rPr>
                <a:t> &gt; 0</a:t>
              </a:r>
              <a:endParaRPr lang="ru-RU" sz="1100">
                <a:effectLst/>
                <a:ea typeface="Calibri"/>
                <a:cs typeface="Times New Roman"/>
              </a:endParaRPr>
            </a:p>
          </p:txBody>
        </p:sp>
        <p:sp>
          <p:nvSpPr>
            <p:cNvPr id="36" name="Поле 63"/>
            <p:cNvSpPr txBox="1"/>
            <p:nvPr/>
          </p:nvSpPr>
          <p:spPr>
            <a:xfrm>
              <a:off x="3495675" y="180975"/>
              <a:ext cx="2057400"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dirty="0">
                  <a:effectLst/>
                  <a:latin typeface="Times New Roman"/>
                  <a:ea typeface="Calibri"/>
                  <a:cs typeface="Times New Roman"/>
                </a:rPr>
                <a:t>|U</a:t>
              </a:r>
              <a:r>
                <a:rPr lang="en-US" sz="2200" baseline="-25000" dirty="0">
                  <a:effectLst/>
                  <a:latin typeface="Times New Roman"/>
                  <a:ea typeface="Calibri"/>
                  <a:cs typeface="Times New Roman"/>
                </a:rPr>
                <a:t>C3</a:t>
              </a:r>
              <a:r>
                <a:rPr lang="en-US" sz="1800" dirty="0">
                  <a:effectLst/>
                  <a:latin typeface="Times New Roman"/>
                  <a:ea typeface="Calibri"/>
                  <a:cs typeface="Times New Roman"/>
                </a:rPr>
                <a:t>| &gt; </a:t>
              </a:r>
              <a:r>
                <a:rPr lang="en-US" sz="1800" i="1" dirty="0">
                  <a:effectLst/>
                  <a:latin typeface="Times New Roman"/>
                  <a:ea typeface="Calibri"/>
                  <a:cs typeface="Times New Roman"/>
                </a:rPr>
                <a:t>|U</a:t>
              </a:r>
              <a:r>
                <a:rPr lang="en-US" sz="2200" baseline="-25000" dirty="0">
                  <a:effectLst/>
                  <a:latin typeface="Times New Roman"/>
                  <a:ea typeface="Calibri"/>
                  <a:cs typeface="Times New Roman"/>
                </a:rPr>
                <a:t>C2</a:t>
              </a:r>
              <a:r>
                <a:rPr lang="en-US" sz="1800" dirty="0">
                  <a:effectLst/>
                  <a:latin typeface="Times New Roman"/>
                  <a:ea typeface="Calibri"/>
                  <a:cs typeface="Times New Roman"/>
                </a:rPr>
                <a:t>| &gt; </a:t>
              </a:r>
              <a:r>
                <a:rPr lang="en-US" sz="1800" i="1" dirty="0">
                  <a:effectLst/>
                  <a:latin typeface="Times New Roman"/>
                  <a:ea typeface="Calibri"/>
                  <a:cs typeface="Times New Roman"/>
                </a:rPr>
                <a:t>|U</a:t>
              </a:r>
              <a:r>
                <a:rPr lang="en-US" sz="2200" baseline="-25000" dirty="0">
                  <a:effectLst/>
                  <a:latin typeface="Times New Roman"/>
                  <a:ea typeface="Calibri"/>
                  <a:cs typeface="Times New Roman"/>
                </a:rPr>
                <a:t>C1</a:t>
              </a:r>
              <a:r>
                <a:rPr lang="en-US" sz="1800" dirty="0">
                  <a:effectLst/>
                  <a:latin typeface="Times New Roman"/>
                  <a:ea typeface="Calibri"/>
                  <a:cs typeface="Times New Roman"/>
                </a:rPr>
                <a:t>|</a:t>
              </a:r>
              <a:endParaRPr lang="ru-RU" sz="1100" dirty="0">
                <a:effectLst/>
                <a:ea typeface="Calibri"/>
                <a:cs typeface="Times New Roman"/>
              </a:endParaRPr>
            </a:p>
          </p:txBody>
        </p:sp>
        <p:sp>
          <p:nvSpPr>
            <p:cNvPr id="37" name="Поле 64"/>
            <p:cNvSpPr txBox="1"/>
            <p:nvPr/>
          </p:nvSpPr>
          <p:spPr>
            <a:xfrm>
              <a:off x="3495675" y="857250"/>
              <a:ext cx="981075"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C</a:t>
              </a:r>
              <a:r>
                <a:rPr lang="en-US" sz="1800">
                  <a:effectLst/>
                  <a:latin typeface="Times New Roman"/>
                  <a:ea typeface="Calibri"/>
                  <a:cs typeface="Times New Roman"/>
                </a:rPr>
                <a:t> = 0</a:t>
              </a:r>
              <a:endParaRPr lang="ru-RU" sz="1100">
                <a:effectLst/>
                <a:ea typeface="Calibri"/>
                <a:cs typeface="Times New Roman"/>
              </a:endParaRPr>
            </a:p>
          </p:txBody>
        </p:sp>
        <p:sp>
          <p:nvSpPr>
            <p:cNvPr id="38" name="Поле 65"/>
            <p:cNvSpPr txBox="1"/>
            <p:nvPr/>
          </p:nvSpPr>
          <p:spPr>
            <a:xfrm>
              <a:off x="5181600" y="1266825"/>
              <a:ext cx="809625"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C</a:t>
              </a:r>
              <a:r>
                <a:rPr lang="en-US" sz="1800">
                  <a:effectLst/>
                  <a:latin typeface="Times New Roman"/>
                  <a:ea typeface="Calibri"/>
                  <a:cs typeface="Times New Roman"/>
                </a:rPr>
                <a:t> &lt; 0</a:t>
              </a:r>
              <a:endParaRPr lang="ru-RU" sz="1100">
                <a:effectLst/>
                <a:ea typeface="Calibri"/>
                <a:cs typeface="Times New Roman"/>
              </a:endParaRPr>
            </a:p>
          </p:txBody>
        </p:sp>
        <p:sp>
          <p:nvSpPr>
            <p:cNvPr id="39" name="Левая фигурная скобка 38"/>
            <p:cNvSpPr/>
            <p:nvPr/>
          </p:nvSpPr>
          <p:spPr>
            <a:xfrm rot="5400000">
              <a:off x="2276475" y="-342900"/>
              <a:ext cx="266700" cy="1733550"/>
            </a:xfrm>
            <a:prstGeom prst="leftBrace">
              <a:avLst>
                <a:gd name="adj1" fmla="val 26852"/>
                <a:gd name="adj2" fmla="val 508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40" name="Левая фигурная скобка 39"/>
            <p:cNvSpPr/>
            <p:nvPr/>
          </p:nvSpPr>
          <p:spPr>
            <a:xfrm rot="8873578">
              <a:off x="4895850" y="1085850"/>
              <a:ext cx="266700" cy="1279525"/>
            </a:xfrm>
            <a:prstGeom prst="leftBrace">
              <a:avLst>
                <a:gd name="adj1" fmla="val 26852"/>
                <a:gd name="adj2" fmla="val 508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41" name="Поле 68"/>
            <p:cNvSpPr txBox="1"/>
            <p:nvPr/>
          </p:nvSpPr>
          <p:spPr>
            <a:xfrm>
              <a:off x="762000" y="981075"/>
              <a:ext cx="476250"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C3</a:t>
              </a:r>
              <a:endParaRPr lang="ru-RU" sz="1100">
                <a:effectLst/>
                <a:ea typeface="Calibri"/>
                <a:cs typeface="Times New Roman"/>
              </a:endParaRPr>
            </a:p>
          </p:txBody>
        </p:sp>
        <p:sp>
          <p:nvSpPr>
            <p:cNvPr id="42" name="Поле 69"/>
            <p:cNvSpPr txBox="1"/>
            <p:nvPr/>
          </p:nvSpPr>
          <p:spPr>
            <a:xfrm>
              <a:off x="4886325" y="2647950"/>
              <a:ext cx="476250"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C2</a:t>
              </a:r>
              <a:endParaRPr lang="ru-RU" sz="1100">
                <a:effectLst/>
                <a:ea typeface="Calibri"/>
                <a:cs typeface="Times New Roman"/>
              </a:endParaRPr>
            </a:p>
          </p:txBody>
        </p:sp>
        <p:sp>
          <p:nvSpPr>
            <p:cNvPr id="43" name="Поле 70"/>
            <p:cNvSpPr txBox="1"/>
            <p:nvPr/>
          </p:nvSpPr>
          <p:spPr>
            <a:xfrm>
              <a:off x="4886325" y="2952750"/>
              <a:ext cx="476250"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C1</a:t>
              </a:r>
              <a:endParaRPr lang="ru-RU" sz="1100">
                <a:effectLst/>
                <a:ea typeface="Calibri"/>
                <a:cs typeface="Times New Roman"/>
              </a:endParaRPr>
            </a:p>
          </p:txBody>
        </p:sp>
        <p:sp>
          <p:nvSpPr>
            <p:cNvPr id="44" name="Поле 71"/>
            <p:cNvSpPr txBox="1"/>
            <p:nvPr/>
          </p:nvSpPr>
          <p:spPr>
            <a:xfrm>
              <a:off x="5419725" y="2781300"/>
              <a:ext cx="809625" cy="3905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2200" baseline="-25000">
                  <a:effectLst/>
                  <a:latin typeface="Times New Roman"/>
                  <a:ea typeface="Calibri"/>
                  <a:cs typeface="Times New Roman"/>
                </a:rPr>
                <a:t>C</a:t>
              </a:r>
              <a:r>
                <a:rPr lang="en-US" sz="1800">
                  <a:effectLst/>
                  <a:latin typeface="Times New Roman"/>
                  <a:ea typeface="Calibri"/>
                  <a:cs typeface="Times New Roman"/>
                </a:rPr>
                <a:t> &gt; 0</a:t>
              </a:r>
              <a:endParaRPr lang="ru-RU" sz="1100">
                <a:effectLst/>
                <a:ea typeface="Calibri"/>
                <a:cs typeface="Times New Roman"/>
              </a:endParaRPr>
            </a:p>
          </p:txBody>
        </p:sp>
        <p:cxnSp>
          <p:nvCxnSpPr>
            <p:cNvPr id="45" name="Прямая соединительная линия 44"/>
            <p:cNvCxnSpPr/>
            <p:nvPr/>
          </p:nvCxnSpPr>
          <p:spPr>
            <a:xfrm flipV="1">
              <a:off x="4105275" y="2838450"/>
              <a:ext cx="781050" cy="40005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flipV="1">
              <a:off x="4200525" y="3171825"/>
              <a:ext cx="685800" cy="1327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8304534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триод</a:t>
            </a:r>
            <a:endParaRPr lang="ru-RU" dirty="0"/>
          </a:p>
        </p:txBody>
      </p:sp>
      <p:sp>
        <p:nvSpPr>
          <p:cNvPr id="3" name="Объект 2"/>
          <p:cNvSpPr>
            <a:spLocks noGrp="1"/>
          </p:cNvSpPr>
          <p:nvPr>
            <p:ph idx="1"/>
          </p:nvPr>
        </p:nvSpPr>
        <p:spPr>
          <a:xfrm>
            <a:off x="838200" y="1825625"/>
            <a:ext cx="7278584" cy="4351338"/>
          </a:xfrm>
        </p:spPr>
        <p:txBody>
          <a:bodyPr>
            <a:normAutofit fontScale="92500" lnSpcReduction="10000"/>
          </a:bodyPr>
          <a:lstStyle/>
          <a:p>
            <a:pPr marL="0" indent="0" algn="just">
              <a:buNone/>
            </a:pPr>
            <a:r>
              <a:rPr lang="ru-RU" b="1" dirty="0" smtClean="0"/>
              <a:t>Сеточная характеристика</a:t>
            </a:r>
          </a:p>
          <a:p>
            <a:pPr marL="0" indent="0" algn="just">
              <a:buNone/>
            </a:pPr>
            <a:r>
              <a:rPr lang="ru-RU" dirty="0"/>
              <a:t>В области положительных напряжений сетки помимо анодного тока появляется сеточный ток, который может быть значительным при напряжениях анода, соизмеримых с напряжениями сетки.</a:t>
            </a:r>
          </a:p>
          <a:p>
            <a:pPr marL="0" indent="0" algn="just">
              <a:buNone/>
            </a:pPr>
            <a:r>
              <a:rPr lang="ru-RU" dirty="0"/>
              <a:t>Увеличение напряжения сетки ведет к росту катодного то-ка, который распределяется между сеткой и анодом. При </a:t>
            </a:r>
            <a:r>
              <a:rPr lang="ru-RU" dirty="0" smtClean="0"/>
              <a:t>больших </a:t>
            </a:r>
            <a:r>
              <a:rPr lang="ru-RU" dirty="0"/>
              <a:t>на­пряжениях анода увеличение положительного </a:t>
            </a:r>
            <a:r>
              <a:rPr lang="ru-RU" dirty="0" smtClean="0"/>
              <a:t>напряжения </a:t>
            </a:r>
            <a:r>
              <a:rPr lang="ru-RU" dirty="0"/>
              <a:t>сетки ведет к росту как сеточного, так и анодного тока.</a:t>
            </a:r>
          </a:p>
          <a:p>
            <a:pPr marL="0" indent="0" algn="just">
              <a:buNone/>
            </a:pPr>
            <a:endParaRPr lang="en-US" b="1" dirty="0" smtClean="0"/>
          </a:p>
        </p:txBody>
      </p:sp>
      <p:grpSp>
        <p:nvGrpSpPr>
          <p:cNvPr id="65" name="Группа 64"/>
          <p:cNvGrpSpPr>
            <a:grpSpLocks noChangeAspect="1"/>
          </p:cNvGrpSpPr>
          <p:nvPr/>
        </p:nvGrpSpPr>
        <p:grpSpPr>
          <a:xfrm>
            <a:off x="8404686" y="2606891"/>
            <a:ext cx="2232248" cy="2132654"/>
            <a:chOff x="0" y="0"/>
            <a:chExt cx="2960370" cy="2828290"/>
          </a:xfrm>
        </p:grpSpPr>
        <p:grpSp>
          <p:nvGrpSpPr>
            <p:cNvPr id="66" name="Группа 65"/>
            <p:cNvGrpSpPr/>
            <p:nvPr/>
          </p:nvGrpSpPr>
          <p:grpSpPr>
            <a:xfrm>
              <a:off x="342900" y="0"/>
              <a:ext cx="2524125" cy="2371725"/>
              <a:chOff x="0" y="0"/>
              <a:chExt cx="2524125" cy="3076575"/>
            </a:xfrm>
          </p:grpSpPr>
          <p:cxnSp>
            <p:nvCxnSpPr>
              <p:cNvPr id="72" name="Прямая со стрелкой 71"/>
              <p:cNvCxnSpPr/>
              <p:nvPr/>
            </p:nvCxnSpPr>
            <p:spPr>
              <a:xfrm flipV="1">
                <a:off x="0" y="0"/>
                <a:ext cx="0" cy="307657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Прямая со стрелкой 72"/>
              <p:cNvCxnSpPr/>
              <p:nvPr/>
            </p:nvCxnSpPr>
            <p:spPr>
              <a:xfrm>
                <a:off x="0" y="3076575"/>
                <a:ext cx="2524125"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67" name="Полилиния 66"/>
            <p:cNvSpPr/>
            <p:nvPr/>
          </p:nvSpPr>
          <p:spPr>
            <a:xfrm>
              <a:off x="352424" y="1466850"/>
              <a:ext cx="1971675" cy="904875"/>
            </a:xfrm>
            <a:custGeom>
              <a:avLst/>
              <a:gdLst>
                <a:gd name="connsiteX0" fmla="*/ 0 w 2133600"/>
                <a:gd name="connsiteY0" fmla="*/ 1076325 h 1076325"/>
                <a:gd name="connsiteX1" fmla="*/ 581025 w 2133600"/>
                <a:gd name="connsiteY1" fmla="*/ 933450 h 1076325"/>
                <a:gd name="connsiteX2" fmla="*/ 1257300 w 2133600"/>
                <a:gd name="connsiteY2" fmla="*/ 638175 h 1076325"/>
                <a:gd name="connsiteX3" fmla="*/ 1971675 w 2133600"/>
                <a:gd name="connsiteY3" fmla="*/ 171450 h 1076325"/>
                <a:gd name="connsiteX4" fmla="*/ 2133600 w 2133600"/>
                <a:gd name="connsiteY4" fmla="*/ 0 h 1076325"/>
                <a:gd name="connsiteX0" fmla="*/ 0 w 2133600"/>
                <a:gd name="connsiteY0" fmla="*/ 1076325 h 1076325"/>
                <a:gd name="connsiteX1" fmla="*/ 581025 w 2133600"/>
                <a:gd name="connsiteY1" fmla="*/ 933450 h 1076325"/>
                <a:gd name="connsiteX2" fmla="*/ 1257300 w 2133600"/>
                <a:gd name="connsiteY2" fmla="*/ 638175 h 1076325"/>
                <a:gd name="connsiteX3" fmla="*/ 1971675 w 2133600"/>
                <a:gd name="connsiteY3" fmla="*/ 171450 h 1076325"/>
                <a:gd name="connsiteX4" fmla="*/ 2133600 w 2133600"/>
                <a:gd name="connsiteY4" fmla="*/ 0 h 1076325"/>
                <a:gd name="connsiteX0" fmla="*/ 0 w 1971675"/>
                <a:gd name="connsiteY0" fmla="*/ 904875 h 904875"/>
                <a:gd name="connsiteX1" fmla="*/ 581025 w 1971675"/>
                <a:gd name="connsiteY1" fmla="*/ 762000 h 904875"/>
                <a:gd name="connsiteX2" fmla="*/ 1257300 w 1971675"/>
                <a:gd name="connsiteY2" fmla="*/ 466725 h 904875"/>
                <a:gd name="connsiteX3" fmla="*/ 1971675 w 1971675"/>
                <a:gd name="connsiteY3" fmla="*/ 0 h 904875"/>
              </a:gdLst>
              <a:ahLst/>
              <a:cxnLst>
                <a:cxn ang="0">
                  <a:pos x="connsiteX0" y="connsiteY0"/>
                </a:cxn>
                <a:cxn ang="0">
                  <a:pos x="connsiteX1" y="connsiteY1"/>
                </a:cxn>
                <a:cxn ang="0">
                  <a:pos x="connsiteX2" y="connsiteY2"/>
                </a:cxn>
                <a:cxn ang="0">
                  <a:pos x="connsiteX3" y="connsiteY3"/>
                </a:cxn>
              </a:cxnLst>
              <a:rect l="l" t="t" r="r" b="b"/>
              <a:pathLst>
                <a:path w="1971675" h="904875">
                  <a:moveTo>
                    <a:pt x="0" y="904875"/>
                  </a:moveTo>
                  <a:cubicBezTo>
                    <a:pt x="185737" y="869950"/>
                    <a:pt x="371475" y="835025"/>
                    <a:pt x="581025" y="762000"/>
                  </a:cubicBezTo>
                  <a:cubicBezTo>
                    <a:pt x="790575" y="688975"/>
                    <a:pt x="1025525" y="593725"/>
                    <a:pt x="1257300" y="466725"/>
                  </a:cubicBezTo>
                  <a:cubicBezTo>
                    <a:pt x="1489075" y="339725"/>
                    <a:pt x="1825625" y="106363"/>
                    <a:pt x="1971675" y="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68" name="Полилиния 67"/>
            <p:cNvSpPr/>
            <p:nvPr/>
          </p:nvSpPr>
          <p:spPr>
            <a:xfrm>
              <a:off x="342900" y="1847850"/>
              <a:ext cx="2181225" cy="533400"/>
            </a:xfrm>
            <a:custGeom>
              <a:avLst/>
              <a:gdLst>
                <a:gd name="connsiteX0" fmla="*/ 0 w 2181225"/>
                <a:gd name="connsiteY0" fmla="*/ 533400 h 533400"/>
                <a:gd name="connsiteX1" fmla="*/ 666750 w 2181225"/>
                <a:gd name="connsiteY1" fmla="*/ 476250 h 533400"/>
                <a:gd name="connsiteX2" fmla="*/ 1409700 w 2181225"/>
                <a:gd name="connsiteY2" fmla="*/ 304800 h 533400"/>
                <a:gd name="connsiteX3" fmla="*/ 2181225 w 2181225"/>
                <a:gd name="connsiteY3" fmla="*/ 0 h 533400"/>
              </a:gdLst>
              <a:ahLst/>
              <a:cxnLst>
                <a:cxn ang="0">
                  <a:pos x="connsiteX0" y="connsiteY0"/>
                </a:cxn>
                <a:cxn ang="0">
                  <a:pos x="connsiteX1" y="connsiteY1"/>
                </a:cxn>
                <a:cxn ang="0">
                  <a:pos x="connsiteX2" y="connsiteY2"/>
                </a:cxn>
                <a:cxn ang="0">
                  <a:pos x="connsiteX3" y="connsiteY3"/>
                </a:cxn>
              </a:cxnLst>
              <a:rect l="l" t="t" r="r" b="b"/>
              <a:pathLst>
                <a:path w="2181225" h="533400">
                  <a:moveTo>
                    <a:pt x="0" y="533400"/>
                  </a:moveTo>
                  <a:cubicBezTo>
                    <a:pt x="215900" y="523875"/>
                    <a:pt x="431800" y="514350"/>
                    <a:pt x="666750" y="476250"/>
                  </a:cubicBezTo>
                  <a:cubicBezTo>
                    <a:pt x="901700" y="438150"/>
                    <a:pt x="1157288" y="384175"/>
                    <a:pt x="1409700" y="304800"/>
                  </a:cubicBezTo>
                  <a:cubicBezTo>
                    <a:pt x="1662113" y="225425"/>
                    <a:pt x="1921669" y="112712"/>
                    <a:pt x="2181225" y="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69" name="Полилиния 68"/>
            <p:cNvSpPr/>
            <p:nvPr/>
          </p:nvSpPr>
          <p:spPr>
            <a:xfrm>
              <a:off x="352425" y="304800"/>
              <a:ext cx="1581150" cy="2076450"/>
            </a:xfrm>
            <a:custGeom>
              <a:avLst/>
              <a:gdLst>
                <a:gd name="connsiteX0" fmla="*/ 0 w 1524000"/>
                <a:gd name="connsiteY0" fmla="*/ 2076450 h 2076450"/>
                <a:gd name="connsiteX1" fmla="*/ 323850 w 1524000"/>
                <a:gd name="connsiteY1" fmla="*/ 1905000 h 2076450"/>
                <a:gd name="connsiteX2" fmla="*/ 704850 w 1524000"/>
                <a:gd name="connsiteY2" fmla="*/ 1533525 h 2076450"/>
                <a:gd name="connsiteX3" fmla="*/ 1114425 w 1524000"/>
                <a:gd name="connsiteY3" fmla="*/ 933450 h 2076450"/>
                <a:gd name="connsiteX4" fmla="*/ 1524000 w 1524000"/>
                <a:gd name="connsiteY4" fmla="*/ 0 h 2076450"/>
                <a:gd name="connsiteX0" fmla="*/ 0 w 1524000"/>
                <a:gd name="connsiteY0" fmla="*/ 2076450 h 2076450"/>
                <a:gd name="connsiteX1" fmla="*/ 323850 w 1524000"/>
                <a:gd name="connsiteY1" fmla="*/ 1905000 h 2076450"/>
                <a:gd name="connsiteX2" fmla="*/ 342900 w 1524000"/>
                <a:gd name="connsiteY2" fmla="*/ 1876425 h 2076450"/>
                <a:gd name="connsiteX3" fmla="*/ 704850 w 1524000"/>
                <a:gd name="connsiteY3" fmla="*/ 1533525 h 2076450"/>
                <a:gd name="connsiteX4" fmla="*/ 1114425 w 1524000"/>
                <a:gd name="connsiteY4" fmla="*/ 933450 h 2076450"/>
                <a:gd name="connsiteX5" fmla="*/ 1524000 w 1524000"/>
                <a:gd name="connsiteY5" fmla="*/ 0 h 2076450"/>
                <a:gd name="connsiteX0" fmla="*/ 0 w 1524000"/>
                <a:gd name="connsiteY0" fmla="*/ 2076450 h 2076450"/>
                <a:gd name="connsiteX1" fmla="*/ 323850 w 1524000"/>
                <a:gd name="connsiteY1" fmla="*/ 1905000 h 2076450"/>
                <a:gd name="connsiteX2" fmla="*/ 342900 w 1524000"/>
                <a:gd name="connsiteY2" fmla="*/ 1876425 h 2076450"/>
                <a:gd name="connsiteX3" fmla="*/ 704850 w 1524000"/>
                <a:gd name="connsiteY3" fmla="*/ 1533525 h 2076450"/>
                <a:gd name="connsiteX4" fmla="*/ 1114425 w 1524000"/>
                <a:gd name="connsiteY4" fmla="*/ 933450 h 2076450"/>
                <a:gd name="connsiteX5" fmla="*/ 1524000 w 1524000"/>
                <a:gd name="connsiteY5" fmla="*/ 0 h 2076450"/>
                <a:gd name="connsiteX0" fmla="*/ 0 w 1581150"/>
                <a:gd name="connsiteY0" fmla="*/ 2076450 h 2076450"/>
                <a:gd name="connsiteX1" fmla="*/ 323850 w 1581150"/>
                <a:gd name="connsiteY1" fmla="*/ 1905000 h 2076450"/>
                <a:gd name="connsiteX2" fmla="*/ 342900 w 1581150"/>
                <a:gd name="connsiteY2" fmla="*/ 1876425 h 2076450"/>
                <a:gd name="connsiteX3" fmla="*/ 704850 w 1581150"/>
                <a:gd name="connsiteY3" fmla="*/ 1533525 h 2076450"/>
                <a:gd name="connsiteX4" fmla="*/ 1114425 w 1581150"/>
                <a:gd name="connsiteY4" fmla="*/ 933450 h 2076450"/>
                <a:gd name="connsiteX5" fmla="*/ 1581150 w 1581150"/>
                <a:gd name="connsiteY5" fmla="*/ 0 h 2076450"/>
                <a:gd name="connsiteX0" fmla="*/ 0 w 1581150"/>
                <a:gd name="connsiteY0" fmla="*/ 2076450 h 2076450"/>
                <a:gd name="connsiteX1" fmla="*/ 323850 w 1581150"/>
                <a:gd name="connsiteY1" fmla="*/ 1905000 h 2076450"/>
                <a:gd name="connsiteX2" fmla="*/ 342900 w 1581150"/>
                <a:gd name="connsiteY2" fmla="*/ 1876425 h 2076450"/>
                <a:gd name="connsiteX3" fmla="*/ 704850 w 1581150"/>
                <a:gd name="connsiteY3" fmla="*/ 1533525 h 2076450"/>
                <a:gd name="connsiteX4" fmla="*/ 1114425 w 1581150"/>
                <a:gd name="connsiteY4" fmla="*/ 933450 h 2076450"/>
                <a:gd name="connsiteX5" fmla="*/ 1581150 w 1581150"/>
                <a:gd name="connsiteY5" fmla="*/ 0 h 2076450"/>
                <a:gd name="connsiteX0" fmla="*/ 0 w 1581150"/>
                <a:gd name="connsiteY0" fmla="*/ 2076450 h 2076450"/>
                <a:gd name="connsiteX1" fmla="*/ 323850 w 1581150"/>
                <a:gd name="connsiteY1" fmla="*/ 1905000 h 2076450"/>
                <a:gd name="connsiteX2" fmla="*/ 704850 w 1581150"/>
                <a:gd name="connsiteY2" fmla="*/ 1533525 h 2076450"/>
                <a:gd name="connsiteX3" fmla="*/ 1114425 w 1581150"/>
                <a:gd name="connsiteY3" fmla="*/ 933450 h 2076450"/>
                <a:gd name="connsiteX4" fmla="*/ 1581150 w 1581150"/>
                <a:gd name="connsiteY4" fmla="*/ 0 h 2076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1150" h="2076450">
                  <a:moveTo>
                    <a:pt x="0" y="2076450"/>
                  </a:moveTo>
                  <a:cubicBezTo>
                    <a:pt x="103187" y="2035968"/>
                    <a:pt x="206375" y="1995488"/>
                    <a:pt x="323850" y="1905000"/>
                  </a:cubicBezTo>
                  <a:cubicBezTo>
                    <a:pt x="441325" y="1814513"/>
                    <a:pt x="573088" y="1695450"/>
                    <a:pt x="704850" y="1533525"/>
                  </a:cubicBezTo>
                  <a:cubicBezTo>
                    <a:pt x="833438" y="1376362"/>
                    <a:pt x="968375" y="1189038"/>
                    <a:pt x="1114425" y="933450"/>
                  </a:cubicBezTo>
                  <a:cubicBezTo>
                    <a:pt x="1260475" y="677863"/>
                    <a:pt x="1444625" y="338931"/>
                    <a:pt x="1581150" y="0"/>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70" name="Поле 30"/>
            <p:cNvSpPr txBox="1"/>
            <p:nvPr/>
          </p:nvSpPr>
          <p:spPr>
            <a:xfrm>
              <a:off x="2571750" y="2514600"/>
              <a:ext cx="388620" cy="31369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U</a:t>
              </a:r>
              <a:r>
                <a:rPr lang="en-US" sz="1800" i="1" baseline="-25000">
                  <a:effectLst/>
                  <a:latin typeface="Times New Roman"/>
                  <a:ea typeface="Calibri"/>
                  <a:cs typeface="Times New Roman"/>
                </a:rPr>
                <a:t>C</a:t>
              </a:r>
              <a:endParaRPr lang="ru-RU" sz="1100">
                <a:effectLst/>
                <a:ea typeface="Calibri"/>
                <a:cs typeface="Times New Roman"/>
              </a:endParaRPr>
            </a:p>
          </p:txBody>
        </p:sp>
        <p:sp>
          <p:nvSpPr>
            <p:cNvPr id="71" name="Поле 31"/>
            <p:cNvSpPr txBox="1"/>
            <p:nvPr/>
          </p:nvSpPr>
          <p:spPr>
            <a:xfrm>
              <a:off x="0" y="0"/>
              <a:ext cx="388620" cy="3429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nSpc>
                  <a:spcPct val="115000"/>
                </a:lnSpc>
                <a:spcAft>
                  <a:spcPts val="1000"/>
                </a:spcAft>
              </a:pPr>
              <a:r>
                <a:rPr lang="en-US" sz="1800" i="1">
                  <a:effectLst/>
                  <a:latin typeface="Times New Roman"/>
                  <a:ea typeface="Calibri"/>
                  <a:cs typeface="Times New Roman"/>
                </a:rPr>
                <a:t>I</a:t>
              </a:r>
              <a:r>
                <a:rPr lang="en-US" sz="2000" baseline="-25000">
                  <a:effectLst/>
                  <a:latin typeface="Times New Roman"/>
                  <a:ea typeface="Calibri"/>
                  <a:cs typeface="Times New Roman"/>
                </a:rPr>
                <a:t>C</a:t>
              </a:r>
              <a:endParaRPr lang="ru-RU" sz="1100">
                <a:effectLst/>
                <a:ea typeface="Calibri"/>
                <a:cs typeface="Times New Roman"/>
              </a:endParaRPr>
            </a:p>
          </p:txBody>
        </p:sp>
      </p:grpSp>
    </p:spTree>
    <p:extLst>
      <p:ext uri="{BB962C8B-B14F-4D97-AF65-F5344CB8AC3E}">
        <p14:creationId xmlns:p14="http://schemas.microsoft.com/office/powerpoint/2010/main" val="7966576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триод</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85000" lnSpcReduction="20000"/>
              </a:bodyPr>
              <a:lstStyle/>
              <a:p>
                <a:pPr marL="0" indent="0" algn="just">
                  <a:buNone/>
                </a:pPr>
                <a:r>
                  <a:rPr lang="ru-RU" b="1" dirty="0" smtClean="0"/>
                  <a:t>Параметры триода.</a:t>
                </a:r>
              </a:p>
              <a:p>
                <a:pPr marL="0" indent="0" algn="just">
                  <a:buNone/>
                </a:pPr>
                <a:r>
                  <a:rPr lang="ru-RU" b="1" dirty="0"/>
                  <a:t>Статические </a:t>
                </a:r>
                <a:r>
                  <a:rPr lang="ru-RU" dirty="0"/>
                  <a:t>параметры</a:t>
                </a:r>
                <a:r>
                  <a:rPr lang="ru-RU" dirty="0" smtClean="0"/>
                  <a:t>: характеризуют </a:t>
                </a:r>
                <a:r>
                  <a:rPr lang="ru-RU" dirty="0"/>
                  <a:t>основные свойства лампы в статическом режиме. С помощью статических параметров оценивается воздействие напряжений на электродах лампы на токи в цепях этих электродов</a:t>
                </a:r>
                <a:r>
                  <a:rPr lang="ru-RU" dirty="0" smtClean="0"/>
                  <a:t>.</a:t>
                </a: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𝑎</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𝐼</m:t>
                              </m:r>
                            </m:e>
                            <m:sub>
                              <m:r>
                                <a:rPr lang="en-US" b="0" i="1" smtClean="0">
                                  <a:latin typeface="Cambria Math" panose="02040503050406030204" pitchFamily="18" charset="0"/>
                                  <a:ea typeface="Cambria Math" panose="02040503050406030204" pitchFamily="18" charset="0"/>
                                </a:rPr>
                                <m:t>𝑎</m:t>
                              </m:r>
                            </m:sub>
                          </m:sSub>
                        </m:num>
                        <m:den>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𝑈</m:t>
                              </m:r>
                            </m:e>
                            <m:sub>
                              <m:r>
                                <a:rPr lang="en-US" b="0" i="1" smtClean="0">
                                  <a:latin typeface="Cambria Math" panose="02040503050406030204" pitchFamily="18" charset="0"/>
                                  <a:ea typeface="Cambria Math" panose="02040503050406030204" pitchFamily="18" charset="0"/>
                                </a:rPr>
                                <m:t>𝑐</m:t>
                              </m:r>
                            </m:sub>
                          </m:sSub>
                        </m:den>
                      </m:f>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𝑐</m:t>
                          </m:r>
                        </m:sub>
                      </m:sSub>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𝐼</m:t>
                              </m:r>
                            </m:e>
                            <m:sub>
                              <m:r>
                                <a:rPr lang="en-US" i="1">
                                  <a:latin typeface="Cambria Math" panose="02040503050406030204" pitchFamily="18" charset="0"/>
                                  <a:ea typeface="Cambria Math" panose="02040503050406030204" pitchFamily="18" charset="0"/>
                                </a:rPr>
                                <m:t>𝑎</m:t>
                              </m:r>
                            </m:sub>
                          </m:sSub>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𝑈</m:t>
                              </m:r>
                            </m:e>
                            <m:sub>
                              <m:r>
                                <a:rPr lang="en-US" b="0" i="1" smtClean="0">
                                  <a:latin typeface="Cambria Math" panose="02040503050406030204" pitchFamily="18" charset="0"/>
                                  <a:ea typeface="Cambria Math" panose="02040503050406030204" pitchFamily="18" charset="0"/>
                                </a:rPr>
                                <m:t>𝑎</m:t>
                              </m:r>
                            </m:sub>
                          </m:sSub>
                        </m:den>
                      </m:f>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b="0" i="1" smtClean="0">
                              <a:latin typeface="Cambria Math" panose="02040503050406030204" pitchFamily="18" charset="0"/>
                            </a:rPr>
                            <m:t>𝑎</m:t>
                          </m:r>
                        </m:sub>
                      </m:sSub>
                    </m:oMath>
                  </m:oMathPara>
                </a14:m>
                <a:endParaRPr lang="en-US" dirty="0" smtClean="0"/>
              </a:p>
              <a:p>
                <a:pPr marL="0" indent="0" algn="just">
                  <a:buNone/>
                </a:pPr>
                <a:r>
                  <a:rPr lang="ru-RU" dirty="0" smtClean="0"/>
                  <a:t>Частная производная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𝐼</m:t>
                            </m:r>
                          </m:e>
                          <m:sub>
                            <m:r>
                              <a:rPr lang="en-US" i="1">
                                <a:latin typeface="Cambria Math" panose="02040503050406030204" pitchFamily="18" charset="0"/>
                                <a:ea typeface="Cambria Math" panose="02040503050406030204" pitchFamily="18" charset="0"/>
                              </a:rPr>
                              <m:t>𝑎</m:t>
                            </m:r>
                          </m:sub>
                        </m:sSub>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𝑈</m:t>
                            </m:r>
                          </m:e>
                          <m:sub>
                            <m:r>
                              <a:rPr lang="en-US" i="1">
                                <a:latin typeface="Cambria Math" panose="02040503050406030204" pitchFamily="18" charset="0"/>
                                <a:ea typeface="Cambria Math" panose="02040503050406030204" pitchFamily="18" charset="0"/>
                              </a:rPr>
                              <m:t>𝑐</m:t>
                            </m:r>
                          </m:sub>
                        </m:sSub>
                      </m:den>
                    </m:f>
                  </m:oMath>
                </a14:m>
                <a:r>
                  <a:rPr lang="ru-RU" dirty="0" smtClean="0"/>
                  <a:t> - называется </a:t>
                </a:r>
                <a:r>
                  <a:rPr lang="ru-RU" b="1" dirty="0" smtClean="0"/>
                  <a:t>крутизной</a:t>
                </a:r>
                <a:r>
                  <a:rPr lang="ru-RU" dirty="0" smtClean="0"/>
                  <a:t> анодно-сеточной характеристики </a:t>
                </a:r>
                <a:r>
                  <a:rPr lang="en-US" dirty="0" smtClean="0"/>
                  <a:t>S=</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𝐼</m:t>
                            </m:r>
                          </m:e>
                          <m:sub>
                            <m:r>
                              <a:rPr lang="en-US" i="1">
                                <a:latin typeface="Cambria Math" panose="02040503050406030204" pitchFamily="18" charset="0"/>
                                <a:ea typeface="Cambria Math" panose="02040503050406030204" pitchFamily="18" charset="0"/>
                              </a:rPr>
                              <m:t>𝑎</m:t>
                            </m:r>
                          </m:sub>
                        </m:sSub>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𝑈</m:t>
                            </m:r>
                          </m:e>
                          <m:sub>
                            <m:r>
                              <a:rPr lang="en-US" i="1">
                                <a:latin typeface="Cambria Math" panose="02040503050406030204" pitchFamily="18" charset="0"/>
                                <a:ea typeface="Cambria Math" panose="02040503050406030204" pitchFamily="18" charset="0"/>
                              </a:rPr>
                              <m:t>𝑐</m:t>
                            </m:r>
                          </m:sub>
                        </m:sSub>
                      </m:den>
                    </m:f>
                  </m:oMath>
                </a14:m>
                <a:r>
                  <a:rPr lang="en-US" dirty="0" smtClean="0"/>
                  <a:t>[mA/</a:t>
                </a:r>
                <a:r>
                  <a:rPr lang="ru-RU" dirty="0" smtClean="0"/>
                  <a:t>В</a:t>
                </a:r>
                <a:r>
                  <a:rPr lang="en-US" dirty="0" smtClean="0"/>
                  <a:t>]</a:t>
                </a:r>
              </a:p>
              <a:p>
                <a:pPr marL="0" indent="0" algn="just">
                  <a:buNone/>
                </a:pPr>
                <a:r>
                  <a:rPr lang="ru-RU" b="1" dirty="0" smtClean="0"/>
                  <a:t>Коэффициент усиления </a:t>
                </a:r>
                <a14:m>
                  <m:oMath xmlns:m="http://schemas.openxmlformats.org/officeDocument/2006/math">
                    <m:r>
                      <a:rPr lang="ru-RU" i="1" smtClean="0">
                        <a:latin typeface="Cambria Math" panose="02040503050406030204" pitchFamily="18" charset="0"/>
                        <a:ea typeface="Cambria Math" panose="02040503050406030204" pitchFamily="18" charset="0"/>
                      </a:rPr>
                      <m:t>𝜇</m:t>
                    </m:r>
                    <m:r>
                      <a:rPr lang="ru-RU" b="0" i="1" smtClean="0">
                        <a:latin typeface="Cambria Math" panose="02040503050406030204" pitchFamily="18" charset="0"/>
                        <a:ea typeface="Cambria Math" panose="02040503050406030204" pitchFamily="18" charset="0"/>
                      </a:rPr>
                      <m:t>=</m:t>
                    </m:r>
                    <m:sSub>
                      <m:sSubPr>
                        <m:ctrlPr>
                          <a:rPr lang="ru-RU" b="0" i="1" smtClean="0">
                            <a:latin typeface="Cambria Math" panose="02040503050406030204" pitchFamily="18" charset="0"/>
                            <a:ea typeface="Cambria Math" panose="02040503050406030204" pitchFamily="18" charset="0"/>
                          </a:rPr>
                        </m:ctrlPr>
                      </m:sSubPr>
                      <m:e>
                        <m:d>
                          <m:dPr>
                            <m:begChr m:val="|"/>
                            <m:endChr m:val="|"/>
                            <m:ctrlPr>
                              <a:rPr lang="ru-RU" b="0" i="1" smtClean="0">
                                <a:latin typeface="Cambria Math" panose="02040503050406030204" pitchFamily="18" charset="0"/>
                                <a:ea typeface="Cambria Math" panose="02040503050406030204" pitchFamily="18" charset="0"/>
                              </a:rPr>
                            </m:ctrlPr>
                          </m:dPr>
                          <m:e>
                            <m:f>
                              <m:fPr>
                                <m:ctrlPr>
                                  <a:rPr lang="ru-RU"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𝑎</m:t>
                                    </m:r>
                                  </m:sub>
                                </m:sSub>
                              </m:num>
                              <m:den>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𝑐</m:t>
                                    </m:r>
                                  </m:sub>
                                </m:sSub>
                              </m:den>
                            </m:f>
                          </m:e>
                        </m:d>
                      </m:e>
                      <m:sub>
                        <m:sSub>
                          <m:sSubPr>
                            <m:ctrlPr>
                              <a:rPr lang="ru-RU"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𝐼</m:t>
                            </m:r>
                          </m:e>
                          <m:sub>
                            <m:r>
                              <a:rPr lang="en-US" b="0" i="1" smtClean="0">
                                <a:latin typeface="Cambria Math" panose="02040503050406030204" pitchFamily="18" charset="0"/>
                                <a:ea typeface="Cambria Math" panose="02040503050406030204" pitchFamily="18" charset="0"/>
                              </a:rPr>
                              <m:t>𝑎</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𝑐𝑜𝑛𝑠𝑡</m:t>
                        </m:r>
                      </m:sub>
                    </m:sSub>
                  </m:oMath>
                </a14:m>
                <a:endParaRPr lang="en-US" dirty="0" smtClean="0"/>
              </a:p>
              <a:p>
                <a:pPr marL="0" indent="0" algn="just">
                  <a:buNone/>
                </a:pPr>
                <a:r>
                  <a:rPr lang="ru-RU" b="1" dirty="0" smtClean="0"/>
                  <a:t>Внутреннее сопротивление триода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𝑈</m:t>
                            </m:r>
                          </m:e>
                          <m:sub>
                            <m:r>
                              <a:rPr lang="en-US" i="1">
                                <a:latin typeface="Cambria Math" panose="02040503050406030204" pitchFamily="18" charset="0"/>
                                <a:ea typeface="Cambria Math" panose="02040503050406030204" pitchFamily="18" charset="0"/>
                              </a:rPr>
                              <m:t>𝑎</m:t>
                            </m:r>
                          </m:sub>
                        </m:sSub>
                      </m:num>
                      <m:den>
                        <m:r>
                          <a:rPr lang="en-US" b="0" i="1" smtClean="0">
                            <a:latin typeface="Cambria Math" panose="02040503050406030204" pitchFamily="18" charset="0"/>
                            <a:ea typeface="Cambria Math" panose="02040503050406030204" pitchFamily="18" charset="0"/>
                          </a:rPr>
                          <m:t>𝑑</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𝐼</m:t>
                            </m:r>
                          </m:e>
                          <m:sub>
                            <m:r>
                              <a:rPr lang="en-US" b="0" i="1" smtClean="0">
                                <a:latin typeface="Cambria Math" panose="02040503050406030204" pitchFamily="18" charset="0"/>
                                <a:ea typeface="Cambria Math" panose="02040503050406030204" pitchFamily="18" charset="0"/>
                              </a:rPr>
                              <m:t>𝑎</m:t>
                            </m:r>
                          </m:sub>
                        </m:sSub>
                      </m:den>
                    </m:f>
                  </m:oMath>
                </a14:m>
                <a:r>
                  <a:rPr lang="ru-RU" b="1" dirty="0" smtClean="0"/>
                  <a:t> </a:t>
                </a:r>
              </a:p>
              <a:p>
                <a:pPr marL="0" indent="0" algn="just">
                  <a:buNone/>
                </a:pPr>
                <a:endParaRPr lang="en-US" b="1" dirty="0" smtClean="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928" t="-3221" r="-870"/>
                </a:stretch>
              </a:blipFill>
            </p:spPr>
            <p:txBody>
              <a:bodyPr/>
              <a:lstStyle/>
              <a:p>
                <a:r>
                  <a:rPr lang="ru-RU">
                    <a:noFill/>
                  </a:rPr>
                  <a:t> </a:t>
                </a:r>
              </a:p>
            </p:txBody>
          </p:sp>
        </mc:Fallback>
      </mc:AlternateContent>
    </p:spTree>
    <p:extLst>
      <p:ext uri="{BB962C8B-B14F-4D97-AF65-F5344CB8AC3E}">
        <p14:creationId xmlns:p14="http://schemas.microsoft.com/office/powerpoint/2010/main" val="119582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триод</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pPr marL="0" indent="0" algn="just">
                  <a:buNone/>
                </a:pPr>
                <a:r>
                  <a:rPr lang="ru-RU" b="1" dirty="0" smtClean="0"/>
                  <a:t>Уравнение триода</a:t>
                </a:r>
              </a:p>
              <a:p>
                <a:pPr marL="0" indent="0" algn="just">
                  <a:buNone/>
                </a:pPr>
                <a:r>
                  <a:rPr lang="ru-RU" dirty="0"/>
                  <a:t>Основные параметры триода связаны между собой соотношением, получившим название </a:t>
                </a:r>
                <a:r>
                  <a:rPr lang="ru-RU" b="1" dirty="0"/>
                  <a:t>внутреннее уравнение </a:t>
                </a:r>
                <a:r>
                  <a:rPr lang="ru-RU" b="1" dirty="0" smtClean="0"/>
                  <a:t>триода:</a:t>
                </a:r>
              </a:p>
              <a:p>
                <a:pPr marL="0" indent="0" algn="just">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𝑫𝑺</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𝑹</m:t>
                          </m:r>
                        </m:e>
                        <m:sub>
                          <m:r>
                            <a:rPr lang="en-US" b="1" i="1" smtClean="0">
                              <a:latin typeface="Cambria Math" panose="02040503050406030204" pitchFamily="18" charset="0"/>
                            </a:rPr>
                            <m:t>𝒊</m:t>
                          </m:r>
                        </m:sub>
                      </m:sSub>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 </m:t>
                      </m:r>
                      <m:r>
                        <a:rPr lang="en-US" b="1" i="1" smtClean="0">
                          <a:latin typeface="Cambria Math" panose="02040503050406030204" pitchFamily="18" charset="0"/>
                        </a:rPr>
                        <m:t>𝑫</m:t>
                      </m:r>
                      <m:r>
                        <a:rPr lang="en-US" b="1" i="1" smtClean="0">
                          <a:latin typeface="Cambria Math" panose="02040503050406030204" pitchFamily="18" charset="0"/>
                        </a:rPr>
                        <m:t>=</m:t>
                      </m:r>
                      <m:f>
                        <m:fPr>
                          <m:ctrlPr>
                            <a:rPr lang="en-US" b="1" i="1" smtClean="0">
                              <a:latin typeface="Cambria Math" panose="02040503050406030204" pitchFamily="18" charset="0"/>
                            </a:rPr>
                          </m:ctrlPr>
                        </m:fPr>
                        <m:num>
                          <m:r>
                            <a:rPr lang="en-US" b="1" i="1" smtClean="0">
                              <a:latin typeface="Cambria Math" panose="02040503050406030204" pitchFamily="18" charset="0"/>
                            </a:rPr>
                            <m:t>𝟏</m:t>
                          </m:r>
                        </m:num>
                        <m:den>
                          <m:r>
                            <a:rPr lang="en-US" b="1" i="1" smtClean="0">
                              <a:latin typeface="Cambria Math" panose="02040503050406030204" pitchFamily="18" charset="0"/>
                              <a:ea typeface="Cambria Math" panose="02040503050406030204" pitchFamily="18" charset="0"/>
                            </a:rPr>
                            <m:t>𝝁</m:t>
                          </m:r>
                        </m:den>
                      </m:f>
                      <m:r>
                        <a:rPr lang="en-US" b="1" i="1" smtClean="0">
                          <a:latin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𝝁</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𝑺</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𝑹</m:t>
                          </m:r>
                        </m:e>
                        <m:sub>
                          <m:r>
                            <a:rPr lang="en-US" b="1" i="1" smtClean="0">
                              <a:latin typeface="Cambria Math" panose="02040503050406030204" pitchFamily="18" charset="0"/>
                              <a:ea typeface="Cambria Math" panose="02040503050406030204" pitchFamily="18" charset="0"/>
                            </a:rPr>
                            <m:t>𝒊</m:t>
                          </m:r>
                        </m:sub>
                      </m:sSub>
                    </m:oMath>
                  </m:oMathPara>
                </a14:m>
                <a:endParaRPr lang="ru-RU" b="1" dirty="0" smtClean="0"/>
              </a:p>
              <a:p>
                <a:pPr marL="0" indent="0" algn="just">
                  <a:buNone/>
                </a:pPr>
                <a:endParaRPr lang="en-US" b="1" dirty="0" smtClean="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217" t="-2241" r="-1159"/>
                </a:stretch>
              </a:blipFill>
            </p:spPr>
            <p:txBody>
              <a:bodyPr/>
              <a:lstStyle/>
              <a:p>
                <a:r>
                  <a:rPr lang="ru-RU">
                    <a:noFill/>
                  </a:rPr>
                  <a:t> </a:t>
                </a:r>
              </a:p>
            </p:txBody>
          </p:sp>
        </mc:Fallback>
      </mc:AlternateContent>
    </p:spTree>
    <p:extLst>
      <p:ext uri="{BB962C8B-B14F-4D97-AF65-F5344CB8AC3E}">
        <p14:creationId xmlns:p14="http://schemas.microsoft.com/office/powerpoint/2010/main" val="6544132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триод</a:t>
            </a:r>
            <a:endParaRPr lang="ru-RU" dirty="0"/>
          </a:p>
        </p:txBody>
      </p:sp>
      <p:sp>
        <p:nvSpPr>
          <p:cNvPr id="3" name="Объект 2"/>
          <p:cNvSpPr>
            <a:spLocks noGrp="1"/>
          </p:cNvSpPr>
          <p:nvPr>
            <p:ph idx="1"/>
          </p:nvPr>
        </p:nvSpPr>
        <p:spPr/>
        <p:txBody>
          <a:bodyPr>
            <a:normAutofit fontScale="92500" lnSpcReduction="10000"/>
          </a:bodyPr>
          <a:lstStyle/>
          <a:p>
            <a:pPr marL="0" indent="0" algn="just">
              <a:buNone/>
            </a:pPr>
            <a:r>
              <a:rPr lang="ru-RU" b="1" dirty="0" smtClean="0"/>
              <a:t>Рабочий режим триода</a:t>
            </a:r>
          </a:p>
          <a:p>
            <a:pPr marL="0" indent="0" algn="just">
              <a:buNone/>
            </a:pPr>
            <a:r>
              <a:rPr lang="ru-RU" dirty="0"/>
              <a:t>Под рабочим режимом понимают режим работы лампы при наличии нагрузки в анодной цепи. </a:t>
            </a:r>
            <a:r>
              <a:rPr lang="ru-RU" dirty="0" smtClean="0"/>
              <a:t>(В </a:t>
            </a:r>
            <a:r>
              <a:rPr lang="ru-RU" dirty="0"/>
              <a:t>режиме без нагрузки анодное напряжение лампы равно напряжению анодного источника </a:t>
            </a:r>
            <a:r>
              <a:rPr lang="ru-RU" dirty="0" err="1" smtClean="0"/>
              <a:t>Еа</a:t>
            </a:r>
            <a:r>
              <a:rPr lang="ru-RU" dirty="0" smtClean="0"/>
              <a:t>) </a:t>
            </a:r>
          </a:p>
          <a:p>
            <a:pPr marL="0" indent="0" algn="just">
              <a:buNone/>
            </a:pPr>
            <a:endParaRPr lang="ru-RU" dirty="0"/>
          </a:p>
          <a:p>
            <a:pPr marL="0" indent="0" algn="just">
              <a:buNone/>
            </a:pPr>
            <a:endParaRPr lang="ru-RU" dirty="0" smtClean="0"/>
          </a:p>
          <a:p>
            <a:pPr marL="0" indent="0" algn="just">
              <a:buNone/>
            </a:pPr>
            <a:endParaRPr lang="ru-RU" dirty="0" smtClean="0"/>
          </a:p>
          <a:p>
            <a:pPr marL="0" indent="0" algn="just">
              <a:buNone/>
            </a:pPr>
            <a:endParaRPr lang="ru-RU" dirty="0"/>
          </a:p>
          <a:p>
            <a:pPr marL="0" indent="0" algn="just">
              <a:buNone/>
            </a:pPr>
            <a:r>
              <a:rPr lang="ru-RU" dirty="0"/>
              <a:t>Зависимость анодного тока от напряжения на аноде в рабочем режиме в координатах </a:t>
            </a:r>
            <a:r>
              <a:rPr lang="ru-RU" dirty="0" err="1"/>
              <a:t>Ia</a:t>
            </a:r>
            <a:r>
              <a:rPr lang="ru-RU" dirty="0"/>
              <a:t> – </a:t>
            </a:r>
            <a:r>
              <a:rPr lang="ru-RU" dirty="0" err="1"/>
              <a:t>Ua</a:t>
            </a:r>
            <a:r>
              <a:rPr lang="ru-RU" dirty="0"/>
              <a:t> изображается прямой линией с угловым коэффициентом 1/ </a:t>
            </a:r>
            <a:r>
              <a:rPr lang="ru-RU" dirty="0" err="1"/>
              <a:t>Rн</a:t>
            </a:r>
            <a:r>
              <a:rPr lang="ru-RU" dirty="0"/>
              <a:t>.</a:t>
            </a:r>
          </a:p>
          <a:p>
            <a:pPr marL="0" indent="0" algn="just">
              <a:buNone/>
            </a:pPr>
            <a:endParaRPr lang="ru-RU" dirty="0" smtClean="0"/>
          </a:p>
          <a:p>
            <a:pPr marL="0" indent="0" algn="just">
              <a:buNone/>
            </a:pPr>
            <a:endParaRPr lang="en-US" b="1" dirty="0" smtClean="0"/>
          </a:p>
        </p:txBody>
      </p:sp>
      <p:pic>
        <p:nvPicPr>
          <p:cNvPr id="4" name="Рисунок 3"/>
          <p:cNvPicPr>
            <a:picLocks noChangeAspect="1"/>
          </p:cNvPicPr>
          <p:nvPr/>
        </p:nvPicPr>
        <p:blipFill rotWithShape="1">
          <a:blip r:embed="rId2"/>
          <a:srcRect l="2656" t="17847" r="2437" b="8216"/>
          <a:stretch/>
        </p:blipFill>
        <p:spPr bwMode="auto">
          <a:xfrm>
            <a:off x="4288214" y="3367356"/>
            <a:ext cx="3400927" cy="165618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1784397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триод</a:t>
            </a:r>
            <a:endParaRPr lang="ru-RU" dirty="0"/>
          </a:p>
        </p:txBody>
      </p:sp>
      <p:sp>
        <p:nvSpPr>
          <p:cNvPr id="3" name="Объект 2"/>
          <p:cNvSpPr>
            <a:spLocks noGrp="1"/>
          </p:cNvSpPr>
          <p:nvPr>
            <p:ph idx="1"/>
          </p:nvPr>
        </p:nvSpPr>
        <p:spPr/>
        <p:txBody>
          <a:bodyPr>
            <a:normAutofit fontScale="62500" lnSpcReduction="20000"/>
          </a:bodyPr>
          <a:lstStyle/>
          <a:p>
            <a:pPr marL="0" indent="0" algn="just">
              <a:buNone/>
            </a:pPr>
            <a:r>
              <a:rPr lang="ru-RU" b="1" dirty="0" smtClean="0"/>
              <a:t>Рабочий режим триода</a:t>
            </a:r>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en-US" b="1" dirty="0" smtClean="0"/>
          </a:p>
          <a:p>
            <a:pPr marL="0" indent="0" algn="just">
              <a:buNone/>
            </a:pPr>
            <a:endParaRPr lang="ru-RU" b="1" dirty="0"/>
          </a:p>
          <a:p>
            <a:pPr marL="0" indent="0">
              <a:lnSpc>
                <a:spcPct val="120000"/>
              </a:lnSpc>
              <a:buNone/>
            </a:pPr>
            <a:r>
              <a:rPr lang="ru-RU" dirty="0" smtClean="0"/>
              <a:t>а </a:t>
            </a:r>
            <a:r>
              <a:rPr lang="ru-RU" dirty="0"/>
              <a:t>– форма сеточного напряжения</a:t>
            </a:r>
            <a:r>
              <a:rPr lang="ru-RU" dirty="0" smtClean="0"/>
              <a:t>;    б </a:t>
            </a:r>
            <a:r>
              <a:rPr lang="ru-RU" dirty="0"/>
              <a:t>– анодно-сеточные </a:t>
            </a:r>
            <a:r>
              <a:rPr lang="ru-RU" dirty="0" smtClean="0"/>
              <a:t>характеристики;     в </a:t>
            </a:r>
            <a:r>
              <a:rPr lang="ru-RU" dirty="0"/>
              <a:t>– анодные характеристики; </a:t>
            </a:r>
            <a:r>
              <a:rPr lang="ru-RU" dirty="0" smtClean="0"/>
              <a:t>г </a:t>
            </a:r>
            <a:r>
              <a:rPr lang="ru-RU" dirty="0"/>
              <a:t>– форма анодного </a:t>
            </a:r>
            <a:r>
              <a:rPr lang="ru-RU" dirty="0" smtClean="0"/>
              <a:t>тока</a:t>
            </a:r>
            <a:r>
              <a:rPr lang="en-US" dirty="0" smtClean="0"/>
              <a:t>;</a:t>
            </a:r>
            <a:r>
              <a:rPr lang="en-US" b="1" dirty="0" smtClean="0"/>
              <a:t>  </a:t>
            </a:r>
            <a:r>
              <a:rPr lang="ru-RU" dirty="0" smtClean="0"/>
              <a:t>д </a:t>
            </a:r>
            <a:r>
              <a:rPr lang="ru-RU" dirty="0"/>
              <a:t>– форма падений напряжения на лампе и на нагрузке</a:t>
            </a:r>
            <a:r>
              <a:rPr lang="ru-RU" dirty="0" smtClean="0"/>
              <a:t>.</a:t>
            </a:r>
            <a:endParaRPr lang="en-US" b="1" dirty="0" smtClean="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1600000">
            <a:off x="3590866" y="2136013"/>
            <a:ext cx="5695637" cy="32129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5398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триод</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Варианты включения.</a:t>
            </a:r>
          </a:p>
          <a:p>
            <a:pPr marL="0" indent="0" algn="just">
              <a:buNone/>
            </a:pPr>
            <a:endParaRPr lang="en-US" b="1" dirty="0" smtClean="0"/>
          </a:p>
        </p:txBody>
      </p:sp>
      <p:pic>
        <p:nvPicPr>
          <p:cNvPr id="4"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3265" t="22506" r="3736" b="36703"/>
          <a:stretch/>
        </p:blipFill>
        <p:spPr bwMode="auto">
          <a:xfrm>
            <a:off x="992972" y="2627550"/>
            <a:ext cx="8693166" cy="2383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059405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Электровакуумный триод</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Конструкция электровакуумного триода.</a:t>
            </a:r>
          </a:p>
          <a:p>
            <a:pPr marL="0" indent="0" algn="just">
              <a:buNone/>
            </a:pPr>
            <a:endParaRPr lang="en-US" b="1" dirty="0" smtClean="0"/>
          </a:p>
        </p:txBody>
      </p:sp>
      <p:pic>
        <p:nvPicPr>
          <p:cNvPr id="4" name="Picture 2" descr="http://telenabludenie.ru/wordpress/wp-content/uploads/2016/01/trio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8454" y="2881536"/>
            <a:ext cx="4238625" cy="2562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80777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Тетрод</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У триода есть несколько существенных недостатков.</a:t>
            </a:r>
          </a:p>
          <a:p>
            <a:pPr marL="0" indent="0" algn="just">
              <a:buNone/>
            </a:pPr>
            <a:r>
              <a:rPr lang="ru-RU" b="1" dirty="0" smtClean="0"/>
              <a:t>1) Наличие емкости анод-сетка ограничивает динамический диапазон лампы и требует повышенной мощности управления.</a:t>
            </a:r>
          </a:p>
          <a:p>
            <a:pPr marL="0" indent="0" algn="just">
              <a:buNone/>
            </a:pPr>
            <a:r>
              <a:rPr lang="ru-RU" b="1" dirty="0" smtClean="0"/>
              <a:t>2) Наличие отраженных от анода электронов образующих обратный поток, в том числе и на сетку – динатронный эффект.</a:t>
            </a:r>
          </a:p>
          <a:p>
            <a:pPr marL="0" indent="0" algn="just">
              <a:buNone/>
            </a:pPr>
            <a:r>
              <a:rPr lang="ru-RU" dirty="0" smtClean="0"/>
              <a:t>Для борьбы с первым эффектом между сеткой и анодом вводят дополнительную сетку, заземленную по переменному напряжению. Это позволяет существенно уменьшить емкость сетка- анод.</a:t>
            </a:r>
            <a:r>
              <a:rPr lang="en-US" dirty="0" smtClean="0"/>
              <a:t> </a:t>
            </a:r>
            <a:r>
              <a:rPr lang="ru-RU" dirty="0" smtClean="0"/>
              <a:t>Получается прибор, называемый тетрод.</a:t>
            </a:r>
          </a:p>
          <a:p>
            <a:pPr marL="0" indent="0" algn="just">
              <a:buNone/>
            </a:pPr>
            <a:endParaRPr lang="en-US" b="1" dirty="0" smtClean="0"/>
          </a:p>
        </p:txBody>
      </p:sp>
    </p:spTree>
    <p:extLst>
      <p:ext uri="{BB962C8B-B14F-4D97-AF65-F5344CB8AC3E}">
        <p14:creationId xmlns:p14="http://schemas.microsoft.com/office/powerpoint/2010/main" val="305203374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Тетрод</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Схема включения тетрода</a:t>
            </a:r>
          </a:p>
          <a:p>
            <a:pPr marL="0" indent="0" algn="just">
              <a:buNone/>
            </a:pPr>
            <a:endParaRPr lang="ru-RU" dirty="0" smtClean="0"/>
          </a:p>
          <a:p>
            <a:pPr marL="0" indent="0" algn="just">
              <a:buNone/>
            </a:pPr>
            <a:endParaRPr lang="en-US" b="1" dirty="0" smtClean="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2608" y="2444708"/>
            <a:ext cx="4148345" cy="3356388"/>
          </a:xfrm>
          <a:prstGeom prst="rect">
            <a:avLst/>
          </a:prstGeom>
        </p:spPr>
      </p:pic>
    </p:spTree>
    <p:extLst>
      <p:ext uri="{BB962C8B-B14F-4D97-AF65-F5344CB8AC3E}">
        <p14:creationId xmlns:p14="http://schemas.microsoft.com/office/powerpoint/2010/main" val="27190500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Тетрод</a:t>
            </a:r>
            <a:endParaRPr lang="ru-RU" dirty="0"/>
          </a:p>
        </p:txBody>
      </p:sp>
      <p:sp>
        <p:nvSpPr>
          <p:cNvPr id="3" name="Объект 2"/>
          <p:cNvSpPr>
            <a:spLocks noGrp="1"/>
          </p:cNvSpPr>
          <p:nvPr>
            <p:ph idx="1"/>
          </p:nvPr>
        </p:nvSpPr>
        <p:spPr/>
        <p:txBody>
          <a:bodyPr>
            <a:normAutofit fontScale="70000" lnSpcReduction="20000"/>
          </a:bodyPr>
          <a:lstStyle/>
          <a:p>
            <a:pPr marL="0" indent="0" algn="just">
              <a:buNone/>
            </a:pPr>
            <a:r>
              <a:rPr lang="ru-RU" b="1" dirty="0" smtClean="0"/>
              <a:t>Конструкция тетрода</a:t>
            </a:r>
          </a:p>
          <a:p>
            <a:pPr algn="just"/>
            <a:r>
              <a:rPr lang="ru-RU" dirty="0"/>
              <a:t>Управляющая сетка в тетроде редкая, т. е. имеет большой шаг намотки спирали, вследствие чего отрицательное запирающее напряжение лампы </a:t>
            </a:r>
            <a:r>
              <a:rPr lang="ru-RU" dirty="0" smtClean="0"/>
              <a:t>больше и ее анодно-сеточные характеристики смещены влево. </a:t>
            </a:r>
          </a:p>
          <a:p>
            <a:pPr algn="just"/>
            <a:r>
              <a:rPr lang="ru-RU" dirty="0" smtClean="0"/>
              <a:t>Экранирующая </a:t>
            </a:r>
            <a:r>
              <a:rPr lang="ru-RU" dirty="0"/>
              <a:t>сетка у тетрода делается частой, т. е. она имеет малый шаг намотки спирали, поэтому она сильно экранирует катод от анодного поля, так что анодное поле получается слабым. Слабым будет и влияние анодного напряжения на величину напряженности электрического поля тетрода, так как основное поле его создается экранирующей </a:t>
            </a:r>
            <a:r>
              <a:rPr lang="ru-RU" dirty="0" smtClean="0"/>
              <a:t>сеткой. Уменьшение </a:t>
            </a:r>
            <a:r>
              <a:rPr lang="ru-RU" dirty="0"/>
              <a:t>поля, между анодом и управляющей сеткой означает уменьшение емкости между этими электродами в десятки и сотни раз.</a:t>
            </a:r>
          </a:p>
          <a:p>
            <a:pPr algn="just"/>
            <a:r>
              <a:rPr lang="ru-RU" dirty="0" smtClean="0"/>
              <a:t>Уменьшение </a:t>
            </a:r>
            <a:r>
              <a:rPr lang="ru-RU" dirty="0"/>
              <a:t>напряженности анодного поля вблизи катода приводит к уменьшению влияния анодного напряжения на анодный ток, а влияние потенциала управляющей сетки на анодный ток остается прежним, так как между управляющей сеткой и катодом нет никаких экранов</a:t>
            </a:r>
            <a:r>
              <a:rPr lang="ru-RU" dirty="0" smtClean="0"/>
              <a:t>.</a:t>
            </a:r>
          </a:p>
          <a:p>
            <a:pPr marL="0" indent="0" algn="just">
              <a:buNone/>
            </a:pPr>
            <a:r>
              <a:rPr lang="ru-RU" dirty="0" smtClean="0"/>
              <a:t>В результате, коэффициент </a:t>
            </a:r>
            <a:r>
              <a:rPr lang="ru-RU" dirty="0"/>
              <a:t>усиления и внутреннее сопротивление у тетрода значительно </a:t>
            </a:r>
            <a:r>
              <a:rPr lang="ru-RU" dirty="0" smtClean="0"/>
              <a:t>( примерно на </a:t>
            </a:r>
            <a:r>
              <a:rPr lang="ru-RU" dirty="0"/>
              <a:t>два порядка) больше, чем у триодов, в то время как крутизна характеристики S одинакова.</a:t>
            </a:r>
            <a:endParaRPr lang="ru-RU" dirty="0" smtClean="0"/>
          </a:p>
          <a:p>
            <a:pPr marL="0" indent="0" algn="just">
              <a:buNone/>
            </a:pPr>
            <a:endParaRPr lang="ru-RU" dirty="0" smtClean="0"/>
          </a:p>
          <a:p>
            <a:pPr marL="0" indent="0" algn="just">
              <a:buNone/>
            </a:pPr>
            <a:endParaRPr lang="en-US" b="1" dirty="0" smtClean="0"/>
          </a:p>
        </p:txBody>
      </p:sp>
    </p:spTree>
    <p:extLst>
      <p:ext uri="{BB962C8B-B14F-4D97-AF65-F5344CB8AC3E}">
        <p14:creationId xmlns:p14="http://schemas.microsoft.com/office/powerpoint/2010/main" val="155546160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Пентод</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Для борьбы с динатронными эффектом вводят еще одну сетку, потенциально соединенную с катодом, между экранирующей и анодной. Такая лампа называется пентод.</a:t>
            </a:r>
          </a:p>
          <a:p>
            <a:pPr marL="0" indent="0" algn="just">
              <a:buNone/>
            </a:pPr>
            <a:endParaRPr lang="ru-RU" dirty="0" smtClean="0"/>
          </a:p>
          <a:p>
            <a:pPr marL="0" indent="0" algn="just">
              <a:buNone/>
            </a:pPr>
            <a:endParaRPr lang="en-US" b="1" dirty="0" smtClean="0"/>
          </a:p>
        </p:txBody>
      </p:sp>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8433" y="3488871"/>
            <a:ext cx="1714500" cy="2362200"/>
          </a:xfrm>
          <a:prstGeom prst="rect">
            <a:avLst/>
          </a:prstGeom>
        </p:spPr>
      </p:pic>
    </p:spTree>
    <p:extLst>
      <p:ext uri="{BB962C8B-B14F-4D97-AF65-F5344CB8AC3E}">
        <p14:creationId xmlns:p14="http://schemas.microsoft.com/office/powerpoint/2010/main" val="10657873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Пентод</a:t>
            </a:r>
            <a:endParaRPr lang="ru-RU" dirty="0"/>
          </a:p>
        </p:txBody>
      </p:sp>
      <p:sp>
        <p:nvSpPr>
          <p:cNvPr id="3" name="Объект 2"/>
          <p:cNvSpPr>
            <a:spLocks noGrp="1"/>
          </p:cNvSpPr>
          <p:nvPr>
            <p:ph idx="1"/>
          </p:nvPr>
        </p:nvSpPr>
        <p:spPr/>
        <p:txBody>
          <a:bodyPr>
            <a:normAutofit fontScale="77500" lnSpcReduction="20000"/>
          </a:bodyPr>
          <a:lstStyle/>
          <a:p>
            <a:pPr marL="0" indent="0" algn="just">
              <a:buNone/>
            </a:pPr>
            <a:r>
              <a:rPr lang="ru-RU" b="1" dirty="0"/>
              <a:t>Пентод - это пятиэлектродная электронная лампа, имеющая катод, анод и сетки: управляющую экранирующую и </a:t>
            </a:r>
            <a:r>
              <a:rPr lang="ru-RU" b="1" dirty="0" smtClean="0"/>
              <a:t>защитную.</a:t>
            </a:r>
            <a:endParaRPr lang="ru-RU" b="1" dirty="0"/>
          </a:p>
          <a:p>
            <a:pPr marL="0" indent="0" algn="just">
              <a:buNone/>
            </a:pPr>
            <a:r>
              <a:rPr lang="ru-RU" dirty="0" smtClean="0"/>
              <a:t>Защитная </a:t>
            </a:r>
            <a:r>
              <a:rPr lang="ru-RU" dirty="0"/>
              <a:t>сетка расположенная между экранирующей сеткой и анодом, соединяется с катодом, внутри лампы или снаружи, и следовательно, имеет нулевой потенциал .</a:t>
            </a:r>
          </a:p>
          <a:p>
            <a:pPr marL="0" indent="0" algn="just">
              <a:buNone/>
            </a:pPr>
            <a:r>
              <a:rPr lang="ru-RU" dirty="0" smtClean="0"/>
              <a:t>Потенциалы </a:t>
            </a:r>
            <a:r>
              <a:rPr lang="ru-RU" dirty="0"/>
              <a:t>точек поля вблизи защитной сетки ниже потенциала анода, и поэтому вторичные электроны, покинувшие анод, попадают в тормозящее поле и возвращаются обратно на анод, так что динатронный эффект устраняется.</a:t>
            </a:r>
          </a:p>
          <a:p>
            <a:pPr marL="0" indent="0" algn="just">
              <a:buNone/>
            </a:pPr>
            <a:r>
              <a:rPr lang="ru-RU" dirty="0" smtClean="0"/>
              <a:t>В </a:t>
            </a:r>
            <a:r>
              <a:rPr lang="ru-RU" dirty="0"/>
              <a:t>пентодах экранирующая сетка делается с меньшим шагом, а защитная с большим шагом, чем управляющая, что соответствует их </a:t>
            </a:r>
            <a:r>
              <a:rPr lang="ru-RU" dirty="0" smtClean="0"/>
              <a:t>назначению:</a:t>
            </a:r>
          </a:p>
          <a:p>
            <a:pPr algn="just"/>
            <a:r>
              <a:rPr lang="ru-RU" dirty="0" smtClean="0"/>
              <a:t>экранирующая </a:t>
            </a:r>
            <a:r>
              <a:rPr lang="ru-RU" dirty="0"/>
              <a:t>сетка предназначена для уменьшения проходной </a:t>
            </a:r>
            <a:r>
              <a:rPr lang="ru-RU" dirty="0" smtClean="0"/>
              <a:t>емкости</a:t>
            </a:r>
          </a:p>
          <a:p>
            <a:pPr algn="just"/>
            <a:r>
              <a:rPr lang="ru-RU" dirty="0" smtClean="0"/>
              <a:t>защитная </a:t>
            </a:r>
            <a:r>
              <a:rPr lang="ru-RU" dirty="0"/>
              <a:t>— для незначительного понижения потенциалов точек поля вблизи </a:t>
            </a:r>
            <a:r>
              <a:rPr lang="ru-RU" dirty="0" smtClean="0"/>
              <a:t>нее</a:t>
            </a:r>
            <a:r>
              <a:rPr lang="ru-RU" dirty="0"/>
              <a:t>, </a:t>
            </a:r>
            <a:r>
              <a:rPr lang="ru-RU" dirty="0" smtClean="0"/>
              <a:t>что обеспечивает </a:t>
            </a:r>
            <a:r>
              <a:rPr lang="ru-RU" dirty="0"/>
              <a:t>возврат вторичных электронов на </a:t>
            </a:r>
            <a:r>
              <a:rPr lang="ru-RU" dirty="0" smtClean="0"/>
              <a:t>эмитирующую </a:t>
            </a:r>
            <a:r>
              <a:rPr lang="ru-RU" dirty="0"/>
              <a:t>поверхность </a:t>
            </a:r>
            <a:r>
              <a:rPr lang="ru-RU" dirty="0" smtClean="0"/>
              <a:t>и, </a:t>
            </a:r>
            <a:r>
              <a:rPr lang="ru-RU" dirty="0"/>
              <a:t>в то же </a:t>
            </a:r>
            <a:r>
              <a:rPr lang="ru-RU" dirty="0" smtClean="0"/>
              <a:t>время, </a:t>
            </a:r>
            <a:r>
              <a:rPr lang="ru-RU" dirty="0"/>
              <a:t>не </a:t>
            </a:r>
            <a:r>
              <a:rPr lang="ru-RU" dirty="0" smtClean="0"/>
              <a:t>оказывает </a:t>
            </a:r>
            <a:r>
              <a:rPr lang="ru-RU" dirty="0"/>
              <a:t>значительного противодействия первичным электронам, излучаемым катодом</a:t>
            </a:r>
            <a:r>
              <a:rPr lang="ru-RU" dirty="0" smtClean="0"/>
              <a:t>.</a:t>
            </a:r>
          </a:p>
        </p:txBody>
      </p:sp>
    </p:spTree>
    <p:extLst>
      <p:ext uri="{BB962C8B-B14F-4D97-AF65-F5344CB8AC3E}">
        <p14:creationId xmlns:p14="http://schemas.microsoft.com/office/powerpoint/2010/main" val="324781688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Лучевой тетрод</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Есть другой вариант подавления динатронного эффекта </a:t>
            </a:r>
            <a:r>
              <a:rPr lang="ru-RU" dirty="0"/>
              <a:t>- </a:t>
            </a:r>
            <a:r>
              <a:rPr lang="ru-RU" dirty="0" smtClean="0"/>
              <a:t>создать </a:t>
            </a:r>
            <a:r>
              <a:rPr lang="ru-RU" dirty="0"/>
              <a:t>между анодом А и экранирующей сеткой 2 </a:t>
            </a:r>
            <a:r>
              <a:rPr lang="ru-RU" dirty="0" smtClean="0"/>
              <a:t>отрицательный объемный заряд, </a:t>
            </a:r>
            <a:r>
              <a:rPr lang="ru-RU" dirty="0"/>
              <a:t>поле которого тормозит вторичные электроны и возвращает их обратно на </a:t>
            </a:r>
            <a:r>
              <a:rPr lang="ru-RU" dirty="0" smtClean="0"/>
              <a:t>анод. Прибор, в котором реализуется указанный способ подавления динатронного эффекта – называется</a:t>
            </a:r>
          </a:p>
          <a:p>
            <a:pPr marL="0" indent="0" algn="just">
              <a:buNone/>
            </a:pPr>
            <a:r>
              <a:rPr lang="ru-RU" dirty="0"/>
              <a:t>	</a:t>
            </a:r>
            <a:r>
              <a:rPr lang="ru-RU" dirty="0" smtClean="0"/>
              <a:t>							</a:t>
            </a:r>
            <a:r>
              <a:rPr lang="ru-RU" b="1" dirty="0" smtClean="0"/>
              <a:t>лучевой тетрод</a:t>
            </a:r>
          </a:p>
          <a:p>
            <a:pPr marL="0" indent="0" algn="just">
              <a:buNone/>
            </a:pPr>
            <a:endParaRPr lang="ru-RU" dirty="0" smtClean="0"/>
          </a:p>
          <a:p>
            <a:pPr marL="0" indent="0" algn="just">
              <a:buNone/>
            </a:pPr>
            <a:endParaRPr lang="en-US" b="1" dirty="0" smtClean="0"/>
          </a:p>
        </p:txBody>
      </p:sp>
      <p:pic>
        <p:nvPicPr>
          <p:cNvPr id="4" name="Рисунок 3"/>
          <p:cNvPicPr>
            <a:picLocks noChangeAspect="1"/>
          </p:cNvPicPr>
          <p:nvPr/>
        </p:nvPicPr>
        <p:blipFill>
          <a:blip r:embed="rId2"/>
          <a:stretch>
            <a:fillRect/>
          </a:stretch>
        </p:blipFill>
        <p:spPr>
          <a:xfrm>
            <a:off x="1350942" y="3841483"/>
            <a:ext cx="3238500" cy="2362200"/>
          </a:xfrm>
          <a:prstGeom prst="rect">
            <a:avLst/>
          </a:prstGeom>
        </p:spPr>
      </p:pic>
      <p:pic>
        <p:nvPicPr>
          <p:cNvPr id="6" name="Рисунок 5"/>
          <p:cNvPicPr>
            <a:picLocks noChangeAspect="1"/>
          </p:cNvPicPr>
          <p:nvPr/>
        </p:nvPicPr>
        <p:blipFill>
          <a:blip r:embed="rId3"/>
          <a:stretch>
            <a:fillRect/>
          </a:stretch>
        </p:blipFill>
        <p:spPr>
          <a:xfrm>
            <a:off x="5220968" y="4300956"/>
            <a:ext cx="1750064" cy="1820774"/>
          </a:xfrm>
          <a:prstGeom prst="rect">
            <a:avLst/>
          </a:prstGeom>
        </p:spPr>
      </p:pic>
    </p:spTree>
    <p:extLst>
      <p:ext uri="{BB962C8B-B14F-4D97-AF65-F5344CB8AC3E}">
        <p14:creationId xmlns:p14="http://schemas.microsoft.com/office/powerpoint/2010/main" val="106669515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Лучевой тетрод</a:t>
            </a:r>
            <a:endParaRPr lang="ru-RU" dirty="0"/>
          </a:p>
        </p:txBody>
      </p:sp>
      <p:sp>
        <p:nvSpPr>
          <p:cNvPr id="3" name="Объект 2"/>
          <p:cNvSpPr>
            <a:spLocks noGrp="1"/>
          </p:cNvSpPr>
          <p:nvPr>
            <p:ph idx="1"/>
          </p:nvPr>
        </p:nvSpPr>
        <p:spPr/>
        <p:txBody>
          <a:bodyPr>
            <a:normAutofit fontScale="85000" lnSpcReduction="20000"/>
          </a:bodyPr>
          <a:lstStyle/>
          <a:p>
            <a:pPr marL="0" indent="0" algn="just">
              <a:buNone/>
            </a:pPr>
            <a:r>
              <a:rPr lang="ru-RU" b="1" dirty="0" smtClean="0"/>
              <a:t>Конструкция лучевого тетрода</a:t>
            </a:r>
          </a:p>
          <a:p>
            <a:pPr algn="just"/>
            <a:r>
              <a:rPr lang="ru-RU" dirty="0" smtClean="0"/>
              <a:t>Катод </a:t>
            </a:r>
            <a:r>
              <a:rPr lang="ru-RU" dirty="0"/>
              <a:t>К имеет плоскую форму, управляющая (1) и экранирующая (2) сетки выполнены с одинаковым шагом намотки и, витки их расположены точно друг за </a:t>
            </a:r>
            <a:r>
              <a:rPr lang="ru-RU" dirty="0" smtClean="0"/>
              <a:t>другом</a:t>
            </a:r>
          </a:p>
          <a:p>
            <a:pPr algn="just"/>
            <a:r>
              <a:rPr lang="ru-RU" dirty="0" smtClean="0"/>
              <a:t>Между </a:t>
            </a:r>
            <a:r>
              <a:rPr lang="ru-RU" dirty="0"/>
              <a:t>экранирующей сеткой 2 и анодом А с боковых сторон укреплены две </a:t>
            </a:r>
            <a:r>
              <a:rPr lang="ru-RU" dirty="0" err="1"/>
              <a:t>лучеобразующие</a:t>
            </a:r>
            <a:r>
              <a:rPr lang="ru-RU" dirty="0"/>
              <a:t> металлические пластины ЛП, соединенные с катодом лампы.</a:t>
            </a:r>
          </a:p>
          <a:p>
            <a:pPr marL="0" indent="0" algn="just">
              <a:buNone/>
            </a:pPr>
            <a:r>
              <a:rPr lang="ru-RU" dirty="0" smtClean="0"/>
              <a:t>При </a:t>
            </a:r>
            <a:r>
              <a:rPr lang="ru-RU" dirty="0"/>
              <a:t>таком устройстве электродов электроны, летящие с катода на анод, формируются в плотные плоские электронные лучи, проходящие между витками сеток, причем </a:t>
            </a:r>
            <a:r>
              <a:rPr lang="ru-RU" dirty="0" err="1"/>
              <a:t>лучеобразующие</a:t>
            </a:r>
            <a:r>
              <a:rPr lang="ru-RU" dirty="0"/>
              <a:t> пластины преграждают путь электронным лучам с боковых сторон, концентрируя лучи в областях цилиндрических частей анода. В результате указанной концентрации электронных потоков в пространстве между экранирующей сеткой и анодом образуется отрицательный объемный заряд, необходимый для устранения динатронного </a:t>
            </a:r>
            <a:r>
              <a:rPr lang="ru-RU" dirty="0" smtClean="0"/>
              <a:t>эффекта.</a:t>
            </a:r>
          </a:p>
          <a:p>
            <a:pPr marL="0" indent="0" algn="just">
              <a:buNone/>
            </a:pPr>
            <a:endParaRPr lang="en-US" b="1" dirty="0" smtClean="0"/>
          </a:p>
        </p:txBody>
      </p:sp>
    </p:spTree>
    <p:extLst>
      <p:ext uri="{BB962C8B-B14F-4D97-AF65-F5344CB8AC3E}">
        <p14:creationId xmlns:p14="http://schemas.microsoft.com/office/powerpoint/2010/main" val="37123568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Газоразрядные (ионные) приборы</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Ионные приборы</a:t>
            </a:r>
          </a:p>
          <a:p>
            <a:pPr algn="just"/>
            <a:r>
              <a:rPr lang="ru-RU" dirty="0"/>
              <a:t>В электронных приборах движение электронов </a:t>
            </a:r>
            <a:r>
              <a:rPr lang="ru-RU" dirty="0" smtClean="0"/>
              <a:t>происходит (в идеале) </a:t>
            </a:r>
            <a:r>
              <a:rPr lang="ru-RU" dirty="0"/>
              <a:t>без столкновений, или без соударений их с атомами газа. В ионных приборах, наоборот, при движении электронов происходит соударение их с атомами или молекулами газа или ртутного пара, которым заполняются баллоны приборов</a:t>
            </a:r>
            <a:r>
              <a:rPr lang="ru-RU" dirty="0" smtClean="0"/>
              <a:t>.</a:t>
            </a:r>
          </a:p>
          <a:p>
            <a:pPr algn="just"/>
            <a:r>
              <a:rPr lang="ru-RU" dirty="0" smtClean="0"/>
              <a:t>Столкновение электронов с атомами вызывает ионизацию в объеме прибора и, как следствие, газовы</a:t>
            </a:r>
            <a:r>
              <a:rPr lang="ru-RU" dirty="0"/>
              <a:t>й</a:t>
            </a:r>
            <a:r>
              <a:rPr lang="ru-RU" dirty="0" smtClean="0"/>
              <a:t> разряд.</a:t>
            </a:r>
            <a:endParaRPr lang="ru-RU" dirty="0"/>
          </a:p>
        </p:txBody>
      </p:sp>
    </p:spTree>
    <p:extLst>
      <p:ext uri="{BB962C8B-B14F-4D97-AF65-F5344CB8AC3E}">
        <p14:creationId xmlns:p14="http://schemas.microsoft.com/office/powerpoint/2010/main" val="387805554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Газоразрядные (ионные) приборы</a:t>
            </a:r>
            <a:endParaRPr lang="ru-RU" dirty="0"/>
          </a:p>
        </p:txBody>
      </p:sp>
      <p:sp>
        <p:nvSpPr>
          <p:cNvPr id="3" name="Объект 2"/>
          <p:cNvSpPr>
            <a:spLocks noGrp="1"/>
          </p:cNvSpPr>
          <p:nvPr>
            <p:ph idx="1"/>
          </p:nvPr>
        </p:nvSpPr>
        <p:spPr/>
        <p:txBody>
          <a:bodyPr>
            <a:normAutofit fontScale="70000" lnSpcReduction="20000"/>
          </a:bodyPr>
          <a:lstStyle/>
          <a:p>
            <a:pPr marL="0" indent="0" algn="just">
              <a:buNone/>
            </a:pPr>
            <a:r>
              <a:rPr lang="ru-RU" b="1" dirty="0" smtClean="0"/>
              <a:t>Газовый разряд</a:t>
            </a:r>
          </a:p>
          <a:p>
            <a:pPr algn="just"/>
            <a:r>
              <a:rPr lang="ru-RU" dirty="0" smtClean="0"/>
              <a:t>Кинетическая </a:t>
            </a:r>
            <a:r>
              <a:rPr lang="ru-RU" dirty="0"/>
              <a:t>энергия электрона зависит от его скорости. При соударении электроны передают часть своей кинетической энергии атомам или молекулам газа.</a:t>
            </a:r>
          </a:p>
          <a:p>
            <a:pPr algn="just"/>
            <a:r>
              <a:rPr lang="ru-RU" dirty="0" smtClean="0"/>
              <a:t>При </a:t>
            </a:r>
            <a:r>
              <a:rPr lang="ru-RU" dirty="0"/>
              <a:t>малой скорости движения электрона соударение с атомами будет упругим, при котором происходит только изменение скорости движения соударяющихся частиц. При больших скоростях движения электронов соударения становятся неупругими, при которых энергия, получаемая атомом газа, достаточна для ионизации или для возбуждения атома.</a:t>
            </a:r>
          </a:p>
          <a:p>
            <a:pPr algn="just"/>
            <a:r>
              <a:rPr lang="ru-RU" dirty="0" smtClean="0"/>
              <a:t>Ионизация </a:t>
            </a:r>
            <a:r>
              <a:rPr lang="ru-RU" dirty="0"/>
              <a:t>газа состоит в расщеплении его атомов на электроны и положительные ионы.</a:t>
            </a:r>
          </a:p>
          <a:p>
            <a:pPr algn="just"/>
            <a:r>
              <a:rPr lang="ru-RU" dirty="0" smtClean="0"/>
              <a:t>Атомы </a:t>
            </a:r>
            <a:r>
              <a:rPr lang="ru-RU" dirty="0"/>
              <a:t>и молекулы газа представляют собой устойчивые системы электрически заряженных частиц. Поэтому для отделения электрона надо совершить работу по преодолению сил взаимного притяжения. Эта работа называется работой </a:t>
            </a:r>
            <a:r>
              <a:rPr lang="ru-RU" dirty="0" smtClean="0"/>
              <a:t>ионизации. </a:t>
            </a:r>
            <a:r>
              <a:rPr lang="ru-RU" dirty="0"/>
              <a:t>Она характеризуется потенциалом ионизации или разностью потенциалов между двумя точками пути движения электрона в электрическом поле, на котором энергия его увеличивается до значения работы </a:t>
            </a:r>
            <a:r>
              <a:rPr lang="ru-RU" dirty="0" smtClean="0"/>
              <a:t>ионизации.</a:t>
            </a:r>
            <a:endParaRPr lang="en-US" b="1" dirty="0" smtClean="0"/>
          </a:p>
        </p:txBody>
      </p:sp>
    </p:spTree>
    <p:extLst>
      <p:ext uri="{BB962C8B-B14F-4D97-AF65-F5344CB8AC3E}">
        <p14:creationId xmlns:p14="http://schemas.microsoft.com/office/powerpoint/2010/main" val="164640214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Газоразрядные (ионные) приборы</a:t>
            </a:r>
            <a:endParaRPr lang="ru-RU" dirty="0"/>
          </a:p>
        </p:txBody>
      </p:sp>
      <p:sp>
        <p:nvSpPr>
          <p:cNvPr id="3" name="Объект 2"/>
          <p:cNvSpPr>
            <a:spLocks noGrp="1"/>
          </p:cNvSpPr>
          <p:nvPr>
            <p:ph idx="1"/>
          </p:nvPr>
        </p:nvSpPr>
        <p:spPr/>
        <p:txBody>
          <a:bodyPr>
            <a:normAutofit fontScale="70000" lnSpcReduction="20000"/>
          </a:bodyPr>
          <a:lstStyle/>
          <a:p>
            <a:pPr marL="0" indent="0" algn="just">
              <a:buNone/>
            </a:pPr>
            <a:r>
              <a:rPr lang="ru-RU" b="1" dirty="0" smtClean="0"/>
              <a:t>Газовый разряд</a:t>
            </a:r>
          </a:p>
          <a:p>
            <a:pPr marL="0" indent="0" algn="just">
              <a:buNone/>
            </a:pPr>
            <a:r>
              <a:rPr lang="ru-RU" dirty="0" smtClean="0"/>
              <a:t>В таблице показаны потенциалы ионизации для некоторых газов, широко использующихся в газоразрядных приорах</a:t>
            </a:r>
          </a:p>
          <a:p>
            <a:pPr marL="0" indent="0" algn="just">
              <a:buNone/>
            </a:pPr>
            <a:endParaRPr lang="ru-RU" dirty="0" smtClean="0"/>
          </a:p>
          <a:p>
            <a:pPr marL="0" indent="0" algn="just">
              <a:buNone/>
            </a:pPr>
            <a:endParaRPr lang="ru-RU" dirty="0"/>
          </a:p>
          <a:p>
            <a:pPr marL="0" indent="0" algn="just">
              <a:buNone/>
            </a:pPr>
            <a:endParaRPr lang="ru-RU" dirty="0" smtClean="0"/>
          </a:p>
          <a:p>
            <a:pPr marL="0" indent="0" algn="just">
              <a:buNone/>
            </a:pPr>
            <a:r>
              <a:rPr lang="ru-RU" dirty="0" smtClean="0"/>
              <a:t>Если </a:t>
            </a:r>
            <a:r>
              <a:rPr lang="ru-RU" dirty="0"/>
              <a:t>между электродами газоразрядного прибора </a:t>
            </a:r>
            <a:r>
              <a:rPr lang="ru-RU" dirty="0" smtClean="0"/>
              <a:t>к </a:t>
            </a:r>
            <a:r>
              <a:rPr lang="ru-RU" dirty="0"/>
              <a:t>которым приложено напряжение, находится газ, ионизируемый с постоянной интенсивностью, то под действием сил электрического поля положительные ионы перемещаются в направлении доля, а электроны и отрицательные ионы в обратном направлении, таким образом в цепи проходит электрический, ток</a:t>
            </a:r>
            <a:r>
              <a:rPr lang="ru-RU" dirty="0" smtClean="0"/>
              <a:t>.</a:t>
            </a:r>
          </a:p>
          <a:p>
            <a:pPr marL="0" indent="0" algn="just">
              <a:buNone/>
            </a:pPr>
            <a:endParaRPr lang="ru-RU" dirty="0"/>
          </a:p>
          <a:p>
            <a:pPr marL="0" indent="0" algn="just">
              <a:buNone/>
            </a:pPr>
            <a:endParaRPr lang="ru-RU" dirty="0"/>
          </a:p>
          <a:p>
            <a:pPr marL="0" indent="0" algn="just">
              <a:buNone/>
            </a:pPr>
            <a:r>
              <a:rPr lang="ru-RU" dirty="0" smtClean="0"/>
              <a:t>Совокупность </a:t>
            </a:r>
            <a:r>
              <a:rPr lang="ru-RU" dirty="0"/>
              <a:t>явлений, происходящих в газе при прохождении через него электрического тока, называется </a:t>
            </a:r>
            <a:r>
              <a:rPr lang="ru-RU" b="1" dirty="0"/>
              <a:t>электрическим </a:t>
            </a:r>
            <a:r>
              <a:rPr lang="ru-RU" b="1" dirty="0" smtClean="0"/>
              <a:t>разрядом </a:t>
            </a:r>
            <a:r>
              <a:rPr lang="ru-RU" b="1" dirty="0"/>
              <a:t>в газе</a:t>
            </a:r>
            <a:r>
              <a:rPr lang="ru-RU" dirty="0" smtClean="0"/>
              <a:t>.</a:t>
            </a:r>
          </a:p>
        </p:txBody>
      </p:sp>
      <p:pic>
        <p:nvPicPr>
          <p:cNvPr id="8" name="Рисунок 7"/>
          <p:cNvPicPr>
            <a:picLocks noChangeAspect="1"/>
          </p:cNvPicPr>
          <p:nvPr/>
        </p:nvPicPr>
        <p:blipFill>
          <a:blip r:embed="rId2"/>
          <a:stretch>
            <a:fillRect/>
          </a:stretch>
        </p:blipFill>
        <p:spPr>
          <a:xfrm>
            <a:off x="5249657" y="4680317"/>
            <a:ext cx="1258022" cy="972108"/>
          </a:xfrm>
          <a:prstGeom prst="rect">
            <a:avLst/>
          </a:prstGeom>
        </p:spPr>
      </p:pic>
      <p:pic>
        <p:nvPicPr>
          <p:cNvPr id="9" name="Рисунок 8"/>
          <p:cNvPicPr>
            <a:picLocks noChangeAspect="1"/>
          </p:cNvPicPr>
          <p:nvPr/>
        </p:nvPicPr>
        <p:blipFill>
          <a:blip r:embed="rId3"/>
          <a:stretch>
            <a:fillRect/>
          </a:stretch>
        </p:blipFill>
        <p:spPr>
          <a:xfrm>
            <a:off x="3575423" y="2453531"/>
            <a:ext cx="4250416" cy="1302546"/>
          </a:xfrm>
          <a:prstGeom prst="rect">
            <a:avLst/>
          </a:prstGeom>
        </p:spPr>
      </p:pic>
    </p:spTree>
    <p:extLst>
      <p:ext uri="{BB962C8B-B14F-4D97-AF65-F5344CB8AC3E}">
        <p14:creationId xmlns:p14="http://schemas.microsoft.com/office/powerpoint/2010/main" val="411917157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Газоразрядные (ионные) приборы</a:t>
            </a:r>
            <a:endParaRPr lang="ru-RU" dirty="0"/>
          </a:p>
        </p:txBody>
      </p:sp>
      <p:sp>
        <p:nvSpPr>
          <p:cNvPr id="3" name="Объект 2"/>
          <p:cNvSpPr>
            <a:spLocks noGrp="1"/>
          </p:cNvSpPr>
          <p:nvPr>
            <p:ph idx="1"/>
          </p:nvPr>
        </p:nvSpPr>
        <p:spPr/>
        <p:txBody>
          <a:bodyPr>
            <a:normAutofit fontScale="92500" lnSpcReduction="10000"/>
          </a:bodyPr>
          <a:lstStyle/>
          <a:p>
            <a:pPr marL="0" indent="0" algn="just">
              <a:buNone/>
            </a:pPr>
            <a:r>
              <a:rPr lang="ru-RU" b="1" dirty="0" smtClean="0"/>
              <a:t>Электрический разряд в газе</a:t>
            </a:r>
          </a:p>
          <a:p>
            <a:pPr marL="0" indent="0" algn="just">
              <a:buNone/>
            </a:pPr>
            <a:r>
              <a:rPr lang="ru-RU" dirty="0"/>
              <a:t>Сильное электрическое поле может вызвать в газовой среде самостоятельный разряд, т. е. такой, который возникает и поддерживается без действия других внешних факторов. Очевидно, для его существования необходимо непрерывное образование свободных заряженных частиц. Источником их является ударная ионизация газа.</a:t>
            </a:r>
          </a:p>
          <a:p>
            <a:pPr marL="0" indent="0" algn="just">
              <a:buNone/>
            </a:pPr>
            <a:r>
              <a:rPr lang="ru-RU" dirty="0" smtClean="0"/>
              <a:t>При </a:t>
            </a:r>
            <a:r>
              <a:rPr lang="ru-RU" dirty="0"/>
              <a:t>нормальном и пониженном давлении в газах наблюдаются три различных стадии самостоятельного разряда: темный, тлеющий и </a:t>
            </a:r>
            <a:r>
              <a:rPr lang="ru-RU" dirty="0" smtClean="0"/>
              <a:t>дуговой. </a:t>
            </a:r>
          </a:p>
          <a:p>
            <a:pPr marL="0" indent="0" algn="just">
              <a:buNone/>
            </a:pPr>
            <a:r>
              <a:rPr lang="ru-RU" dirty="0" smtClean="0"/>
              <a:t>Характер </a:t>
            </a:r>
            <a:r>
              <a:rPr lang="ru-RU" dirty="0"/>
              <a:t>разряда зависит от </a:t>
            </a:r>
            <a:r>
              <a:rPr lang="ru-RU" b="1" dirty="0"/>
              <a:t>напряжения, формы и расположения электродов, расстояния между ними, от состава газа, температуры, давления и т. д. </a:t>
            </a:r>
            <a:endParaRPr lang="ru-RU" b="1" dirty="0" smtClean="0"/>
          </a:p>
        </p:txBody>
      </p:sp>
    </p:spTree>
    <p:extLst>
      <p:ext uri="{BB962C8B-B14F-4D97-AF65-F5344CB8AC3E}">
        <p14:creationId xmlns:p14="http://schemas.microsoft.com/office/powerpoint/2010/main" val="9075437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Газоразрядные (ионные) приборы</a:t>
            </a:r>
            <a:endParaRPr lang="ru-RU" dirty="0"/>
          </a:p>
        </p:txBody>
      </p:sp>
      <p:sp>
        <p:nvSpPr>
          <p:cNvPr id="3" name="Объект 2"/>
          <p:cNvSpPr>
            <a:spLocks noGrp="1"/>
          </p:cNvSpPr>
          <p:nvPr>
            <p:ph idx="1"/>
          </p:nvPr>
        </p:nvSpPr>
        <p:spPr/>
        <p:txBody>
          <a:bodyPr>
            <a:normAutofit fontScale="55000" lnSpcReduction="20000"/>
          </a:bodyPr>
          <a:lstStyle/>
          <a:p>
            <a:pPr marL="0" indent="0" algn="just">
              <a:buNone/>
            </a:pPr>
            <a:r>
              <a:rPr lang="ru-RU" b="1" dirty="0" smtClean="0"/>
              <a:t>Электрический разряд в газе</a:t>
            </a:r>
          </a:p>
          <a:p>
            <a:pPr algn="just"/>
            <a:r>
              <a:rPr lang="ru-RU" b="1" dirty="0" smtClean="0"/>
              <a:t>Темный </a:t>
            </a:r>
            <a:r>
              <a:rPr lang="ru-RU" b="1" dirty="0"/>
              <a:t>(тихий) разряд</a:t>
            </a:r>
            <a:r>
              <a:rPr lang="ru-RU" dirty="0"/>
              <a:t>. Как показывает само название, этот разряд сопровождается весьма слабым испусканием света и звука. Он представляет собой начальную стадию самостоятельного разряда и характеризуется незначительными плотностями </a:t>
            </a:r>
            <a:r>
              <a:rPr lang="ru-RU" dirty="0" smtClean="0"/>
              <a:t>тока. Ионизация </a:t>
            </a:r>
            <a:r>
              <a:rPr lang="ru-RU" dirty="0"/>
              <a:t>газа за счет космических лучей и естественной радиоактивности Земли происходит вдоль всего междуэлектродного промежутка. Электроны перемещаются к аноду, а положительные ионы — к катоду. Когда число ионов, падающих на катод, становится достаточным для того, чтобы выбитые ими электроны могли поддерживать разряд без внешнего ионизатора, разряд из несамостоятельного переходит в самостоятельный</a:t>
            </a:r>
            <a:r>
              <a:rPr lang="ru-RU" dirty="0" smtClean="0"/>
              <a:t>.</a:t>
            </a:r>
          </a:p>
          <a:p>
            <a:pPr algn="just"/>
            <a:endParaRPr lang="ru-RU" dirty="0"/>
          </a:p>
          <a:p>
            <a:pPr algn="just"/>
            <a:r>
              <a:rPr lang="ru-RU" b="1" dirty="0" smtClean="0"/>
              <a:t>Тлеющий </a:t>
            </a:r>
            <a:r>
              <a:rPr lang="ru-RU" b="1" dirty="0"/>
              <a:t>разряд</a:t>
            </a:r>
            <a:r>
              <a:rPr lang="ru-RU" dirty="0"/>
              <a:t>. Темный разряд переходит в тлеющий, который сопровождается свечением газа и для которого характерны значительно большие плотности тока </a:t>
            </a:r>
            <a:r>
              <a:rPr lang="ru-RU" dirty="0" smtClean="0"/>
              <a:t>(до 100 А/см2</a:t>
            </a:r>
            <a:r>
              <a:rPr lang="ru-RU" dirty="0"/>
              <a:t>) и большая интенсивность ионизации, в связи с чем уменьшается напряжение на </a:t>
            </a:r>
            <a:r>
              <a:rPr lang="ru-RU" dirty="0" smtClean="0"/>
              <a:t>электродах при увеличении тока между ними (наблюдается отрицательное сопротивление). </a:t>
            </a:r>
            <a:r>
              <a:rPr lang="ru-RU" dirty="0"/>
              <a:t>Нормальный тлеющий разряд характеризуется постоянной плотностью тока на </a:t>
            </a:r>
            <a:r>
              <a:rPr lang="ru-RU" dirty="0" smtClean="0"/>
              <a:t>катоде.</a:t>
            </a:r>
          </a:p>
          <a:p>
            <a:pPr marL="0" indent="0" algn="just">
              <a:buNone/>
            </a:pPr>
            <a:r>
              <a:rPr lang="ru-RU" dirty="0" smtClean="0"/>
              <a:t>	В большинстве ионных приборов (неоновых лампах, разрядниках, газоразрядных стабилитронах, тиратронах) 	используется именно </a:t>
            </a:r>
            <a:r>
              <a:rPr lang="ru-RU" b="1" dirty="0" smtClean="0"/>
              <a:t>тлеющий разряд. </a:t>
            </a:r>
            <a:endParaRPr lang="ru-RU" dirty="0"/>
          </a:p>
          <a:p>
            <a:pPr algn="just"/>
            <a:r>
              <a:rPr lang="ru-RU" b="1" dirty="0" smtClean="0"/>
              <a:t>Дуговой </a:t>
            </a:r>
            <a:r>
              <a:rPr lang="ru-RU" b="1" dirty="0"/>
              <a:t>разряд (электрическая дуга). </a:t>
            </a:r>
            <a:r>
              <a:rPr lang="ru-RU" dirty="0"/>
              <a:t>Для него характерны очень большие плотности тока на катоде </a:t>
            </a:r>
            <a:r>
              <a:rPr lang="ru-RU" dirty="0" smtClean="0"/>
              <a:t>(более 100 А/см2) </a:t>
            </a:r>
            <a:r>
              <a:rPr lang="ru-RU" dirty="0"/>
              <a:t>при относительно низком напряжении (примерно 15—30 В).</a:t>
            </a:r>
          </a:p>
          <a:p>
            <a:pPr marL="0" indent="0" algn="just">
              <a:buNone/>
            </a:pPr>
            <a:r>
              <a:rPr lang="ru-RU" dirty="0" smtClean="0"/>
              <a:t>	Дуговой </a:t>
            </a:r>
            <a:r>
              <a:rPr lang="ru-RU" dirty="0"/>
              <a:t>разряд может развиваться и поддерживаться как при разреженном газе, так и при нормальном </a:t>
            </a:r>
            <a:r>
              <a:rPr lang="ru-RU" dirty="0" smtClean="0"/>
              <a:t>	атмосферном давлении</a:t>
            </a:r>
            <a:r>
              <a:rPr lang="ru-RU" dirty="0"/>
              <a:t>. </a:t>
            </a:r>
            <a:r>
              <a:rPr lang="ru-RU" dirty="0" smtClean="0"/>
              <a:t> Дуговой разряд используется в электросварке и таком классе ионных приборов как 	ртутные вентили.</a:t>
            </a:r>
          </a:p>
        </p:txBody>
      </p:sp>
    </p:spTree>
    <p:extLst>
      <p:ext uri="{BB962C8B-B14F-4D97-AF65-F5344CB8AC3E}">
        <p14:creationId xmlns:p14="http://schemas.microsoft.com/office/powerpoint/2010/main" val="12278884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Газоразрядные (ионные) приборы</a:t>
            </a:r>
            <a:endParaRPr lang="ru-RU" dirty="0"/>
          </a:p>
        </p:txBody>
      </p:sp>
      <p:sp>
        <p:nvSpPr>
          <p:cNvPr id="3" name="Объект 2"/>
          <p:cNvSpPr>
            <a:spLocks noGrp="1"/>
          </p:cNvSpPr>
          <p:nvPr>
            <p:ph idx="1"/>
          </p:nvPr>
        </p:nvSpPr>
        <p:spPr/>
        <p:txBody>
          <a:bodyPr>
            <a:normAutofit fontScale="92500" lnSpcReduction="20000"/>
          </a:bodyPr>
          <a:lstStyle/>
          <a:p>
            <a:pPr marL="0" indent="0" algn="just">
              <a:buNone/>
            </a:pPr>
            <a:r>
              <a:rPr lang="ru-RU" b="1" dirty="0" smtClean="0"/>
              <a:t>Неоновая лампа </a:t>
            </a:r>
          </a:p>
          <a:p>
            <a:pPr marL="0" indent="0" algn="just">
              <a:buNone/>
            </a:pPr>
            <a:r>
              <a:rPr lang="ru-RU" dirty="0" smtClean="0"/>
              <a:t>Газоразрядный прибор, использующийся, в основном, как индикаторная </a:t>
            </a:r>
            <a:r>
              <a:rPr lang="ru-RU" dirty="0"/>
              <a:t>лампа </a:t>
            </a:r>
            <a:r>
              <a:rPr lang="ru-RU" dirty="0" smtClean="0"/>
              <a:t>:</a:t>
            </a:r>
          </a:p>
          <a:p>
            <a:pPr marL="0" indent="0" algn="just">
              <a:buNone/>
            </a:pPr>
            <a:r>
              <a:rPr lang="ru-RU" dirty="0" smtClean="0"/>
              <a:t>Благодаря </a:t>
            </a:r>
            <a:r>
              <a:rPr lang="ru-RU" dirty="0"/>
              <a:t>очень малому (доли </a:t>
            </a:r>
            <a:r>
              <a:rPr lang="ru-RU" dirty="0" err="1"/>
              <a:t>милиампера</a:t>
            </a:r>
            <a:r>
              <a:rPr lang="ru-RU" dirty="0"/>
              <a:t>) </a:t>
            </a:r>
            <a:r>
              <a:rPr lang="ru-RU" dirty="0" smtClean="0"/>
              <a:t>току потребления</a:t>
            </a:r>
            <a:r>
              <a:rPr lang="ru-RU" dirty="0"/>
              <a:t>, неоновая лампа является простым, экономичным и надёжным индикатором включения сетевого напряжения 220 </a:t>
            </a:r>
            <a:r>
              <a:rPr lang="ru-RU" dirty="0" smtClean="0"/>
              <a:t>вольт.</a:t>
            </a:r>
          </a:p>
          <a:p>
            <a:pPr marL="0" indent="0" algn="just">
              <a:buNone/>
            </a:pPr>
            <a:endParaRPr lang="ru-RU" b="1" dirty="0"/>
          </a:p>
          <a:p>
            <a:pPr marL="0" indent="0" algn="just">
              <a:buNone/>
            </a:pPr>
            <a:endParaRPr lang="ru-RU" b="1" dirty="0" smtClean="0"/>
          </a:p>
          <a:p>
            <a:pPr marL="0" indent="0" algn="just">
              <a:buNone/>
            </a:pPr>
            <a:endParaRPr lang="ru-RU" b="1" dirty="0" smtClean="0"/>
          </a:p>
          <a:p>
            <a:pPr marL="0" indent="0" algn="just">
              <a:buNone/>
            </a:pPr>
            <a:r>
              <a:rPr lang="ru-RU" b="1" dirty="0"/>
              <a:t> </a:t>
            </a:r>
            <a:r>
              <a:rPr lang="ru-RU" dirty="0" smtClean="0"/>
              <a:t>Индикаторные </a:t>
            </a:r>
            <a:r>
              <a:rPr lang="ru-RU" dirty="0"/>
              <a:t>лампы содержат встроенный балластный резистор, </a:t>
            </a:r>
            <a:r>
              <a:rPr lang="ru-RU" dirty="0" smtClean="0"/>
              <a:t>так что могут подключаться к сети напрямую, без дополнительного </a:t>
            </a:r>
            <a:r>
              <a:rPr lang="ru-RU" dirty="0" err="1" smtClean="0"/>
              <a:t>токоограничительного</a:t>
            </a:r>
            <a:r>
              <a:rPr lang="ru-RU" dirty="0" smtClean="0"/>
              <a:t> элемента.</a:t>
            </a:r>
            <a:endParaRPr lang="ru-RU" dirty="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dirty="0" smtClean="0"/>
          </a:p>
        </p:txBody>
      </p:sp>
      <p:pic>
        <p:nvPicPr>
          <p:cNvPr id="4" name="Рисунок 3"/>
          <p:cNvPicPr>
            <a:picLocks noChangeAspect="1"/>
          </p:cNvPicPr>
          <p:nvPr/>
        </p:nvPicPr>
        <p:blipFill>
          <a:blip r:embed="rId2"/>
          <a:stretch>
            <a:fillRect/>
          </a:stretch>
        </p:blipFill>
        <p:spPr>
          <a:xfrm>
            <a:off x="5306168" y="3796754"/>
            <a:ext cx="1009650" cy="1257300"/>
          </a:xfrm>
          <a:prstGeom prst="rect">
            <a:avLst/>
          </a:prstGeom>
        </p:spPr>
      </p:pic>
      <p:pic>
        <p:nvPicPr>
          <p:cNvPr id="5" name="Рисунок 4"/>
          <p:cNvPicPr>
            <a:picLocks noChangeAspect="1"/>
          </p:cNvPicPr>
          <p:nvPr/>
        </p:nvPicPr>
        <p:blipFill>
          <a:blip r:embed="rId3"/>
          <a:stretch>
            <a:fillRect/>
          </a:stretch>
        </p:blipFill>
        <p:spPr>
          <a:xfrm>
            <a:off x="9436678" y="3504935"/>
            <a:ext cx="1773629" cy="1549119"/>
          </a:xfrm>
          <a:prstGeom prst="rect">
            <a:avLst/>
          </a:prstGeom>
        </p:spPr>
      </p:pic>
    </p:spTree>
    <p:extLst>
      <p:ext uri="{BB962C8B-B14F-4D97-AF65-F5344CB8AC3E}">
        <p14:creationId xmlns:p14="http://schemas.microsoft.com/office/powerpoint/2010/main" val="35493444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Газоразрядные (ионные) приборы</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Неоновая лампа </a:t>
            </a:r>
          </a:p>
          <a:p>
            <a:pPr marL="0" indent="0" algn="just">
              <a:buNone/>
            </a:pPr>
            <a:r>
              <a:rPr lang="ru-RU" b="1" dirty="0" smtClean="0"/>
              <a:t>Вольт-амперная характеристика неоновой лампы</a:t>
            </a:r>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dirty="0" smtClean="0"/>
          </a:p>
        </p:txBody>
      </p:sp>
      <p:pic>
        <p:nvPicPr>
          <p:cNvPr id="6" name="Рисунок 5"/>
          <p:cNvPicPr>
            <a:picLocks noChangeAspect="1"/>
          </p:cNvPicPr>
          <p:nvPr/>
        </p:nvPicPr>
        <p:blipFill>
          <a:blip r:embed="rId2"/>
          <a:stretch>
            <a:fillRect/>
          </a:stretch>
        </p:blipFill>
        <p:spPr>
          <a:xfrm>
            <a:off x="3775922" y="3049279"/>
            <a:ext cx="3687720" cy="3004282"/>
          </a:xfrm>
          <a:prstGeom prst="rect">
            <a:avLst/>
          </a:prstGeom>
        </p:spPr>
      </p:pic>
    </p:spTree>
    <p:extLst>
      <p:ext uri="{BB962C8B-B14F-4D97-AF65-F5344CB8AC3E}">
        <p14:creationId xmlns:p14="http://schemas.microsoft.com/office/powerpoint/2010/main" val="27700800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Газоразрядные (ионные) приборы</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Неоновая лампа</a:t>
            </a:r>
          </a:p>
          <a:p>
            <a:pPr marL="0" indent="0" algn="just">
              <a:buNone/>
            </a:pPr>
            <a:r>
              <a:rPr lang="ru-RU" dirty="0" smtClean="0"/>
              <a:t>Напряжение зажигания и напряжения горения зависит от типа лампы. Типовые значения составляют 160</a:t>
            </a:r>
            <a:r>
              <a:rPr lang="en-US" dirty="0" smtClean="0"/>
              <a:t>/100</a:t>
            </a:r>
            <a:r>
              <a:rPr lang="ru-RU" dirty="0" smtClean="0"/>
              <a:t> В для обычных ламп и 65/40 для низковольтных.</a:t>
            </a:r>
          </a:p>
          <a:p>
            <a:pPr marL="0" indent="0" algn="just">
              <a:buNone/>
            </a:pPr>
            <a:r>
              <a:rPr lang="ru-RU" dirty="0" smtClean="0"/>
              <a:t>Если конфигурация электродов выполняется несимметричной то в такой неоновой лампе разряд возникает только при одной полярности. Такой прибор называется газоразрядным стабилитроном.</a:t>
            </a:r>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dirty="0" smtClean="0"/>
          </a:p>
        </p:txBody>
      </p:sp>
      <p:pic>
        <p:nvPicPr>
          <p:cNvPr id="7" name="Рисунок 6"/>
          <p:cNvPicPr>
            <a:picLocks noChangeAspect="1"/>
          </p:cNvPicPr>
          <p:nvPr/>
        </p:nvPicPr>
        <p:blipFill>
          <a:blip r:embed="rId2"/>
          <a:stretch>
            <a:fillRect/>
          </a:stretch>
        </p:blipFill>
        <p:spPr>
          <a:xfrm>
            <a:off x="4610286" y="4940599"/>
            <a:ext cx="1184874" cy="1188863"/>
          </a:xfrm>
          <a:prstGeom prst="rect">
            <a:avLst/>
          </a:prstGeom>
        </p:spPr>
      </p:pic>
    </p:spTree>
    <p:extLst>
      <p:ext uri="{BB962C8B-B14F-4D97-AF65-F5344CB8AC3E}">
        <p14:creationId xmlns:p14="http://schemas.microsoft.com/office/powerpoint/2010/main" val="201082162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Газоразрядные (ионные) приборы</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Газовый разрядник</a:t>
            </a:r>
          </a:p>
          <a:p>
            <a:pPr marL="0" indent="0" algn="just">
              <a:buNone/>
            </a:pPr>
            <a:r>
              <a:rPr lang="ru-RU" dirty="0" smtClean="0"/>
              <a:t>В газовом разряднике напряжение зажигания определяется необходимым напряжением срабатывания и может быть до единиц киловольт. В приборах на большее напряжение уже, обычно, реализуется искровой пробой промежутка, а не газовый разряд. Но обозначение на схемах и принцип действия у них похожие. ВАХ разрядника по виду аналогично неоновой лампе, только напряжение горения обычно существенно ниже.</a:t>
            </a:r>
          </a:p>
          <a:p>
            <a:pPr marL="0" indent="0" algn="just">
              <a:buNone/>
            </a:pPr>
            <a:r>
              <a:rPr lang="ru-RU" dirty="0" smtClean="0"/>
              <a:t>Газовые разрядники благодаря простоте и надежности очень широко используются для защиты схем от перенапряжений.</a:t>
            </a:r>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dirty="0" smtClean="0"/>
          </a:p>
        </p:txBody>
      </p:sp>
    </p:spTree>
    <p:extLst>
      <p:ext uri="{BB962C8B-B14F-4D97-AF65-F5344CB8AC3E}">
        <p14:creationId xmlns:p14="http://schemas.microsoft.com/office/powerpoint/2010/main" val="187375409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Газоразрядные (ионные) приборы</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Газовый разрядник: внешний вид</a:t>
            </a:r>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r>
              <a:rPr lang="ru-RU" b="1" dirty="0" smtClean="0"/>
              <a:t>Схемное обозначение</a:t>
            </a:r>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dirty="0" smtClean="0"/>
          </a:p>
        </p:txBody>
      </p:sp>
      <p:pic>
        <p:nvPicPr>
          <p:cNvPr id="4" name="Рисунок 3"/>
          <p:cNvPicPr>
            <a:picLocks noChangeAspect="1"/>
          </p:cNvPicPr>
          <p:nvPr/>
        </p:nvPicPr>
        <p:blipFill>
          <a:blip r:embed="rId2"/>
          <a:stretch>
            <a:fillRect/>
          </a:stretch>
        </p:blipFill>
        <p:spPr>
          <a:xfrm>
            <a:off x="1061543" y="2440916"/>
            <a:ext cx="2367239" cy="1653144"/>
          </a:xfrm>
          <a:prstGeom prst="rect">
            <a:avLst/>
          </a:prstGeom>
        </p:spPr>
      </p:pic>
      <p:pic>
        <p:nvPicPr>
          <p:cNvPr id="5" name="Рисунок 4"/>
          <p:cNvPicPr>
            <a:picLocks noChangeAspect="1"/>
          </p:cNvPicPr>
          <p:nvPr/>
        </p:nvPicPr>
        <p:blipFill>
          <a:blip r:embed="rId3"/>
          <a:stretch>
            <a:fillRect/>
          </a:stretch>
        </p:blipFill>
        <p:spPr>
          <a:xfrm>
            <a:off x="4145739" y="2294638"/>
            <a:ext cx="2551883" cy="1718995"/>
          </a:xfrm>
          <a:prstGeom prst="rect">
            <a:avLst/>
          </a:prstGeom>
        </p:spPr>
      </p:pic>
      <p:pic>
        <p:nvPicPr>
          <p:cNvPr id="6" name="Рисунок 5"/>
          <p:cNvPicPr>
            <a:picLocks noChangeAspect="1"/>
          </p:cNvPicPr>
          <p:nvPr/>
        </p:nvPicPr>
        <p:blipFill>
          <a:blip r:embed="rId4"/>
          <a:stretch>
            <a:fillRect/>
          </a:stretch>
        </p:blipFill>
        <p:spPr>
          <a:xfrm>
            <a:off x="7858619" y="2016329"/>
            <a:ext cx="2540888" cy="2163786"/>
          </a:xfrm>
          <a:prstGeom prst="rect">
            <a:avLst/>
          </a:prstGeom>
        </p:spPr>
      </p:pic>
      <p:pic>
        <p:nvPicPr>
          <p:cNvPr id="8" name="Рисунок 7"/>
          <p:cNvPicPr>
            <a:picLocks noChangeAspect="1"/>
          </p:cNvPicPr>
          <p:nvPr/>
        </p:nvPicPr>
        <p:blipFill>
          <a:blip r:embed="rId5"/>
          <a:stretch>
            <a:fillRect/>
          </a:stretch>
        </p:blipFill>
        <p:spPr>
          <a:xfrm>
            <a:off x="2524497" y="5225144"/>
            <a:ext cx="1717918" cy="823169"/>
          </a:xfrm>
          <a:prstGeom prst="rect">
            <a:avLst/>
          </a:prstGeom>
        </p:spPr>
      </p:pic>
      <p:pic>
        <p:nvPicPr>
          <p:cNvPr id="9" name="Рисунок 8"/>
          <p:cNvPicPr>
            <a:picLocks noChangeAspect="1"/>
          </p:cNvPicPr>
          <p:nvPr/>
        </p:nvPicPr>
        <p:blipFill>
          <a:blip r:embed="rId6"/>
          <a:stretch>
            <a:fillRect/>
          </a:stretch>
        </p:blipFill>
        <p:spPr>
          <a:xfrm flipV="1">
            <a:off x="4680463" y="4935858"/>
            <a:ext cx="3931104" cy="1548513"/>
          </a:xfrm>
          <a:prstGeom prst="rect">
            <a:avLst/>
          </a:prstGeom>
        </p:spPr>
      </p:pic>
    </p:spTree>
    <p:extLst>
      <p:ext uri="{BB962C8B-B14F-4D97-AF65-F5344CB8AC3E}">
        <p14:creationId xmlns:p14="http://schemas.microsoft.com/office/powerpoint/2010/main" val="242324290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Газоразрядные (ионные) приборы</a:t>
            </a:r>
            <a:endParaRPr lang="ru-RU" dirty="0"/>
          </a:p>
        </p:txBody>
      </p:sp>
      <p:sp>
        <p:nvSpPr>
          <p:cNvPr id="3" name="Объект 2"/>
          <p:cNvSpPr>
            <a:spLocks noGrp="1"/>
          </p:cNvSpPr>
          <p:nvPr>
            <p:ph idx="1"/>
          </p:nvPr>
        </p:nvSpPr>
        <p:spPr/>
        <p:txBody>
          <a:bodyPr>
            <a:normAutofit fontScale="55000" lnSpcReduction="20000"/>
          </a:bodyPr>
          <a:lstStyle/>
          <a:p>
            <a:pPr marL="0" indent="0" algn="just">
              <a:buNone/>
            </a:pPr>
            <a:r>
              <a:rPr lang="ru-RU" b="1" dirty="0" smtClean="0"/>
              <a:t>Управляемые газоразрядные приборы: </a:t>
            </a:r>
          </a:p>
          <a:p>
            <a:pPr marL="0" indent="0" algn="just">
              <a:buNone/>
            </a:pPr>
            <a:r>
              <a:rPr lang="ru-RU" b="1" dirty="0" smtClean="0"/>
              <a:t>Тиратрон, управляемый разрядник.</a:t>
            </a:r>
          </a:p>
          <a:p>
            <a:pPr marL="0" indent="0" algn="just">
              <a:buNone/>
            </a:pPr>
            <a:r>
              <a:rPr lang="ru-RU" dirty="0" smtClean="0"/>
              <a:t>Данные приборы относятся к разряду управляемых ключей и, в целом, все работают одинаково, разница заключается в конструкции электродов и наличии либо отсутствии </a:t>
            </a:r>
            <a:r>
              <a:rPr lang="ru-RU" dirty="0" err="1" smtClean="0"/>
              <a:t>термоэмиссии</a:t>
            </a:r>
            <a:r>
              <a:rPr lang="ru-RU" dirty="0" smtClean="0"/>
              <a:t> с катода (тиратрон с холодным катодом/ с горячим катодом):</a:t>
            </a:r>
          </a:p>
          <a:p>
            <a:pPr marL="0" indent="0" algn="just">
              <a:buNone/>
            </a:pPr>
            <a:r>
              <a:rPr lang="ru-RU" dirty="0"/>
              <a:t>Источник питания </a:t>
            </a:r>
            <a:r>
              <a:rPr lang="ru-RU" dirty="0" smtClean="0"/>
              <a:t>создает </a:t>
            </a:r>
            <a:r>
              <a:rPr lang="ru-RU" dirty="0"/>
              <a:t>между катодом и анодом напряжение (рабочее напряжение), достаточное для поддержания разряда, но недостаточное для его зажигания. При подаче на сетку положительного импульса в цепи сетка — катод возникает ток в несколько микроампер, называемый током </a:t>
            </a:r>
            <a:r>
              <a:rPr lang="ru-RU" dirty="0" err="1"/>
              <a:t>поджига</a:t>
            </a:r>
            <a:r>
              <a:rPr lang="ru-RU" dirty="0"/>
              <a:t> и в зазоре сетка — катод появляется разряд. При этом некоторое количество заряженных частиц проникает в пространство между анодом и катодом, вследствие чего между ними возникает </a:t>
            </a:r>
            <a:r>
              <a:rPr lang="ru-RU" dirty="0" smtClean="0"/>
              <a:t>газовый разряд </a:t>
            </a:r>
            <a:r>
              <a:rPr lang="ru-RU" dirty="0"/>
              <a:t>и в анодной цепи начинает проходить </a:t>
            </a:r>
            <a:r>
              <a:rPr lang="ru-RU" dirty="0" smtClean="0"/>
              <a:t>ток.</a:t>
            </a:r>
            <a:endParaRPr lang="ru-RU" dirty="0"/>
          </a:p>
          <a:p>
            <a:pPr marL="0" indent="0" algn="just">
              <a:buNone/>
            </a:pPr>
            <a:r>
              <a:rPr lang="ru-RU" dirty="0" smtClean="0"/>
              <a:t>Гашение </a:t>
            </a:r>
            <a:r>
              <a:rPr lang="ru-RU" dirty="0"/>
              <a:t>тиратрона производится или размыканием анодной цепи, или уменьшением анодного напряжения ниже рабочего. </a:t>
            </a:r>
            <a:endParaRPr lang="ru-RU" dirty="0" smtClean="0"/>
          </a:p>
          <a:p>
            <a:pPr marL="0" indent="0" algn="just">
              <a:buNone/>
            </a:pPr>
            <a:r>
              <a:rPr lang="ru-RU" b="1" dirty="0" smtClean="0"/>
              <a:t>Схемное обозначение:</a:t>
            </a:r>
          </a:p>
          <a:p>
            <a:pPr marL="0" indent="0" algn="just">
              <a:buNone/>
            </a:pPr>
            <a:r>
              <a:rPr lang="ru-RU" dirty="0" smtClean="0"/>
              <a:t>Тиратрон с горячим катодом	Тиратрон с холодным катодом		Управляемый разрядник</a:t>
            </a:r>
          </a:p>
          <a:p>
            <a:pPr marL="0" indent="0" algn="just">
              <a:buNone/>
            </a:pPr>
            <a:r>
              <a:rPr lang="ru-RU" dirty="0" smtClean="0"/>
              <a:t>(т. с дуговым разрядом)	(т. С тлеющим разрядом)</a:t>
            </a:r>
          </a:p>
          <a:p>
            <a:pPr marL="0" indent="0" algn="just">
              <a:buNone/>
            </a:pPr>
            <a:endParaRPr lang="ru-RU" dirty="0" smtClean="0"/>
          </a:p>
          <a:p>
            <a:pPr marL="0" indent="0" algn="just">
              <a:buNone/>
            </a:pPr>
            <a:endParaRPr lang="ru-RU" b="1" dirty="0"/>
          </a:p>
          <a:p>
            <a:pPr marL="0" indent="0" algn="just">
              <a:buNone/>
            </a:pPr>
            <a:r>
              <a:rPr lang="ru-RU" b="1" dirty="0" smtClean="0"/>
              <a:t> </a:t>
            </a:r>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dirty="0" smtClean="0"/>
          </a:p>
        </p:txBody>
      </p:sp>
      <p:pic>
        <p:nvPicPr>
          <p:cNvPr id="7" name="Рисунок 6"/>
          <p:cNvPicPr>
            <a:picLocks noChangeAspect="1"/>
          </p:cNvPicPr>
          <p:nvPr/>
        </p:nvPicPr>
        <p:blipFill>
          <a:blip r:embed="rId2"/>
          <a:stretch>
            <a:fillRect/>
          </a:stretch>
        </p:blipFill>
        <p:spPr>
          <a:xfrm>
            <a:off x="1871415" y="4979040"/>
            <a:ext cx="409575" cy="685800"/>
          </a:xfrm>
          <a:prstGeom prst="rect">
            <a:avLst/>
          </a:prstGeom>
        </p:spPr>
      </p:pic>
      <p:pic>
        <p:nvPicPr>
          <p:cNvPr id="10" name="Рисунок 9"/>
          <p:cNvPicPr>
            <a:picLocks noChangeAspect="1"/>
          </p:cNvPicPr>
          <p:nvPr/>
        </p:nvPicPr>
        <p:blipFill>
          <a:blip r:embed="rId3"/>
          <a:stretch>
            <a:fillRect/>
          </a:stretch>
        </p:blipFill>
        <p:spPr>
          <a:xfrm>
            <a:off x="4708132" y="4979040"/>
            <a:ext cx="718891" cy="997864"/>
          </a:xfrm>
          <a:prstGeom prst="rect">
            <a:avLst/>
          </a:prstGeom>
        </p:spPr>
      </p:pic>
      <p:pic>
        <p:nvPicPr>
          <p:cNvPr id="11" name="Рисунок 10"/>
          <p:cNvPicPr>
            <a:picLocks noChangeAspect="1"/>
          </p:cNvPicPr>
          <p:nvPr/>
        </p:nvPicPr>
        <p:blipFill>
          <a:blip r:embed="rId4"/>
          <a:stretch>
            <a:fillRect/>
          </a:stretch>
        </p:blipFill>
        <p:spPr>
          <a:xfrm>
            <a:off x="8023392" y="5230880"/>
            <a:ext cx="514965" cy="867919"/>
          </a:xfrm>
          <a:prstGeom prst="rect">
            <a:avLst/>
          </a:prstGeom>
        </p:spPr>
      </p:pic>
    </p:spTree>
    <p:extLst>
      <p:ext uri="{BB962C8B-B14F-4D97-AF65-F5344CB8AC3E}">
        <p14:creationId xmlns:p14="http://schemas.microsoft.com/office/powerpoint/2010/main" val="156714643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Газоразрядные (ионные) приборы</a:t>
            </a:r>
            <a:endParaRPr lang="ru-RU" dirty="0"/>
          </a:p>
        </p:txBody>
      </p:sp>
      <p:sp>
        <p:nvSpPr>
          <p:cNvPr id="3" name="Объект 2"/>
          <p:cNvSpPr>
            <a:spLocks noGrp="1"/>
          </p:cNvSpPr>
          <p:nvPr>
            <p:ph idx="1"/>
          </p:nvPr>
        </p:nvSpPr>
        <p:spPr/>
        <p:txBody>
          <a:bodyPr>
            <a:normAutofit/>
          </a:bodyPr>
          <a:lstStyle/>
          <a:p>
            <a:pPr marL="0" indent="0" algn="just">
              <a:buNone/>
            </a:pPr>
            <a:r>
              <a:rPr lang="ru-RU" b="1" dirty="0" smtClean="0"/>
              <a:t>Тиратрон тлеющего разряда, конструкция:</a:t>
            </a:r>
          </a:p>
          <a:p>
            <a:pPr marL="0" indent="0" algn="just">
              <a:buNone/>
            </a:pPr>
            <a:r>
              <a:rPr lang="ru-RU" dirty="0" smtClean="0"/>
              <a:t>А-анод, К-катод, С-сетка</a:t>
            </a:r>
            <a:r>
              <a:rPr lang="ru-RU" b="1" dirty="0" smtClean="0"/>
              <a:t> </a:t>
            </a:r>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a:p>
          <a:p>
            <a:pPr marL="0" indent="0" algn="just">
              <a:buNone/>
            </a:pPr>
            <a:endParaRPr lang="ru-RU" b="1" dirty="0" smtClean="0"/>
          </a:p>
          <a:p>
            <a:pPr marL="0" indent="0" algn="just">
              <a:buNone/>
            </a:pPr>
            <a:endParaRPr lang="ru-RU" b="1" dirty="0"/>
          </a:p>
          <a:p>
            <a:pPr marL="0" indent="0" algn="just">
              <a:buNone/>
            </a:pPr>
            <a:endParaRPr lang="ru-RU" b="1" dirty="0" smtClean="0"/>
          </a:p>
          <a:p>
            <a:pPr marL="0" indent="0" algn="just">
              <a:buNone/>
            </a:pPr>
            <a:endParaRPr lang="ru-RU" dirty="0" smtClean="0"/>
          </a:p>
        </p:txBody>
      </p:sp>
      <p:pic>
        <p:nvPicPr>
          <p:cNvPr id="4" name="Рисунок 3"/>
          <p:cNvPicPr>
            <a:picLocks noChangeAspect="1"/>
          </p:cNvPicPr>
          <p:nvPr/>
        </p:nvPicPr>
        <p:blipFill>
          <a:blip r:embed="rId2"/>
          <a:stretch>
            <a:fillRect/>
          </a:stretch>
        </p:blipFill>
        <p:spPr>
          <a:xfrm>
            <a:off x="3186712" y="2901188"/>
            <a:ext cx="5221017" cy="2642474"/>
          </a:xfrm>
          <a:prstGeom prst="rect">
            <a:avLst/>
          </a:prstGeom>
        </p:spPr>
      </p:pic>
    </p:spTree>
    <p:extLst>
      <p:ext uri="{BB962C8B-B14F-4D97-AF65-F5344CB8AC3E}">
        <p14:creationId xmlns:p14="http://schemas.microsoft.com/office/powerpoint/2010/main" val="143077396"/>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18145</TotalTime>
  <Words>2821</Words>
  <Application>Microsoft Office PowerPoint</Application>
  <PresentationFormat>Широкоэкранный</PresentationFormat>
  <Paragraphs>331</Paragraphs>
  <Slides>51</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51</vt:i4>
      </vt:variant>
    </vt:vector>
  </HeadingPairs>
  <TitlesOfParts>
    <vt:vector size="57" baseType="lpstr">
      <vt:lpstr>Arial</vt:lpstr>
      <vt:lpstr>Calibri</vt:lpstr>
      <vt:lpstr>Calibri Light</vt:lpstr>
      <vt:lpstr>Cambria Math</vt:lpstr>
      <vt:lpstr>Times New Roman</vt:lpstr>
      <vt:lpstr>Тема Office</vt:lpstr>
      <vt:lpstr>Лекция 13</vt:lpstr>
      <vt:lpstr>Явление термоэлектронной эмиссии</vt:lpstr>
      <vt:lpstr>Явление термоэлектронной эмиссии</vt:lpstr>
      <vt:lpstr>Явление термоэлектронной эмиссии</vt:lpstr>
      <vt:lpstr>Явление термоэлектронной эмиссии</vt:lpstr>
      <vt:lpstr>Явление термоэлектронной эмиссии</vt:lpstr>
      <vt:lpstr>Явление термоэлектронной эмиссии</vt:lpstr>
      <vt:lpstr>Явление термоэлектронной эмиссии</vt:lpstr>
      <vt:lpstr>Явление термоэлектронной эмиссии</vt:lpstr>
      <vt:lpstr>Явление термоэлектронной эмиссии</vt:lpstr>
      <vt:lpstr>Явление термоэлектронной эмиссии</vt:lpstr>
      <vt:lpstr>Явление термоэлектронной эмиссии</vt:lpstr>
      <vt:lpstr>Электровакуумный диод</vt:lpstr>
      <vt:lpstr>Электровакуумный диод</vt:lpstr>
      <vt:lpstr>Электровакуумный диод</vt:lpstr>
      <vt:lpstr>Электровакуумный диод</vt:lpstr>
      <vt:lpstr>Электровакуумный диод</vt:lpstr>
      <vt:lpstr>Электровакуумный диод</vt:lpstr>
      <vt:lpstr>Электровакуумный диод</vt:lpstr>
      <vt:lpstr>Электровакуумный триод</vt:lpstr>
      <vt:lpstr>Электровакуумный триод</vt:lpstr>
      <vt:lpstr>Электровакуумный триод</vt:lpstr>
      <vt:lpstr>Электровакуумный триод</vt:lpstr>
      <vt:lpstr>Электровакуумный триод</vt:lpstr>
      <vt:lpstr>Электровакуумный триод</vt:lpstr>
      <vt:lpstr>Электровакуумный триод</vt:lpstr>
      <vt:lpstr>Электровакуумный триод</vt:lpstr>
      <vt:lpstr>Электровакуумный триод</vt:lpstr>
      <vt:lpstr>Электровакуумный триод</vt:lpstr>
      <vt:lpstr>Электровакуумный триод</vt:lpstr>
      <vt:lpstr>Электровакуумный триод</vt:lpstr>
      <vt:lpstr>Электровакуумный триод</vt:lpstr>
      <vt:lpstr>Тетрод</vt:lpstr>
      <vt:lpstr>Тетрод</vt:lpstr>
      <vt:lpstr>Тетрод</vt:lpstr>
      <vt:lpstr>Пентод</vt:lpstr>
      <vt:lpstr>Пентод</vt:lpstr>
      <vt:lpstr>Лучевой тетрод</vt:lpstr>
      <vt:lpstr>Лучевой тетрод</vt:lpstr>
      <vt:lpstr>Газоразрядные (ионные) приборы</vt:lpstr>
      <vt:lpstr>Газоразрядные (ионные) приборы</vt:lpstr>
      <vt:lpstr>Газоразрядные (ионные) приборы</vt:lpstr>
      <vt:lpstr>Газоразрядные (ионные) приборы</vt:lpstr>
      <vt:lpstr>Газоразрядные (ионные) приборы</vt:lpstr>
      <vt:lpstr>Газоразрядные (ионные) приборы</vt:lpstr>
      <vt:lpstr>Газоразрядные (ионные) приборы</vt:lpstr>
      <vt:lpstr>Газоразрядные (ионные) приборы</vt:lpstr>
      <vt:lpstr>Газоразрядные (ионные) приборы</vt:lpstr>
      <vt:lpstr>Газоразрядные (ионные) приборы</vt:lpstr>
      <vt:lpstr>Газоразрядные (ионные) приборы</vt:lpstr>
      <vt:lpstr>Газоразрядные (ионные) приборы</vt:lpstr>
    </vt:vector>
  </TitlesOfParts>
  <Company>BINP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Радиоэлектроника</dc:title>
  <dc:creator>BINP User</dc:creator>
  <cp:lastModifiedBy>BINP User</cp:lastModifiedBy>
  <cp:revision>578</cp:revision>
  <dcterms:created xsi:type="dcterms:W3CDTF">2020-09-02T13:49:40Z</dcterms:created>
  <dcterms:modified xsi:type="dcterms:W3CDTF">2021-09-29T15:00:06Z</dcterms:modified>
</cp:coreProperties>
</file>