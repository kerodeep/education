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367" r:id="rId3"/>
    <p:sldId id="368" r:id="rId4"/>
    <p:sldId id="369" r:id="rId5"/>
    <p:sldId id="370" r:id="rId6"/>
    <p:sldId id="371" r:id="rId7"/>
    <p:sldId id="372" r:id="rId8"/>
    <p:sldId id="373" r:id="rId9"/>
    <p:sldId id="374" r:id="rId10"/>
    <p:sldId id="375" r:id="rId11"/>
    <p:sldId id="376" r:id="rId12"/>
    <p:sldId id="377" r:id="rId13"/>
    <p:sldId id="378" r:id="rId14"/>
    <p:sldId id="399" r:id="rId15"/>
    <p:sldId id="400" r:id="rId16"/>
    <p:sldId id="401" r:id="rId17"/>
    <p:sldId id="402" r:id="rId18"/>
    <p:sldId id="403" r:id="rId19"/>
    <p:sldId id="404" r:id="rId20"/>
    <p:sldId id="405" r:id="rId21"/>
    <p:sldId id="406" r:id="rId22"/>
    <p:sldId id="407" r:id="rId23"/>
    <p:sldId id="408" r:id="rId24"/>
    <p:sldId id="409" r:id="rId25"/>
    <p:sldId id="379" r:id="rId26"/>
    <p:sldId id="380" r:id="rId27"/>
    <p:sldId id="381" r:id="rId28"/>
    <p:sldId id="419" r:id="rId29"/>
    <p:sldId id="412" r:id="rId30"/>
    <p:sldId id="418" r:id="rId31"/>
    <p:sldId id="382" r:id="rId32"/>
    <p:sldId id="383" r:id="rId33"/>
    <p:sldId id="417" r:id="rId34"/>
    <p:sldId id="411" r:id="rId35"/>
    <p:sldId id="395" r:id="rId36"/>
    <p:sldId id="396" r:id="rId37"/>
    <p:sldId id="413" r:id="rId38"/>
    <p:sldId id="397" r:id="rId39"/>
    <p:sldId id="410" r:id="rId40"/>
    <p:sldId id="398" r:id="rId41"/>
    <p:sldId id="414" r:id="rId42"/>
    <p:sldId id="415" r:id="rId43"/>
    <p:sldId id="416" r:id="rId4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 autoAdjust="0"/>
  </p:normalViewPr>
  <p:slideViewPr>
    <p:cSldViewPr snapToGrid="0">
      <p:cViewPr varScale="1">
        <p:scale>
          <a:sx n="114" d="100"/>
          <a:sy n="114" d="100"/>
        </p:scale>
        <p:origin x="35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159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774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02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26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19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12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047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089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98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21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513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2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12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9.png"/><Relationship Id="rId5" Type="http://schemas.openxmlformats.org/officeDocument/2006/relationships/image" Target="../media/image15.png"/><Relationship Id="rId10" Type="http://schemas.openxmlformats.org/officeDocument/2006/relationships/image" Target="../media/image8.png"/><Relationship Id="rId4" Type="http://schemas.openxmlformats.org/officeDocument/2006/relationships/image" Target="../media/image14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1" dirty="0" smtClean="0"/>
              <a:t>Лекция </a:t>
            </a:r>
            <a:r>
              <a:rPr lang="en-US" b="1" i="1" smtClean="0"/>
              <a:t>18</a:t>
            </a:r>
            <a:endParaRPr lang="ru-RU" b="1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b="1" i="1" dirty="0" smtClean="0"/>
              <a:t>Логические элементы.</a:t>
            </a:r>
          </a:p>
          <a:p>
            <a:pPr marL="0" indent="0" algn="ctr">
              <a:buNone/>
            </a:pPr>
            <a:r>
              <a:rPr lang="ru-RU" b="1" i="1" dirty="0" smtClean="0"/>
              <a:t>Двоичная логика,</a:t>
            </a:r>
          </a:p>
          <a:p>
            <a:pPr marL="0" indent="0" algn="ctr">
              <a:buNone/>
            </a:pPr>
            <a:r>
              <a:rPr lang="ru-RU" b="1" i="1" dirty="0" smtClean="0"/>
              <a:t>Комбинационная логика,</a:t>
            </a:r>
          </a:p>
          <a:p>
            <a:pPr marL="0" indent="0" algn="ctr">
              <a:buNone/>
            </a:pPr>
            <a:r>
              <a:rPr lang="ru-RU" b="1" i="1" dirty="0" smtClean="0"/>
              <a:t>Триггеры и регистры.</a:t>
            </a:r>
          </a:p>
          <a:p>
            <a:pPr marL="0" indent="0" algn="ctr">
              <a:buNone/>
            </a:pP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</p:txBody>
      </p:sp>
    </p:spTree>
    <p:extLst>
      <p:ext uri="{BB962C8B-B14F-4D97-AF65-F5344CB8AC3E}">
        <p14:creationId xmlns:p14="http://schemas.microsoft.com/office/powerpoint/2010/main" val="279555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Дискретный сигнал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32999" y="1825625"/>
            <a:ext cx="312600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093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Логические функции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ru-RU" dirty="0" smtClean="0"/>
              <a:t>И</a:t>
            </a:r>
            <a:r>
              <a:rPr lang="en-US" dirty="0" smtClean="0"/>
              <a:t> (AND)</a:t>
            </a:r>
            <a:endParaRPr lang="ru-RU" dirty="0" smtClean="0"/>
          </a:p>
          <a:p>
            <a:pPr>
              <a:lnSpc>
                <a:spcPct val="200000"/>
              </a:lnSpc>
            </a:pPr>
            <a:r>
              <a:rPr lang="ru-RU" dirty="0" smtClean="0"/>
              <a:t>ИЛИ</a:t>
            </a:r>
            <a:r>
              <a:rPr lang="en-US" dirty="0" smtClean="0"/>
              <a:t> (OR)</a:t>
            </a:r>
            <a:endParaRPr lang="ru-RU" dirty="0" smtClean="0"/>
          </a:p>
          <a:p>
            <a:pPr>
              <a:lnSpc>
                <a:spcPct val="200000"/>
              </a:lnSpc>
            </a:pPr>
            <a:r>
              <a:rPr lang="ru-RU" dirty="0" smtClean="0"/>
              <a:t>НЕ</a:t>
            </a:r>
            <a:r>
              <a:rPr lang="en-US" dirty="0" smtClean="0"/>
              <a:t> (NOT)</a:t>
            </a:r>
            <a:endParaRPr lang="ru-RU" dirty="0" smtClean="0"/>
          </a:p>
          <a:p>
            <a:pPr>
              <a:lnSpc>
                <a:spcPct val="120000"/>
              </a:lnSpc>
            </a:pPr>
            <a:r>
              <a:rPr lang="ru-RU" dirty="0" err="1" smtClean="0"/>
              <a:t>Иключающее</a:t>
            </a:r>
            <a:r>
              <a:rPr lang="ru-RU" dirty="0" smtClean="0"/>
              <a:t> </a:t>
            </a:r>
            <a:endParaRPr lang="en-US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US" dirty="0" smtClean="0"/>
              <a:t>   </a:t>
            </a:r>
            <a:r>
              <a:rPr lang="ru-RU" dirty="0" smtClean="0"/>
              <a:t>Или (</a:t>
            </a:r>
            <a:r>
              <a:rPr lang="en-US" dirty="0" smtClean="0"/>
              <a:t>XOR</a:t>
            </a:r>
            <a:r>
              <a:rPr lang="ru-RU" dirty="0" smtClean="0"/>
              <a:t>)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683" y="1920628"/>
            <a:ext cx="2562535" cy="92436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683" y="2979926"/>
            <a:ext cx="2562535" cy="92107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683" y="5318110"/>
            <a:ext cx="2557677" cy="92632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683" y="4120070"/>
            <a:ext cx="1725325" cy="56834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619" y="1920628"/>
            <a:ext cx="949895" cy="96968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0619" y="3098079"/>
            <a:ext cx="947740" cy="90321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3858" y="2012087"/>
            <a:ext cx="1885050" cy="647986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20957" y="3031801"/>
            <a:ext cx="1887951" cy="661425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0957" y="4064954"/>
            <a:ext cx="1927605" cy="73369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5756" y="4136231"/>
            <a:ext cx="992603" cy="672206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5756" y="5093907"/>
            <a:ext cx="1057704" cy="884513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20957" y="5093907"/>
            <a:ext cx="1878403" cy="63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667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Логические функции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 smtClean="0"/>
              <a:t>2</a:t>
            </a:r>
            <a:r>
              <a:rPr lang="ru-RU" dirty="0" smtClean="0"/>
              <a:t>И (2</a:t>
            </a:r>
            <a:r>
              <a:rPr lang="en-US" dirty="0" smtClean="0"/>
              <a:t>AND</a:t>
            </a:r>
            <a:r>
              <a:rPr lang="ru-RU" dirty="0" smtClean="0"/>
              <a:t>)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2</a:t>
            </a:r>
            <a:r>
              <a:rPr lang="ru-RU" dirty="0" smtClean="0"/>
              <a:t>ИНЕ</a:t>
            </a:r>
            <a:r>
              <a:rPr lang="en-US" dirty="0" smtClean="0"/>
              <a:t> (</a:t>
            </a:r>
            <a:r>
              <a:rPr lang="ru-RU" dirty="0" smtClean="0"/>
              <a:t>2</a:t>
            </a:r>
            <a:r>
              <a:rPr lang="en-US" dirty="0" smtClean="0"/>
              <a:t>NAND)</a:t>
            </a:r>
            <a:endParaRPr lang="ru-RU" dirty="0" smtClean="0"/>
          </a:p>
          <a:p>
            <a:pPr>
              <a:lnSpc>
                <a:spcPct val="200000"/>
              </a:lnSpc>
            </a:pPr>
            <a:r>
              <a:rPr lang="ru-RU" dirty="0" smtClean="0"/>
              <a:t>2ИЛИ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2ИЛИНЕ (2</a:t>
            </a:r>
            <a:r>
              <a:rPr lang="en-US" dirty="0" smtClean="0"/>
              <a:t>NOR</a:t>
            </a:r>
            <a:r>
              <a:rPr lang="ru-RU" dirty="0" smtClean="0"/>
              <a:t>)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335" y="1920628"/>
            <a:ext cx="2562535" cy="92436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335" y="4029361"/>
            <a:ext cx="2562535" cy="92107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2827" y="2855807"/>
            <a:ext cx="2551549" cy="912372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7334" y="4949436"/>
            <a:ext cx="2547429" cy="91604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2196" y="5041076"/>
            <a:ext cx="933518" cy="82440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5004" y="2855807"/>
            <a:ext cx="1020710" cy="92319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7974" y="4029361"/>
            <a:ext cx="947740" cy="903215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5004" y="1855874"/>
            <a:ext cx="949895" cy="969684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8775" y="1944978"/>
            <a:ext cx="1885050" cy="647986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8775" y="4087805"/>
            <a:ext cx="1887951" cy="661425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28775" y="5041076"/>
            <a:ext cx="1885050" cy="671388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9478" y="2884810"/>
            <a:ext cx="1949525" cy="67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190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Типы логики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ru-RU" dirty="0" smtClean="0"/>
              <a:t>ТТЛ (транзисторно-транзисторная</a:t>
            </a:r>
            <a:r>
              <a:rPr lang="en-US" dirty="0" smtClean="0"/>
              <a:t>,TTL</a:t>
            </a:r>
            <a:r>
              <a:rPr lang="ru-RU" dirty="0" smtClean="0"/>
              <a:t>)</a:t>
            </a:r>
          </a:p>
          <a:p>
            <a:pPr>
              <a:lnSpc>
                <a:spcPct val="200000"/>
              </a:lnSpc>
            </a:pPr>
            <a:r>
              <a:rPr lang="ru-RU" dirty="0" smtClean="0"/>
              <a:t>КМОП</a:t>
            </a:r>
            <a:r>
              <a:rPr lang="en-US" dirty="0" smtClean="0"/>
              <a:t>(</a:t>
            </a:r>
            <a:r>
              <a:rPr lang="ru-RU" dirty="0" smtClean="0"/>
              <a:t>полевая</a:t>
            </a:r>
            <a:r>
              <a:rPr lang="en-US" dirty="0" smtClean="0"/>
              <a:t>,CMOS)</a:t>
            </a:r>
            <a:r>
              <a:rPr lang="ru-RU" dirty="0" smtClean="0"/>
              <a:t> </a:t>
            </a:r>
          </a:p>
          <a:p>
            <a:pPr>
              <a:lnSpc>
                <a:spcPct val="200000"/>
              </a:lnSpc>
            </a:pPr>
            <a:r>
              <a:rPr lang="ru-RU" dirty="0" smtClean="0"/>
              <a:t>ЭСЛ(эмиттерно-</a:t>
            </a:r>
            <a:r>
              <a:rPr lang="ru-RU" dirty="0" err="1" smtClean="0"/>
              <a:t>связаная</a:t>
            </a:r>
            <a:r>
              <a:rPr lang="en-US" dirty="0" smtClean="0"/>
              <a:t>, PECL,LVPECL</a:t>
            </a:r>
            <a:r>
              <a:rPr lang="ru-RU" dirty="0" smtClean="0"/>
              <a:t>)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LVDS</a:t>
            </a:r>
            <a:r>
              <a:rPr lang="ru-RU" dirty="0" smtClean="0"/>
              <a:t>(низковольтная дифференциальная)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876" y="3907409"/>
            <a:ext cx="2823566" cy="114774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4276" y="5055156"/>
            <a:ext cx="2457005" cy="125674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491" y="1371600"/>
            <a:ext cx="1394746" cy="156224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9054" y="1644732"/>
            <a:ext cx="825535" cy="114087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1858" y="2640765"/>
            <a:ext cx="1713201" cy="145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567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Типы логики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ru-RU" dirty="0" smtClean="0"/>
              <a:t>ТТЛ (транзисторно-транзисторная</a:t>
            </a:r>
            <a:r>
              <a:rPr lang="en-US" dirty="0" smtClean="0"/>
              <a:t>,TTL</a:t>
            </a:r>
            <a:r>
              <a:rPr lang="ru-RU" dirty="0" smtClean="0"/>
              <a:t>)</a:t>
            </a:r>
          </a:p>
          <a:p>
            <a:pPr>
              <a:lnSpc>
                <a:spcPct val="200000"/>
              </a:lnSpc>
            </a:pPr>
            <a:r>
              <a:rPr lang="ru-RU" dirty="0" smtClean="0"/>
              <a:t>КМОП</a:t>
            </a:r>
            <a:r>
              <a:rPr lang="en-US" dirty="0" smtClean="0"/>
              <a:t>(</a:t>
            </a:r>
            <a:r>
              <a:rPr lang="ru-RU" dirty="0" smtClean="0"/>
              <a:t>полевая</a:t>
            </a:r>
            <a:r>
              <a:rPr lang="en-US" dirty="0" smtClean="0"/>
              <a:t>,CMOS)</a:t>
            </a:r>
            <a:r>
              <a:rPr lang="ru-RU" dirty="0" smtClean="0"/>
              <a:t> </a:t>
            </a:r>
          </a:p>
          <a:p>
            <a:pPr>
              <a:lnSpc>
                <a:spcPct val="200000"/>
              </a:lnSpc>
            </a:pPr>
            <a:r>
              <a:rPr lang="ru-RU" dirty="0" smtClean="0"/>
              <a:t>ЭСЛ(эмиттерно-</a:t>
            </a:r>
            <a:r>
              <a:rPr lang="ru-RU" dirty="0" err="1" smtClean="0"/>
              <a:t>связаная</a:t>
            </a:r>
            <a:r>
              <a:rPr lang="en-US" dirty="0" smtClean="0"/>
              <a:t>, PECL,LVPECL</a:t>
            </a:r>
            <a:r>
              <a:rPr lang="ru-RU" dirty="0" smtClean="0"/>
              <a:t>)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LVDS</a:t>
            </a:r>
            <a:r>
              <a:rPr lang="ru-RU" dirty="0" smtClean="0"/>
              <a:t>(низковольтная дифференциальная)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876" y="3907409"/>
            <a:ext cx="2823566" cy="114774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4276" y="5055156"/>
            <a:ext cx="2457005" cy="125674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685" y="3849811"/>
            <a:ext cx="4225049" cy="263411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0491" y="1371600"/>
            <a:ext cx="1394746" cy="156224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9054" y="1644732"/>
            <a:ext cx="825535" cy="114087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1858" y="2640765"/>
            <a:ext cx="1713201" cy="145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398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Типы логики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ru-RU" dirty="0" smtClean="0"/>
              <a:t>ТТЛ (транзисторно-транзисторная</a:t>
            </a:r>
            <a:r>
              <a:rPr lang="en-US" dirty="0" smtClean="0"/>
              <a:t>,TTL</a:t>
            </a:r>
            <a:r>
              <a:rPr lang="ru-RU" dirty="0" smtClean="0"/>
              <a:t>)</a:t>
            </a:r>
          </a:p>
          <a:p>
            <a:pPr>
              <a:lnSpc>
                <a:spcPct val="200000"/>
              </a:lnSpc>
            </a:pPr>
            <a:r>
              <a:rPr lang="ru-RU" dirty="0" smtClean="0"/>
              <a:t>КМОП</a:t>
            </a:r>
            <a:r>
              <a:rPr lang="en-US" dirty="0" smtClean="0"/>
              <a:t>(</a:t>
            </a:r>
            <a:r>
              <a:rPr lang="ru-RU" dirty="0" smtClean="0"/>
              <a:t>полевая</a:t>
            </a:r>
            <a:r>
              <a:rPr lang="en-US" dirty="0" smtClean="0"/>
              <a:t>,CMOS)</a:t>
            </a:r>
            <a:r>
              <a:rPr lang="ru-RU" dirty="0" smtClean="0"/>
              <a:t> </a:t>
            </a:r>
          </a:p>
          <a:p>
            <a:pPr>
              <a:lnSpc>
                <a:spcPct val="200000"/>
              </a:lnSpc>
            </a:pPr>
            <a:r>
              <a:rPr lang="ru-RU" dirty="0" smtClean="0"/>
              <a:t>ЭСЛ(эмиттерно-</a:t>
            </a:r>
            <a:r>
              <a:rPr lang="ru-RU" dirty="0" err="1" smtClean="0"/>
              <a:t>связаная</a:t>
            </a:r>
            <a:r>
              <a:rPr lang="en-US" dirty="0" smtClean="0"/>
              <a:t>, PECL,LVPECL</a:t>
            </a:r>
            <a:r>
              <a:rPr lang="ru-RU" dirty="0" smtClean="0"/>
              <a:t>)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LVDS</a:t>
            </a:r>
            <a:r>
              <a:rPr lang="ru-RU" dirty="0" smtClean="0"/>
              <a:t>(низковольтная дифференциальная)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491" y="1371600"/>
            <a:ext cx="1394746" cy="156224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54" y="1644732"/>
            <a:ext cx="825535" cy="114087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1858" y="2640765"/>
            <a:ext cx="1713201" cy="145004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5059" y="4001294"/>
            <a:ext cx="4109284" cy="206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26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ТТЛ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ru-RU" dirty="0" smtClean="0"/>
              <a:t>Базовый элемент 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827" y="3487387"/>
            <a:ext cx="28956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449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ТТЛ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 smtClean="0"/>
              <a:t>Характеристики ТТЛ элементов:</a:t>
            </a:r>
          </a:p>
          <a:p>
            <a:pPr>
              <a:lnSpc>
                <a:spcPct val="100000"/>
              </a:lnSpc>
            </a:pPr>
            <a:r>
              <a:rPr lang="ru-RU" dirty="0" smtClean="0"/>
              <a:t>Напряжение питания: 5 В, 3,3 В</a:t>
            </a:r>
          </a:p>
          <a:p>
            <a:pPr>
              <a:lnSpc>
                <a:spcPct val="100000"/>
              </a:lnSpc>
            </a:pPr>
            <a:r>
              <a:rPr lang="ru-RU" dirty="0" smtClean="0"/>
              <a:t>Напряжения логического нуля/логической единицы: 0,5 В/</a:t>
            </a:r>
            <a:r>
              <a:rPr lang="en-US" dirty="0" smtClean="0"/>
              <a:t>V</a:t>
            </a:r>
            <a:r>
              <a:rPr lang="ru-RU" dirty="0" smtClean="0"/>
              <a:t>пит-0,5</a:t>
            </a:r>
          </a:p>
          <a:p>
            <a:pPr>
              <a:lnSpc>
                <a:spcPct val="100000"/>
              </a:lnSpc>
            </a:pPr>
            <a:r>
              <a:rPr lang="ru-RU" dirty="0" smtClean="0"/>
              <a:t>Нагрузочная способность: 5-30</a:t>
            </a:r>
          </a:p>
          <a:p>
            <a:pPr>
              <a:lnSpc>
                <a:spcPct val="100000"/>
              </a:lnSpc>
            </a:pPr>
            <a:r>
              <a:rPr lang="ru-RU" dirty="0" smtClean="0"/>
              <a:t>Входной ток логического нуля/ логической единицы</a:t>
            </a:r>
          </a:p>
          <a:p>
            <a:pPr>
              <a:lnSpc>
                <a:spcPct val="100000"/>
              </a:lnSpc>
            </a:pPr>
            <a:r>
              <a:rPr lang="ru-RU" dirty="0" smtClean="0"/>
              <a:t>Максимальный выходной ток</a:t>
            </a:r>
          </a:p>
          <a:p>
            <a:pPr>
              <a:lnSpc>
                <a:spcPct val="100000"/>
              </a:lnSpc>
            </a:pPr>
            <a:r>
              <a:rPr lang="ru-RU" dirty="0" smtClean="0"/>
              <a:t>Быстродействие</a:t>
            </a:r>
          </a:p>
          <a:p>
            <a:pPr>
              <a:lnSpc>
                <a:spcPct val="100000"/>
              </a:lnSpc>
            </a:pPr>
            <a:r>
              <a:rPr lang="ru-RU" dirty="0" smtClean="0"/>
              <a:t>Задержка распространения сигнала на одном вентиле</a:t>
            </a:r>
          </a:p>
          <a:p>
            <a:pPr>
              <a:lnSpc>
                <a:spcPct val="200000"/>
              </a:lnSpc>
            </a:pPr>
            <a:endParaRPr lang="ru-RU" dirty="0" smtClean="0"/>
          </a:p>
          <a:p>
            <a:pPr>
              <a:lnSpc>
                <a:spcPct val="200000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5385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ТТЛ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 smtClean="0"/>
              <a:t>Серии ТТЛ элементов:</a:t>
            </a:r>
          </a:p>
          <a:p>
            <a:pPr>
              <a:lnSpc>
                <a:spcPct val="100000"/>
              </a:lnSpc>
            </a:pPr>
            <a:r>
              <a:rPr lang="ru-RU" dirty="0" smtClean="0"/>
              <a:t>Напряжение питания: 5 В, 3,3 В</a:t>
            </a:r>
          </a:p>
          <a:p>
            <a:pPr>
              <a:lnSpc>
                <a:spcPct val="100000"/>
              </a:lnSpc>
            </a:pPr>
            <a:r>
              <a:rPr lang="ru-RU" dirty="0" smtClean="0"/>
              <a:t>Напряжения логического нуля/логической единицы: 0,5 В/</a:t>
            </a:r>
            <a:r>
              <a:rPr lang="en-US" dirty="0" smtClean="0"/>
              <a:t>V</a:t>
            </a:r>
            <a:r>
              <a:rPr lang="ru-RU" dirty="0" smtClean="0"/>
              <a:t>пит-0,5</a:t>
            </a:r>
          </a:p>
          <a:p>
            <a:pPr>
              <a:lnSpc>
                <a:spcPct val="100000"/>
              </a:lnSpc>
            </a:pPr>
            <a:r>
              <a:rPr lang="ru-RU" dirty="0" smtClean="0"/>
              <a:t>Нагрузочная способность: 5-30</a:t>
            </a:r>
          </a:p>
          <a:p>
            <a:pPr>
              <a:lnSpc>
                <a:spcPct val="100000"/>
              </a:lnSpc>
            </a:pPr>
            <a:r>
              <a:rPr lang="ru-RU" dirty="0" smtClean="0"/>
              <a:t>Входной ток логического нуля/ логической единицы</a:t>
            </a:r>
          </a:p>
          <a:p>
            <a:pPr>
              <a:lnSpc>
                <a:spcPct val="100000"/>
              </a:lnSpc>
            </a:pPr>
            <a:r>
              <a:rPr lang="ru-RU" dirty="0" smtClean="0"/>
              <a:t>Максимальный выходной ток</a:t>
            </a:r>
          </a:p>
          <a:p>
            <a:pPr>
              <a:lnSpc>
                <a:spcPct val="100000"/>
              </a:lnSpc>
            </a:pPr>
            <a:r>
              <a:rPr lang="ru-RU" dirty="0" smtClean="0"/>
              <a:t>Быстродействие</a:t>
            </a:r>
          </a:p>
          <a:p>
            <a:pPr>
              <a:lnSpc>
                <a:spcPct val="100000"/>
              </a:lnSpc>
            </a:pPr>
            <a:r>
              <a:rPr lang="ru-RU" dirty="0" smtClean="0"/>
              <a:t>Задержка распространения сигнала на одном вентиле</a:t>
            </a:r>
          </a:p>
          <a:p>
            <a:pPr>
              <a:lnSpc>
                <a:spcPct val="200000"/>
              </a:lnSpc>
            </a:pPr>
            <a:endParaRPr lang="ru-RU" dirty="0" smtClean="0"/>
          </a:p>
          <a:p>
            <a:pPr>
              <a:lnSpc>
                <a:spcPct val="200000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9631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ТТЛ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 smtClean="0"/>
              <a:t>Серии ТТЛ элементов:</a:t>
            </a:r>
          </a:p>
          <a:p>
            <a:pPr marL="0" indent="0">
              <a:lnSpc>
                <a:spcPct val="100000"/>
              </a:lnSpc>
              <a:buNone/>
            </a:pPr>
            <a:endParaRPr lang="ru-RU" dirty="0" smtClean="0"/>
          </a:p>
          <a:p>
            <a:pPr marL="0" indent="0">
              <a:lnSpc>
                <a:spcPct val="100000"/>
              </a:lnSpc>
              <a:buNone/>
            </a:pP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736273" y="2517934"/>
          <a:ext cx="989808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9680"/>
                <a:gridCol w="1649680"/>
                <a:gridCol w="1649680"/>
                <a:gridCol w="1649680"/>
                <a:gridCol w="1649680"/>
                <a:gridCol w="1649680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Серия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Российское</a:t>
                      </a:r>
                      <a:r>
                        <a:rPr lang="ru-RU" baseline="0" dirty="0" smtClean="0"/>
                        <a:t> обозначение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Потребление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Выходной ток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Быстродействие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Входной ток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74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КР155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10мВт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2мА-5мА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10нс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-0.2 мА / 50µА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74</a:t>
                      </a:r>
                      <a:r>
                        <a:rPr lang="en-US" dirty="0" smtClean="0"/>
                        <a:t>L</a:t>
                      </a:r>
                      <a:r>
                        <a:rPr lang="ru-RU" dirty="0" smtClean="0"/>
                        <a:t> (</a:t>
                      </a:r>
                      <a:r>
                        <a:rPr lang="en-US" dirty="0" smtClean="0"/>
                        <a:t>LS</a:t>
                      </a:r>
                      <a:r>
                        <a:rPr lang="ru-RU" dirty="0" smtClean="0"/>
                        <a:t>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КР555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1мВт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5мА-10мА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1нс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-0.1</a:t>
                      </a:r>
                      <a:r>
                        <a:rPr lang="ru-RU" baseline="0" dirty="0" smtClean="0"/>
                        <a:t> мА / </a:t>
                      </a:r>
                      <a:r>
                        <a:rPr lang="ru-RU" dirty="0" smtClean="0"/>
                        <a:t>20µА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74ALS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KP1533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1мВт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10-25мА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1нс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-0.1</a:t>
                      </a:r>
                      <a:r>
                        <a:rPr lang="ru-RU" baseline="0" dirty="0" smtClean="0"/>
                        <a:t> мА / </a:t>
                      </a:r>
                      <a:r>
                        <a:rPr lang="ru-RU" dirty="0" smtClean="0"/>
                        <a:t>20µА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74</a:t>
                      </a:r>
                      <a:r>
                        <a:rPr lang="en-US" dirty="0" smtClean="0"/>
                        <a:t>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КР15</a:t>
                      </a:r>
                      <a:r>
                        <a:rPr lang="en-US" dirty="0" smtClean="0"/>
                        <a:t>31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5мВт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5мА-10мА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1,5</a:t>
                      </a:r>
                      <a:r>
                        <a:rPr lang="ru-RU" baseline="0" dirty="0" err="1" smtClean="0"/>
                        <a:t>нс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-0.2 мА / 50µА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74</a:t>
                      </a:r>
                      <a:r>
                        <a:rPr lang="en-US" dirty="0" smtClean="0"/>
                        <a:t>HC</a:t>
                      </a:r>
                      <a:r>
                        <a:rPr lang="en-US" baseline="0" dirty="0" smtClean="0"/>
                        <a:t> (AHC)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КР15</a:t>
                      </a:r>
                      <a:r>
                        <a:rPr lang="en-US" dirty="0" smtClean="0"/>
                        <a:t>64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SMOS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r>
                        <a:rPr lang="ru-RU" dirty="0" smtClean="0"/>
                        <a:t>мА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10нс (2нс)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</a:t>
                      </a:r>
                      <a:r>
                        <a:rPr lang="ru-RU" dirty="0" smtClean="0"/>
                        <a:t>µ</a:t>
                      </a:r>
                      <a:r>
                        <a:rPr lang="en-US" dirty="0" smtClean="0"/>
                        <a:t>A</a:t>
                      </a:r>
                      <a:endParaRPr lang="ru-RU" dirty="0" smtClean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732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ТТЛ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 smtClean="0"/>
              <a:t>Названия:</a:t>
            </a:r>
          </a:p>
          <a:p>
            <a:pPr marL="0" indent="0">
              <a:lnSpc>
                <a:spcPct val="100000"/>
              </a:lnSpc>
              <a:buNone/>
            </a:pPr>
            <a:endParaRPr lang="ru-RU" dirty="0" smtClean="0"/>
          </a:p>
          <a:p>
            <a:pPr marL="0" indent="0">
              <a:lnSpc>
                <a:spcPct val="100000"/>
              </a:lnSpc>
              <a:buNone/>
            </a:pP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736273" y="2517934"/>
          <a:ext cx="844929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6430"/>
                <a:gridCol w="2816430"/>
                <a:gridCol w="2816430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Тип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Российское</a:t>
                      </a:r>
                      <a:r>
                        <a:rPr lang="ru-RU" baseline="0" dirty="0" smtClean="0"/>
                        <a:t> обозначение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Западное обозначение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4 элемента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dirty="0" smtClean="0"/>
                        <a:t>2И-НЕ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КР555 ЛА3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SN74ALS00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4 элемента 2И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КР555</a:t>
                      </a:r>
                      <a:r>
                        <a:rPr lang="en-US" dirty="0" smtClean="0"/>
                        <a:t> </a:t>
                      </a:r>
                      <a:r>
                        <a:rPr lang="ru-RU" dirty="0" smtClean="0"/>
                        <a:t>ЛИ1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SN74ALS0</a:t>
                      </a:r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4 элемента 2ИЛИ-НЕ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КР555 ЛЕ1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SN74ALS0</a:t>
                      </a:r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6 элементов НЕ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КР555 ЛН1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SN74ALS0</a:t>
                      </a:r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4 элемента </a:t>
                      </a:r>
                      <a:r>
                        <a:rPr lang="ru-RU" dirty="0" err="1" smtClean="0"/>
                        <a:t>Искл</a:t>
                      </a:r>
                      <a:r>
                        <a:rPr lang="ru-RU" dirty="0" smtClean="0"/>
                        <a:t>. ИЛИ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КР555 ЛП1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SN74ALS</a:t>
                      </a:r>
                      <a:r>
                        <a:rPr lang="ru-RU" smtClean="0"/>
                        <a:t>86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0746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КМОП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ru-RU" dirty="0" smtClean="0"/>
              <a:t>Базовый элемент 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737" y="2945328"/>
            <a:ext cx="5724525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288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Комбинационная логика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 smtClean="0"/>
              <a:t>Типы комбинационной логики:</a:t>
            </a:r>
          </a:p>
          <a:p>
            <a:pPr marL="0" indent="0">
              <a:lnSpc>
                <a:spcPct val="100000"/>
              </a:lnSpc>
              <a:buNone/>
            </a:pPr>
            <a:endParaRPr lang="ru-RU" dirty="0" smtClean="0"/>
          </a:p>
          <a:p>
            <a:pPr marL="0" indent="0">
              <a:lnSpc>
                <a:spcPct val="100000"/>
              </a:lnSpc>
              <a:buNone/>
            </a:pP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736273" y="2517934"/>
          <a:ext cx="874023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0118"/>
                <a:gridCol w="4370118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Тип комбинационной</a:t>
                      </a:r>
                      <a:r>
                        <a:rPr lang="ru-RU" baseline="0" dirty="0" smtClean="0"/>
                        <a:t> логики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Обозначение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Шифратор/Дешифратор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CD/DC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Мультиплексор/</a:t>
                      </a:r>
                      <a:r>
                        <a:rPr lang="ru-RU" dirty="0" err="1" smtClean="0"/>
                        <a:t>Демультиплексор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MUX/DMX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Преобразователь</a:t>
                      </a:r>
                      <a:r>
                        <a:rPr lang="ru-RU" baseline="0" dirty="0" smtClean="0"/>
                        <a:t> кода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DEC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Сумматор/</a:t>
                      </a:r>
                      <a:r>
                        <a:rPr lang="ru-RU" dirty="0" err="1" smtClean="0"/>
                        <a:t>Вычитатель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SM(ADD)/SB(SUB)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Цифровой компаратор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CMP (==)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Арифметико-Логическое Устройство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(</a:t>
                      </a:r>
                      <a:r>
                        <a:rPr lang="en-US" dirty="0" smtClean="0"/>
                        <a:t>ALU</a:t>
                      </a:r>
                      <a:r>
                        <a:rPr lang="ru-RU" dirty="0" smtClean="0"/>
                        <a:t>)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000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Двоичная запись числа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 smtClean="0"/>
              <a:t>Двоичный код:</a:t>
            </a:r>
          </a:p>
          <a:p>
            <a:pPr>
              <a:lnSpc>
                <a:spcPct val="100000"/>
              </a:lnSpc>
            </a:pPr>
            <a:r>
              <a:rPr lang="ru-RU" dirty="0" smtClean="0"/>
              <a:t>Запись числа в двоичном коде </a:t>
            </a:r>
          </a:p>
          <a:p>
            <a:pPr>
              <a:lnSpc>
                <a:spcPct val="100000"/>
              </a:lnSpc>
            </a:pPr>
            <a:r>
              <a:rPr lang="ru-RU" dirty="0" smtClean="0"/>
              <a:t>Шестнадцатеричное представление </a:t>
            </a:r>
          </a:p>
          <a:p>
            <a:pPr marL="0" indent="0">
              <a:lnSpc>
                <a:spcPct val="200000"/>
              </a:lnSpc>
              <a:buNone/>
            </a:pPr>
            <a:endParaRPr lang="ru-RU" dirty="0" smtClean="0"/>
          </a:p>
          <a:p>
            <a:pPr>
              <a:lnSpc>
                <a:spcPct val="200000"/>
              </a:lnSpc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060" y="2232560"/>
            <a:ext cx="4036929" cy="364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003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Дополнительный код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 smtClean="0"/>
              <a:t>Дополнительный код:</a:t>
            </a:r>
          </a:p>
          <a:p>
            <a:pPr>
              <a:lnSpc>
                <a:spcPct val="100000"/>
              </a:lnSpc>
            </a:pPr>
            <a:r>
              <a:rPr lang="ru-RU" dirty="0" smtClean="0"/>
              <a:t>Такое представление отрицательных чисел в двоичном коде, чтобы чтобы </a:t>
            </a:r>
            <a:r>
              <a:rPr lang="en-US" dirty="0" smtClean="0"/>
              <a:t>A+(-A)</a:t>
            </a:r>
            <a:r>
              <a:rPr lang="ru-RU" dirty="0" smtClean="0"/>
              <a:t>=0 </a:t>
            </a:r>
            <a:r>
              <a:rPr lang="ru-RU" b="1" dirty="0" smtClean="0"/>
              <a:t>без учета переноса на следующий разряд</a:t>
            </a:r>
          </a:p>
          <a:p>
            <a:pPr>
              <a:lnSpc>
                <a:spcPct val="100000"/>
              </a:lnSpc>
            </a:pPr>
            <a:r>
              <a:rPr lang="ru-RU" b="1" dirty="0" smtClean="0"/>
              <a:t>Соответственно чисел получается то же количество, но половина кодов теперь соответствуют отрицательным числам. Правило представления: </a:t>
            </a:r>
            <a:r>
              <a:rPr lang="en-US" b="1" dirty="0" smtClean="0"/>
              <a:t>-A=MAX-A+1</a:t>
            </a:r>
            <a:r>
              <a:rPr lang="ru-RU" b="1" dirty="0" smtClean="0"/>
              <a:t> = </a:t>
            </a:r>
            <a:r>
              <a:rPr lang="en-US" b="1" dirty="0" smtClean="0"/>
              <a:t>~A+1</a:t>
            </a:r>
          </a:p>
          <a:p>
            <a:pPr>
              <a:lnSpc>
                <a:spcPct val="100000"/>
              </a:lnSpc>
            </a:pPr>
            <a:r>
              <a:rPr lang="ru-RU" dirty="0" smtClean="0"/>
              <a:t>Нетрудно проверить, что тогда </a:t>
            </a:r>
            <a:r>
              <a:rPr lang="en-US" dirty="0" smtClean="0"/>
              <a:t>A+(-A)=MAX+1=0+</a:t>
            </a:r>
            <a:r>
              <a:rPr lang="ru-RU" dirty="0" smtClean="0"/>
              <a:t>перенос в следующий за старшим разряд</a:t>
            </a:r>
          </a:p>
          <a:p>
            <a:pPr marL="0" indent="0">
              <a:lnSpc>
                <a:spcPct val="200000"/>
              </a:lnSpc>
              <a:buNone/>
            </a:pPr>
            <a:endParaRPr lang="ru-RU" dirty="0" smtClean="0"/>
          </a:p>
          <a:p>
            <a:pPr>
              <a:lnSpc>
                <a:spcPct val="200000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389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Шифратор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dirty="0" smtClean="0"/>
              <a:t>Шифратор это устройство преобразующее позиционный код в двоичный. Приоритетный шифратор – шифратор, который допускает активный сигнал одновременно на нескольких входах, при этом активным считается самый старший сигнал.</a:t>
            </a:r>
          </a:p>
          <a:p>
            <a:pPr>
              <a:lnSpc>
                <a:spcPct val="200000"/>
              </a:lnSpc>
            </a:pPr>
            <a:endParaRPr lang="ru-RU" dirty="0" smtClean="0"/>
          </a:p>
          <a:p>
            <a:pPr>
              <a:lnSpc>
                <a:spcPct val="200000"/>
              </a:lnSpc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002" y="3599335"/>
            <a:ext cx="7150677" cy="296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86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Дешифратор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dirty="0" smtClean="0"/>
              <a:t>Дешифратор – устройство обратное шифратору, т.е. преобразующее двоичный код в позиционный.</a:t>
            </a:r>
          </a:p>
          <a:p>
            <a:pPr>
              <a:lnSpc>
                <a:spcPct val="200000"/>
              </a:lnSpc>
            </a:pPr>
            <a:endParaRPr lang="ru-RU" dirty="0" smtClean="0"/>
          </a:p>
          <a:p>
            <a:pPr>
              <a:lnSpc>
                <a:spcPct val="200000"/>
              </a:lnSpc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134" y="3131082"/>
            <a:ext cx="6783025" cy="278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2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Мультиплексор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dirty="0" smtClean="0"/>
              <a:t>Мультиплексор (селектор данных) – устройство осуществляющее коммутацию информационных сигналов на его входах на выход. Обычно характеризуется числом входов и числом выходов: </a:t>
            </a:r>
            <a:r>
              <a:rPr lang="en-US" dirty="0" smtClean="0"/>
              <a:t>MUX 4 </a:t>
            </a:r>
            <a:r>
              <a:rPr lang="ru-RU" dirty="0" smtClean="0"/>
              <a:t>в 2 , </a:t>
            </a:r>
            <a:r>
              <a:rPr lang="en-US" dirty="0" smtClean="0"/>
              <a:t>MUX 16 </a:t>
            </a:r>
            <a:r>
              <a:rPr lang="ru-RU" dirty="0" smtClean="0"/>
              <a:t>в 1. Выбор входа определяется с помощью адресных входов.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ru-RU" dirty="0"/>
          </a:p>
          <a:p>
            <a:pPr marL="0" indent="0" algn="just">
              <a:lnSpc>
                <a:spcPct val="100000"/>
              </a:lnSpc>
              <a:buNone/>
            </a:pPr>
            <a:endParaRPr lang="ru-RU" dirty="0" smtClean="0"/>
          </a:p>
          <a:p>
            <a:pPr marL="0" indent="0" algn="just">
              <a:lnSpc>
                <a:spcPct val="100000"/>
              </a:lnSpc>
              <a:buNone/>
            </a:pPr>
            <a:endParaRPr lang="ru-RU" dirty="0"/>
          </a:p>
          <a:p>
            <a:pPr marL="0" indent="0" algn="just">
              <a:lnSpc>
                <a:spcPct val="100000"/>
              </a:lnSpc>
              <a:buNone/>
            </a:pPr>
            <a:endParaRPr lang="ru-RU" dirty="0" smtClean="0"/>
          </a:p>
          <a:p>
            <a:pPr marL="0" indent="0" algn="just">
              <a:lnSpc>
                <a:spcPct val="100000"/>
              </a:lnSpc>
              <a:buNone/>
            </a:pPr>
            <a:endParaRPr lang="ru-RU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ru-RU" dirty="0" smtClean="0"/>
              <a:t> </a:t>
            </a:r>
          </a:p>
          <a:p>
            <a:pPr>
              <a:lnSpc>
                <a:spcPct val="200000"/>
              </a:lnSpc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274" y="3200099"/>
            <a:ext cx="5937663" cy="360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5229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 smtClean="0"/>
              <a:t>Демультиплексор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dirty="0" err="1" smtClean="0"/>
              <a:t>Демультиплексор</a:t>
            </a:r>
            <a:r>
              <a:rPr lang="ru-RU" dirty="0" smtClean="0"/>
              <a:t> – устройство обратное мультиплексору, осуществляющее передачу сигнала со входа на один из выходов в соответствии с кодом на адресных входах.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ru-RU" dirty="0"/>
          </a:p>
          <a:p>
            <a:pPr marL="0" indent="0" algn="just">
              <a:lnSpc>
                <a:spcPct val="100000"/>
              </a:lnSpc>
              <a:buNone/>
            </a:pPr>
            <a:endParaRPr lang="ru-RU" dirty="0" smtClean="0"/>
          </a:p>
          <a:p>
            <a:pPr marL="0" indent="0" algn="just">
              <a:lnSpc>
                <a:spcPct val="100000"/>
              </a:lnSpc>
              <a:buNone/>
            </a:pPr>
            <a:endParaRPr lang="ru-RU" dirty="0"/>
          </a:p>
          <a:p>
            <a:pPr marL="0" indent="0" algn="just">
              <a:lnSpc>
                <a:spcPct val="100000"/>
              </a:lnSpc>
              <a:buNone/>
            </a:pPr>
            <a:endParaRPr lang="ru-RU" dirty="0" smtClean="0"/>
          </a:p>
          <a:p>
            <a:pPr marL="0" indent="0" algn="just">
              <a:lnSpc>
                <a:spcPct val="100000"/>
              </a:lnSpc>
              <a:buNone/>
            </a:pPr>
            <a:endParaRPr lang="ru-RU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ru-RU" dirty="0" smtClean="0"/>
              <a:t> </a:t>
            </a:r>
          </a:p>
          <a:p>
            <a:pPr>
              <a:lnSpc>
                <a:spcPct val="200000"/>
              </a:lnSpc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010" y="3261485"/>
            <a:ext cx="3535754" cy="225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73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Преобразователь кода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dirty="0" smtClean="0"/>
              <a:t>Разновидность дешифратора, которая преобразует код не в позиционный а, обычно, в код индикатора (обычно </a:t>
            </a:r>
            <a:r>
              <a:rPr lang="ru-RU" dirty="0" err="1" smtClean="0"/>
              <a:t>семисегментного</a:t>
            </a:r>
            <a:r>
              <a:rPr lang="ru-RU" dirty="0" smtClean="0"/>
              <a:t> индикатора).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ru-RU" dirty="0"/>
          </a:p>
          <a:p>
            <a:pPr marL="0" indent="0" algn="just">
              <a:lnSpc>
                <a:spcPct val="100000"/>
              </a:lnSpc>
              <a:buNone/>
            </a:pPr>
            <a:endParaRPr lang="ru-RU" dirty="0" smtClean="0"/>
          </a:p>
          <a:p>
            <a:pPr marL="0" indent="0" algn="just">
              <a:lnSpc>
                <a:spcPct val="100000"/>
              </a:lnSpc>
              <a:buNone/>
            </a:pPr>
            <a:endParaRPr lang="ru-RU" dirty="0"/>
          </a:p>
          <a:p>
            <a:pPr marL="0" indent="0" algn="just">
              <a:lnSpc>
                <a:spcPct val="100000"/>
              </a:lnSpc>
              <a:buNone/>
            </a:pPr>
            <a:endParaRPr lang="ru-RU" dirty="0" smtClean="0"/>
          </a:p>
          <a:p>
            <a:pPr marL="0" indent="0" algn="just">
              <a:lnSpc>
                <a:spcPct val="100000"/>
              </a:lnSpc>
              <a:buNone/>
            </a:pPr>
            <a:endParaRPr lang="ru-RU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ru-RU" dirty="0" smtClean="0"/>
              <a:t> </a:t>
            </a:r>
          </a:p>
          <a:p>
            <a:pPr>
              <a:lnSpc>
                <a:spcPct val="200000"/>
              </a:lnSpc>
            </a:pP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730" y="3551294"/>
            <a:ext cx="3032693" cy="239230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364" y="3890185"/>
            <a:ext cx="3324905" cy="182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0707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Сумматор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dirty="0" smtClean="0"/>
              <a:t>Складывает два </a:t>
            </a:r>
            <a:r>
              <a:rPr lang="en-US" dirty="0" smtClean="0"/>
              <a:t>n-</a:t>
            </a:r>
            <a:r>
              <a:rPr lang="ru-RU" dirty="0" smtClean="0"/>
              <a:t>разрядных числа. </a:t>
            </a:r>
            <a:r>
              <a:rPr lang="ru-RU" dirty="0" err="1" smtClean="0"/>
              <a:t>Вычитатель</a:t>
            </a:r>
            <a:r>
              <a:rPr lang="ru-RU" dirty="0" smtClean="0"/>
              <a:t> – вычитает два числа (по сути это тот же сумматор, который переводит второе число в дополнительный код)</a:t>
            </a:r>
          </a:p>
          <a:p>
            <a:pPr>
              <a:lnSpc>
                <a:spcPct val="200000"/>
              </a:lnSpc>
            </a:pPr>
            <a:endParaRPr lang="ru-RU" dirty="0" smtClean="0"/>
          </a:p>
          <a:p>
            <a:pPr>
              <a:lnSpc>
                <a:spcPct val="200000"/>
              </a:lnSpc>
            </a:pP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362" y="3280743"/>
            <a:ext cx="1952625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859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Цифровой компаратор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dirty="0" smtClean="0"/>
              <a:t>Цифровой компаратор – устройство осуществляющее сравнение двух чисел. Имеет выходы </a:t>
            </a:r>
            <a:r>
              <a:rPr lang="en-US" dirty="0" smtClean="0"/>
              <a:t>A&gt;B, A=B, A&lt;B </a:t>
            </a:r>
            <a:r>
              <a:rPr lang="ru-RU" dirty="0" smtClean="0"/>
              <a:t>и такие же дополнительные входы для наращивания разрядности.</a:t>
            </a:r>
          </a:p>
          <a:p>
            <a:pPr>
              <a:lnSpc>
                <a:spcPct val="200000"/>
              </a:lnSpc>
            </a:pPr>
            <a:endParaRPr lang="ru-RU" dirty="0" smtClean="0"/>
          </a:p>
          <a:p>
            <a:pPr>
              <a:lnSpc>
                <a:spcPct val="200000"/>
              </a:lnSpc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376" y="3418405"/>
            <a:ext cx="1650361" cy="218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55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АЛУ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dirty="0" smtClean="0"/>
              <a:t>Арифметико-логическое устройство – устройство реализующее функции сумматора, </a:t>
            </a:r>
            <a:r>
              <a:rPr lang="ru-RU" dirty="0" err="1" smtClean="0"/>
              <a:t>вычитателя</a:t>
            </a:r>
            <a:r>
              <a:rPr lang="ru-RU" dirty="0" smtClean="0"/>
              <a:t> и компаратора (</a:t>
            </a:r>
            <a:r>
              <a:rPr lang="ru-RU" dirty="0" err="1" smtClean="0"/>
              <a:t>перемножителя</a:t>
            </a:r>
            <a:r>
              <a:rPr lang="ru-RU" dirty="0" smtClean="0"/>
              <a:t>, делителя) в соответствии с сигналом на управляющих входах.</a:t>
            </a:r>
          </a:p>
          <a:p>
            <a:pPr>
              <a:lnSpc>
                <a:spcPct val="200000"/>
              </a:lnSpc>
            </a:pPr>
            <a:endParaRPr lang="ru-RU" dirty="0" smtClean="0"/>
          </a:p>
          <a:p>
            <a:pPr>
              <a:lnSpc>
                <a:spcPct val="200000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53290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Триггер</a:t>
            </a:r>
            <a:r>
              <a:rPr lang="ru-RU" dirty="0"/>
              <a:t>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ru-RU" dirty="0" smtClean="0"/>
              <a:t>Триггер – цифровой элемент с памятью: это значит, что состояние его выхода (выходов) зависит не только от мгновенных значений на его входах но и от предыстории изменения этих значений.</a:t>
            </a:r>
          </a:p>
          <a:p>
            <a:pPr algn="just"/>
            <a:r>
              <a:rPr lang="ru-RU" dirty="0" smtClean="0"/>
              <a:t>Триггер – простейший, но не единственный цифровой элемент с памятью.</a:t>
            </a:r>
          </a:p>
          <a:p>
            <a:pPr algn="just"/>
            <a:r>
              <a:rPr lang="ru-RU" dirty="0" smtClean="0"/>
              <a:t>Состояние элемента так же, как и для логических элементов, подчиняется таблице истинности, однако в ней есть дополнительные строки отражающие процесс хранения информации.</a:t>
            </a:r>
          </a:p>
          <a:p>
            <a:pPr algn="just"/>
            <a:r>
              <a:rPr lang="ru-RU" dirty="0" smtClean="0"/>
              <a:t>По типу реакции на входные сигналы выделяют три базовых типа триггеров: </a:t>
            </a:r>
            <a:r>
              <a:rPr lang="en-US" dirty="0" smtClean="0"/>
              <a:t>RS, D, JK</a:t>
            </a:r>
            <a:r>
              <a:rPr lang="ru-RU" dirty="0" smtClean="0"/>
              <a:t>, каждый из которых в свою очередь может быть</a:t>
            </a:r>
            <a:r>
              <a:rPr lang="en-US" dirty="0" smtClean="0"/>
              <a:t> </a:t>
            </a:r>
            <a:r>
              <a:rPr lang="ru-RU" dirty="0" smtClean="0"/>
              <a:t>синхронным или асинхронным. Отдельно выделяют еще четвертый тип триггера </a:t>
            </a:r>
            <a:r>
              <a:rPr lang="en-US" dirty="0" smtClean="0"/>
              <a:t>T-</a:t>
            </a:r>
            <a:r>
              <a:rPr lang="ru-RU" dirty="0" smtClean="0"/>
              <a:t>триггер.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75803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RS </a:t>
            </a:r>
            <a:r>
              <a:rPr lang="ru-RU" dirty="0" smtClean="0"/>
              <a:t>триггер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Простейшим по устройству является асинхронный </a:t>
            </a:r>
            <a:r>
              <a:rPr lang="en-US" dirty="0" smtClean="0"/>
              <a:t>RS </a:t>
            </a:r>
            <a:r>
              <a:rPr lang="ru-RU" dirty="0" smtClean="0"/>
              <a:t>триггер с инверсными входами:</a:t>
            </a:r>
          </a:p>
          <a:p>
            <a:endParaRPr lang="ru-RU" dirty="0"/>
          </a:p>
        </p:txBody>
      </p:sp>
      <p:pic>
        <p:nvPicPr>
          <p:cNvPr id="5" name="Объект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662" y="2618251"/>
            <a:ext cx="3876675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455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RS </a:t>
            </a:r>
            <a:r>
              <a:rPr lang="ru-RU" dirty="0" smtClean="0"/>
              <a:t>триггер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ru-RU" dirty="0" smtClean="0"/>
                  <a:t>У такого триггера два входа </a:t>
                </a:r>
                <a:r>
                  <a:rPr lang="en-US" dirty="0" smtClean="0"/>
                  <a:t>R – </a:t>
                </a:r>
                <a:r>
                  <a:rPr lang="ru-RU" dirty="0" smtClean="0"/>
                  <a:t>сброс (</a:t>
                </a:r>
                <a:r>
                  <a:rPr lang="en-US" dirty="0" smtClean="0"/>
                  <a:t>Reset</a:t>
                </a:r>
                <a:r>
                  <a:rPr lang="ru-RU" dirty="0" smtClean="0"/>
                  <a:t>)</a:t>
                </a:r>
                <a:r>
                  <a:rPr lang="en-US" dirty="0" smtClean="0"/>
                  <a:t>  </a:t>
                </a:r>
                <a:r>
                  <a:rPr lang="ru-RU" dirty="0" smtClean="0"/>
                  <a:t>и установка (</a:t>
                </a:r>
                <a:r>
                  <a:rPr lang="en-US" dirty="0" smtClean="0"/>
                  <a:t>Set</a:t>
                </a:r>
                <a:r>
                  <a:rPr lang="ru-RU" dirty="0" smtClean="0"/>
                  <a:t>)</a:t>
                </a:r>
                <a:r>
                  <a:rPr lang="en-US" dirty="0" smtClean="0"/>
                  <a:t>, </a:t>
                </a:r>
                <a:r>
                  <a:rPr lang="ru-RU" dirty="0" smtClean="0"/>
                  <a:t>верхнее подчеркивание обозначает, что у сигнала низкий активный логический уровень: триггер установится/сбросится при Лог.0 на соответствующем входе.</a:t>
                </a:r>
              </a:p>
              <a:p>
                <a:r>
                  <a:rPr lang="ru-RU" dirty="0" smtClean="0"/>
                  <a:t>Выхода тоже два. Выход 1 называется </a:t>
                </a:r>
                <a:r>
                  <a:rPr lang="en-US" dirty="0" smtClean="0"/>
                  <a:t>Q </a:t>
                </a:r>
                <a:r>
                  <a:rPr lang="ru-RU" dirty="0" smtClean="0"/>
                  <a:t>(</a:t>
                </a:r>
                <a:r>
                  <a:rPr lang="en-US" dirty="0" smtClean="0"/>
                  <a:t>Quit</a:t>
                </a:r>
                <a:r>
                  <a:rPr lang="ru-RU" dirty="0" smtClean="0"/>
                  <a:t>), </a:t>
                </a:r>
              </a:p>
              <a:p>
                <a:pPr marL="0" indent="0">
                  <a:buNone/>
                </a:pPr>
                <a:r>
                  <a:rPr lang="ru-RU" dirty="0"/>
                  <a:t> </a:t>
                </a:r>
                <a:r>
                  <a:rPr lang="ru-RU" dirty="0" smtClean="0"/>
                  <a:t>  Выход 2  -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acc>
                  </m:oMath>
                </a14:m>
                <a:r>
                  <a:rPr lang="en-US" dirty="0" smtClean="0"/>
                  <a:t> (</a:t>
                </a:r>
                <a:r>
                  <a:rPr lang="ru-RU" dirty="0" smtClean="0"/>
                  <a:t>НЕ- </a:t>
                </a:r>
                <a:r>
                  <a:rPr lang="en-US" dirty="0" smtClean="0"/>
                  <a:t>Quit – </a:t>
                </a:r>
                <a:r>
                  <a:rPr lang="ru-RU" dirty="0" smtClean="0"/>
                  <a:t>выход с обратным </a:t>
                </a:r>
              </a:p>
              <a:p>
                <a:pPr marL="0" indent="0">
                  <a:buNone/>
                </a:pPr>
                <a:r>
                  <a:rPr lang="ru-RU" dirty="0"/>
                  <a:t> </a:t>
                </a:r>
                <a:r>
                  <a:rPr lang="ru-RU" dirty="0" smtClean="0"/>
                  <a:t>  относительно </a:t>
                </a:r>
                <a:r>
                  <a:rPr lang="en-US" dirty="0" smtClean="0"/>
                  <a:t>Q</a:t>
                </a:r>
                <a:r>
                  <a:rPr lang="ru-RU" dirty="0" smtClean="0"/>
                  <a:t> состоянием</a:t>
                </a:r>
                <a:r>
                  <a:rPr lang="en-US" dirty="0" smtClean="0"/>
                  <a:t>)</a:t>
                </a:r>
              </a:p>
              <a:p>
                <a:pPr algn="just"/>
                <a:r>
                  <a:rPr lang="ru-RU" dirty="0" smtClean="0"/>
                  <a:t>Таблица истинности описывает работу  </a:t>
                </a:r>
                <a:r>
                  <a:rPr lang="en-US" dirty="0" smtClean="0"/>
                  <a:t>RS </a:t>
                </a:r>
                <a:r>
                  <a:rPr lang="ru-RU" dirty="0" smtClean="0"/>
                  <a:t>триггера</a:t>
                </a:r>
                <a:r>
                  <a:rPr lang="en-US" dirty="0" smtClean="0"/>
                  <a:t> </a:t>
                </a:r>
                <a:r>
                  <a:rPr lang="ru-RU" dirty="0" smtClean="0"/>
                  <a:t>:</a:t>
                </a:r>
              </a:p>
              <a:p>
                <a:pPr marL="0" indent="0" algn="just">
                  <a:buNone/>
                </a:pPr>
                <a:r>
                  <a:rPr lang="ru-RU" dirty="0"/>
                  <a:t> </a:t>
                </a:r>
                <a:r>
                  <a:rPr lang="ru-RU" dirty="0" smtClean="0"/>
                  <a:t> </a:t>
                </a:r>
                <a:r>
                  <a:rPr lang="en-US" dirty="0" smtClean="0"/>
                  <a:t>S=</a:t>
                </a:r>
                <a:r>
                  <a:rPr lang="ru-RU" dirty="0" smtClean="0"/>
                  <a:t>Лог.</a:t>
                </a:r>
                <a:r>
                  <a:rPr lang="en-US" dirty="0" smtClean="0"/>
                  <a:t>1</a:t>
                </a:r>
                <a:r>
                  <a:rPr lang="ru-RU" dirty="0" smtClean="0"/>
                  <a:t>, </a:t>
                </a:r>
                <a:r>
                  <a:rPr lang="en-US" dirty="0"/>
                  <a:t>R=</a:t>
                </a:r>
                <a:r>
                  <a:rPr lang="ru-RU" dirty="0" smtClean="0"/>
                  <a:t>Лог.</a:t>
                </a:r>
                <a:r>
                  <a:rPr lang="en-US" dirty="0" smtClean="0"/>
                  <a:t>0</a:t>
                </a:r>
                <a:r>
                  <a:rPr lang="ru-RU" dirty="0" smtClean="0"/>
                  <a:t> </a:t>
                </a:r>
                <a:r>
                  <a:rPr lang="ru-RU" dirty="0"/>
                  <a:t>–  установка триггера (</a:t>
                </a:r>
                <a:r>
                  <a:rPr lang="en-US" dirty="0"/>
                  <a:t>Q=1</a:t>
                </a:r>
                <a:r>
                  <a:rPr lang="ru-RU" dirty="0"/>
                  <a:t>)</a:t>
                </a:r>
                <a:r>
                  <a:rPr lang="en-US" dirty="0"/>
                  <a:t> , </a:t>
                </a:r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/>
                  <a:t> </a:t>
                </a:r>
                <a:r>
                  <a:rPr lang="ru-RU" dirty="0" smtClean="0"/>
                  <a:t> </a:t>
                </a:r>
                <a:r>
                  <a:rPr lang="en-US" dirty="0" smtClean="0"/>
                  <a:t>S=</a:t>
                </a:r>
                <a:r>
                  <a:rPr lang="ru-RU" dirty="0" smtClean="0"/>
                  <a:t>Лог.</a:t>
                </a:r>
                <a:r>
                  <a:rPr lang="en-US" dirty="0" smtClean="0"/>
                  <a:t>0</a:t>
                </a:r>
                <a:r>
                  <a:rPr lang="ru-RU" dirty="0" smtClean="0"/>
                  <a:t>, </a:t>
                </a:r>
                <a:r>
                  <a:rPr lang="en-US" dirty="0"/>
                  <a:t>R=</a:t>
                </a:r>
                <a:r>
                  <a:rPr lang="ru-RU" dirty="0" smtClean="0"/>
                  <a:t>Лог.</a:t>
                </a:r>
                <a:r>
                  <a:rPr lang="en-US" dirty="0" smtClean="0"/>
                  <a:t>1</a:t>
                </a:r>
                <a:r>
                  <a:rPr lang="ru-RU" dirty="0" smtClean="0"/>
                  <a:t> </a:t>
                </a:r>
                <a:r>
                  <a:rPr lang="ru-RU" dirty="0"/>
                  <a:t>– сброс триггера (</a:t>
                </a:r>
                <a:r>
                  <a:rPr lang="en-US" dirty="0"/>
                  <a:t>Q=</a:t>
                </a:r>
                <a:r>
                  <a:rPr lang="ru-RU" dirty="0"/>
                  <a:t>0) </a:t>
                </a:r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/>
                  <a:t> </a:t>
                </a:r>
                <a:r>
                  <a:rPr lang="ru-RU" dirty="0" smtClean="0"/>
                  <a:t> </a:t>
                </a:r>
                <a:r>
                  <a:rPr lang="en-US" dirty="0" smtClean="0"/>
                  <a:t>S=</a:t>
                </a:r>
                <a:r>
                  <a:rPr lang="ru-RU" dirty="0" smtClean="0"/>
                  <a:t>Лог.</a:t>
                </a:r>
                <a:r>
                  <a:rPr lang="en-US" dirty="0" smtClean="0"/>
                  <a:t>0</a:t>
                </a:r>
                <a:r>
                  <a:rPr lang="ru-RU" dirty="0" smtClean="0"/>
                  <a:t> </a:t>
                </a:r>
                <a:r>
                  <a:rPr lang="en-US" dirty="0"/>
                  <a:t>R=</a:t>
                </a:r>
                <a:r>
                  <a:rPr lang="ru-RU" dirty="0" smtClean="0"/>
                  <a:t>Лог.</a:t>
                </a:r>
                <a:r>
                  <a:rPr lang="en-US" dirty="0" smtClean="0"/>
                  <a:t>0</a:t>
                </a:r>
                <a:r>
                  <a:rPr lang="ru-RU" dirty="0" smtClean="0"/>
                  <a:t> </a:t>
                </a:r>
                <a:r>
                  <a:rPr lang="ru-RU" dirty="0"/>
                  <a:t>триггер сохраняет свое состояние(</a:t>
                </a:r>
                <a:r>
                  <a:rPr lang="en-US" dirty="0"/>
                  <a:t>Q(t)=Q(t-1)</a:t>
                </a:r>
                <a:r>
                  <a:rPr lang="ru-RU" dirty="0"/>
                  <a:t>)</a:t>
                </a:r>
                <a:r>
                  <a:rPr lang="en-US" dirty="0" smtClean="0"/>
                  <a:t>,</a:t>
                </a:r>
                <a:endParaRPr lang="ru-RU" dirty="0" smtClean="0"/>
              </a:p>
              <a:p>
                <a:pPr marL="0" indent="0" algn="just">
                  <a:buNone/>
                </a:pPr>
                <a:r>
                  <a:rPr lang="en-US" dirty="0" smtClean="0"/>
                  <a:t> </a:t>
                </a:r>
                <a:r>
                  <a:rPr lang="ru-RU" dirty="0"/>
                  <a:t>состояние </a:t>
                </a:r>
                <a:r>
                  <a:rPr lang="en-US" dirty="0"/>
                  <a:t>S=</a:t>
                </a:r>
                <a:r>
                  <a:rPr lang="ru-RU" dirty="0" smtClean="0"/>
                  <a:t>Лог.</a:t>
                </a:r>
                <a:r>
                  <a:rPr lang="en-US" dirty="0" smtClean="0"/>
                  <a:t>1</a:t>
                </a:r>
                <a:r>
                  <a:rPr lang="ru-RU" dirty="0" smtClean="0"/>
                  <a:t> </a:t>
                </a:r>
                <a:r>
                  <a:rPr lang="en-US" dirty="0"/>
                  <a:t>R=</a:t>
                </a:r>
                <a:r>
                  <a:rPr lang="ru-RU" dirty="0" smtClean="0"/>
                  <a:t>Лог.</a:t>
                </a:r>
                <a:r>
                  <a:rPr lang="en-US" dirty="0" smtClean="0"/>
                  <a:t>1</a:t>
                </a:r>
                <a:r>
                  <a:rPr lang="ru-RU" dirty="0" smtClean="0"/>
                  <a:t> </a:t>
                </a:r>
                <a:r>
                  <a:rPr lang="ru-RU" dirty="0"/>
                  <a:t>является запрещенным </a:t>
                </a:r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/>
                  <a:t> </a:t>
                </a:r>
                <a:r>
                  <a:rPr lang="ru-RU" dirty="0" smtClean="0"/>
                  <a:t>(</a:t>
                </a:r>
                <a:r>
                  <a:rPr lang="ru-RU" dirty="0"/>
                  <a:t>оба входа равны 1) – после снятия со входов </a:t>
                </a:r>
                <a:r>
                  <a:rPr lang="ru-RU" dirty="0" smtClean="0"/>
                  <a:t>Лог.</a:t>
                </a:r>
                <a:r>
                  <a:rPr lang="en-US" dirty="0" smtClean="0"/>
                  <a:t>1</a:t>
                </a:r>
                <a:r>
                  <a:rPr lang="ru-RU" dirty="0" smtClean="0"/>
                  <a:t> </a:t>
                </a:r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/>
                  <a:t> </a:t>
                </a:r>
                <a:r>
                  <a:rPr lang="ru-RU" dirty="0" smtClean="0"/>
                  <a:t>состояние </a:t>
                </a:r>
                <a:r>
                  <a:rPr lang="ru-RU" dirty="0"/>
                  <a:t>триггера установится в соответствии с </a:t>
                </a:r>
                <a:r>
                  <a:rPr lang="ru-RU" dirty="0" smtClean="0"/>
                  <a:t>тем</a:t>
                </a:r>
                <a:endParaRPr lang="en-US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 </a:t>
                </a:r>
                <a:r>
                  <a:rPr lang="ru-RU" dirty="0"/>
                  <a:t>на каком из входов позже исчезнет активный уровень</a:t>
                </a:r>
                <a:r>
                  <a:rPr lang="ru-RU" dirty="0" smtClean="0"/>
                  <a:t>.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06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Объект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766" y="2521394"/>
            <a:ext cx="1657597" cy="142137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5241" y="4343391"/>
            <a:ext cx="1957820" cy="159920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256" y="2618509"/>
            <a:ext cx="1124805" cy="117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1027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RS </a:t>
            </a:r>
            <a:r>
              <a:rPr lang="ru-RU" dirty="0" smtClean="0"/>
              <a:t>триггер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ru-RU" dirty="0" smtClean="0"/>
                  <a:t>У такого триггера два входа </a:t>
                </a:r>
                <a:r>
                  <a:rPr lang="en-US" dirty="0" smtClean="0"/>
                  <a:t>R – </a:t>
                </a:r>
                <a:r>
                  <a:rPr lang="ru-RU" dirty="0" smtClean="0"/>
                  <a:t>сброс (</a:t>
                </a:r>
                <a:r>
                  <a:rPr lang="en-US" dirty="0" smtClean="0"/>
                  <a:t>Reset</a:t>
                </a:r>
                <a:r>
                  <a:rPr lang="ru-RU" dirty="0" smtClean="0"/>
                  <a:t>)</a:t>
                </a:r>
                <a:r>
                  <a:rPr lang="en-US" dirty="0" smtClean="0"/>
                  <a:t>  </a:t>
                </a:r>
                <a:r>
                  <a:rPr lang="ru-RU" dirty="0" smtClean="0"/>
                  <a:t>и установка (</a:t>
                </a:r>
                <a:r>
                  <a:rPr lang="en-US" dirty="0" smtClean="0"/>
                  <a:t>Set</a:t>
                </a:r>
                <a:r>
                  <a:rPr lang="ru-RU" dirty="0" smtClean="0"/>
                  <a:t>)</a:t>
                </a:r>
                <a:r>
                  <a:rPr lang="en-US" dirty="0" smtClean="0"/>
                  <a:t>, </a:t>
                </a:r>
                <a:r>
                  <a:rPr lang="ru-RU" dirty="0" smtClean="0"/>
                  <a:t>верхнее подчеркивание обозначает, что у сигнала низкий активный логический уровень: триггер установится/сбросится при Лог.0 на соответствующем входе.</a:t>
                </a:r>
              </a:p>
              <a:p>
                <a:r>
                  <a:rPr lang="ru-RU" dirty="0" smtClean="0"/>
                  <a:t>Выхода тоже два. Выход 1 называется </a:t>
                </a:r>
                <a:r>
                  <a:rPr lang="en-US" dirty="0" smtClean="0"/>
                  <a:t>Q </a:t>
                </a:r>
                <a:r>
                  <a:rPr lang="ru-RU" dirty="0" smtClean="0"/>
                  <a:t>(</a:t>
                </a:r>
                <a:r>
                  <a:rPr lang="en-US" dirty="0" smtClean="0"/>
                  <a:t>Quit</a:t>
                </a:r>
                <a:r>
                  <a:rPr lang="ru-RU" dirty="0" smtClean="0"/>
                  <a:t>), </a:t>
                </a:r>
              </a:p>
              <a:p>
                <a:pPr marL="0" indent="0">
                  <a:buNone/>
                </a:pPr>
                <a:r>
                  <a:rPr lang="ru-RU" dirty="0"/>
                  <a:t> </a:t>
                </a:r>
                <a:r>
                  <a:rPr lang="ru-RU" dirty="0" smtClean="0"/>
                  <a:t>  Выход 2  -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acc>
                  </m:oMath>
                </a14:m>
                <a:r>
                  <a:rPr lang="en-US" dirty="0" smtClean="0"/>
                  <a:t> (</a:t>
                </a:r>
                <a:r>
                  <a:rPr lang="ru-RU" dirty="0" smtClean="0"/>
                  <a:t>НЕ- </a:t>
                </a:r>
                <a:r>
                  <a:rPr lang="en-US" dirty="0" smtClean="0"/>
                  <a:t>Quit – </a:t>
                </a:r>
                <a:r>
                  <a:rPr lang="ru-RU" dirty="0" smtClean="0"/>
                  <a:t>выход с обратным </a:t>
                </a:r>
              </a:p>
              <a:p>
                <a:pPr marL="0" indent="0">
                  <a:buNone/>
                </a:pPr>
                <a:r>
                  <a:rPr lang="ru-RU" dirty="0"/>
                  <a:t> </a:t>
                </a:r>
                <a:r>
                  <a:rPr lang="ru-RU" dirty="0" smtClean="0"/>
                  <a:t>  относительно </a:t>
                </a:r>
                <a:r>
                  <a:rPr lang="en-US" dirty="0" smtClean="0"/>
                  <a:t>Q</a:t>
                </a:r>
                <a:r>
                  <a:rPr lang="ru-RU" dirty="0" smtClean="0"/>
                  <a:t> состоянием</a:t>
                </a:r>
                <a:r>
                  <a:rPr lang="en-US" dirty="0" smtClean="0"/>
                  <a:t>)</a:t>
                </a:r>
              </a:p>
              <a:p>
                <a:pPr algn="just"/>
                <a:r>
                  <a:rPr lang="ru-RU" dirty="0" smtClean="0"/>
                  <a:t>Таблица истинности описывает работу триггера: </a:t>
                </a:r>
                <a:r>
                  <a:rPr lang="en-US" dirty="0" smtClean="0"/>
                  <a:t>S=</a:t>
                </a:r>
                <a:r>
                  <a:rPr lang="ru-RU" dirty="0" smtClean="0"/>
                  <a:t>Лог.0, </a:t>
                </a:r>
                <a:r>
                  <a:rPr lang="en-US" dirty="0" smtClean="0"/>
                  <a:t>R=</a:t>
                </a:r>
                <a:r>
                  <a:rPr lang="ru-RU" dirty="0" smtClean="0"/>
                  <a:t>Лог.1 –  установка триггера (</a:t>
                </a:r>
                <a:r>
                  <a:rPr lang="en-US" dirty="0" smtClean="0"/>
                  <a:t>Q=1</a:t>
                </a:r>
                <a:r>
                  <a:rPr lang="ru-RU" dirty="0" smtClean="0"/>
                  <a:t>)</a:t>
                </a:r>
                <a:r>
                  <a:rPr lang="en-US" dirty="0" smtClean="0"/>
                  <a:t> , </a:t>
                </a:r>
                <a:r>
                  <a:rPr lang="en-US" dirty="0"/>
                  <a:t>S=</a:t>
                </a:r>
                <a:r>
                  <a:rPr lang="ru-RU" dirty="0" smtClean="0"/>
                  <a:t>Лог.</a:t>
                </a:r>
                <a:r>
                  <a:rPr lang="en-US" dirty="0" smtClean="0"/>
                  <a:t>1</a:t>
                </a:r>
                <a:r>
                  <a:rPr lang="ru-RU" dirty="0" smtClean="0"/>
                  <a:t>, </a:t>
                </a:r>
                <a:r>
                  <a:rPr lang="en-US" dirty="0"/>
                  <a:t>R=</a:t>
                </a:r>
                <a:r>
                  <a:rPr lang="ru-RU" dirty="0" smtClean="0"/>
                  <a:t>Лог.</a:t>
                </a:r>
                <a:r>
                  <a:rPr lang="en-US" dirty="0" smtClean="0"/>
                  <a:t>0</a:t>
                </a:r>
                <a:r>
                  <a:rPr lang="ru-RU" dirty="0" smtClean="0"/>
                  <a:t> – сброс </a:t>
                </a:r>
                <a:r>
                  <a:rPr lang="ru-RU" dirty="0"/>
                  <a:t>триггера (</a:t>
                </a:r>
                <a:r>
                  <a:rPr lang="en-US" dirty="0" smtClean="0"/>
                  <a:t>Q=</a:t>
                </a:r>
                <a:r>
                  <a:rPr lang="ru-RU" dirty="0" smtClean="0"/>
                  <a:t>0) </a:t>
                </a:r>
                <a:r>
                  <a:rPr lang="en-US" dirty="0" smtClean="0"/>
                  <a:t>S=</a:t>
                </a:r>
                <a:r>
                  <a:rPr lang="ru-RU" dirty="0" smtClean="0"/>
                  <a:t>Лог.1 </a:t>
                </a:r>
                <a:r>
                  <a:rPr lang="en-US" dirty="0"/>
                  <a:t>R=</a:t>
                </a:r>
                <a:r>
                  <a:rPr lang="ru-RU" dirty="0"/>
                  <a:t>Лог.1 </a:t>
                </a:r>
                <a:r>
                  <a:rPr lang="ru-RU" dirty="0" smtClean="0"/>
                  <a:t>триггер сохраняет свое состояние(</a:t>
                </a:r>
                <a:r>
                  <a:rPr lang="en-US" dirty="0" smtClean="0"/>
                  <a:t>Q(t)=Q(t-1)</a:t>
                </a:r>
                <a:r>
                  <a:rPr lang="ru-RU" dirty="0" smtClean="0"/>
                  <a:t>)</a:t>
                </a:r>
                <a:r>
                  <a:rPr lang="en-US" dirty="0" smtClean="0"/>
                  <a:t>, </a:t>
                </a:r>
                <a:r>
                  <a:rPr lang="ru-RU" dirty="0" smtClean="0"/>
                  <a:t>состояние </a:t>
                </a:r>
                <a:r>
                  <a:rPr lang="en-US" dirty="0"/>
                  <a:t>S=</a:t>
                </a:r>
                <a:r>
                  <a:rPr lang="ru-RU" dirty="0"/>
                  <a:t>Лог.0 </a:t>
                </a:r>
                <a:r>
                  <a:rPr lang="en-US" dirty="0"/>
                  <a:t>R=</a:t>
                </a:r>
                <a:r>
                  <a:rPr lang="ru-RU" dirty="0" smtClean="0"/>
                  <a:t>Лог.0 является запрещенным (оба входа равны 1) – после снятия со входов Лог.0 состояние триггера установится в соответствии с тем на каком из входов позже исчезнет активный уровень.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3221" r="-8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Объект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493" y="2687649"/>
            <a:ext cx="1657597" cy="142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5934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Синхронный </a:t>
            </a:r>
            <a:r>
              <a:rPr lang="en-US" dirty="0" smtClean="0"/>
              <a:t>RS </a:t>
            </a:r>
            <a:r>
              <a:rPr lang="ru-RU" dirty="0" smtClean="0"/>
              <a:t>триггер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/>
              <a:t>Синхронный триггер имеет дополнительный вход – синхронизации, называемый тактовым сигналом. Этот вход управляет прохождением сигналов на входы </a:t>
            </a:r>
            <a:r>
              <a:rPr lang="en-US" dirty="0" smtClean="0"/>
              <a:t> R </a:t>
            </a:r>
            <a:r>
              <a:rPr lang="ru-RU" dirty="0" smtClean="0"/>
              <a:t>и </a:t>
            </a:r>
            <a:r>
              <a:rPr lang="en-US" dirty="0" smtClean="0"/>
              <a:t>S </a:t>
            </a:r>
            <a:r>
              <a:rPr lang="ru-RU" dirty="0" smtClean="0"/>
              <a:t>триггера: сигнал попадет на эти входы только при активном уроне на входе синхронизации.</a:t>
            </a:r>
          </a:p>
          <a:p>
            <a:r>
              <a:rPr lang="ru-RU" dirty="0" smtClean="0"/>
              <a:t>При этом активным уровнем может быть </a:t>
            </a:r>
          </a:p>
          <a:p>
            <a:pPr marL="0" indent="0">
              <a:buNone/>
            </a:pPr>
            <a:r>
              <a:rPr lang="ru-RU" dirty="0" smtClean="0"/>
              <a:t>   не только логический уровень (Лог 0 или Лог 1)</a:t>
            </a:r>
          </a:p>
          <a:p>
            <a:pPr marL="0" indent="0">
              <a:buNone/>
            </a:pPr>
            <a:r>
              <a:rPr lang="ru-RU" dirty="0"/>
              <a:t> </a:t>
            </a:r>
            <a:r>
              <a:rPr lang="ru-RU" dirty="0" smtClean="0"/>
              <a:t>  но и фронт или спад (момент перехода от</a:t>
            </a:r>
          </a:p>
          <a:p>
            <a:pPr marL="0" indent="0">
              <a:buNone/>
            </a:pPr>
            <a:r>
              <a:rPr lang="ru-RU" dirty="0"/>
              <a:t> </a:t>
            </a:r>
            <a:r>
              <a:rPr lang="ru-RU" dirty="0" smtClean="0"/>
              <a:t>  одного логического состояния в другое)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347" y="4174176"/>
            <a:ext cx="3431364" cy="167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626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Синхронный </a:t>
            </a:r>
            <a:r>
              <a:rPr lang="en-US" dirty="0" smtClean="0"/>
              <a:t>RS </a:t>
            </a:r>
            <a:r>
              <a:rPr lang="ru-RU" dirty="0" smtClean="0"/>
              <a:t>триггер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/>
              <a:t>Таблица истинности синхронного </a:t>
            </a:r>
            <a:r>
              <a:rPr lang="en-US" dirty="0" smtClean="0"/>
              <a:t>RS </a:t>
            </a:r>
            <a:r>
              <a:rPr lang="ru-RU" dirty="0" smtClean="0"/>
              <a:t>триггера с тактированием высоким логическим уровнем</a:t>
            </a:r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857" y="2892011"/>
            <a:ext cx="2541011" cy="268146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767" y="2751612"/>
            <a:ext cx="2581275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5121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</a:t>
            </a:r>
            <a:r>
              <a:rPr lang="en-US" dirty="0" smtClean="0"/>
              <a:t> </a:t>
            </a:r>
            <a:r>
              <a:rPr lang="ru-RU" dirty="0" smtClean="0"/>
              <a:t>триггер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 </a:t>
            </a:r>
            <a:r>
              <a:rPr lang="ru-RU" dirty="0" smtClean="0"/>
              <a:t>триггер иначе называется триггером защелкой, так как по своей логике работы он по активному сигналу на входе С защелкивает на выход </a:t>
            </a:r>
            <a:r>
              <a:rPr lang="en-US" dirty="0" smtClean="0"/>
              <a:t>Q </a:t>
            </a:r>
            <a:r>
              <a:rPr lang="ru-RU" dirty="0" smtClean="0"/>
              <a:t>состояние входа </a:t>
            </a:r>
            <a:r>
              <a:rPr lang="en-US" dirty="0" smtClean="0"/>
              <a:t>D</a:t>
            </a:r>
            <a:r>
              <a:rPr lang="ru-RU" dirty="0" smtClean="0"/>
              <a:t>.</a:t>
            </a:r>
          </a:p>
          <a:p>
            <a:r>
              <a:rPr lang="ru-RU" dirty="0" smtClean="0"/>
              <a:t>Активный сигнал на тактовом входе (аналогично синхронному </a:t>
            </a:r>
            <a:r>
              <a:rPr lang="en-US" dirty="0" smtClean="0"/>
              <a:t>RS </a:t>
            </a:r>
            <a:r>
              <a:rPr lang="ru-RU" dirty="0" smtClean="0"/>
              <a:t>триггеру) может быть как логическим уровнем так и фронтом (спадом).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38876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JK </a:t>
            </a:r>
            <a:r>
              <a:rPr lang="ru-RU" dirty="0" smtClean="0"/>
              <a:t>триггер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JK  </a:t>
            </a:r>
            <a:r>
              <a:rPr lang="ru-RU" dirty="0" smtClean="0"/>
              <a:t>триггер – так же как и </a:t>
            </a:r>
            <a:r>
              <a:rPr lang="en-US" dirty="0" smtClean="0"/>
              <a:t>RS </a:t>
            </a:r>
            <a:r>
              <a:rPr lang="ru-RU" dirty="0" smtClean="0"/>
              <a:t>имеет вход установки </a:t>
            </a:r>
            <a:r>
              <a:rPr lang="en-US" dirty="0" smtClean="0"/>
              <a:t>J </a:t>
            </a:r>
            <a:r>
              <a:rPr lang="ru-RU" dirty="0" smtClean="0"/>
              <a:t>и вход сброса </a:t>
            </a:r>
            <a:r>
              <a:rPr lang="en-US" dirty="0" smtClean="0"/>
              <a:t>K</a:t>
            </a:r>
            <a:r>
              <a:rPr lang="ru-RU" dirty="0" smtClean="0"/>
              <a:t>, однако, в отличие от </a:t>
            </a:r>
            <a:r>
              <a:rPr lang="en-US" dirty="0" smtClean="0"/>
              <a:t>RS </a:t>
            </a:r>
            <a:r>
              <a:rPr lang="ru-RU" dirty="0" smtClean="0"/>
              <a:t>триггера не имеет неопределенного состояния  - при подаче сигнала на оба входа триггер переворачивается, т.е. меняет состояние на противоположное. </a:t>
            </a:r>
            <a:r>
              <a:rPr lang="en-US" dirty="0" smtClean="0"/>
              <a:t>JK </a:t>
            </a:r>
            <a:r>
              <a:rPr lang="ru-RU" dirty="0" smtClean="0"/>
              <a:t>триггеры как правило синхронные – т.е. состояние входов определяется в момент изменения сигнала на тактовом входе.</a:t>
            </a:r>
          </a:p>
          <a:p>
            <a:pPr algn="just"/>
            <a:r>
              <a:rPr lang="en-US" dirty="0" smtClean="0"/>
              <a:t>JK </a:t>
            </a:r>
            <a:r>
              <a:rPr lang="ru-RU" dirty="0" smtClean="0"/>
              <a:t>триггеры в абсолютном большинстве синхронные. (Для несинхронного триггера подача сигнала на оба входа приведет к постоянному изменению с некоторой внутренней постоянной выходного уровня, т.е. к генерации)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99739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JK </a:t>
            </a:r>
            <a:r>
              <a:rPr lang="ru-RU" dirty="0" smtClean="0"/>
              <a:t>триггер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Таблица истинности синхронного </a:t>
            </a:r>
            <a:r>
              <a:rPr lang="en-US" dirty="0" smtClean="0"/>
              <a:t>JK </a:t>
            </a:r>
            <a:r>
              <a:rPr lang="ru-RU" dirty="0" smtClean="0"/>
              <a:t>триггера с тактированием по заднему фронту сигнала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580" y="2878109"/>
            <a:ext cx="5505203" cy="314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7660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Регистр хранения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ru-RU" dirty="0" smtClean="0"/>
              <a:t>4-разрядный параллельный регистр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632" y="2703967"/>
            <a:ext cx="5400922" cy="360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8655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Счетчик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dirty="0" smtClean="0"/>
              <a:t>Триггерное устройство выдающее на выход двоичный сигнал соответствующий числу импульсов, поданному на счетный вход.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dirty="0" smtClean="0"/>
              <a:t>По внутреннему устройству счетчики делятся на синхронные и асинхронные</a:t>
            </a:r>
          </a:p>
          <a:p>
            <a:pPr>
              <a:lnSpc>
                <a:spcPct val="200000"/>
              </a:lnSpc>
            </a:pPr>
            <a:endParaRPr lang="ru-RU" dirty="0" smtClean="0"/>
          </a:p>
          <a:p>
            <a:pPr>
              <a:lnSpc>
                <a:spcPct val="200000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33591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Счетчик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ru-RU" dirty="0" smtClean="0"/>
              <a:t>Асинхронный 4-разрядный счетчик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497" y="2695966"/>
            <a:ext cx="7143503" cy="378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7141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Счетчик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ru-RU" dirty="0" smtClean="0"/>
              <a:t>У асинхронного счетчика есть небольшой недостаток – который становится, однако, существенным при увеличении частоты работы схемы: скорость реакции выходов </a:t>
            </a:r>
            <a:r>
              <a:rPr lang="en-US" dirty="0" smtClean="0"/>
              <a:t>Q1… </a:t>
            </a:r>
            <a:r>
              <a:rPr lang="en-US" dirty="0" err="1" smtClean="0"/>
              <a:t>Qn</a:t>
            </a:r>
            <a:r>
              <a:rPr lang="en-US" dirty="0" smtClean="0"/>
              <a:t> </a:t>
            </a:r>
            <a:r>
              <a:rPr lang="ru-RU" dirty="0" smtClean="0"/>
              <a:t>на приход тактового импульса линейно растет с номером разряда, так как каждый следующий разряд управляется через все увеличивающуюся цепочку триггеров. Это приводит к тому, что в некоторые счетные переходы (когда меняется состояние многих выводов) на короткое время на выходах счетчика появляется не тот код. </a:t>
            </a:r>
          </a:p>
          <a:p>
            <a:pPr algn="just"/>
            <a:r>
              <a:rPr lang="ru-RU" dirty="0" smtClean="0"/>
              <a:t>Этого недостатка лишен синхронный счетчик: у него скорость реакции всех выходов одинаковая.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51241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Счетчик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ru-RU" dirty="0"/>
              <a:t>С</a:t>
            </a:r>
            <a:r>
              <a:rPr lang="ru-RU" dirty="0" smtClean="0"/>
              <a:t>инхронный 4-разрядный счетчик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192" y="2726426"/>
            <a:ext cx="6380413" cy="409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8928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Счетчик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ru-RU" dirty="0" smtClean="0"/>
              <a:t>Двоичный и двоично-десятичный счетчик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591" y="2557242"/>
            <a:ext cx="7560314" cy="333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436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Сдвиговый регистр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ru-RU" dirty="0" smtClean="0"/>
              <a:t>Пример 4х разрядного сдвигового регистра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614" y="2730885"/>
            <a:ext cx="8065757" cy="338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0935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Сдвиговый регистр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ru-RU" dirty="0" smtClean="0"/>
              <a:t>Преобразование последовательного кода в параллельный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895" y="2552655"/>
            <a:ext cx="4790332" cy="397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3754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Сдвиговый регистр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ru-RU" dirty="0" smtClean="0"/>
              <a:t>Преобразование последовательного кода в параллельный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895" y="2552655"/>
            <a:ext cx="4790332" cy="397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074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Сдвиговый регистр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ru-RU" dirty="0" smtClean="0"/>
              <a:t>Применение сдвигового регистра в последовательных интерфейсах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987" y="2805112"/>
            <a:ext cx="5534025" cy="124777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553" y="4307390"/>
            <a:ext cx="3971553" cy="200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807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21609</TotalTime>
  <Words>1309</Words>
  <Application>Microsoft Office PowerPoint</Application>
  <PresentationFormat>Широкоэкранный</PresentationFormat>
  <Paragraphs>237</Paragraphs>
  <Slides>43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48" baseType="lpstr">
      <vt:lpstr>Arial</vt:lpstr>
      <vt:lpstr>Calibri</vt:lpstr>
      <vt:lpstr>Calibri Light</vt:lpstr>
      <vt:lpstr>Cambria Math</vt:lpstr>
      <vt:lpstr>Тема Office</vt:lpstr>
      <vt:lpstr>Лекция 18</vt:lpstr>
      <vt:lpstr>Дискретный сигнал</vt:lpstr>
      <vt:lpstr>Логические функции</vt:lpstr>
      <vt:lpstr>Логические функции</vt:lpstr>
      <vt:lpstr>Типы логики</vt:lpstr>
      <vt:lpstr>Типы логики</vt:lpstr>
      <vt:lpstr>Типы логики</vt:lpstr>
      <vt:lpstr>ТТЛ</vt:lpstr>
      <vt:lpstr>ТТЛ</vt:lpstr>
      <vt:lpstr>ТТЛ</vt:lpstr>
      <vt:lpstr>ТТЛ</vt:lpstr>
      <vt:lpstr>ТТЛ</vt:lpstr>
      <vt:lpstr>КМОП</vt:lpstr>
      <vt:lpstr>Комбинационная логика</vt:lpstr>
      <vt:lpstr>Двоичная запись числа</vt:lpstr>
      <vt:lpstr>Дополнительный код</vt:lpstr>
      <vt:lpstr>Шифратор</vt:lpstr>
      <vt:lpstr>Дешифратор</vt:lpstr>
      <vt:lpstr>Мультиплексор</vt:lpstr>
      <vt:lpstr>Демультиплексор</vt:lpstr>
      <vt:lpstr>Преобразователь кода</vt:lpstr>
      <vt:lpstr>Сумматор</vt:lpstr>
      <vt:lpstr>Цифровой компаратор</vt:lpstr>
      <vt:lpstr>АЛУ</vt:lpstr>
      <vt:lpstr>Триггеры</vt:lpstr>
      <vt:lpstr>RS триггер</vt:lpstr>
      <vt:lpstr>RS триггер</vt:lpstr>
      <vt:lpstr>RS триггер</vt:lpstr>
      <vt:lpstr>Синхронный RS триггер</vt:lpstr>
      <vt:lpstr>Синхронный RS триггер</vt:lpstr>
      <vt:lpstr>D триггер</vt:lpstr>
      <vt:lpstr>JK триггер</vt:lpstr>
      <vt:lpstr>JK триггер</vt:lpstr>
      <vt:lpstr>Регистр хранения</vt:lpstr>
      <vt:lpstr>Счетчик</vt:lpstr>
      <vt:lpstr>Счетчик</vt:lpstr>
      <vt:lpstr>Счетчик</vt:lpstr>
      <vt:lpstr>Счетчик</vt:lpstr>
      <vt:lpstr>Счетчик</vt:lpstr>
      <vt:lpstr>Сдвиговый регистр</vt:lpstr>
      <vt:lpstr>Сдвиговый регистр</vt:lpstr>
      <vt:lpstr>Сдвиговый регистр</vt:lpstr>
      <vt:lpstr>Сдвиговый регистр</vt:lpstr>
    </vt:vector>
  </TitlesOfParts>
  <Company>BINP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Радиоэлектроника</dc:title>
  <dc:creator>BINP User</dc:creator>
  <cp:lastModifiedBy>BINP User</cp:lastModifiedBy>
  <cp:revision>656</cp:revision>
  <dcterms:created xsi:type="dcterms:W3CDTF">2020-09-02T13:49:40Z</dcterms:created>
  <dcterms:modified xsi:type="dcterms:W3CDTF">2021-09-09T12:55:22Z</dcterms:modified>
</cp:coreProperties>
</file>