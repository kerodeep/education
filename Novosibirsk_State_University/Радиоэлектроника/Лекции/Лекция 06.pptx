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80" r:id="rId4"/>
    <p:sldId id="261" r:id="rId5"/>
    <p:sldId id="262" r:id="rId6"/>
    <p:sldId id="281" r:id="rId7"/>
    <p:sldId id="283" r:id="rId8"/>
    <p:sldId id="284" r:id="rId9"/>
    <p:sldId id="285" r:id="rId10"/>
    <p:sldId id="282" r:id="rId11"/>
    <p:sldId id="263" r:id="rId12"/>
    <p:sldId id="264" r:id="rId13"/>
    <p:sldId id="265" r:id="rId14"/>
    <p:sldId id="289" r:id="rId15"/>
    <p:sldId id="290" r:id="rId16"/>
    <p:sldId id="267" r:id="rId17"/>
    <p:sldId id="268" r:id="rId18"/>
    <p:sldId id="272" r:id="rId19"/>
    <p:sldId id="269" r:id="rId20"/>
    <p:sldId id="270" r:id="rId21"/>
    <p:sldId id="287" r:id="rId22"/>
    <p:sldId id="271" r:id="rId23"/>
    <p:sldId id="273" r:id="rId24"/>
    <p:sldId id="288" r:id="rId25"/>
    <p:sldId id="274" r:id="rId26"/>
    <p:sldId id="275" r:id="rId27"/>
    <p:sldId id="276" r:id="rId28"/>
    <p:sldId id="277" r:id="rId29"/>
    <p:sldId id="278" r:id="rId30"/>
    <p:sldId id="279" r:id="rId31"/>
    <p:sldId id="286" r:id="rId32"/>
    <p:sldId id="291" r:id="rId33"/>
    <p:sldId id="292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14.10.2021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6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Длинные линии</a:t>
            </a:r>
          </a:p>
          <a:p>
            <a:pPr marL="0" indent="0" algn="ctr">
              <a:buNone/>
            </a:pPr>
            <a:r>
              <a:rPr lang="ru-RU" i="1" dirty="0" smtClean="0"/>
              <a:t>Телеграфные уравнения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с распределенными параметрами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 анализе электрической цепи предполагается что есть отдельные элементы с сопротивлением, индуктивностью, емкостью.</a:t>
            </a:r>
          </a:p>
          <a:p>
            <a:r>
              <a:rPr lang="ru-RU" dirty="0" smtClean="0"/>
              <a:t>Это называется элементы с сосредоточенными параметрами</a:t>
            </a:r>
          </a:p>
          <a:p>
            <a:r>
              <a:rPr lang="ru-RU" dirty="0" smtClean="0"/>
              <a:t>Есть ситуации когда такое приближение перестает работать: требуется рассматривать индуктивность, емкость и сопротивление которые как бы равномерно распределены по цепи: такая схема называется схема с распределенными параметрами.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2010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с распределенными параметрами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Характерным представителем схем с распределенными параметрами является длинная линия.</a:t>
            </a:r>
          </a:p>
          <a:p>
            <a:r>
              <a:rPr lang="ru-RU" dirty="0" smtClean="0"/>
              <a:t>Длинная линия – если говорить простыми словами это такая электрическая схема, в которой нельзя пренебрегать временем распространения сигнала. </a:t>
            </a:r>
          </a:p>
          <a:p>
            <a:r>
              <a:rPr lang="ru-RU" dirty="0" smtClean="0"/>
              <a:t>Типичным примером такой линии является электрический телеграф.</a:t>
            </a:r>
          </a:p>
          <a:p>
            <a:endParaRPr lang="ru-RU" dirty="0"/>
          </a:p>
          <a:p>
            <a:endParaRPr lang="ru-RU" dirty="0" smtClean="0"/>
          </a:p>
          <a:p>
            <a:pPr marL="0" indent="0">
              <a:buNone/>
            </a:pPr>
            <a:r>
              <a:rPr lang="ru-RU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213" y="3855955"/>
            <a:ext cx="29241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7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Длинные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Рассмотрим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052" y="1861605"/>
            <a:ext cx="6363729" cy="21396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154" y="4361198"/>
            <a:ext cx="3223692" cy="145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7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Длинные линии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i="1" dirty="0" smtClean="0">
                    <a:latin typeface="Cambria Math" panose="02040503050406030204" pitchFamily="18" charset="0"/>
                  </a:rPr>
                  <a:t>Запишем уравнения описывающие изменение тока и напряжения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𝐿𝑑𝑥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𝑅𝑑𝑥𝑖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𝐶𝑑𝑥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𝑑𝑢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𝑌𝑑𝑥𝑢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𝑅𝑖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𝑌𝑢</m:t>
                                </m:r>
                              </m:e>
                            </m:eqAr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ru-RU" dirty="0" smtClean="0"/>
              </a:p>
              <a:p>
                <a:r>
                  <a:rPr lang="ru-RU" dirty="0" smtClean="0"/>
                  <a:t>Мы получили неоднородн</a:t>
                </a:r>
                <a:r>
                  <a:rPr lang="ru-RU" dirty="0"/>
                  <a:t>ы</a:t>
                </a:r>
                <a:r>
                  <a:rPr lang="ru-RU" dirty="0" smtClean="0"/>
                  <a:t>е волновые уравнения</a:t>
                </a:r>
                <a:r>
                  <a:rPr lang="ru-RU" dirty="0"/>
                  <a:t> </a:t>
                </a:r>
                <a:r>
                  <a:rPr lang="ru-RU" dirty="0" smtClean="0"/>
                  <a:t>описывающие распространение сигнала в линии. Они носят название </a:t>
                </a:r>
                <a:r>
                  <a:rPr lang="ru-RU" b="1" dirty="0" smtClean="0"/>
                  <a:t>Телеграфные уравнения </a:t>
                </a:r>
                <a:r>
                  <a:rPr lang="ru-RU" dirty="0" smtClean="0"/>
                  <a:t>(Пуанкаре 1887). В принципе решение их ищется методом Фурье – в виде функции с разделяющимися переменными. </a:t>
                </a:r>
                <a:r>
                  <a:rPr lang="ru-RU" b="1" dirty="0" smtClean="0"/>
                  <a:t>Но пока посмотрим, что будет, если убрать омические потери и утечки, т.е. в ситуации когда </a:t>
                </a:r>
                <a:r>
                  <a:rPr lang="en-US" b="1" dirty="0" smtClean="0"/>
                  <a:t>R=0, Y=0</a:t>
                </a:r>
              </a:p>
              <a:p>
                <a:endParaRPr lang="en-US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13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Длинные линии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ru-RU" i="1" dirty="0" smtClean="0">
                    <a:latin typeface="Cambria Math" panose="02040503050406030204" pitchFamily="18" charset="0"/>
                  </a:rPr>
                  <a:t>В этом случае получается однородное волновое уравнение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𝐿𝑑𝑥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𝐶𝑑𝑥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𝑑𝑢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eqArr>
                        <m:r>
                          <a:rPr lang="en-US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eqArr>
                          </m:e>
                        </m:d>
                      </m:e>
                    </m:d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Его решение известно −это  любая дважды дифференцируемая фкнкция вида: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 Решение представляет собой две волны, прямую: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и обратную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бегущие со скоростью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:r>
                  <a:rPr lang="ru-RU" b="1" dirty="0" smtClean="0">
                    <a:latin typeface="Cambria Math" panose="02040503050406030204" pitchFamily="18" charset="0"/>
                  </a:rPr>
                  <a:t>вдоль оси </a:t>
                </a:r>
                <a:r>
                  <a:rPr lang="en-US" b="1" dirty="0" smtClean="0">
                    <a:latin typeface="Cambria Math" panose="02040503050406030204" pitchFamily="18" charset="0"/>
                  </a:rPr>
                  <a:t>X</a:t>
                </a:r>
              </a:p>
              <a:p>
                <a:r>
                  <a:rPr lang="ru-RU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Соотношение прямой и обратной волн определяется начальными условиями – сигналами на границах линии.</a:t>
                </a:r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6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5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Длинные линии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Представим теперь, что мы передаем в линию не некий произвольный сигнал, а гармоническое колебание. Это не ограничивает общности рассмотрения, так как любой физически реализуемый сигнал можно представить суперпозицией гармонических колебаний.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b="1" dirty="0" smtClean="0">
                  <a:ea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Во временной области период колебаний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В пространственной области нашу волну характеризует длина волны </a:t>
                </a:r>
                <a:r>
                  <a:rPr lang="el-GR" dirty="0" smtClean="0">
                    <a:latin typeface="Cambria Math" panose="02040503050406030204" pitchFamily="18" charset="0"/>
                  </a:rPr>
                  <a:t>λ</a:t>
                </a:r>
                <a:r>
                  <a:rPr lang="ru-RU" dirty="0" smtClean="0">
                    <a:latin typeface="Cambria Math" panose="02040503050406030204" pitchFamily="18" charset="0"/>
                  </a:rPr>
                  <a:t> и волновое число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Так как скорость волны известна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то получаем следующие соотношения между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, </a:t>
                </a:r>
                <a:r>
                  <a:rPr lang="el-GR" dirty="0" smtClean="0">
                    <a:latin typeface="Cambria Math" panose="02040503050406030204" pitchFamily="18" charset="0"/>
                  </a:rPr>
                  <a:t>λ</a:t>
                </a:r>
                <a:r>
                  <a:rPr lang="ru-RU" dirty="0" smtClean="0">
                    <a:latin typeface="Cambria Math" panose="02040503050406030204" pitchFamily="18" charset="0"/>
                  </a:rPr>
                  <a:t>, </a:t>
                </a:r>
                <a:r>
                  <a:rPr lang="en-US" dirty="0" smtClean="0">
                    <a:latin typeface="Cambria Math" panose="02040503050406030204" pitchFamily="18" charset="0"/>
                  </a:rPr>
                  <a:t>k</a:t>
                </a:r>
                <a:r>
                  <a:rPr lang="ru-RU" dirty="0" smtClean="0">
                    <a:latin typeface="Cambria Math" panose="02040503050406030204" pitchFamily="18" charset="0"/>
                  </a:rPr>
                  <a:t> :</a:t>
                </a:r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ru-R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𝐿𝐶</m:t>
                          </m:r>
                        </m:e>
                      </m:rad>
                    </m:oMath>
                  </m:oMathPara>
                </a14:m>
                <a:endParaRPr lang="ru-RU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Cambria Math" panose="02040503050406030204" pitchFamily="18" charset="0"/>
                </a:endParaRPr>
              </a:p>
              <a:p>
                <a:endParaRPr lang="ru-RU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922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08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Фазовая скорость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П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одст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авив в уравнение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 получаем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𝑗𝑘𝑥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𝑗𝑘𝑥</m:t>
                          </m:r>
                        </m:sup>
                      </m:sSup>
                    </m:oMath>
                  </m:oMathPara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Это есть прямая и обратная волна. </a:t>
                </a:r>
              </a:p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Пусть у нас есть только прямая волна, тогда из условия в начале линии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получаем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ru-RU" dirty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Данное решение описывает бегущую волну.</a:t>
                </a:r>
              </a:p>
              <a:p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При этом скорость распространения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dirty="0" smtClean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есть фазовая скорость</a:t>
                </a:r>
                <a:endParaRPr lang="ru-RU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941" b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655" y="4461040"/>
            <a:ext cx="38195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1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Волновое сопротивление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Посмотрим на связь тока и напряжения в линии (в нашем приближении гармонических колебаний) для случая прямой волны.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𝑗𝑘𝑢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ru-RU" dirty="0" smtClean="0">
                  <a:ea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Данная величина показывает соотношение между током и напряжением в бегущей волне и носит название </a:t>
                </a:r>
                <a:r>
                  <a:rPr lang="ru-RU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волнового сопротивления.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79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Линия с потерями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ru-RU" i="1" dirty="0" smtClean="0">
                    <a:latin typeface="Cambria Math" panose="02040503050406030204" pitchFamily="18" charset="0"/>
                  </a:rPr>
                  <a:t>Вернем обратно омические потери в линии</a:t>
                </a:r>
                <a:endParaRPr lang="ru-RU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𝑑𝑢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𝑅𝑖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𝑑𝑢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𝑌𝑢</m:t>
                            </m:r>
                          </m:e>
                        </m:eqArr>
                      </m:e>
                    </m:d>
                  </m:oMath>
                </a14:m>
                <a:endParaRPr lang="ru-RU" dirty="0" smtClean="0"/>
              </a:p>
              <a:p>
                <a:r>
                  <a:rPr lang="ru-RU" i="1" dirty="0" smtClean="0">
                    <a:latin typeface="Cambria Math" panose="02040503050406030204" pitchFamily="18" charset="0"/>
                  </a:rPr>
                  <a:t>Используя входной гармонический сигнал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найдем решение: 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постоянная распространения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(комплексная)</m:t>
                    </m:r>
                  </m:oMath>
                </a14:m>
                <a:endParaRPr lang="ru-RU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−волновое сопротивление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(комплексное)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6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02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Линии с потерями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rad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постоянная затухания</m:t>
                    </m:r>
                  </m:oMath>
                </a14:m>
                <a:endParaRPr lang="ru-RU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−фазовая постоянная 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длина линии при которой фаза изменяется на 1рад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80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Длинные линии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0" i="1" dirty="0" smtClean="0">
                    <a:latin typeface="Cambria Math" panose="02040503050406030204" pitchFamily="18" charset="0"/>
                  </a:rPr>
                  <a:t>Перейдем к комплексным амплитудам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ru-RU" i="1" dirty="0" smtClean="0"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 −комплексные амплитуды прямой и обратной волн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49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Неискажающая линия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В общем виде наличие потерь приводит к двум эффектам: 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b="1" dirty="0" smtClean="0">
                    <a:latin typeface="Cambria Math" panose="02040503050406030204" pitchFamily="18" charset="0"/>
                  </a:rPr>
                  <a:t>Затуханию</a:t>
                </a:r>
                <a:r>
                  <a:rPr lang="ru-RU" dirty="0" smtClean="0">
                    <a:latin typeface="Cambria Math" panose="02040503050406030204" pitchFamily="18" charset="0"/>
                  </a:rPr>
                  <a:t> – постепенному уменьшению амплитуды сигнала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b="1" i="0" dirty="0" smtClean="0">
                        <a:latin typeface="Cambria Math" panose="02040503050406030204" pitchFamily="18" charset="0"/>
                      </a:rPr>
                      <m:t>Дисперсии</m:t>
                    </m:r>
                    <m:r>
                      <m:rPr>
                        <m:nor/>
                      </m:rPr>
                      <a:rPr lang="ru-RU" dirty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иска</m:t>
                    </m:r>
                  </m:oMath>
                </a14:m>
                <a:r>
                  <a:rPr lang="ru-RU" b="0" i="0" dirty="0" smtClean="0">
                    <a:latin typeface="Cambria Math" panose="02040503050406030204" pitchFamily="18" charset="0"/>
                  </a:rPr>
                  <a:t>жению формы сигнала</a:t>
                </a:r>
              </a:p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Искажение формы сигналов может создавать серьезные проблемы. Особенно при передаче коротких (имеющих широкий спектр) импульсов.</a:t>
                </a:r>
              </a:p>
              <a:p>
                <a:pPr marL="0" indent="0">
                  <a:buNone/>
                </a:pPr>
                <a:r>
                  <a:rPr lang="ru-RU" b="1" i="0" dirty="0" smtClean="0">
                    <a:latin typeface="Cambria Math" panose="02040503050406030204" pitchFamily="18" charset="0"/>
                  </a:rPr>
                  <a:t>Условие отсутствия дисперсии:</a:t>
                </a: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ru-RU" dirty="0">
                    <a:latin typeface="Cambria Math" panose="02040503050406030204" pitchFamily="18" charset="0"/>
                  </a:rPr>
                  <a:t>Одинаковое затухание для всех частот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b="0" i="0" dirty="0" smtClean="0">
                    <a:latin typeface="Cambria Math" panose="02040503050406030204" pitchFamily="18" charset="0"/>
                  </a:rPr>
                  <a:t> В общем виде критерий неискажающей линии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был сформулирован </a:t>
                </a:r>
                <a:r>
                  <a:rPr lang="ru-RU" b="0" i="0" dirty="0" err="1" smtClean="0">
                    <a:latin typeface="Cambria Math" panose="02040503050406030204" pitchFamily="18" charset="0"/>
                  </a:rPr>
                  <a:t>Хевисайдом</a:t>
                </a:r>
                <a:r>
                  <a:rPr lang="ru-RU" b="0" i="0" dirty="0" smtClean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ru-RU" b="1" i="0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308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1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Неискажающая линия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Покажем, что линия с малыми потерями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 является неискажающей: 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Фазовые скорости прямой и обратной волны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:endParaRPr lang="ru-RU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b="1" dirty="0" smtClean="0">
                    <a:latin typeface="Cambria Math" panose="02040503050406030204" pitchFamily="18" charset="0"/>
                  </a:rPr>
                  <a:t>Дисперсия отсутствует</a:t>
                </a:r>
                <a:endParaRPr lang="en-US" b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17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Линия удовлетворяющая критерию </a:t>
            </a:r>
            <a:r>
              <a:rPr lang="ru-RU" dirty="0" err="1" smtClean="0"/>
              <a:t>Хевисайда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Покажем, что линия для которой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 является неискажающей: 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d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𝐿𝐶</m:t>
                        </m:r>
                      </m:e>
                    </m:rad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Фазовые скорости прямой и обратной волны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:endParaRPr lang="ru-RU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b="1" dirty="0" smtClean="0">
                    <a:latin typeface="Cambria Math" panose="02040503050406030204" pitchFamily="18" charset="0"/>
                  </a:rPr>
                  <a:t>Дисперсия отсутствует</a:t>
                </a:r>
                <a:endParaRPr lang="en-US" b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 b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59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обратная волны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 smtClean="0">
                    <a:latin typeface="Cambria Math" panose="02040503050406030204" pitchFamily="18" charset="0"/>
                  </a:rPr>
                  <a:t>Найдем соотношения между амплитудами прямой и обратной волн</a:t>
                </a: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Рассмотрим конец линии </a:t>
                </a:r>
                <a:r>
                  <a:rPr lang="en-US" dirty="0" smtClean="0">
                    <a:latin typeface="Cambria Math" panose="02040503050406030204" pitchFamily="18" charset="0"/>
                  </a:rPr>
                  <a:t>(x=0):</a:t>
                </a:r>
                <a:endParaRPr lang="ru-RU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66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обратная волны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коэффициент отражени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я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волны напряжения</m:t>
                    </m:r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коэффициент отражени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я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волн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тока</m:t>
                    </m:r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:endParaRPr lang="en-US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06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обратная волны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коэффициент отражени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я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волны напряжения</m:t>
                    </m:r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коэффициент отражени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я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волн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тока</m:t>
                    </m:r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 smtClean="0">
                  <a:latin typeface="Cambria Math" panose="02040503050406030204" pitchFamily="18" charset="0"/>
                </a:endParaRPr>
              </a:p>
              <a:p>
                <a:endParaRPr lang="en-US" b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98" y="3154261"/>
            <a:ext cx="8971604" cy="261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0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обратная волны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>
                    <a:latin typeface="Cambria Math" panose="02040503050406030204" pitchFamily="18" charset="0"/>
                  </a:rPr>
                  <a:t>Три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простых варианта</a:t>
                </a:r>
                <a:endParaRPr lang="ru-RU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 : согласованная нагрузка –обратной волны нет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открытый конец линии – коэффициент отражения по напряжения равен 1, по току -1</a:t>
                </a: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: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короткозамкнутая линия – коэффициент отражения по напряжению равен -1, по току 1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38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7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Открытая линия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 smtClean="0">
                    <a:latin typeface="Cambria Math" panose="02040503050406030204" pitchFamily="18" charset="0"/>
                  </a:rPr>
                  <a:t>открытый конец линии – коэффициент отражения по напряжения равен 1, по току -1</a:t>
                </a:r>
              </a:p>
              <a:p>
                <a:endParaRPr lang="ru-RU" dirty="0">
                  <a:latin typeface="Cambria Math" panose="02040503050406030204" pitchFamily="18" charset="0"/>
                </a:endParaRPr>
              </a:p>
              <a:p>
                <a:endParaRPr lang="ru-RU" dirty="0" smtClean="0">
                  <a:latin typeface="Cambria Math" panose="02040503050406030204" pitchFamily="18" charset="0"/>
                </a:endParaRPr>
              </a:p>
              <a:p>
                <a:endParaRPr lang="ru-RU" dirty="0">
                  <a:latin typeface="Cambria Math" panose="02040503050406030204" pitchFamily="18" charset="0"/>
                </a:endParaRPr>
              </a:p>
              <a:p>
                <a:endParaRPr lang="ru-RU" dirty="0" smtClean="0">
                  <a:latin typeface="Cambria Math" panose="02040503050406030204" pitchFamily="18" charset="0"/>
                </a:endParaRPr>
              </a:p>
              <a:p>
                <a:endParaRPr lang="ru-RU" dirty="0">
                  <a:latin typeface="Cambria Math" panose="02040503050406030204" pitchFamily="18" charset="0"/>
                </a:endParaRPr>
              </a:p>
              <a:p>
                <a:endParaRPr lang="ru-RU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На конце линии наблюдается удвоенная амплитуда напряжения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640" y="2612057"/>
            <a:ext cx="5594016" cy="294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Открытая линия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А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нимированно (©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h𝑡𝑡𝑝𝑠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://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𝑒𝑚𝑝𝑜𝑠𝑠𝑖𝑏𝑙𝑒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𝑎𝑐𝑎𝑑𝑒𝑚𝑖𝑐𝑠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795" y="1641558"/>
            <a:ext cx="8093032" cy="373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2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Короткозамкнутая  линия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: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короткозамкнутая линия – коэффициент отражения по напряжению равен -1, по току 1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30" y="2975525"/>
            <a:ext cx="5204714" cy="32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0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Коэффициент бегущей/стоячей волны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&lt;0</a:t>
                </a: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&gt;0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98" y="3154261"/>
            <a:ext cx="8971604" cy="261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0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Коэффициент бегущей/стоячей волны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Анимированно (©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h𝑡𝑡𝑝𝑠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://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𝑒𝑚𝑝𝑜𝑠𝑠𝑖𝑏𝑙𝑒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𝑎𝑐𝑎𝑑𝑒𝑚𝑖𝑐𝑠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56" y="1543590"/>
            <a:ext cx="8344396" cy="38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8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Коэффициент бегущей/стоячей волны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&lt;0</a:t>
                </a: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&gt;</a:t>
                </a:r>
                <a:r>
                  <a:rPr lang="en-US" dirty="0" smtClean="0">
                    <a:latin typeface="Cambria Math" panose="02040503050406030204" pitchFamily="18" charset="0"/>
                  </a:rPr>
                  <a:t>0</a:t>
                </a:r>
                <a:endParaRPr lang="ru-RU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КБВ (коэффициент бегущей волны)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К</a:t>
                </a:r>
                <a:r>
                  <a:rPr lang="en-US" dirty="0" smtClean="0">
                    <a:latin typeface="Cambria Math" panose="02040503050406030204" pitchFamily="18" charset="0"/>
                  </a:rPr>
                  <a:t>C</a:t>
                </a:r>
                <a:r>
                  <a:rPr lang="ru-RU" dirty="0" smtClean="0">
                    <a:latin typeface="Cambria Math" panose="02040503050406030204" pitchFamily="18" charset="0"/>
                  </a:rPr>
                  <a:t>В </a:t>
                </a:r>
                <a:r>
                  <a:rPr lang="ru-RU" dirty="0">
                    <a:latin typeface="Cambria Math" panose="02040503050406030204" pitchFamily="18" charset="0"/>
                  </a:rPr>
                  <a:t>(коэффициент </a:t>
                </a:r>
                <a:r>
                  <a:rPr lang="ru-RU" dirty="0" smtClean="0">
                    <a:latin typeface="Cambria Math" panose="02040503050406030204" pitchFamily="18" charset="0"/>
                  </a:rPr>
                  <a:t>стоячей </a:t>
                </a:r>
                <a:r>
                  <a:rPr lang="ru-RU" dirty="0">
                    <a:latin typeface="Cambria Math" panose="02040503050406030204" pitchFamily="18" charset="0"/>
                  </a:rPr>
                  <a:t>волны)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=&gt;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КБВ</a:t>
                </a:r>
                <a:r>
                  <a:rPr lang="en-US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,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</a:t>
                </a:r>
                <a:r>
                  <a:rPr lang="en-US" dirty="0" smtClean="0">
                    <a:latin typeface="Cambria Math" panose="02040503050406030204" pitchFamily="18" charset="0"/>
                  </a:rPr>
                  <a:t>C</a:t>
                </a:r>
                <a:r>
                  <a:rPr lang="ru-RU" dirty="0" smtClean="0">
                    <a:latin typeface="Cambria Math" panose="02040503050406030204" pitchFamily="18" charset="0"/>
                  </a:rPr>
                  <a:t>В</a:t>
                </a:r>
                <a:r>
                  <a:rPr lang="en-US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𝑅𝑛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=&gt;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КБВ</a:t>
                </a:r>
                <a:r>
                  <a:rPr lang="en-US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, </a:t>
                </a:r>
                <a:r>
                  <a:rPr lang="ru-RU" dirty="0" smtClean="0">
                    <a:latin typeface="Cambria Math" panose="02040503050406030204" pitchFamily="18" charset="0"/>
                  </a:rPr>
                  <a:t>КСВ</a:t>
                </a:r>
                <a:r>
                  <a:rPr lang="en-US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</a:rPr>
                  <a:t>Для произвольного </a:t>
                </a:r>
                <a:r>
                  <a:rPr lang="en-US" dirty="0" smtClean="0">
                    <a:latin typeface="Cambria Math" panose="02040503050406030204" pitchFamily="18" charset="0"/>
                  </a:rPr>
                  <a:t>Zn: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КБВ=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13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Входное сопротивление линии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ru-RU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 smtClean="0">
                    <a:latin typeface="Cambria Math" panose="02040503050406030204" pitchFamily="18" charset="0"/>
                  </a:rPr>
                  <a:t>Zn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𝑗𝑘𝑙</m:t>
                            </m:r>
                          </m:sup>
                        </m:sSup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𝑗𝑘𝑙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r>
                  <a:rPr lang="ru-RU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Согласованная линия</a:t>
                </a:r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=</a:t>
                </a:r>
                <a:r>
                  <a:rPr lang="ru-R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b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03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Входное сопротивление линии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О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ткрытая линия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𝑐𝑡𝑔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37" y="2566897"/>
            <a:ext cx="3470606" cy="389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1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Входное сопротивление линии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0" dirty="0" smtClean="0"/>
                  <a:t>Короткозамкнутая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 линия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b="0" dirty="0" smtClean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050" y="2528696"/>
            <a:ext cx="3657516" cy="432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4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Входное сопротивление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Трансформатор сопротивления </a:t>
            </a:r>
          </a:p>
          <a:p>
            <a:endParaRPr lang="ru-RU" b="0" dirty="0" smtClean="0">
              <a:latin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ru-RU" dirty="0" smtClean="0">
              <a:latin typeface="Cambria Math" panose="0204050305040603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62" y="2409578"/>
            <a:ext cx="9457189" cy="305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2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Реальные длинные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b="0" dirty="0" smtClean="0">
              <a:latin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ru-RU" dirty="0" smtClean="0">
              <a:latin typeface="Cambria Math" panose="0204050305040603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128907" cy="27102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101" y="1510019"/>
            <a:ext cx="4527601" cy="34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8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Реальные длинные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b="0" dirty="0" smtClean="0">
              <a:latin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ru-RU" dirty="0" smtClean="0">
              <a:latin typeface="Cambria Math" panose="0204050305040603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378" y="1690688"/>
            <a:ext cx="52197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5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Микро-полосковые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b="0" dirty="0" smtClean="0">
              <a:latin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ru-RU" dirty="0" smtClean="0">
              <a:latin typeface="Cambria Math" panose="0204050305040603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43" y="1530290"/>
            <a:ext cx="8218104" cy="50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670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Микро-полосковые линии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b="0" dirty="0" smtClean="0">
              <a:latin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ru-RU" dirty="0" smtClean="0">
              <a:latin typeface="Cambria Math" panose="0204050305040603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1493"/>
            <a:ext cx="12192000" cy="303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619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3517</TotalTime>
  <Words>411</Words>
  <Application>Microsoft Office PowerPoint</Application>
  <PresentationFormat>Широкоэкранный</PresentationFormat>
  <Paragraphs>182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Тема Office</vt:lpstr>
      <vt:lpstr>Лекция 6</vt:lpstr>
      <vt:lpstr>Схема с распределенными параметрами</vt:lpstr>
      <vt:lpstr>Схема с распределенными параметрами</vt:lpstr>
      <vt:lpstr>Длинные линии</vt:lpstr>
      <vt:lpstr>Длинные линии</vt:lpstr>
      <vt:lpstr>Длинные линии</vt:lpstr>
      <vt:lpstr>Длинные линии</vt:lpstr>
      <vt:lpstr>Фазовая скорость</vt:lpstr>
      <vt:lpstr>Волновое сопротивление</vt:lpstr>
      <vt:lpstr>Линия с потерями</vt:lpstr>
      <vt:lpstr>Линии с потерями</vt:lpstr>
      <vt:lpstr>Длинные линии</vt:lpstr>
      <vt:lpstr>Неискажающая линия</vt:lpstr>
      <vt:lpstr>Неискажающая линия</vt:lpstr>
      <vt:lpstr>Линия удовлетворяющая критерию Хевисайда</vt:lpstr>
      <vt:lpstr>Прямая и обратная волны</vt:lpstr>
      <vt:lpstr>Прямая и обратная волны</vt:lpstr>
      <vt:lpstr>Прямая и обратная волны</vt:lpstr>
      <vt:lpstr>Прямая и обратная волны</vt:lpstr>
      <vt:lpstr>Открытая линия</vt:lpstr>
      <vt:lpstr>Открытая линия</vt:lpstr>
      <vt:lpstr>Короткозамкнутая  линия</vt:lpstr>
      <vt:lpstr>Коэффициент бегущей/стоячей волны</vt:lpstr>
      <vt:lpstr>Коэффициент бегущей/стоячей волны</vt:lpstr>
      <vt:lpstr>Коэффициент бегущей/стоячей волны</vt:lpstr>
      <vt:lpstr>Входное сопротивление линии</vt:lpstr>
      <vt:lpstr>Входное сопротивление линии</vt:lpstr>
      <vt:lpstr>Входное сопротивление линии</vt:lpstr>
      <vt:lpstr>Входное сопротивление линии</vt:lpstr>
      <vt:lpstr>Реальные длинные линии</vt:lpstr>
      <vt:lpstr>Реальные длинные линии</vt:lpstr>
      <vt:lpstr>Микро-полосковые линии</vt:lpstr>
      <vt:lpstr>Микро-полосковые линии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254</cp:revision>
  <dcterms:created xsi:type="dcterms:W3CDTF">2020-09-02T13:49:40Z</dcterms:created>
  <dcterms:modified xsi:type="dcterms:W3CDTF">2021-10-14T04:05:07Z</dcterms:modified>
</cp:coreProperties>
</file>