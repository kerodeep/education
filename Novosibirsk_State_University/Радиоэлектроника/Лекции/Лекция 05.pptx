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3432" y="20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png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9.bin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6.png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5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Электрические схемы переменного тока:</a:t>
            </a:r>
          </a:p>
          <a:p>
            <a:pPr marL="0" indent="0" algn="ctr">
              <a:buNone/>
            </a:pPr>
            <a:r>
              <a:rPr lang="ru-RU" i="1" dirty="0" smtClean="0"/>
              <a:t>Резонансные цепи,</a:t>
            </a:r>
          </a:p>
          <a:p>
            <a:pPr marL="0" indent="0" algn="ctr">
              <a:buNone/>
            </a:pPr>
            <a:r>
              <a:rPr lang="ru-RU" i="1" dirty="0" smtClean="0"/>
              <a:t>Характеристики резонансного контура</a:t>
            </a:r>
            <a:r>
              <a:rPr lang="en-US" i="1" dirty="0" smtClean="0"/>
              <a:t>.</a:t>
            </a:r>
          </a:p>
          <a:p>
            <a:pPr marL="0" indent="0" algn="ctr">
              <a:buNone/>
            </a:pPr>
            <a:r>
              <a:rPr lang="ru-RU" i="1" dirty="0" smtClean="0"/>
              <a:t>Последовательный </a:t>
            </a:r>
            <a:r>
              <a:rPr lang="en-US" i="1" dirty="0" smtClean="0"/>
              <a:t>LC </a:t>
            </a:r>
            <a:r>
              <a:rPr lang="ru-RU" i="1" dirty="0" smtClean="0"/>
              <a:t>контур: резонанс напряжений,</a:t>
            </a:r>
          </a:p>
          <a:p>
            <a:pPr marL="0" indent="0" algn="ctr">
              <a:buNone/>
            </a:pPr>
            <a:r>
              <a:rPr lang="ru-RU" i="1" dirty="0" smtClean="0"/>
              <a:t>Параллельный </a:t>
            </a:r>
            <a:r>
              <a:rPr lang="en-US" i="1" smtClean="0"/>
              <a:t>LC </a:t>
            </a:r>
            <a:r>
              <a:rPr lang="ru-RU" i="1" smtClean="0"/>
              <a:t>контур</a:t>
            </a:r>
            <a:r>
              <a:rPr lang="ru-RU" i="1" dirty="0" smtClean="0"/>
              <a:t>: резонанс токов.</a:t>
            </a:r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LC </a:t>
            </a:r>
            <a:r>
              <a:rPr lang="ru-RU" dirty="0" smtClean="0"/>
              <a:t>контур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Рассмотрим схему в которой будут оба реактивных элемента и катушка индуктивности и электрический конденсатор.</a:t>
            </a:r>
          </a:p>
          <a:p>
            <a:pPr>
              <a:buNone/>
            </a:pPr>
            <a:r>
              <a:rPr lang="ru-RU" dirty="0" smtClean="0"/>
              <a:t>Найдем комплексное сопротивление последовательно соединенных </a:t>
            </a:r>
            <a:r>
              <a:rPr lang="en-US" dirty="0" smtClean="0"/>
              <a:t>L </a:t>
            </a:r>
            <a:r>
              <a:rPr lang="ru-RU" dirty="0" smtClean="0"/>
              <a:t>и </a:t>
            </a:r>
            <a:r>
              <a:rPr lang="en-US" dirty="0" smtClean="0"/>
              <a:t>C</a:t>
            </a:r>
            <a:r>
              <a:rPr lang="ru-RU" dirty="0" smtClean="0"/>
              <a:t>, как показано на рисунке.</a:t>
            </a:r>
          </a:p>
          <a:p>
            <a:pPr>
              <a:buNone/>
            </a:pPr>
            <a:r>
              <a:rPr lang="ru-RU" dirty="0" smtClean="0"/>
              <a:t>Такое соединение называется последовательный </a:t>
            </a:r>
            <a:r>
              <a:rPr lang="en-US" dirty="0" smtClean="0"/>
              <a:t>LC </a:t>
            </a:r>
            <a:r>
              <a:rPr lang="ru-RU" dirty="0" smtClean="0"/>
              <a:t>контур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8942" y="4152376"/>
            <a:ext cx="3788239" cy="1439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Последовательный </a:t>
            </a:r>
            <a:r>
              <a:rPr lang="en-US" dirty="0" smtClean="0"/>
              <a:t>LC </a:t>
            </a:r>
            <a:r>
              <a:rPr lang="ru-RU" dirty="0" smtClean="0"/>
              <a:t>контур</a:t>
            </a:r>
            <a:endParaRPr lang="ru-RU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29601" y="1705203"/>
            <a:ext cx="1026738" cy="3643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Объект 6"/>
          <p:cNvGraphicFramePr>
            <a:graphicFrameLocks noChangeAspect="1"/>
          </p:cNvGraphicFramePr>
          <p:nvPr/>
        </p:nvGraphicFramePr>
        <p:xfrm>
          <a:off x="3933301" y="1617524"/>
          <a:ext cx="5347891" cy="959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Формула" r:id="rId4" imgW="2476440" imgH="444240" progId="Equation.3">
                  <p:embed/>
                </p:oleObj>
              </mc:Choice>
              <mc:Fallback>
                <p:oleObj name="Формула" r:id="rId4" imgW="2476440" imgH="4442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301" y="1617524"/>
                        <a:ext cx="5347891" cy="9598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62625" y="3069770"/>
            <a:ext cx="77874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Видно что: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Комплексное сопротивление чисто реактивное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Оно обращается в нуль при  </a:t>
            </a:r>
            <a:r>
              <a:rPr lang="el-GR" sz="2800" dirty="0" smtClean="0"/>
              <a:t>ω</a:t>
            </a:r>
            <a:r>
              <a:rPr lang="ru-RU" sz="2800" dirty="0" smtClean="0"/>
              <a:t>=1/</a:t>
            </a:r>
            <a:r>
              <a:rPr lang="en-US" sz="2800" dirty="0" smtClean="0"/>
              <a:t>LC</a:t>
            </a:r>
            <a:endParaRPr lang="ru-RU" sz="2800" dirty="0" smtClean="0"/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При частотах много выше </a:t>
            </a:r>
            <a:r>
              <a:rPr lang="el-GR" sz="2800" dirty="0" smtClean="0"/>
              <a:t>ω</a:t>
            </a:r>
            <a:r>
              <a:rPr lang="ru-RU" sz="2800" dirty="0" smtClean="0"/>
              <a:t>=1/</a:t>
            </a:r>
            <a:r>
              <a:rPr lang="en-US" sz="2800" dirty="0" smtClean="0"/>
              <a:t>LC</a:t>
            </a:r>
            <a:r>
              <a:rPr lang="ru-RU" sz="2800" dirty="0" smtClean="0"/>
              <a:t> комплексное сопротивление индуктивное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При частотах много меньше </a:t>
            </a:r>
            <a:r>
              <a:rPr lang="el-GR" sz="2800" dirty="0" smtClean="0"/>
              <a:t>ω</a:t>
            </a:r>
            <a:r>
              <a:rPr lang="ru-RU" sz="2800" dirty="0" smtClean="0"/>
              <a:t>=1/</a:t>
            </a:r>
            <a:r>
              <a:rPr lang="en-US" sz="2800" dirty="0" smtClean="0"/>
              <a:t>LC</a:t>
            </a:r>
            <a:r>
              <a:rPr lang="ru-RU" sz="2800" dirty="0" smtClean="0"/>
              <a:t>  </a:t>
            </a:r>
            <a:r>
              <a:rPr lang="ru-RU" sz="2800" dirty="0" err="1" smtClean="0"/>
              <a:t>комлексное</a:t>
            </a:r>
            <a:r>
              <a:rPr lang="ru-RU" sz="2800" dirty="0" smtClean="0"/>
              <a:t> сопротивление емкостное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Параллельный </a:t>
            </a:r>
            <a:r>
              <a:rPr lang="en-US" dirty="0" smtClean="0"/>
              <a:t>LC </a:t>
            </a:r>
            <a:r>
              <a:rPr lang="ru-RU" dirty="0" smtClean="0"/>
              <a:t>контур</a:t>
            </a:r>
            <a:endParaRPr lang="ru-RU" dirty="0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/>
        </p:nvGraphicFramePr>
        <p:xfrm>
          <a:off x="3714750" y="1439863"/>
          <a:ext cx="5786438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Формула" r:id="rId3" imgW="2679480" imgH="609480" progId="Equation.3">
                  <p:embed/>
                </p:oleObj>
              </mc:Choice>
              <mc:Fallback>
                <p:oleObj name="Формула" r:id="rId3" imgW="2679480" imgH="609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1439863"/>
                        <a:ext cx="5786438" cy="1317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62625" y="3069770"/>
            <a:ext cx="77874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Видно что: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Комплексное сопротивление чисто реактивное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Оно обращается в бесконечность при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Комплексная проводимость обращается в нуль при той же частоте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При частотах много выше               </a:t>
            </a:r>
            <a:r>
              <a:rPr lang="ru-RU" sz="2800" dirty="0" err="1" smtClean="0"/>
              <a:t>комлексное</a:t>
            </a:r>
            <a:r>
              <a:rPr lang="ru-RU" sz="2800" dirty="0" smtClean="0"/>
              <a:t> сопротивление емкостное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При частотах много выше - индуктивное</a:t>
            </a:r>
            <a:endParaRPr lang="ru-RU" sz="2800" dirty="0"/>
          </a:p>
        </p:txBody>
      </p:sp>
      <p:pic>
        <p:nvPicPr>
          <p:cNvPr id="30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28907" y="2274206"/>
            <a:ext cx="1857551" cy="2222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9772039" y="3859474"/>
          <a:ext cx="10382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Формула" r:id="rId6" imgW="647640" imgH="419040" progId="Equation.3">
                  <p:embed/>
                </p:oleObj>
              </mc:Choice>
              <mc:Fallback>
                <p:oleObj name="Формула" r:id="rId6" imgW="6476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2039" y="3859474"/>
                        <a:ext cx="103822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7807587" y="5145663"/>
          <a:ext cx="10382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Формула" r:id="rId8" imgW="647640" imgH="419040" progId="Equation.3">
                  <p:embed/>
                </p:oleObj>
              </mc:Choice>
              <mc:Fallback>
                <p:oleObj name="Формула" r:id="rId8" imgW="647640" imgH="419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7587" y="5145663"/>
                        <a:ext cx="103822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Рассмотрим теперь следующую схему:</a:t>
            </a:r>
          </a:p>
          <a:p>
            <a:pPr>
              <a:buNone/>
            </a:pPr>
            <a:r>
              <a:rPr lang="ru-RU" dirty="0" smtClean="0"/>
              <a:t>   Источник переменного напряжения частотой </a:t>
            </a:r>
            <a:r>
              <a:rPr lang="el-GR" dirty="0" smtClean="0"/>
              <a:t>ω</a:t>
            </a:r>
            <a:r>
              <a:rPr lang="ru-RU" dirty="0" smtClean="0"/>
              <a:t> нагружен на последовательный </a:t>
            </a:r>
            <a:r>
              <a:rPr lang="en-US" dirty="0" smtClean="0"/>
              <a:t>LC </a:t>
            </a:r>
            <a:r>
              <a:rPr lang="ru-RU" dirty="0" smtClean="0"/>
              <a:t>контур. Так как мы знаем, что комплексное сопротивление на некоторой частоте обратится в нуль, то на этой частоте значение будет иметь любое последовательно включенное сопротивление, как бы мало оно ни было (это может быть сопротивление проводов, внутреннее сопротивление источника напряжения)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				Найдем ток в контуре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   </a:t>
            </a:r>
            <a:endParaRPr lang="ru-RU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0863" y="2067920"/>
            <a:ext cx="2271084" cy="298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Объект 7"/>
          <p:cNvGraphicFramePr>
            <a:graphicFrameLocks noChangeAspect="1"/>
          </p:cNvGraphicFramePr>
          <p:nvPr/>
        </p:nvGraphicFramePr>
        <p:xfrm>
          <a:off x="4008804" y="2576862"/>
          <a:ext cx="7059455" cy="73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Формула" r:id="rId4" imgW="4736880" imgH="495000" progId="Equation.3">
                  <p:embed/>
                </p:oleObj>
              </mc:Choice>
              <mc:Fallback>
                <p:oleObj name="Формула" r:id="rId4" imgW="4736880" imgH="4950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804" y="2576862"/>
                        <a:ext cx="7059455" cy="738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4018678" y="3504607"/>
          <a:ext cx="2706688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Формула" r:id="rId6" imgW="1815840" imgH="469800" progId="Equation.3">
                  <p:embed/>
                </p:oleObj>
              </mc:Choice>
              <mc:Fallback>
                <p:oleObj name="Формула" r:id="rId6" imgW="1815840" imgH="4698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678" y="3504607"/>
                        <a:ext cx="2706688" cy="7000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				</a:t>
            </a:r>
            <a:r>
              <a:rPr lang="ru-RU" b="1" dirty="0" smtClean="0"/>
              <a:t>Частота              , на которой реактивная                				составляющая сопротивления равна нулю 				называется резонансной частотой 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   </a:t>
            </a:r>
            <a:endParaRPr lang="ru-RU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0863" y="2067920"/>
            <a:ext cx="2271084" cy="298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Объект 7"/>
          <p:cNvGraphicFramePr>
            <a:graphicFrameLocks noChangeAspect="1"/>
          </p:cNvGraphicFramePr>
          <p:nvPr/>
        </p:nvGraphicFramePr>
        <p:xfrm>
          <a:off x="4144458" y="4345372"/>
          <a:ext cx="7059455" cy="73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Формула" r:id="rId4" imgW="4736880" imgH="495000" progId="Equation.3">
                  <p:embed/>
                </p:oleObj>
              </mc:Choice>
              <mc:Fallback>
                <p:oleObj name="Формула" r:id="rId4" imgW="4736880" imgH="495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458" y="4345372"/>
                        <a:ext cx="7059455" cy="738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5773406" y="1728963"/>
          <a:ext cx="103822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Формула" r:id="rId6" imgW="647640" imgH="419040" progId="Equation.3">
                  <p:embed/>
                </p:oleObj>
              </mc:Choice>
              <mc:Fallback>
                <p:oleObj name="Формула" r:id="rId6" imgW="6476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406" y="1728963"/>
                        <a:ext cx="103822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ru-RU" dirty="0" smtClean="0"/>
                  <a:t>	</a:t>
                </a:r>
                <a:r>
                  <a:rPr lang="en-US" dirty="0" smtClean="0"/>
                  <a:t>				</a:t>
                </a:r>
                <a:r>
                  <a:rPr lang="ru-RU" dirty="0" smtClean="0"/>
                  <a:t>При резонансе напряжение суммарное 					напряжение на реактивной части 						сопротивления равно нулю. 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endParaRPr lang="ru-RU" dirty="0" smtClean="0"/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Теперь посмотрим на напряжения на 					отдельных элементах: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ru-RU" dirty="0" smtClean="0"/>
                  <a:t>				</a:t>
                </a:r>
                <a:endParaRPr lang="ru-RU" b="1" dirty="0" smtClean="0"/>
              </a:p>
              <a:p>
                <a:pPr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0863" y="2067920"/>
            <a:ext cx="2271084" cy="298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8195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Величина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ru-RU" dirty="0" smtClean="0"/>
                  <a:t>называется </a:t>
                </a:r>
                <a:r>
                  <a:rPr lang="ru-RU" b="1" dirty="0" smtClean="0"/>
                  <a:t>Характеристическим сопротивлением (волновым сопротивлением) </a:t>
                </a:r>
                <a:r>
                  <a:rPr lang="ru-RU" dirty="0" smtClean="0"/>
                  <a:t>контура.</a:t>
                </a:r>
              </a:p>
              <a:p>
                <a:pPr>
                  <a:buNone/>
                </a:pPr>
                <a:r>
                  <a:rPr lang="ru-RU" dirty="0" smtClean="0"/>
                  <a:t>Тогда напряжение на элементах можно выразить так: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𝑄𝐸</m:t>
                    </m:r>
                  </m:oMath>
                </a14:m>
                <a:r>
                  <a:rPr lang="ru-RU" b="1" dirty="0" smtClean="0"/>
                  <a:t> </a:t>
                </a:r>
                <a:endParaRPr lang="en-US" b="1" dirty="0" smtClean="0"/>
              </a:p>
              <a:p>
                <a:pPr>
                  <a:buNone/>
                </a:pPr>
                <a:r>
                  <a:rPr lang="ru-RU" dirty="0" smtClean="0"/>
                  <a:t>Величина </a:t>
                </a:r>
                <a:r>
                  <a:rPr lang="en-US" dirty="0" smtClean="0"/>
                  <a:t>Q – </a:t>
                </a:r>
                <a:r>
                  <a:rPr lang="ru-RU" dirty="0" smtClean="0"/>
                  <a:t>называется </a:t>
                </a:r>
                <a:r>
                  <a:rPr lang="ru-RU" b="1" dirty="0" smtClean="0"/>
                  <a:t>добротностью </a:t>
                </a:r>
                <a:r>
                  <a:rPr lang="ru-RU" dirty="0" smtClean="0"/>
                  <a:t>контура. </a:t>
                </a:r>
              </a:p>
              <a:p>
                <a:pPr>
                  <a:buNone/>
                </a:pPr>
                <a:r>
                  <a:rPr lang="ru-RU" b="1" i="1" dirty="0" smtClean="0"/>
                  <a:t>Добротность показывает насколько при резонансной частоте напряжение на каждом из реактивных элементов превышает напряжение прикладываемое к контуру.</a:t>
                </a:r>
                <a:r>
                  <a:rPr lang="ru-RU" b="1" dirty="0" smtClean="0"/>
                  <a:t>	</a:t>
                </a:r>
                <a:r>
                  <a:rPr lang="ru-RU" dirty="0" smtClean="0"/>
                  <a:t>	</a:t>
                </a:r>
                <a:endParaRPr lang="ru-RU" b="1" dirty="0" smtClean="0"/>
              </a:p>
              <a:p>
                <a:pPr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r="-870" b="-4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42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Рассмотрим теперь величину мгновенного значения энергии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="1" dirty="0" smtClean="0"/>
              </a:p>
              <a:p>
                <a:pPr>
                  <a:buNone/>
                </a:pPr>
                <a:endParaRPr lang="en-US" b="1" dirty="0" smtClean="0"/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nor/>
                              </m:rPr>
                              <a:rPr lang="en-US" b="1" dirty="0"/>
                              <m:t>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nor/>
                              </m:rPr>
                              <a:rPr lang="en-US" b="1" dirty="0"/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r>
                  <a:rPr lang="ru-RU" b="1" dirty="0" smtClean="0"/>
                  <a:t>	</a:t>
                </a:r>
                <a:r>
                  <a:rPr lang="ru-RU" dirty="0" smtClean="0"/>
                  <a:t>	</a:t>
                </a:r>
                <a:endParaRPr lang="ru-RU" b="1" dirty="0" smtClean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𝑠𝑖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="1" dirty="0"/>
              </a:p>
              <a:p>
                <a:pPr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60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Найдем суммарную мгновенную мощность на реактивных элементах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ru-RU" dirty="0" smtClean="0"/>
                  <a:t>Видим что суммарная мгновенная мощность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ru-RU" dirty="0" smtClean="0"/>
                  <a:t> не изменяется во времени. Т.е. энергия перекачивается между индуктивностью и емкостью, запасаясь сначала в виде энергии магнитного поля, затем в виде энергии электрического поля и так по кругу.</a:t>
                </a:r>
              </a:p>
              <a:p>
                <a:pPr>
                  <a:buNone/>
                </a:pPr>
                <a:r>
                  <a:rPr lang="ru-RU" dirty="0" smtClean="0"/>
                  <a:t>Потери энергии на активном сопротивлении за период – интеграл мгновенной мощности</a:t>
                </a:r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78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Найдем суммарную мгновенную мощность на реактивных элементах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ru-RU" dirty="0" smtClean="0"/>
                  <a:t>Видим что суммарная мгновенная мощность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ru-RU" dirty="0" smtClean="0"/>
                  <a:t> не изменяется во времени. Т.е. энергия перекачивается между индуктивностью и емкостью, запасаясь сначала в виде энергии магнитного поля, затем в виде энергии электрического поля и так по кругу.</a:t>
                </a:r>
              </a:p>
              <a:p>
                <a:pPr>
                  <a:buNone/>
                </a:pPr>
                <a:r>
                  <a:rPr lang="ru-RU" dirty="0" smtClean="0"/>
                  <a:t>Потери энергии на активном сопротивлении за период – интеграл мгновенной мощности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nary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6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последовательном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Отношение реактивной энергии к активным потерям: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 smtClean="0"/>
              </a:p>
              <a:p>
                <a:pPr>
                  <a:buNone/>
                </a:pPr>
                <a:r>
                  <a:rPr lang="ru-RU" dirty="0" smtClean="0"/>
                  <a:t>Тогда можно сделать другое определение добротности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где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−средняя мощность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за период</m:t>
                      </m:r>
                    </m:oMath>
                  </m:oMathPara>
                </a14:m>
                <a:endParaRPr lang="ru-RU" dirty="0" smtClean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5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Параллельный </a:t>
            </a:r>
            <a:r>
              <a:rPr lang="en-US" dirty="0" smtClean="0"/>
              <a:t>LC </a:t>
            </a:r>
            <a:r>
              <a:rPr lang="ru-RU" dirty="0" smtClean="0"/>
              <a:t>контур</a:t>
            </a:r>
            <a:endParaRPr lang="ru-RU" dirty="0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/>
        </p:nvGraphicFramePr>
        <p:xfrm>
          <a:off x="3714750" y="1439863"/>
          <a:ext cx="5786438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Формула" r:id="rId3" imgW="2679480" imgH="609480" progId="Equation.3">
                  <p:embed/>
                </p:oleObj>
              </mc:Choice>
              <mc:Fallback>
                <p:oleObj name="Формула" r:id="rId3" imgW="267948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1439863"/>
                        <a:ext cx="5786438" cy="1317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62625" y="3069770"/>
            <a:ext cx="77874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prstClr val="black"/>
                </a:solidFill>
              </a:rPr>
              <a:t>Видно что: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</a:rPr>
              <a:t>Комплексное сопротивление чисто реактивное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</a:rPr>
              <a:t>Оно обращается в бесконечность при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</a:rPr>
              <a:t>Комплексная проводимость обращается в нуль при той же частоте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</a:rPr>
              <a:t>При частотах много выше               </a:t>
            </a:r>
            <a:r>
              <a:rPr lang="ru-RU" sz="2800" dirty="0" err="1" smtClean="0">
                <a:solidFill>
                  <a:prstClr val="black"/>
                </a:solidFill>
              </a:rPr>
              <a:t>комлексное</a:t>
            </a:r>
            <a:r>
              <a:rPr lang="ru-RU" sz="2800" dirty="0" smtClean="0">
                <a:solidFill>
                  <a:prstClr val="black"/>
                </a:solidFill>
              </a:rPr>
              <a:t> сопротивление емкостное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prstClr val="black"/>
                </a:solidFill>
              </a:rPr>
              <a:t>При частотах много выше - индуктивное</a:t>
            </a:r>
            <a:endParaRPr lang="ru-RU" sz="2800" dirty="0">
              <a:solidFill>
                <a:prstClr val="black"/>
              </a:solidFill>
            </a:endParaRPr>
          </a:p>
        </p:txBody>
      </p:sp>
      <p:pic>
        <p:nvPicPr>
          <p:cNvPr id="30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28907" y="2274206"/>
            <a:ext cx="1857551" cy="2222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9772039" y="3859474"/>
          <a:ext cx="10382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Формула" r:id="rId6" imgW="647640" imgH="419040" progId="Equation.3">
                  <p:embed/>
                </p:oleObj>
              </mc:Choice>
              <mc:Fallback>
                <p:oleObj name="Формула" r:id="rId6" imgW="647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2039" y="3859474"/>
                        <a:ext cx="103822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7807587" y="5145663"/>
          <a:ext cx="10382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Формула" r:id="rId8" imgW="647640" imgH="419040" progId="Equation.3">
                  <p:embed/>
                </p:oleObj>
              </mc:Choice>
              <mc:Fallback>
                <p:oleObj name="Формула" r:id="rId8" imgW="647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7587" y="5145663"/>
                        <a:ext cx="103822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56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Так как комплексное сопротивление идеального параллельного </a:t>
            </a:r>
            <a:r>
              <a:rPr lang="en-US" dirty="0" smtClean="0"/>
              <a:t>LC</a:t>
            </a:r>
            <a:r>
              <a:rPr lang="ru-RU" dirty="0" smtClean="0"/>
              <a:t> контура стремится на резонансной частоте к бесконечности, то при рассмотрении такого контура становятся существенными любые по величине параллельно подключенные сопротивления.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</a:t>
            </a:r>
            <a:r>
              <a:rPr lang="ru-RU" dirty="0"/>
              <a:t>	</a:t>
            </a:r>
            <a:r>
              <a:rPr lang="ru-RU" dirty="0" smtClean="0"/>
              <a:t>Так же можно заметить, что так как 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	проводимость </a:t>
            </a:r>
            <a:r>
              <a:rPr lang="en-US" dirty="0" smtClean="0"/>
              <a:t>LC </a:t>
            </a:r>
            <a:r>
              <a:rPr lang="ru-RU" dirty="0" smtClean="0"/>
              <a:t>контура становится 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	чисто активной на частоте резонанса,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	то решения для параллельного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	контура будут аналогичны 							полученным для последовательного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	с заменой сопротивления на 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		проводимость, а тока на напряжение.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17" y="3614139"/>
            <a:ext cx="3594884" cy="248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8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ru-RU" dirty="0" smtClean="0"/>
                  <a:t>					Найдем напряжение на контуре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r>
                  <a:rPr lang="ru-RU" dirty="0" smtClean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dirty="0" smtClean="0"/>
                  <a:t> проводимость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ru-RU" dirty="0" smtClean="0"/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Аналогично последовательному </a:t>
                </a:r>
                <a:r>
                  <a:rPr lang="en-US" dirty="0" smtClean="0"/>
                  <a:t>LC </a:t>
                </a:r>
                <a:r>
                  <a:rPr lang="ru-RU" dirty="0" smtClean="0"/>
                  <a:t>контуру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введем</a:t>
                </a:r>
                <a:r>
                  <a:rPr lang="en-US" dirty="0" smtClean="0"/>
                  <a:t> </a:t>
                </a:r>
                <a:r>
                  <a:rPr lang="ru-RU" dirty="0" smtClean="0"/>
                  <a:t>обозначения </a:t>
                </a:r>
                <a:r>
                  <a:rPr lang="en-US" dirty="0" smtClean="0"/>
                  <a:t>Q – </a:t>
                </a:r>
                <a:r>
                  <a:rPr lang="ru-RU" dirty="0" smtClean="0"/>
                  <a:t>добротность, и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dirty="0" smtClean="0"/>
                  <a:t> – характеристическое (волновое) сопротивление контура</a:t>
                </a:r>
              </a:p>
              <a:p>
                <a:pPr>
                  <a:buNone/>
                </a:pPr>
                <a:r>
                  <a:rPr lang="ru-RU" dirty="0" smtClean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rad>
                      </m:den>
                    </m:f>
                  </m:oMath>
                </a14:m>
                <a:endParaRPr lang="ru-RU" dirty="0" smtClean="0"/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94" y="2218485"/>
            <a:ext cx="2871155" cy="198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5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ru-RU" dirty="0" smtClean="0"/>
                  <a:t>					В данных обозначениях получим выражение 			полностью дуальное последовательному контуру 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				</a:t>
                </a: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dirty="0" smtClean="0"/>
                  <a:t> резонансная частота,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 smtClean="0"/>
                  <a:t> – обобщенная расстройка</a:t>
                </a:r>
              </a:p>
              <a:p>
                <a:pPr>
                  <a:buNone/>
                </a:pPr>
                <a:r>
                  <a:rPr lang="ru-RU" dirty="0" smtClean="0"/>
                  <a:t>При этом ток на </a:t>
                </a:r>
                <a:r>
                  <a:rPr lang="en-US" dirty="0" smtClean="0"/>
                  <a:t>L </a:t>
                </a:r>
                <a:r>
                  <a:rPr lang="ru-RU" dirty="0" smtClean="0"/>
                  <a:t>и С по отдельности в </a:t>
                </a:r>
                <a:r>
                  <a:rPr lang="en-US" dirty="0" smtClean="0"/>
                  <a:t>Q </a:t>
                </a:r>
                <a:r>
                  <a:rPr lang="ru-RU" dirty="0" smtClean="0"/>
                  <a:t>раз больше:		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acc>
                        <m:accPr>
                          <m:chr m:val="̂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acc>
                        <m:accPr>
                          <m:chr m:val="̂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acc>
                        <m:accPr>
                          <m:chr m:val="̂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94" y="2218485"/>
            <a:ext cx="2871155" cy="198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9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</a:t>
            </a:r>
            <a:r>
              <a:rPr lang="ru-RU" dirty="0"/>
              <a:t>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b="1" dirty="0" smtClean="0"/>
              <a:t>В параллельном </a:t>
            </a:r>
            <a:r>
              <a:rPr lang="en-US" b="1" dirty="0" smtClean="0"/>
              <a:t>LC </a:t>
            </a:r>
            <a:r>
              <a:rPr lang="ru-RU" b="1" dirty="0" smtClean="0"/>
              <a:t>контуре на резонансной частоте наблюдается резонанс токов.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19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</a:t>
            </a:r>
            <a:r>
              <a:rPr lang="ru-RU" dirty="0"/>
              <a:t>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Параллельный </a:t>
                </a:r>
                <a:r>
                  <a:rPr lang="en-US" dirty="0" smtClean="0"/>
                  <a:t>LC </a:t>
                </a:r>
                <a:r>
                  <a:rPr lang="ru-RU" dirty="0" smtClean="0"/>
                  <a:t>контур запитанный от источника напряжения: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den>
                    </m:f>
                  </m:oMath>
                </a14:m>
                <a:endParaRPr lang="en-US" b="0" dirty="0" smtClean="0"/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:r>
                  <a:rPr lang="ru-RU" dirty="0" smtClean="0"/>
                  <a:t>При таком включении для сохранения 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добротности необходимо выполнить условие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:r>
                  <a:rPr lang="en-US" dirty="0" smtClean="0"/>
                  <a:t>R&gt;&gt;r</a:t>
                </a:r>
                <a:endParaRPr lang="ru-RU" b="1" dirty="0" smtClean="0"/>
              </a:p>
              <a:p>
                <a:pPr>
                  <a:buNone/>
                </a:pPr>
                <a:endParaRPr lang="ru-RU" dirty="0" smtClean="0"/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22356"/>
            <a:ext cx="2450580" cy="169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0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</a:t>
            </a:r>
            <a:r>
              <a:rPr lang="ru-RU" dirty="0"/>
              <a:t>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ru-RU" dirty="0" smtClean="0"/>
                  <a:t>	Рассмотрим теперь параллельный контур в общем виде: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ru-RU" dirty="0" smtClean="0"/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jb</m:t>
                    </m:r>
                  </m:oMath>
                </a14:m>
                <a:endParaRPr lang="ru-RU" dirty="0" smtClean="0"/>
              </a:p>
              <a:p>
                <a:pPr>
                  <a:buNone/>
                </a:pPr>
                <a:r>
                  <a:rPr lang="ru-RU" dirty="0" smtClean="0"/>
                  <a:t>Условие резонанса </a:t>
                </a:r>
                <a:r>
                  <a:rPr lang="en-US" dirty="0" smtClean="0"/>
                  <a:t>b=</a:t>
                </a:r>
                <a:r>
                  <a:rPr lang="ru-RU" dirty="0" smtClean="0"/>
                  <a:t>0.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≪|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≪|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 smtClean="0"/>
                  <a:t> </a:t>
                </a:r>
                <a:endParaRPr lang="ru-RU" dirty="0" smtClean="0"/>
              </a:p>
              <a:p>
                <a:pPr>
                  <a:buNone/>
                </a:pPr>
                <a:r>
                  <a:rPr lang="ru-RU" dirty="0" smtClean="0"/>
                  <a:t>То условие резонанса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 при этом 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dirty="0" smtClean="0"/>
                  <a:t>		</a:t>
                </a:r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65" y="2547814"/>
            <a:ext cx="1836903" cy="16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5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Резонанс в </a:t>
            </a:r>
            <a:r>
              <a:rPr lang="ru-RU" dirty="0"/>
              <a:t>параллельном </a:t>
            </a:r>
            <a:r>
              <a:rPr lang="en-US" dirty="0" smtClean="0"/>
              <a:t>LC </a:t>
            </a:r>
            <a:r>
              <a:rPr lang="ru-RU" dirty="0" smtClean="0"/>
              <a:t>контуре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None/>
                </a:pPr>
                <a:r>
                  <a:rPr lang="ru-RU" dirty="0" smtClean="0"/>
                  <a:t>	Частный случай</a:t>
                </a:r>
                <a:r>
                  <a:rPr lang="en-US" dirty="0" smtClean="0"/>
                  <a:t>, </a:t>
                </a:r>
                <a:r>
                  <a:rPr lang="ru-RU" dirty="0" smtClean="0"/>
                  <a:t>контур с потерями в </a:t>
                </a:r>
                <a:r>
                  <a:rPr lang="en-US" dirty="0" smtClean="0"/>
                  <a:t>L </a:t>
                </a:r>
                <a:r>
                  <a:rPr lang="ru-RU" dirty="0" smtClean="0"/>
                  <a:t>и С: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Sup>
                          <m:sSub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num>
                      <m:den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1/(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=0;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r>
                  <a:rPr lang="ru-RU" dirty="0" smtClean="0"/>
                  <a:t>Введем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имеем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ra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:r>
                  <a:rPr lang="ru-RU" dirty="0" smtClean="0"/>
                  <a:t>		</a:t>
                </a:r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04" y="2274681"/>
            <a:ext cx="2107686" cy="18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7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Контур с потерями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			Имеем 4 основных варианта: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ru-RU" dirty="0" smtClean="0"/>
                  <a:t>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 smtClean="0"/>
                  <a:t>&lt;0, </a:t>
                </a:r>
                <a:r>
                  <a:rPr lang="ru-RU" dirty="0" smtClean="0"/>
                  <a:t>резонанса нет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3)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любое</m:t>
                    </m:r>
                  </m:oMath>
                </a14:m>
                <a:endParaRPr lang="ru-RU" b="0" dirty="0" smtClean="0"/>
              </a:p>
              <a:p>
                <a:pPr>
                  <a:buNone/>
                </a:pPr>
                <a:r>
                  <a:rPr lang="ru-RU" dirty="0" smtClean="0"/>
                  <a:t>				4)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 smtClean="0"/>
                  <a:t>			</a:t>
                </a:r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:r>
                  <a:rPr lang="ru-RU" dirty="0" smtClean="0"/>
                  <a:t>		</a:t>
                </a:r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04" y="2274681"/>
            <a:ext cx="2107686" cy="18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5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Контур с потерями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dirty="0" smtClean="0"/>
                  <a:t>				Энергетические соотношения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 smtClean="0"/>
                  <a:t>			</a:t>
                </a:r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:r>
                  <a:rPr lang="ru-RU" dirty="0" smtClean="0"/>
                  <a:t>		</a:t>
                </a:r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04" y="2274681"/>
            <a:ext cx="2107686" cy="18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2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Контур с потерями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buNone/>
                </a:pPr>
                <a:r>
                  <a:rPr lang="ru-RU" dirty="0" smtClean="0"/>
                  <a:t>				Еще один частный случай: потери только в </a:t>
                </a:r>
                <a:r>
                  <a:rPr lang="en-US" dirty="0" smtClean="0"/>
                  <a:t>L</a:t>
                </a:r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dirty="0" smtClean="0"/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 smtClean="0"/>
                  <a:t>	</a:t>
                </a:r>
              </a:p>
              <a:p>
                <a:pPr>
                  <a:buNone/>
                </a:pPr>
                <a:r>
                  <a:rPr lang="ru-RU" dirty="0" smtClean="0"/>
                  <a:t>Сопротивление при малой </a:t>
                </a:r>
                <a:r>
                  <a:rPr lang="ru-RU" dirty="0" err="1" smtClean="0"/>
                  <a:t>расстройке</a:t>
                </a:r>
                <a:r>
                  <a:rPr lang="ru-RU" dirty="0" smtClean="0"/>
                  <a:t>.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𝐶𝐷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+1/[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:r>
                  <a:rPr lang="ru-RU" dirty="0" smtClean="0"/>
                  <a:t>примем </a:t>
                </a:r>
                <a:r>
                  <a:rPr lang="en-US" dirty="0" smtClean="0"/>
                  <a:t>Q&gt;&gt;1,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QD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≫1;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den>
                    </m:f>
                  </m:oMath>
                </a14:m>
                <a:r>
                  <a:rPr lang="en-US" dirty="0" smtClean="0"/>
                  <a:t>		</a:t>
                </a:r>
                <a:r>
                  <a:rPr lang="ru-RU" dirty="0" smtClean="0"/>
                  <a:t>		</a:t>
                </a:r>
              </a:p>
              <a:p>
                <a:pPr>
                  <a:buNone/>
                </a:pPr>
                <a:r>
                  <a:rPr lang="ru-RU" dirty="0" smtClean="0"/>
                  <a:t>   </a:t>
                </a:r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918" y="1838458"/>
            <a:ext cx="1669411" cy="154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5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Частичное включение контура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одержимое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ru-RU" dirty="0" smtClean="0"/>
                  <a:t>				Частичное включение через конденсатор</a:t>
                </a:r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считаем </a:t>
                </a:r>
                <a:r>
                  <a:rPr lang="en-US" dirty="0" smtClean="0"/>
                  <a:t>Q&gt;&gt;1, </a:t>
                </a:r>
                <a:r>
                  <a:rPr lang="ru-RU" dirty="0" smtClean="0"/>
                  <a:t>тогда резонанс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US" dirty="0" smtClean="0"/>
              </a:p>
              <a:p>
                <a:pPr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sSubSup>
                          <m:sSub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 smtClean="0"/>
              </a:p>
              <a:p>
                <a:pPr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коэффициент включения контура</m:t>
                      </m:r>
                    </m:oMath>
                  </m:oMathPara>
                </a14:m>
                <a:endParaRPr lang="ru-RU" dirty="0" smtClean="0"/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0" name="Содержимое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172" y="2210603"/>
            <a:ext cx="1768935" cy="15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5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явления резонанса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/>
              <a:t>Резонансный трансформатор </a:t>
            </a:r>
          </a:p>
          <a:p>
            <a:pPr>
              <a:buNone/>
            </a:pPr>
            <a:r>
              <a:rPr lang="ru-RU" dirty="0" smtClean="0"/>
              <a:t>(характерный пример – трансформатор Тесла)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627" y="2818844"/>
            <a:ext cx="3578160" cy="253538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68104"/>
            <a:ext cx="1970314" cy="226921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826" y="3045480"/>
            <a:ext cx="3250489" cy="199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1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явления резонанса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Радиоустройства: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Антенна, селекция диапазона.</a:t>
            </a:r>
          </a:p>
          <a:p>
            <a:pPr>
              <a:buNone/>
            </a:pPr>
            <a:r>
              <a:rPr lang="ru-RU" dirty="0" smtClean="0"/>
              <a:t>Излучатель Герца:						Аналог: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2988988"/>
            <a:ext cx="3905250" cy="202461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2988988"/>
            <a:ext cx="1803400" cy="174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3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явления резонанса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/>
              <a:t>Радиоприем</a:t>
            </a:r>
          </a:p>
          <a:p>
            <a:pPr>
              <a:buNone/>
            </a:pPr>
            <a:r>
              <a:rPr lang="ru-RU" dirty="0" smtClean="0"/>
              <a:t>   Антенны настоящим колебательным контуром не являются, в них наблюдается явление стоячей электромагнитной волны, которое приводит к излучению электромагнитных волн. Однако явление резонанса в них присутствует, примерно как в струне:</a:t>
            </a:r>
            <a:r>
              <a:rPr lang="ru-RU" dirty="0" smtClean="0"/>
              <a:t>				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99" y="4366291"/>
            <a:ext cx="3722700" cy="194560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597" y="4024185"/>
            <a:ext cx="2224347" cy="263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1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явления резонанса</a:t>
            </a:r>
            <a:endParaRPr lang="ru-RU" dirty="0"/>
          </a:p>
        </p:txBody>
      </p:sp>
      <p:sp>
        <p:nvSpPr>
          <p:cNvPr id="10" name="Содержимое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/>
              <a:t>Селекция диапазона</a:t>
            </a:r>
          </a:p>
          <a:p>
            <a:pPr>
              <a:buNone/>
            </a:pPr>
            <a:r>
              <a:rPr lang="ru-RU" dirty="0" smtClean="0"/>
              <a:t>   Без использования колебательного контура невозможно (практически невозможно) осуществить прием радиосигнала:</a:t>
            </a:r>
            <a:r>
              <a:rPr lang="ru-RU" dirty="0" smtClean="0"/>
              <a:t>				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 smtClean="0"/>
              <a:t>			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212" y="3222104"/>
            <a:ext cx="2187575" cy="295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7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2479</TotalTime>
  <Words>382</Words>
  <Application>Microsoft Office PowerPoint</Application>
  <PresentationFormat>Широкоэкранный</PresentationFormat>
  <Paragraphs>174</Paragraphs>
  <Slides>29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Тема Office</vt:lpstr>
      <vt:lpstr>Формула</vt:lpstr>
      <vt:lpstr>Лекция 5</vt:lpstr>
      <vt:lpstr>LC контур</vt:lpstr>
      <vt:lpstr>Последовательный LC контур</vt:lpstr>
      <vt:lpstr>Параллельный LC контур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Резонанс в последовательном LC контуре</vt:lpstr>
      <vt:lpstr>Параллельный LC контур</vt:lpstr>
      <vt:lpstr>Резонанс в параллельном LC контуре</vt:lpstr>
      <vt:lpstr>Резонанс в параллельном LC контуре</vt:lpstr>
      <vt:lpstr>Резонанс в параллельном LC контуре</vt:lpstr>
      <vt:lpstr>Резонанс в параллельном LC контуре</vt:lpstr>
      <vt:lpstr>Резонанс в параллельном LC контуре</vt:lpstr>
      <vt:lpstr>Резонанс в параллельном LC контуре</vt:lpstr>
      <vt:lpstr>Резонанс в параллельном LC контуре</vt:lpstr>
      <vt:lpstr>Контур с потерями</vt:lpstr>
      <vt:lpstr>Контур с потерями</vt:lpstr>
      <vt:lpstr>Контур с потерями</vt:lpstr>
      <vt:lpstr>Частичное включение контура</vt:lpstr>
      <vt:lpstr>Использование явления резонанса</vt:lpstr>
      <vt:lpstr>Использование явления резонанса</vt:lpstr>
      <vt:lpstr>Использование явления резонанса</vt:lpstr>
      <vt:lpstr>Использование явления резонанса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198</cp:revision>
  <dcterms:created xsi:type="dcterms:W3CDTF">2020-09-02T13:49:40Z</dcterms:created>
  <dcterms:modified xsi:type="dcterms:W3CDTF">2021-10-06T15:31:07Z</dcterms:modified>
</cp:coreProperties>
</file>