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80" r:id="rId3"/>
    <p:sldId id="306" r:id="rId4"/>
    <p:sldId id="337" r:id="rId5"/>
    <p:sldId id="339" r:id="rId6"/>
    <p:sldId id="340" r:id="rId7"/>
    <p:sldId id="341" r:id="rId8"/>
    <p:sldId id="342" r:id="rId9"/>
    <p:sldId id="343" r:id="rId10"/>
    <p:sldId id="310" r:id="rId11"/>
    <p:sldId id="344" r:id="rId12"/>
    <p:sldId id="355" r:id="rId13"/>
    <p:sldId id="345" r:id="rId14"/>
    <p:sldId id="346" r:id="rId15"/>
    <p:sldId id="347" r:id="rId16"/>
    <p:sldId id="350" r:id="rId17"/>
    <p:sldId id="351" r:id="rId18"/>
    <p:sldId id="352" r:id="rId19"/>
    <p:sldId id="349" r:id="rId20"/>
    <p:sldId id="353" r:id="rId21"/>
    <p:sldId id="354" r:id="rId22"/>
    <p:sldId id="356" r:id="rId23"/>
    <p:sldId id="357" r:id="rId24"/>
    <p:sldId id="358" r:id="rId25"/>
    <p:sldId id="359" r:id="rId26"/>
    <p:sldId id="360" r:id="rId27"/>
    <p:sldId id="361" r:id="rId28"/>
    <p:sldId id="363" r:id="rId29"/>
    <p:sldId id="362" r:id="rId30"/>
    <p:sldId id="364" r:id="rId31"/>
    <p:sldId id="365" r:id="rId32"/>
    <p:sldId id="366" r:id="rId33"/>
    <p:sldId id="367" r:id="rId34"/>
    <p:sldId id="368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11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Модуляция и демодуляция</a:t>
            </a: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сигнала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Когда изучалось использование преобразования Фурье для анализа электрических цепей мы уже сталкивались с эффектом модуляции.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Этот эффект, заключающийся в переносе спектральной плотности сигнала в область более высоких частот, возникал при перемножении сигнала на гармоническую функцию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dirty="0" smtClean="0"/>
                  <a:t>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На предыдущей лекции мы так же наблюдали эффект модуляции, а точнее, амплитудной модуляции при прохождении произведения двух сигналов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𝑚𝑠𝑖𝑛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 smtClean="0"/>
                  <a:t> через нелинейную цепь с квадратичной нелинейностью.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 b="-4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69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сигнала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Что же такое модуляция в общем?</a:t>
            </a:r>
          </a:p>
          <a:p>
            <a:pPr marL="0" indent="0" algn="just">
              <a:buNone/>
            </a:pPr>
            <a:r>
              <a:rPr lang="ru-RU" dirty="0" smtClean="0"/>
              <a:t>По определению процесс </a:t>
            </a:r>
            <a:r>
              <a:rPr lang="ru-RU" b="1" dirty="0" smtClean="0"/>
              <a:t>модуляции</a:t>
            </a:r>
            <a:r>
              <a:rPr lang="ru-RU" dirty="0" smtClean="0"/>
              <a:t> есть процесс трансформации спектра сигнала в существенно более высокочастотную , по сравнению с частотами сигнала, область. Процесс демодуляции – это процесс обратной трансформации модулированного сигнала в исходный.</a:t>
            </a:r>
          </a:p>
          <a:p>
            <a:pPr marL="0" indent="0" algn="just">
              <a:buNone/>
            </a:pPr>
            <a:r>
              <a:rPr lang="ru-RU" dirty="0" smtClean="0"/>
              <a:t>Исходный сигнал называют </a:t>
            </a:r>
            <a:r>
              <a:rPr lang="ru-RU" b="1" dirty="0" smtClean="0"/>
              <a:t>модулирующим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 smtClean="0"/>
              <a:t>Выходной сигнал модулятора в отсутствии модулирующего называют </a:t>
            </a:r>
            <a:r>
              <a:rPr lang="ru-RU" b="1" dirty="0" smtClean="0"/>
              <a:t>несущей</a:t>
            </a:r>
            <a:r>
              <a:rPr lang="ru-RU" dirty="0" smtClean="0"/>
              <a:t> (частотой)</a:t>
            </a:r>
          </a:p>
          <a:p>
            <a:pPr marL="0" indent="0" algn="just">
              <a:buNone/>
            </a:pPr>
            <a:r>
              <a:rPr lang="ru-RU" dirty="0" smtClean="0"/>
              <a:t>В процессе модуляции изменяются параметры несущей. Это может быть амплитуда, частота, фаза, длительность (если сигнал несущей не гармонический).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При этом процесс изменения параметров несущей должен быть много медленнее самого времени изменения несущей – самый подходящий параметр, который бы это время характеризовал – это </a:t>
            </a:r>
            <a:r>
              <a:rPr lang="ru-RU" dirty="0" smtClean="0"/>
              <a:t>ее период</a:t>
            </a:r>
            <a:r>
              <a:rPr lang="ru-RU" dirty="0"/>
              <a:t>. </a:t>
            </a:r>
            <a:r>
              <a:rPr lang="ru-RU" b="1" dirty="0"/>
              <a:t>Т.е. скорость изменения параметров несущей должна быть много меньше ее периода</a:t>
            </a:r>
            <a:r>
              <a:rPr lang="ru-RU" dirty="0"/>
              <a:t>.</a:t>
            </a:r>
            <a:endParaRPr lang="ru-RU" b="1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65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сигнала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48838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Если в процессе модуляции происходит изменение амплитуды несущей – говорят об </a:t>
            </a:r>
            <a:r>
              <a:rPr lang="ru-RU" b="1" dirty="0" smtClean="0"/>
              <a:t>амплитудной модуляции</a:t>
            </a:r>
          </a:p>
          <a:p>
            <a:pPr marL="0" indent="0" algn="just">
              <a:buNone/>
            </a:pPr>
            <a:r>
              <a:rPr lang="ru-RU" dirty="0" smtClean="0"/>
              <a:t>Если в процессе модуляции происходит изменение частоты несущей  - говорят о </a:t>
            </a:r>
            <a:r>
              <a:rPr lang="ru-RU" b="1" dirty="0" smtClean="0"/>
              <a:t>частотной модуляции</a:t>
            </a:r>
          </a:p>
          <a:p>
            <a:pPr marL="0" indent="0" algn="just">
              <a:buNone/>
            </a:pPr>
            <a:r>
              <a:rPr lang="ru-RU" dirty="0" smtClean="0"/>
              <a:t>Если происходит изменение фазы несущей – говорят о </a:t>
            </a:r>
            <a:r>
              <a:rPr lang="ru-RU" b="1" dirty="0" smtClean="0"/>
              <a:t>фазовой модуляции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072" y="85693"/>
            <a:ext cx="1998557" cy="160499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072" y="1808192"/>
            <a:ext cx="2229710" cy="164003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072" y="3565730"/>
            <a:ext cx="1941813" cy="14476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072" y="5130858"/>
            <a:ext cx="1794770" cy="144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3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88382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Частотная и фазовая модуляция выглядят почти одинаково – и действительно, в случае гармонического модулирующего сигнала и гармонического несущего колебания эти две модуляции можно объединить в одну – </a:t>
                </a:r>
                <a:r>
                  <a:rPr lang="ru-RU" b="1" dirty="0" smtClean="0"/>
                  <a:t>угловую модуляцию</a:t>
                </a:r>
                <a:r>
                  <a:rPr lang="en-US" b="1" dirty="0" smtClean="0"/>
                  <a:t> (</a:t>
                </a:r>
                <a:r>
                  <a:rPr lang="ru-RU" b="1" dirty="0" smtClean="0"/>
                  <a:t>УМ</a:t>
                </a:r>
                <a:r>
                  <a:rPr lang="en-US" b="1" dirty="0" smtClean="0"/>
                  <a:t>)</a:t>
                </a:r>
                <a:r>
                  <a:rPr lang="ru-RU" b="1" dirty="0" smtClean="0"/>
                  <a:t> – изменение обобщенного угла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𝝍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несущего колебания </m:t>
                    </m:r>
                  </m:oMath>
                </a14:m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en-US" b="1" dirty="0" smtClean="0">
                    <a:ea typeface="Cambria Math" panose="02040503050406030204" pitchFamily="18" charset="0"/>
                  </a:rPr>
                  <a:t> A cos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𝝍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этом стоит отметить, что модуляция гармонического сигнала несущей в общем превращает его в </a:t>
                </a:r>
                <a:r>
                  <a:rPr lang="ru-RU" b="1" i="1" dirty="0" smtClean="0"/>
                  <a:t>негармонический</a:t>
                </a:r>
                <a:r>
                  <a:rPr lang="ru-RU" dirty="0" smtClean="0"/>
                  <a:t>. При этом если полоса модулирующего сигнала была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ΔΩ</m:t>
                    </m:r>
                  </m:oMath>
                </a14:m>
                <a:r>
                  <a:rPr lang="ru-RU" dirty="0" smtClean="0"/>
                  <a:t>, то полоса модулированного сигнала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ΔΩ</m:t>
                    </m:r>
                  </m:oMath>
                </a14:m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88382" cy="4351338"/>
              </a:xfrm>
              <a:blipFill rotWithShape="0">
                <a:blip r:embed="rId2"/>
                <a:stretch>
                  <a:fillRect l="-1466" t="-3501" r="-13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853" y="1910112"/>
            <a:ext cx="1941813" cy="14476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853" y="3475240"/>
            <a:ext cx="1794770" cy="144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5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Дискретная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1273" y="1818697"/>
            <a:ext cx="698269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Если модулирующий сигнал не совсем гармонический – например прямоугольные импульсы – тогда частотная и фазовая модуляция начинают существенно различаться по форме. </a:t>
            </a:r>
          </a:p>
          <a:p>
            <a:pPr marL="0" indent="0" algn="just">
              <a:buNone/>
            </a:pPr>
            <a:r>
              <a:rPr lang="ru-RU" dirty="0" smtClean="0"/>
              <a:t>В случае если модулирующие импульсы не просто прямоугольные, а имеют только два состояния – есть импульс или его нет – сигнал двоичный – говорят о дискретной модуляции или </a:t>
            </a:r>
            <a:r>
              <a:rPr lang="ru-RU" b="1" dirty="0" smtClean="0"/>
              <a:t>манипуляции</a:t>
            </a:r>
            <a:r>
              <a:rPr lang="ru-RU" dirty="0" smtClean="0"/>
              <a:t> колебаний.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130" y="633852"/>
            <a:ext cx="2507674" cy="18904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130" y="2524252"/>
            <a:ext cx="2694710" cy="20370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130" y="4561324"/>
            <a:ext cx="2651415" cy="199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Импульсная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1273" y="1818697"/>
            <a:ext cx="698269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 случае если несущая – прямоугольный сигнал виды модуляции выделяют немного не так:</a:t>
            </a:r>
          </a:p>
          <a:p>
            <a:pPr marL="0" indent="0" algn="just">
              <a:buNone/>
            </a:pPr>
            <a:r>
              <a:rPr lang="ru-RU" dirty="0" smtClean="0"/>
              <a:t>В) Амплитудно-импульсная модуляция</a:t>
            </a:r>
          </a:p>
          <a:p>
            <a:pPr marL="0" indent="0" algn="just">
              <a:buNone/>
            </a:pPr>
            <a:r>
              <a:rPr lang="ru-RU" dirty="0" smtClean="0"/>
              <a:t>Г) Широтно-импульсная модуляция</a:t>
            </a:r>
          </a:p>
          <a:p>
            <a:pPr marL="0" indent="0" algn="just">
              <a:buNone/>
            </a:pPr>
            <a:r>
              <a:rPr lang="ru-RU" dirty="0" smtClean="0"/>
              <a:t>Д) Время-импульсная модуляция</a:t>
            </a:r>
          </a:p>
          <a:p>
            <a:pPr marL="0" indent="0" algn="just">
              <a:buNone/>
            </a:pPr>
            <a:r>
              <a:rPr lang="ru-RU" dirty="0" smtClean="0"/>
              <a:t>Е) Частотно-импульсная модуляция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764" y="365125"/>
            <a:ext cx="44542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8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 smtClean="0"/>
              <a:t>Рассмотрим подробнее виды модуляции.</a:t>
            </a:r>
          </a:p>
          <a:p>
            <a:pPr marL="0" indent="0" algn="just">
              <a:buNone/>
            </a:pPr>
            <a:r>
              <a:rPr lang="ru-RU" b="1" dirty="0" smtClean="0"/>
              <a:t>Амплитудная модуляция</a:t>
            </a:r>
            <a:r>
              <a:rPr lang="ru-RU" dirty="0" smtClean="0"/>
              <a:t>, </a:t>
            </a:r>
          </a:p>
          <a:p>
            <a:pPr marL="0" indent="0" algn="just">
              <a:buNone/>
            </a:pPr>
            <a:r>
              <a:rPr lang="ru-RU" dirty="0" smtClean="0"/>
              <a:t>с ней мы уже встречались.</a:t>
            </a:r>
          </a:p>
          <a:p>
            <a:pPr marL="0" indent="0" algn="just">
              <a:buNone/>
            </a:pPr>
            <a:r>
              <a:rPr lang="ru-RU" dirty="0" smtClean="0"/>
              <a:t>Будем рассматривать амплитудную модуляцию гармонического сигнала несущей гармоническим же модулирующим сигналом.</a:t>
            </a:r>
          </a:p>
          <a:p>
            <a:pPr marL="0" indent="0" algn="just">
              <a:buNone/>
            </a:pPr>
            <a:r>
              <a:rPr lang="ru-RU" dirty="0" smtClean="0"/>
              <a:t>С случае если сигнал имеет некоторый сложный спектр – все наши выводы останутся в силе, так как амплитудная модуляция подразумевает в общем частотный сдвиг – а это линейная операция. Соответственно, просто потребуется спектральную плотность, как сумму частот, каждая из которых преобразуется системой независимо.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93" y="1825625"/>
            <a:ext cx="2912745" cy="139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7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Для получения амплитудной модуляции</a:t>
            </a:r>
          </a:p>
          <a:p>
            <a:pPr marL="0" indent="0" algn="just">
              <a:buNone/>
            </a:pPr>
            <a:r>
              <a:rPr lang="ru-RU" dirty="0"/>
              <a:t>и</a:t>
            </a:r>
            <a:r>
              <a:rPr lang="ru-RU" dirty="0" smtClean="0"/>
              <a:t>спользуется </a:t>
            </a:r>
            <a:r>
              <a:rPr lang="ru-RU" b="1" dirty="0" err="1" smtClean="0"/>
              <a:t>перемножитель</a:t>
            </a:r>
            <a:r>
              <a:rPr lang="ru-RU" dirty="0" smtClean="0"/>
              <a:t> сигналов.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Такую операцию нельзя получить с помощью линейной электрической цепи. Т.е. схема, которая перемножает два сигнала – она </a:t>
            </a:r>
            <a:r>
              <a:rPr lang="ru-RU" b="1" i="1" dirty="0" smtClean="0"/>
              <a:t>нелинейная</a:t>
            </a:r>
            <a:r>
              <a:rPr lang="ru-RU" dirty="0" smtClean="0"/>
              <a:t>. Но результат (именно </a:t>
            </a:r>
            <a:r>
              <a:rPr lang="ru-RU" b="1" dirty="0" smtClean="0"/>
              <a:t>перемножения</a:t>
            </a:r>
            <a:r>
              <a:rPr lang="ru-RU" dirty="0" smtClean="0"/>
              <a:t>) </a:t>
            </a:r>
            <a:r>
              <a:rPr lang="ru-RU" b="1" dirty="0" smtClean="0"/>
              <a:t>линейный</a:t>
            </a:r>
            <a:r>
              <a:rPr lang="ru-RU" dirty="0" smtClean="0"/>
              <a:t>. Мы видели это знакомясь с линейными операторами: при перемножении двух линейных операторов </a:t>
            </a:r>
            <a:r>
              <a:rPr lang="en-US" dirty="0" smtClean="0"/>
              <a:t>A, B</a:t>
            </a:r>
            <a:r>
              <a:rPr lang="ru-RU" dirty="0" smtClean="0"/>
              <a:t> получается линейный оператор</a:t>
            </a:r>
            <a:r>
              <a:rPr lang="en-US" dirty="0" smtClean="0"/>
              <a:t>  AB.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82" y="1576243"/>
            <a:ext cx="1651722" cy="158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9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Итак перемножим два сигнала: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/>
                  <a:t> – </a:t>
                </a:r>
                <a:r>
                  <a:rPr lang="ru-RU" b="1" dirty="0" smtClean="0"/>
                  <a:t>несущая</a:t>
                </a:r>
                <a:r>
                  <a:rPr lang="en-US" dirty="0" smtClean="0"/>
                  <a:t> </a:t>
                </a:r>
                <a:r>
                  <a:rPr lang="ru-RU" dirty="0"/>
                  <a:t>и </a:t>
                </a: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𝑚𝑠𝑖𝑛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ru-RU" dirty="0" smtClean="0"/>
                  <a:t> </a:t>
                </a:r>
                <a:r>
                  <a:rPr lang="en-US" dirty="0"/>
                  <a:t>– </a:t>
                </a:r>
                <a:r>
                  <a:rPr lang="ru-RU" dirty="0" smtClean="0"/>
                  <a:t> </a:t>
                </a:r>
                <a:r>
                  <a:rPr lang="ru-RU" b="1" dirty="0" smtClean="0"/>
                  <a:t>огибающая</a:t>
                </a:r>
                <a:r>
                  <a:rPr lang="ru-RU" dirty="0" smtClean="0"/>
                  <a:t> (модулирующий сигнал)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На выходе получаем три частоты: несущую и разностные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dirty="0" smtClean="0"/>
                  <a:t> </a:t>
                </a:r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463" y="3475325"/>
            <a:ext cx="4307555" cy="157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7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Так как сигналы вещественны, спектральная плотность симметрична относительно нуля, так что далее мы будем смотреть только на положительную часть.  Что можно сказать сразу: видим что происходит уширение полосы в 2 раза: до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499766"/>
            <a:ext cx="2071254" cy="115073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606" y="3489379"/>
            <a:ext cx="6371360" cy="142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1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 случае не </a:t>
            </a:r>
            <a:r>
              <a:rPr lang="ru-RU" dirty="0" err="1" smtClean="0"/>
              <a:t>однотонального</a:t>
            </a:r>
            <a:r>
              <a:rPr lang="ru-RU" dirty="0" smtClean="0"/>
              <a:t> модулирующего сигнала: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828" y="2660413"/>
            <a:ext cx="7211591" cy="294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7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Форма получившегося сигнала зависит от </a:t>
            </a:r>
            <a:r>
              <a:rPr lang="en-US" dirty="0" smtClean="0"/>
              <a:t>m</a:t>
            </a:r>
            <a:r>
              <a:rPr lang="ru-RU" dirty="0" smtClean="0"/>
              <a:t>, можно выделить </a:t>
            </a:r>
            <a:r>
              <a:rPr lang="en-US" dirty="0" smtClean="0"/>
              <a:t>3</a:t>
            </a:r>
            <a:r>
              <a:rPr lang="ru-RU" dirty="0" smtClean="0"/>
              <a:t> случая:</a:t>
            </a:r>
          </a:p>
          <a:p>
            <a:pPr algn="just"/>
            <a:r>
              <a:rPr lang="en-US" dirty="0" smtClean="0"/>
              <a:t>m&lt;1 – </a:t>
            </a:r>
            <a:r>
              <a:rPr lang="ru-RU" dirty="0" smtClean="0"/>
              <a:t>неглубокая модуляция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m≈</a:t>
            </a:r>
            <a:r>
              <a:rPr lang="ru-RU" dirty="0" smtClean="0"/>
              <a:t>1 – глубокая модуляция</a:t>
            </a: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m&gt;1 – </a:t>
            </a:r>
            <a:r>
              <a:rPr lang="ru-RU" dirty="0" smtClean="0"/>
              <a:t>перемодуляция 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 форма сигнала искажена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endParaRPr lang="ru-RU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2927"/>
            <a:ext cx="4712229" cy="37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4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Посмотрим что у нас с мощностью модулированного сигнала</a:t>
                </a:r>
                <a:r>
                  <a:rPr lang="en-US" dirty="0" smtClean="0"/>
                  <a:t> (</a:t>
                </a:r>
                <a:r>
                  <a:rPr lang="ru-RU" dirty="0" smtClean="0"/>
                  <a:t>мощность будем считать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dirty="0" smtClean="0"/>
                  <a:t>)</a:t>
                </a:r>
                <a:r>
                  <a:rPr lang="ru-RU" dirty="0" smtClean="0"/>
                  <a:t>:</a:t>
                </a:r>
                <a:endParaRPr lang="ru-RU" dirty="0"/>
              </a:p>
              <a:p>
                <a:pPr algn="just"/>
                <a:r>
                  <a:rPr lang="en-US" dirty="0" smtClean="0"/>
                  <a:t>m=0 (</a:t>
                </a:r>
                <a:r>
                  <a:rPr lang="ru-RU" dirty="0" smtClean="0"/>
                  <a:t>модулирующий сигнал отсутствует</a:t>
                </a:r>
                <a:r>
                  <a:rPr lang="en-US" dirty="0" smtClean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algn="just"/>
                <a:r>
                  <a:rPr lang="en-US" dirty="0" smtClean="0"/>
                  <a:t>m ≠0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среднее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Наибольшие вариации происходят при </a:t>
                </a:r>
                <a:r>
                  <a:rPr lang="en-US" dirty="0" smtClean="0"/>
                  <a:t>m=1</a:t>
                </a: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Для этого случая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среднее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1,5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algn="just"/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74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Посмотрим, как эта средняя мощность распределена по частотам: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 smtClean="0"/>
                  <a:t>Видим, что осталась несущая с мощностью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и остальная мощность сосредоточена в верхней и нижней боковых частотах.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Для </a:t>
                </a:r>
                <a:r>
                  <a:rPr lang="en-US" dirty="0" smtClean="0"/>
                  <a:t>m=1 </a:t>
                </a:r>
                <a:r>
                  <a:rPr lang="ru-RU" dirty="0" smtClean="0"/>
                  <a:t>в на каждой боковой частоте содержится мощность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/4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Видно, что утилизация мощности не сильно эффективна. Большая ее часть не используется для передачи информации.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 b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310" y="2316373"/>
            <a:ext cx="3417513" cy="163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7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Демодуляция АМ сигнала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Как теперь подучить обратно модулирующий сигнал: как выполнить операцию демодуляции?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Очень просто: надо перемножить модулированный сигнал на сигнал несущей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e>
                    </m:func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𝑚𝑠𝑖𝑛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08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Демодуляция АМ сигнала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Получили в результате 3 частоты в районе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 smtClean="0"/>
                  <a:t> и наш исходный модулирующий сигнал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𝑚𝑠𝑖𝑛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Высокие частоты можно легко удалить фильтром низких частот, и тогда на выходе будем иметь только исходный сигнал. </a:t>
                </a:r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138" y="3674052"/>
            <a:ext cx="4387650" cy="156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8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Демодуляция АМ сигнала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Вместо </a:t>
                </a:r>
                <a:r>
                  <a:rPr lang="ru-RU" dirty="0" err="1" smtClean="0"/>
                  <a:t>перемножителя</a:t>
                </a:r>
                <a:r>
                  <a:rPr lang="ru-RU" dirty="0" smtClean="0"/>
                  <a:t> можно взять нелинейный элемент с квадратичной характеристикой. Однако можно детектировать и таким вот нехитрым способом: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Это диодный детектор. Несмотря на простую форму – это реактивная нелинейная схема, которая, к тому же, не допускает точного разделения на параметрическую и резистивную нелинейную часть. Но примерно разделить можно: это </a:t>
                </a:r>
                <a:r>
                  <a:rPr lang="en-US" dirty="0" smtClean="0"/>
                  <a:t>DR</a:t>
                </a:r>
                <a:r>
                  <a:rPr lang="ru-RU" dirty="0" smtClean="0"/>
                  <a:t> (совсем не квадратичная характеристика) цепочка и интегратор. Соответственно можно сразу сказать, что в такой схеме будут возникать существенные нелинейные искажения и гармоники частоты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dirty="0" smtClean="0"/>
                  <a:t>. Но если качество демодуляции не важно – то используется.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endParaRPr lang="ru-RU" dirty="0" smtClean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221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069" y="2507705"/>
            <a:ext cx="2877962" cy="105291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982" y="5305087"/>
            <a:ext cx="4378036" cy="13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9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Амплитудная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Два основных недостатка классической АМ:</a:t>
                </a:r>
              </a:p>
              <a:p>
                <a:pPr algn="just"/>
                <a:r>
                  <a:rPr lang="ru-RU" dirty="0" smtClean="0"/>
                  <a:t>Потери мощности на несущую</a:t>
                </a:r>
              </a:p>
              <a:p>
                <a:pPr algn="just"/>
                <a:r>
                  <a:rPr lang="ru-RU" dirty="0" smtClean="0"/>
                  <a:t>Удвоение полосы частот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 smtClean="0"/>
                  <a:t>Достоинства: простота демодулятора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 smtClean="0"/>
                  <a:t>Как можно от недостатков избавиться?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От первого –</a:t>
                </a:r>
                <a:r>
                  <a:rPr lang="en-US" dirty="0" smtClean="0"/>
                  <a:t> </a:t>
                </a:r>
                <a:r>
                  <a:rPr lang="ru-RU" dirty="0" smtClean="0"/>
                  <a:t>сделать модулирующий сигнал таким: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Тогда останутся только боковые частоты, несущая пропадет.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Вид модулированного сигнала -100% перемодуляция.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97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DSB </a:t>
            </a:r>
            <a:r>
              <a:rPr lang="ru-RU" dirty="0" smtClean="0"/>
              <a:t>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Такая модуляция называется </a:t>
            </a:r>
            <a:r>
              <a:rPr lang="en-US" dirty="0" smtClean="0"/>
              <a:t>DSB </a:t>
            </a:r>
            <a:r>
              <a:rPr lang="ru-RU" dirty="0" smtClean="0"/>
              <a:t>модуляция (</a:t>
            </a:r>
            <a:r>
              <a:rPr lang="en-US" dirty="0" smtClean="0"/>
              <a:t>Double </a:t>
            </a:r>
            <a:r>
              <a:rPr lang="en-US" dirty="0" err="1" smtClean="0"/>
              <a:t>SideBand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 algn="just">
              <a:buNone/>
            </a:pPr>
            <a:r>
              <a:rPr lang="ru-RU" dirty="0" smtClean="0"/>
              <a:t>Полоса занимаемая модулированным сигналом все так же удваивается, но нет потерь мощности на передачу несущей.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У такого вида модуляции есть дополнительный недостаток:</a:t>
            </a:r>
          </a:p>
          <a:p>
            <a:pPr marL="0" indent="0" algn="just">
              <a:buNone/>
            </a:pPr>
            <a:r>
              <a:rPr lang="ru-RU" dirty="0" smtClean="0"/>
              <a:t>Не передается опорного сигнала для демодулятора: надо иметь и в приемнике и в передатчике высокостабильные генераторы.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52" y="3440689"/>
            <a:ext cx="3043817" cy="130449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81" y="3191059"/>
            <a:ext cx="2431474" cy="17113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413" y="3578900"/>
            <a:ext cx="2779080" cy="126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5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SSB </a:t>
            </a:r>
            <a:r>
              <a:rPr lang="ru-RU" dirty="0" smtClean="0"/>
              <a:t>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Как теперь избавится от удвоенной полосы: Надо отфильтровать фильтром только одну боковую частоту: нижнюю (</a:t>
            </a:r>
            <a:r>
              <a:rPr lang="en-US" dirty="0" smtClean="0"/>
              <a:t>LSB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smtClean="0"/>
              <a:t>или верхнюю (</a:t>
            </a:r>
            <a:r>
              <a:rPr lang="en-US" dirty="0" smtClean="0"/>
              <a:t>HSB</a:t>
            </a:r>
            <a:r>
              <a:rPr lang="ru-RU" dirty="0" smtClean="0"/>
              <a:t>)</a:t>
            </a:r>
            <a:r>
              <a:rPr lang="en-US" dirty="0" smtClean="0"/>
              <a:t>. </a:t>
            </a:r>
            <a:r>
              <a:rPr lang="ru-RU" dirty="0" smtClean="0"/>
              <a:t>Фильтр при этом совсем не простой: он должен практически не затрагивать целевую частоту и при этом эффективно давить вторую боковую.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 smtClean="0"/>
              <a:t>							     сигнал </a:t>
            </a:r>
            <a:r>
              <a:rPr lang="en-US" dirty="0" smtClean="0"/>
              <a:t>SSB </a:t>
            </a:r>
            <a:r>
              <a:rPr lang="ru-RU" dirty="0" smtClean="0"/>
              <a:t>для одно-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     тональной модуляции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      </a:t>
            </a:r>
            <a:r>
              <a:rPr lang="ru-RU" b="1" dirty="0" smtClean="0"/>
              <a:t>гармонический</a:t>
            </a:r>
          </a:p>
          <a:p>
            <a:pPr marL="0" indent="0" algn="just">
              <a:buNone/>
            </a:pPr>
            <a:r>
              <a:rPr lang="ru-RU" dirty="0" smtClean="0"/>
              <a:t> 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878" y="3361800"/>
            <a:ext cx="3191231" cy="129583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78" y="4862945"/>
            <a:ext cx="3243053" cy="15490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45" y="3798057"/>
            <a:ext cx="3580556" cy="135348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245" y="3096401"/>
            <a:ext cx="2421401" cy="140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SSB </a:t>
            </a:r>
            <a:r>
              <a:rPr lang="ru-RU" dirty="0" smtClean="0"/>
              <a:t>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Недостаток у </a:t>
                </a:r>
                <a:r>
                  <a:rPr lang="en-US" dirty="0" smtClean="0"/>
                  <a:t>SSB </a:t>
                </a:r>
                <a:r>
                  <a:rPr lang="ru-RU" dirty="0" smtClean="0"/>
                  <a:t>тот же, что и у </a:t>
                </a:r>
                <a:r>
                  <a:rPr lang="en-US" dirty="0" smtClean="0"/>
                  <a:t>DSB </a:t>
                </a:r>
                <a:r>
                  <a:rPr lang="ru-RU" dirty="0" smtClean="0"/>
                  <a:t>модуляции – требуется высокостабильный генератор и в модуляторе и в демодуляторе.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Если частоты расстраиваются относительно друг друга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 smtClean="0"/>
                  <a:t> то имеем уход частоты </a:t>
                </a:r>
                <a:r>
                  <a:rPr lang="ru-RU" dirty="0" err="1" smtClean="0"/>
                  <a:t>демодулированного</a:t>
                </a:r>
                <a:r>
                  <a:rPr lang="ru-RU" dirty="0" smtClean="0"/>
                  <a:t> сигнала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∓</m:t>
                        </m:r>
                        <m:r>
                          <a:rPr lang="ru-R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ru-R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ru-RU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 smtClean="0"/>
                  <a:t>Если этот уход невелик, то не страшно, а если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 smtClean="0"/>
                  <a:t>превысит выделенную сигналу полосу – сигнал исчезнет.</a:t>
                </a:r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Диодный демодулятор работать не будет. Только перемножение.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221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999" y="4362015"/>
            <a:ext cx="3558020" cy="128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7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SSB </a:t>
            </a:r>
            <a:r>
              <a:rPr lang="ru-RU" dirty="0" smtClean="0"/>
              <a:t>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Сейчас высокостабильные генераторы с относительной точностью поддержания частоты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ru-RU" dirty="0" smtClean="0"/>
                  <a:t>общедоступны, так что для радиочастот до десятков мегагерц, а это длинные, средние и короткие волны </a:t>
                </a:r>
                <a:r>
                  <a:rPr lang="en-US" dirty="0" smtClean="0"/>
                  <a:t>SSB </a:t>
                </a:r>
                <a:r>
                  <a:rPr lang="ru-RU" dirty="0" smtClean="0"/>
                  <a:t>модуляция, можно считать, недостатков не имеет. Уход частоты на десятки герц приему помешать никак не может.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Поэтому сейчас </a:t>
                </a:r>
                <a:r>
                  <a:rPr lang="en-US" dirty="0" smtClean="0"/>
                  <a:t>SSB</a:t>
                </a:r>
                <a:r>
                  <a:rPr lang="ru-RU" dirty="0" smtClean="0"/>
                  <a:t> основной тип модуляции для радиопередающих устройств в КВ диапазоне.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Так же есть соглашение, предусматривающее всеобщий переход к </a:t>
                </a:r>
                <a:r>
                  <a:rPr lang="en-US" dirty="0" smtClean="0"/>
                  <a:t>SSB </a:t>
                </a:r>
                <a:r>
                  <a:rPr lang="ru-RU" dirty="0" smtClean="0"/>
                  <a:t>на длинных и средних волнах. Это позволит в два раза повысить плотность каналов передачи.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29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Теперь рассмотрим подробнее угловую модуляцию.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Будем записывать сигнал с угловой модуляцией в виде: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Частотная модуляция при этом получается,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/>
                  <a:t>,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Тогда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Таким образом если мы видим что у нас есть колебания с линейно нарастающей фазой – то это есть просто колебания другой частоты, сдвинутой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 smtClean="0"/>
                  <a:t>, а </a:t>
                </a:r>
                <a:r>
                  <a:rPr lang="ru-RU" b="1" dirty="0" smtClean="0"/>
                  <a:t>фаза с частотой связаны следующим образом</a:t>
                </a:r>
                <a:r>
                  <a:rPr lang="ru-RU" dirty="0" smtClean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57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Полная фаза колебаний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 smtClean="0"/>
                  <a:t>тогда равна: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где 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Обратное выражение (частота через фазу):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Мы получили для гармонической несущей </a:t>
                </a:r>
                <a:r>
                  <a:rPr lang="ru-RU" b="1" dirty="0" smtClean="0"/>
                  <a:t>связь между частотной и фазовой модуляцией.</a:t>
                </a:r>
                <a:endParaRPr lang="en-US" b="1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19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Рассмотрим </a:t>
                </a:r>
                <a:r>
                  <a:rPr lang="ru-RU" dirty="0" err="1" smtClean="0"/>
                  <a:t>однотональную</a:t>
                </a:r>
                <a:r>
                  <a:rPr lang="ru-RU" dirty="0" smtClean="0"/>
                  <a:t> частотную модуляцию сигналом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Посмотрим какой вид имеет модулированный сигнал: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i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чм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 smtClean="0"/>
                  <a:t> - </a:t>
                </a:r>
                <a:r>
                  <a:rPr lang="ru-RU" b="1" dirty="0" smtClean="0"/>
                  <a:t>девиация частоты</a:t>
                </a:r>
                <a:r>
                  <a:rPr lang="ru-RU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чм</m:t>
                        </m:r>
                      </m:sub>
                    </m:sSub>
                  </m:oMath>
                </a14:m>
                <a:r>
                  <a:rPr lang="ru-RU" dirty="0" smtClean="0"/>
                  <a:t> - крутизна частотной модуляции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Величину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 smtClean="0"/>
                  <a:t>получаемую переходом в термины фазовой модуляции по правилу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 smtClean="0"/>
                  <a:t>называют </a:t>
                </a:r>
                <a:r>
                  <a:rPr lang="ru-RU" b="1" dirty="0" smtClean="0"/>
                  <a:t>индексом модуляции</a:t>
                </a:r>
                <a:endParaRPr lang="en-US" b="1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 b="-2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50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Отметим, что для </a:t>
                </a:r>
                <a:r>
                  <a:rPr lang="ru-RU" dirty="0" err="1" smtClean="0"/>
                  <a:t>однотональной</a:t>
                </a:r>
                <a:r>
                  <a:rPr lang="ru-RU" dirty="0" smtClean="0"/>
                  <a:t> модуляции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b="1" dirty="0" smtClean="0"/>
                  <a:t>, </a:t>
                </a:r>
                <a:r>
                  <a:rPr lang="ru-RU" dirty="0" smtClean="0"/>
                  <a:t>а фазовая и частотная модуляция тождественны. Что мы уже видели на картинках вначале. Но уже даже постоянный модулирующий сигнал даст различие картины частотной и фазовой модуляции в силу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b="1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52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Найдем теперь спектральную плотность частотно-модулированного сигнала.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Случай неглубокой модуляции: индекс модуляции </a:t>
                </a:r>
                <a:r>
                  <a:rPr lang="en-US" dirty="0" smtClean="0"/>
                  <a:t>&lt;&lt;1,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Тогда можно разложить: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𝑠𝑖𝑛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𝑠𝑖𝑛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Видим несущую и две боковые полосы, как и при АМ.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Так же полоса увеличивается в 2 раза, и использование мощности передатчика абсолютно неэффективно: мощность в каждой боковой частоте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- </a:t>
                </a:r>
                <a:r>
                  <a:rPr lang="ru-RU" dirty="0" smtClean="0"/>
                  <a:t>а так как </a:t>
                </a:r>
                <a:r>
                  <a:rPr lang="en-US" dirty="0" smtClean="0"/>
                  <a:t>m&lt;&lt;1 </a:t>
                </a:r>
                <a:r>
                  <a:rPr lang="ru-RU" dirty="0" smtClean="0"/>
                  <a:t>то это крайне малая величина.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 отличие от АМ за счет фазового сдвига компонент не будет изменения амплитуды – будут биения вызывающие девиацию частоты.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61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Как будет выглядеть сигнал при </a:t>
                </a:r>
                <a:r>
                  <a:rPr lang="en-US" dirty="0" smtClean="0"/>
                  <a:t>m&gt;1</a:t>
                </a:r>
                <a:r>
                  <a:rPr lang="ru-RU" dirty="0" smtClean="0"/>
                  <a:t>?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В этом случае получаются ряды: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ru-R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 в спектральной плотности получаются гармоники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 smtClean="0"/>
                  <a:t> , </a:t>
                </a:r>
                <a:r>
                  <a:rPr lang="ru-RU" dirty="0" smtClean="0"/>
                  <a:t>при этом амплитуда сигналов падает с ростом </a:t>
                </a:r>
                <a:r>
                  <a:rPr lang="en-US" dirty="0" smtClean="0"/>
                  <a:t>n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При больших </a:t>
                </a:r>
                <a:r>
                  <a:rPr lang="en-US" dirty="0" smtClean="0"/>
                  <a:t>m </a:t>
                </a:r>
                <a:r>
                  <a:rPr lang="ru-RU" dirty="0" smtClean="0"/>
                  <a:t>реальная ширина спектра, в которой сосредоточена основная мощность сигнала примерно равна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причем несущая оказывается подавлено до уровня других составляющих</a:t>
                </a:r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41" y="5247409"/>
            <a:ext cx="2801936" cy="122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7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Угловая модуляция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Видно, что УМ занимает существенно более широкую полосу, по сравнению с АМ. Почему же она так популярна?</a:t>
            </a:r>
          </a:p>
          <a:p>
            <a:pPr marL="0" indent="0" algn="just">
              <a:buNone/>
            </a:pPr>
            <a:r>
              <a:rPr lang="ru-RU" dirty="0" smtClean="0"/>
              <a:t>Причина в высокой помехоустойчивости такой модуляции и низкой чувствительности к паразитной амплитудной модуляции.</a:t>
            </a:r>
          </a:p>
          <a:p>
            <a:pPr marL="0" indent="0" algn="just">
              <a:buNone/>
            </a:pPr>
            <a:r>
              <a:rPr lang="ru-RU" dirty="0" smtClean="0"/>
              <a:t>Это происходит за счет того, что информация передается по нескольким как бы независимым каналам, в некотором смысле дублируется . И поэтому повреждение помехой одной спектральной полосы не приводит в существенному искажению информации.</a:t>
            </a:r>
          </a:p>
          <a:p>
            <a:pPr marL="0" indent="0" algn="just">
              <a:buNone/>
            </a:pPr>
            <a:r>
              <a:rPr lang="ru-RU" dirty="0" smtClean="0"/>
              <a:t>Для стандартных </a:t>
            </a:r>
            <a:r>
              <a:rPr lang="en-US" dirty="0" smtClean="0"/>
              <a:t>FM </a:t>
            </a:r>
            <a:r>
              <a:rPr lang="ru-RU" dirty="0" smtClean="0"/>
              <a:t>каналов девиация около 100кГц (</a:t>
            </a:r>
            <a:r>
              <a:rPr lang="en-US" dirty="0" smtClean="0"/>
              <a:t>m=10</a:t>
            </a:r>
            <a:r>
              <a:rPr lang="ru-RU" dirty="0" smtClean="0"/>
              <a:t>)</a:t>
            </a:r>
            <a:r>
              <a:rPr lang="en-US" dirty="0"/>
              <a:t> </a:t>
            </a:r>
            <a:r>
              <a:rPr lang="ru-RU" dirty="0" smtClean="0"/>
              <a:t>При частоте несущей 60- 110 </a:t>
            </a:r>
            <a:r>
              <a:rPr lang="ru-RU" dirty="0" err="1" smtClean="0"/>
              <a:t>мГц</a:t>
            </a:r>
            <a:r>
              <a:rPr lang="ru-RU" dirty="0" smtClean="0"/>
              <a:t> это позволяет разместить достаточное количество каналов.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0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и демодуляция УМ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Для частотной модуляции обычно используют непосредственное воздействие на частоту генератора, используя варикап – полупроводниковую емкость управляемую напряжением.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67" y="3466233"/>
            <a:ext cx="3234483" cy="185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9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и демодуляция УМ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Самый простой способ демодуляции – преобразование ЧМ сигнала в АМ и дальнейшая демодуляция АМ детектором.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Стандартный способ: использование линии задержки (внесение в сигнал фазового сдвига)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06" y="2870692"/>
            <a:ext cx="4644025" cy="143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1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и демодуляция УМ сигналов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ЧМ сигнал разделяется на две ветви. Одна идет на умножитель напрямую, в другой ветви в сигнал вносится постоянный фазовый сдвиг (он задерживается на некоторую величину)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На выходе умножителя получаем смесь частот:</a:t>
                </a:r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Так как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то второе слагаемое раскладывается в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 smtClean="0"/>
                  <a:t> , А первое надо убрать фильтром низких частот. В результате имеем на выходе модулирующий сигнал.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221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67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Модуляция и демодуляция УМ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Блок схема ЧМ детектора: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74" y="2623909"/>
            <a:ext cx="5989641" cy="169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6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14979</TotalTime>
  <Words>1208</Words>
  <Application>Microsoft Office PowerPoint</Application>
  <PresentationFormat>Широкоэкранный</PresentationFormat>
  <Paragraphs>212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Тема Office</vt:lpstr>
      <vt:lpstr>Лекция 11</vt:lpstr>
      <vt:lpstr>Модуляция сигнала</vt:lpstr>
      <vt:lpstr>Модуляция сигнала</vt:lpstr>
      <vt:lpstr>Модуляция сигнала</vt:lpstr>
      <vt:lpstr>Угловая модуляция</vt:lpstr>
      <vt:lpstr>Дискретная модуляция</vt:lpstr>
      <vt:lpstr>Импульсная модуляция</vt:lpstr>
      <vt:lpstr>Амплитудная модуляция</vt:lpstr>
      <vt:lpstr>Амплитудная модуляция</vt:lpstr>
      <vt:lpstr>Амплитудная модуляция</vt:lpstr>
      <vt:lpstr>Амплитудная модуляция</vt:lpstr>
      <vt:lpstr>Амплитудная модуляция</vt:lpstr>
      <vt:lpstr>Амплитудная модуляция</vt:lpstr>
      <vt:lpstr>Амплитудная модуляция</vt:lpstr>
      <vt:lpstr>Амплитудная модуляция</vt:lpstr>
      <vt:lpstr>Демодуляция АМ сигнала</vt:lpstr>
      <vt:lpstr>Демодуляция АМ сигнала</vt:lpstr>
      <vt:lpstr>Демодуляция АМ сигнала</vt:lpstr>
      <vt:lpstr>Амплитудная модуляция</vt:lpstr>
      <vt:lpstr>DSB модуляция</vt:lpstr>
      <vt:lpstr>SSB модуляция</vt:lpstr>
      <vt:lpstr>SSB модуляция</vt:lpstr>
      <vt:lpstr>SSB модуляция</vt:lpstr>
      <vt:lpstr>Угловая модуляция</vt:lpstr>
      <vt:lpstr>Угловая модуляция</vt:lpstr>
      <vt:lpstr>Угловая модуляция</vt:lpstr>
      <vt:lpstr>Угловая модуляция</vt:lpstr>
      <vt:lpstr>Угловая модуляция</vt:lpstr>
      <vt:lpstr>Угловая модуляция</vt:lpstr>
      <vt:lpstr>Угловая модуляция</vt:lpstr>
      <vt:lpstr>Модуляция и демодуляция УМ сигналов</vt:lpstr>
      <vt:lpstr>Модуляция и демодуляция УМ сигналов</vt:lpstr>
      <vt:lpstr>Модуляция и демодуляция УМ сигналов</vt:lpstr>
      <vt:lpstr>Модуляция и демодуляция УМ сигналов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476</cp:revision>
  <dcterms:created xsi:type="dcterms:W3CDTF">2020-09-02T13:49:40Z</dcterms:created>
  <dcterms:modified xsi:type="dcterms:W3CDTF">2021-09-09T12:36:02Z</dcterms:modified>
</cp:coreProperties>
</file>