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63" r:id="rId13"/>
    <p:sldId id="364" r:id="rId14"/>
    <p:sldId id="337" r:id="rId15"/>
    <p:sldId id="338" r:id="rId16"/>
    <p:sldId id="365" r:id="rId17"/>
    <p:sldId id="339" r:id="rId18"/>
    <p:sldId id="340" r:id="rId19"/>
    <p:sldId id="358" r:id="rId20"/>
    <p:sldId id="359" r:id="rId21"/>
    <p:sldId id="360" r:id="rId22"/>
    <p:sldId id="361" r:id="rId23"/>
    <p:sldId id="362" r:id="rId24"/>
    <p:sldId id="357" r:id="rId25"/>
    <p:sldId id="341" r:id="rId26"/>
    <p:sldId id="342" r:id="rId27"/>
    <p:sldId id="366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17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Каскады на полевых транзисторах.</a:t>
            </a:r>
          </a:p>
          <a:p>
            <a:pPr marL="0" indent="0" algn="ctr">
              <a:buNone/>
            </a:pPr>
            <a:r>
              <a:rPr lang="ru-RU" b="1" i="1" dirty="0" smtClean="0"/>
              <a:t>Паразитные параметры транзисторов.</a:t>
            </a:r>
          </a:p>
          <a:p>
            <a:pPr marL="0" indent="0" algn="ctr">
              <a:buNone/>
            </a:pPr>
            <a:r>
              <a:rPr lang="ru-RU" b="1" i="1" dirty="0" smtClean="0"/>
              <a:t>Операционные усилители и их основные характеристики.</a:t>
            </a:r>
          </a:p>
          <a:p>
            <a:pPr marL="0" indent="0" algn="ctr">
              <a:buNone/>
            </a:pPr>
            <a:r>
              <a:rPr lang="ru-RU" b="1" i="1" dirty="0" smtClean="0"/>
              <a:t>Обратная связь.</a:t>
            </a:r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JFET </a:t>
            </a:r>
            <a:r>
              <a:rPr lang="ru-RU" dirty="0" smtClean="0"/>
              <a:t>полевой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Принцип работы.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71" y="2001044"/>
            <a:ext cx="34480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7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JFET </a:t>
            </a:r>
            <a:r>
              <a:rPr lang="ru-RU" dirty="0" smtClean="0"/>
              <a:t>полевой транзистор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 транзистора.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и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отс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311" y="2889909"/>
            <a:ext cx="4541222" cy="221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5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</a:t>
            </a:r>
            <a:r>
              <a:rPr lang="ru-RU" dirty="0"/>
              <a:t>канальный </a:t>
            </a:r>
            <a:r>
              <a:rPr lang="en-US" dirty="0"/>
              <a:t>JFET </a:t>
            </a:r>
            <a:r>
              <a:rPr lang="ru-RU" dirty="0"/>
              <a:t>полевой транзистор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Вольт-амперные характеристики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669" y="2836347"/>
            <a:ext cx="77247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4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MOSFET (</a:t>
            </a:r>
            <a:r>
              <a:rPr lang="ru-RU" dirty="0" smtClean="0"/>
              <a:t>ПДП</a:t>
            </a:r>
            <a:r>
              <a:rPr lang="en-US" dirty="0" smtClean="0"/>
              <a:t>)</a:t>
            </a:r>
            <a:r>
              <a:rPr lang="ru-RU" dirty="0" smtClean="0"/>
              <a:t>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Со встроенным каналом.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416" y="2025147"/>
            <a:ext cx="2856016" cy="173636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308" y="2248827"/>
            <a:ext cx="40005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9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MOSFET (</a:t>
            </a:r>
            <a:r>
              <a:rPr lang="ru-RU" dirty="0" smtClean="0"/>
              <a:t>ПДП</a:t>
            </a:r>
            <a:r>
              <a:rPr lang="en-US" dirty="0" smtClean="0"/>
              <a:t>)</a:t>
            </a:r>
            <a:r>
              <a:rPr lang="ru-RU" dirty="0" smtClean="0"/>
              <a:t>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ВАХ транзистора со встроенным каналом.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134" y="2526197"/>
            <a:ext cx="2477890" cy="358365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77" y="2885703"/>
            <a:ext cx="3165663" cy="322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6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MOSFET (</a:t>
            </a:r>
            <a:r>
              <a:rPr lang="ru-RU" dirty="0" smtClean="0"/>
              <a:t>ПДП</a:t>
            </a:r>
            <a:r>
              <a:rPr lang="en-US" dirty="0" smtClean="0"/>
              <a:t>)</a:t>
            </a:r>
            <a:r>
              <a:rPr lang="ru-RU" dirty="0" smtClean="0"/>
              <a:t>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Со индуцированным каналом.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108" y="2357438"/>
            <a:ext cx="3343275" cy="38195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351" y="2126888"/>
            <a:ext cx="2599212" cy="146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9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MOSFET (</a:t>
            </a:r>
            <a:r>
              <a:rPr lang="ru-RU" dirty="0" smtClean="0"/>
              <a:t>ПДП</a:t>
            </a:r>
            <a:r>
              <a:rPr lang="en-US" dirty="0" smtClean="0"/>
              <a:t>)</a:t>
            </a:r>
            <a:r>
              <a:rPr lang="ru-RU" dirty="0" smtClean="0"/>
              <a:t>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ВАХ транзистора с индуцированным каналом.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488" y="3125003"/>
            <a:ext cx="2590523" cy="279484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24" y="3125003"/>
            <a:ext cx="3088908" cy="280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5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</a:t>
            </a:r>
            <a:r>
              <a:rPr lang="ru-RU" dirty="0" smtClean="0"/>
              <a:t>канальный </a:t>
            </a:r>
            <a:r>
              <a:rPr lang="en-US" dirty="0" smtClean="0"/>
              <a:t>MOSFET (</a:t>
            </a:r>
            <a:r>
              <a:rPr lang="ru-RU" dirty="0" smtClean="0"/>
              <a:t>ПДП</a:t>
            </a:r>
            <a:r>
              <a:rPr lang="en-US" dirty="0" smtClean="0"/>
              <a:t>)</a:t>
            </a:r>
            <a:r>
              <a:rPr lang="ru-RU" dirty="0" smtClean="0"/>
              <a:t> транзистор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включения.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и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отс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</m:oMath>
                </a14:m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487" y="2878034"/>
            <a:ext cx="4443639" cy="21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6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общий исток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en-US" dirty="0" smtClean="0"/>
                  <a:t>				</a:t>
                </a:r>
                <a:r>
                  <a:rPr lang="ru-RU" dirty="0" smtClean="0"/>
                  <a:t>						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	</a:t>
                </a:r>
                <a:r>
                  <a:rPr lang="en-US" dirty="0" smtClean="0"/>
                  <a:t>				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 в диапазоне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отс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÷0В)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301" y="2984912"/>
            <a:ext cx="4663202" cy="22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7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общий сток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en-US" dirty="0" smtClean="0"/>
                  <a:t>				</a:t>
                </a:r>
                <a:r>
                  <a:rPr lang="ru-RU" dirty="0" smtClean="0"/>
                  <a:t>						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		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𝑆𝑅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	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ых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зи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𝑆𝑅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𝑆𝑅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≫1⇒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≅1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</m:sub>
                      </m:sSub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 в диапазоне 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отс</m:t>
                          </m:r>
                        </m:sub>
                      </m:sSub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293" y="3044288"/>
            <a:ext cx="4711994" cy="229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6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Паразитные параметры транзисторов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Под паразитными параметрами биполярных транзисторов понимаются емкости коллекторного и эмиттерного перехода. Они не учитываются в простой модели транзистора и модели </a:t>
            </a:r>
            <a:r>
              <a:rPr lang="ru-RU" dirty="0" err="1" smtClean="0"/>
              <a:t>Эберса</a:t>
            </a:r>
            <a:r>
              <a:rPr lang="ru-RU" dirty="0" smtClean="0"/>
              <a:t> –</a:t>
            </a:r>
            <a:r>
              <a:rPr lang="ru-RU" dirty="0" err="1" smtClean="0"/>
              <a:t>Молла</a:t>
            </a:r>
            <a:r>
              <a:rPr lang="ru-RU" dirty="0" smtClean="0"/>
              <a:t>, однако при некоторых условиях могут начать серьезное влияние на работу схемы. Для емкости коллекторного перехода, т.е. емкости </a:t>
            </a:r>
            <a:r>
              <a:rPr lang="ru-RU" dirty="0" err="1" smtClean="0"/>
              <a:t>Скб</a:t>
            </a:r>
            <a:r>
              <a:rPr lang="ru-RU" dirty="0" smtClean="0"/>
              <a:t> есть собственное название, с которым мы уже встречались при рассмотрении вакуумного триода: </a:t>
            </a:r>
            <a:r>
              <a:rPr lang="ru-RU" b="1" dirty="0" smtClean="0"/>
              <a:t>Емкость Миллера . </a:t>
            </a:r>
            <a:r>
              <a:rPr lang="ru-RU" dirty="0" smtClean="0"/>
              <a:t>Емкость эмиттерного перехода так и называется </a:t>
            </a:r>
            <a:r>
              <a:rPr lang="ru-RU" dirty="0" err="1" smtClean="0"/>
              <a:t>Сбэ</a:t>
            </a:r>
            <a:r>
              <a:rPr lang="ru-RU" dirty="0" smtClean="0"/>
              <a:t>. В случае полевого транзистора емкость Миллера – это емкость сток-затвор, емкость между затвором и истоком называется емкостью затвора транзистора. Существует еще выходная емкость – это, для биполярного транзистора емкость с коллектора на подложку кристалла, а для полевого – емкость между каналом и подложкой.</a:t>
            </a:r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b="1" dirty="0" smtClean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r>
              <a:rPr lang="ru-RU" b="1" dirty="0" smtClean="0"/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446" y="4691438"/>
            <a:ext cx="1252848" cy="118021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302" y="4691438"/>
            <a:ext cx="1479957" cy="118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74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Паразитные параметры транзисторов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Так как при усилении переменного сигнала напряжение на коллекторе (или стоке) транзистора инверсно по отношению к напряжению на базе (затворе) и, кроме того, в К (коэффициент усиления) раз больше, то емкость Миллера создает для источника входного сигнала дополнительную нагрузку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кб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ru-RU" dirty="0" smtClean="0"/>
                  <a:t>. Соответственно существенное влияние они начнет оказывать, когда указанная нагрузка перестанет быть мала (т.е. сопротивление перестанет быть велико) относительно входного сопротивления источника сигнала. Емкость эмиттерного перехода в биполярном транзисторе хотя и сравнима по величине с емкостью коллектора, оказывает существенно меньшее влияние на работу схем, так как напряжение база – эмиттер можно в первом приближении считать постоянным.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А вот для полевых транзисторов входная емкость затвор – исток хоть и в меньшей степени по сравнению с емкостью Миллера, но нагружает источник сигнала.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221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93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Операционный усилитель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Прибор имеющий 2 входа и один выход, связанные между собой по правилу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=К(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называют операционным усилителем.</a:t>
                </a:r>
              </a:p>
              <a:p>
                <a:pPr marL="0" indent="0" algn="just">
                  <a:buNone/>
                </a:pPr>
                <a:r>
                  <a:rPr lang="ru-RU" b="1" u="sng" dirty="0" smtClean="0"/>
                  <a:t>Идеальный операционный усилитель: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не завасит от ча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стоты</m:t>
                    </m:r>
                  </m:oMath>
                </a14:m>
                <a:endParaRPr lang="ru-RU" b="0" dirty="0" smtClean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 не ограничено по амплитуде</m:t>
                    </m:r>
                  </m:oMath>
                </a14:m>
                <a:endParaRPr lang="en-US" b="0" dirty="0" smtClean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825" y="3582194"/>
            <a:ext cx="2209800" cy="191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4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Операционный усилитель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В реальном операционном усилителе эти условия, естественно, не могут быть выполнены.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Поэтому в реальности имеем: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−на частоте меньше частоты среза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частота единичного усиления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от 1нА до 100мкА</m:t>
                    </m:r>
                  </m:oMath>
                </a14:m>
                <a:endParaRPr lang="ru-RU" dirty="0" smtClean="0">
                  <a:ea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ограничивается напряжением питания.</m:t>
                    </m:r>
                  </m:oMath>
                </a14:m>
                <a:endParaRPr lang="ru-RU" dirty="0" smtClean="0"/>
              </a:p>
              <a:p>
                <a:pPr algn="just"/>
                <a:r>
                  <a:rPr lang="ru-RU" dirty="0" smtClean="0"/>
                  <a:t>Обычно диапазон изменения выходного напряжения меньше напряжения питания примерно на вольт. </a:t>
                </a:r>
              </a:p>
              <a:p>
                <a:pPr algn="just"/>
                <a:r>
                  <a:rPr lang="ru-RU" dirty="0" smtClean="0"/>
                  <a:t>Если выходное напряжение может изменяться в пределах от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-</a:t>
                </a:r>
                <a:r>
                  <a:rPr lang="en-US" dirty="0" smtClean="0"/>
                  <a:t>V</a:t>
                </a:r>
                <a:r>
                  <a:rPr lang="ru-RU" dirty="0" smtClean="0"/>
                  <a:t>пит до +</a:t>
                </a:r>
                <a:r>
                  <a:rPr lang="en-US" dirty="0" smtClean="0"/>
                  <a:t>V</a:t>
                </a:r>
                <a:r>
                  <a:rPr lang="ru-RU" dirty="0" smtClean="0"/>
                  <a:t>пит, такой операционный усилитель называют </a:t>
                </a:r>
                <a:r>
                  <a:rPr lang="en-US" dirty="0" smtClean="0"/>
                  <a:t>Rail-to-rail</a:t>
                </a:r>
                <a:r>
                  <a:rPr lang="ru-RU" dirty="0" smtClean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221" r="-870" b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4" y="2290762"/>
            <a:ext cx="2143125" cy="217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6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Операционный усилитель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Внутри операционный усилитель состоит из дифференциального каскада на входе (или двух, для получения повышенного собственного коэффициента усиления) и повторителя тока на выходе. Дифференциальный каскад часто выполняется с динамической коллекторной нагрузкой – это позволяет уменьшить число резисторов в схеме и дополнительно повысить коэффициент усиления.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 smtClean="0"/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66" y="3753282"/>
            <a:ext cx="4381952" cy="235657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51" y="3753282"/>
            <a:ext cx="3196132" cy="249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4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Операционный усилитель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6764" y="1825625"/>
            <a:ext cx="8078471" cy="435133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596" y="2086134"/>
            <a:ext cx="2209800" cy="191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4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Включение операционного усилителя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 Найдем выходное напряжение в показанной схеме с операционным усилителем :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=К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=К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вых</m:t>
                            </m:r>
                          </m:sub>
                        </m:sSub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ы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2+(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2)</m:t>
                        </m:r>
                      </m:den>
                    </m:f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Получаем коэффициент усиления, определяющийся главным образом резисторами </a:t>
                </a:r>
                <a:r>
                  <a:rPr lang="en-US" dirty="0" smtClean="0"/>
                  <a:t>R1 </a:t>
                </a:r>
                <a:r>
                  <a:rPr lang="ru-RU" dirty="0" smtClean="0"/>
                  <a:t>и </a:t>
                </a:r>
                <a:r>
                  <a:rPr lang="en-US" dirty="0" smtClean="0"/>
                  <a:t>R2. </a:t>
                </a:r>
                <a:r>
                  <a:rPr lang="ru-RU" dirty="0" smtClean="0"/>
                  <a:t>Получается это за счет того, что часть выходного напряжения подается обратно на инвертирующий вход операционного усилителя.</a:t>
                </a:r>
                <a:endParaRPr lang="ru-RU" b="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184" y="2550185"/>
            <a:ext cx="2953616" cy="16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Обратные связи в общем виде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Явление передачи (частичной или полной) выходного сигнала на вход устройства называется обратной связью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298" y="2729664"/>
            <a:ext cx="7465373" cy="377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0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Обратные связи в общем виде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 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717" y="1367899"/>
            <a:ext cx="8638494" cy="528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3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Обратные связи в общем виде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 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0" y="1376128"/>
            <a:ext cx="7662459" cy="525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2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Обратные связи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 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09" y="1731621"/>
            <a:ext cx="7376865" cy="444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8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Обратные связи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4343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 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7" y="1628775"/>
            <a:ext cx="9915525" cy="36004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323" y="5226844"/>
            <a:ext cx="78009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0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Отрицательная обратная связь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43438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 Отрицательная обратная связь в общем виде представляется как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ос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/>
                  <a:t>	</a:t>
                </a: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Найдем влияние ООС на параметры усилителя:</a:t>
                </a:r>
              </a:p>
              <a:p>
                <a:pPr algn="just"/>
                <a:r>
                  <a:rPr lang="ru-RU" dirty="0" smtClean="0"/>
                  <a:t>Нестабильность К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𝑑𝐾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endParaRPr lang="en-US" b="0" dirty="0" smtClean="0"/>
              </a:p>
              <a:p>
                <a:pPr algn="just"/>
                <a:r>
                  <a:rPr lang="ru-RU" dirty="0" smtClean="0"/>
                  <a:t>Полоса пропускания</a:t>
                </a:r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algn="just"/>
                <a:r>
                  <a:rPr lang="ru-RU" b="0" dirty="0" smtClean="0"/>
                  <a:t>Нелинейные искажения</a:t>
                </a:r>
                <a:endParaRPr lang="en-US" b="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43438"/>
                <a:ext cx="10515600" cy="4351338"/>
              </a:xfrm>
              <a:blipFill rotWithShape="0">
                <a:blip r:embed="rId2"/>
                <a:stretch>
                  <a:fillRect l="-1159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260" y="3469016"/>
            <a:ext cx="1824864" cy="84172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529" y="3953353"/>
            <a:ext cx="3528270" cy="156570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025" y="5432961"/>
            <a:ext cx="1613034" cy="46179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692" y="5764419"/>
            <a:ext cx="4303568" cy="86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5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Отрицательная обратная связь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 Посмотрим на разность напряжений на входах: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𝐾𝑅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2+(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2)</m:t>
                        </m:r>
                      </m:den>
                    </m:f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→∞)⇒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:r>
                  <a:rPr lang="ru-RU" dirty="0" smtClean="0"/>
                  <a:t>И это есть универсальное свойство всех схем с отрицательной обратной связью, позволяющее легко найти коэффициент усиления схемы: разность напряжений между входами не превышает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 smtClean="0"/>
                  <a:t> </a:t>
                </a:r>
                <a:r>
                  <a:rPr lang="ru-RU" b="0" dirty="0" smtClean="0"/>
                  <a:t>и стремится к нулю при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≫1</m:t>
                    </m:r>
                  </m:oMath>
                </a14:m>
                <a:endParaRPr lang="ru-RU" b="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685" y="1986107"/>
            <a:ext cx="2953616" cy="16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8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Отрицательная обратная связь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 Воспользуемся этим свойством и найдем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выходное напряжений для схемы </a:t>
                </a:r>
              </a:p>
              <a:p>
                <a:pPr marL="0" indent="0" algn="just">
                  <a:buNone/>
                </a:pPr>
                <a:r>
                  <a:rPr lang="ru-RU" b="1" dirty="0" smtClean="0"/>
                  <a:t>Инвертирующего включения ОУ </a:t>
                </a:r>
                <a:r>
                  <a:rPr lang="ru-RU" dirty="0" smtClean="0"/>
                  <a:t>: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вых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Коэффициент усиления такой схемы равен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ru-RU" b="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838" y="2084119"/>
            <a:ext cx="3628614" cy="164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2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Отрицательная обратная связь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b="1" dirty="0" smtClean="0"/>
                  <a:t>Неинвертирующего включения ОУ </a:t>
                </a:r>
                <a:r>
                  <a:rPr lang="ru-RU" dirty="0" smtClean="0"/>
                  <a:t>: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вых</m:t>
                            </m:r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Коэффициент усиления такой схемы равен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ru-RU" b="0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240" y="1953857"/>
            <a:ext cx="3054556" cy="169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2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Математические операции на ОУ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 Теперь посмотрим, почему операционный</a:t>
                </a:r>
              </a:p>
              <a:p>
                <a:pPr marL="0" indent="0" algn="just">
                  <a:buNone/>
                </a:pPr>
                <a:r>
                  <a:rPr lang="ru-RU" b="0" dirty="0" smtClean="0"/>
                  <a:t>усилитель так назвали.</a:t>
                </a:r>
              </a:p>
              <a:p>
                <a:pPr marL="0" indent="0" algn="just">
                  <a:buNone/>
                </a:pPr>
                <a:r>
                  <a:rPr lang="ru-RU" b="0" dirty="0" smtClean="0"/>
                  <a:t>Рассмотрим инвертирующую схему,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Где вместо </a:t>
                </a:r>
                <a:r>
                  <a:rPr lang="en-US" dirty="0" smtClean="0"/>
                  <a:t>R1 </a:t>
                </a:r>
                <a:r>
                  <a:rPr lang="ru-RU" dirty="0" smtClean="0"/>
                  <a:t>стоит </a:t>
                </a:r>
                <a:r>
                  <a:rPr lang="en-US" dirty="0" smtClean="0"/>
                  <a:t>L</a:t>
                </a:r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=0⇒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;тот же ток течет ч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ерез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Имеем </a:t>
                </a:r>
                <a:r>
                  <a:rPr lang="ru-RU" b="1" dirty="0" smtClean="0"/>
                  <a:t>идеальный дифференцирующий элемент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913" y="2014187"/>
            <a:ext cx="3183082" cy="157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9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Математические операции на ОУ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 Теперь поставим вместо индуктивности</a:t>
                </a:r>
              </a:p>
              <a:p>
                <a:pPr marL="0" indent="0" algn="just">
                  <a:buNone/>
                </a:pPr>
                <a:r>
                  <a:rPr lang="ru-RU" b="0" dirty="0" smtClean="0"/>
                  <a:t>Конденсатор С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=0⇒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;тот же ток течет ч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ерез С⇒</m:t>
                    </m:r>
                  </m:oMath>
                </a14:m>
                <a:endParaRPr lang="ru-RU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</m:t>
                        </m:r>
                      </m:den>
                    </m:f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𝑖𝑑𝑡</m:t>
                        </m:r>
                      </m:e>
                    </m:nary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den>
                    </m:f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Имеем </a:t>
                </a:r>
                <a:r>
                  <a:rPr lang="ru-RU" b="1" dirty="0" smtClean="0"/>
                  <a:t>идеальный интегрирующий элемент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085" y="2247591"/>
            <a:ext cx="3429384" cy="165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40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Математические операции на ОУ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 Следующая операция – суммирование:</a:t>
                </a:r>
                <a:endParaRPr lang="ru-RU" b="0" dirty="0" smtClean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 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=0⇒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ru-RU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b="0" dirty="0" smtClean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тот же ток течет через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ru-RU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Если нужно сложение без инверсии – то надо поставить еще один инвертирующий каскад на выход схемы и тогда будем иметь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561" y="2017814"/>
            <a:ext cx="3081262" cy="221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2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Математические операции на ОУ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 Теперь используем элемент с нелинейной</a:t>
                </a:r>
              </a:p>
              <a:p>
                <a:pPr marL="0" indent="0" algn="just">
                  <a:buNone/>
                </a:pPr>
                <a:r>
                  <a:rPr lang="ru-RU" dirty="0"/>
                  <a:t>л</a:t>
                </a:r>
                <a:r>
                  <a:rPr lang="ru-RU" b="0" dirty="0" smtClean="0"/>
                  <a:t>огарифмической вольт-амперной </a:t>
                </a:r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характеристикой: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𝑅𝑁𝐿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𝑅𝑁𝐿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 smtClean="0"/>
                  <a:t>;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И посмотрим на выходной сигнал схемы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𝑅𝑁𝐸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b="0" i="1" dirty="0" smtClean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конечно, что в выражении пропущены нормирующие множители − </m:t>
                      </m:r>
                    </m:oMath>
                  </m:oMathPara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b="0" dirty="0" smtClean="0"/>
                  <a:t>Это сделано для простоты выражения. В реальной характеристике будет что-то типа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где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, параметры ВАХ элемента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612" y="1992333"/>
            <a:ext cx="2678072" cy="11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Математические операции на ОУ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И объединим выходной сигнал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С двух таких экспонирующих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звеньев, как показано на схеме.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На выходе получим: 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𝑙𝑛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ru-RU" dirty="0"/>
                          <m:t>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вх1</m:t>
                        </m:r>
                      </m:sub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вх2</m:t>
                        </m:r>
                      </m:sub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endParaRPr lang="ru-RU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теперь в зависимости от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 С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можем получить разные результаты</m:t>
                      </m:r>
                    </m:oMath>
                  </m:oMathPara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Пусть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ru-RU" dirty="0" smtClean="0"/>
                  <a:t>=1</a:t>
                </a:r>
                <a:r>
                  <a:rPr lang="en-US" dirty="0" smtClean="0"/>
                  <a:t>, C=1</a:t>
                </a:r>
                <a:r>
                  <a:rPr lang="ru-RU" dirty="0" smtClean="0"/>
                  <a:t> тогда получаем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ru-RU" dirty="0" smtClean="0"/>
                  <a:t> - </a:t>
                </a:r>
                <a:r>
                  <a:rPr lang="ru-RU" b="1" dirty="0" err="1" smtClean="0"/>
                  <a:t>перемножитель</a:t>
                </a:r>
                <a:endParaRPr lang="en-US" b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692" y="1280827"/>
            <a:ext cx="4995739" cy="339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1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Математические операции на ОУ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b="1" dirty="0" smtClean="0"/>
              <a:t>Таким образом на операционных усилителях можно реализовать широкий круг аналоговых вычислений:</a:t>
            </a:r>
          </a:p>
          <a:p>
            <a:pPr algn="just"/>
            <a:r>
              <a:rPr lang="ru-RU" b="1" dirty="0" smtClean="0"/>
              <a:t>Сложение</a:t>
            </a:r>
          </a:p>
          <a:p>
            <a:pPr algn="just"/>
            <a:r>
              <a:rPr lang="ru-RU" b="1" dirty="0" smtClean="0"/>
              <a:t>Вычитание</a:t>
            </a:r>
          </a:p>
          <a:p>
            <a:pPr algn="just"/>
            <a:r>
              <a:rPr lang="ru-RU" b="1" dirty="0" smtClean="0"/>
              <a:t>Умножение</a:t>
            </a:r>
          </a:p>
          <a:p>
            <a:pPr algn="just"/>
            <a:r>
              <a:rPr lang="ru-RU" b="1" dirty="0" smtClean="0"/>
              <a:t>Деление</a:t>
            </a:r>
          </a:p>
          <a:p>
            <a:pPr algn="just"/>
            <a:r>
              <a:rPr lang="ru-RU" b="1" dirty="0" smtClean="0"/>
              <a:t>Логарифмирование</a:t>
            </a:r>
          </a:p>
          <a:p>
            <a:pPr algn="just"/>
            <a:r>
              <a:rPr lang="ru-RU" b="1" dirty="0" smtClean="0"/>
              <a:t>Экспонирование</a:t>
            </a:r>
          </a:p>
          <a:p>
            <a:pPr algn="just"/>
            <a:r>
              <a:rPr lang="ru-RU" b="1" dirty="0" smtClean="0"/>
              <a:t>Интегрирование</a:t>
            </a:r>
          </a:p>
          <a:p>
            <a:pPr algn="just"/>
            <a:r>
              <a:rPr lang="ru-RU" b="1" dirty="0" smtClean="0"/>
              <a:t>Дифференцирование</a:t>
            </a:r>
          </a:p>
          <a:p>
            <a:pPr marL="0" indent="0" algn="just">
              <a:buNone/>
            </a:pPr>
            <a:r>
              <a:rPr lang="ru-RU" dirty="0" smtClean="0"/>
              <a:t>Именно за это свойство они и получили свое название: операционный усилитель.</a:t>
            </a:r>
          </a:p>
          <a:p>
            <a:pPr marL="0" indent="0" algn="just">
              <a:buNone/>
            </a:pPr>
            <a:r>
              <a:rPr lang="ru-RU" dirty="0" smtClean="0"/>
              <a:t>Хотя, в настоящее время, аналоговые вычисления, скорее, экзотика. Но интегрирование, дифференцирование, сложение и вычитание на ОУ используются повсеместно в анализе и </a:t>
            </a:r>
            <a:r>
              <a:rPr lang="ru-RU" smtClean="0"/>
              <a:t>фильтрации сигналов.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7688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Обратные связи в многокаскадных схемах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Если обратная связь охватывает один или несколько каскадов содержащих операционные усилители (или просто усилительные каскады) и она является отрицательной обратной связью: т.е. может быть выражена в  виде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вых=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вх</m:t>
                    </m:r>
                  </m:oMath>
                </a14:m>
                <a:r>
                  <a:rPr lang="en-US" dirty="0" smtClean="0"/>
                  <a:t>				</a:t>
                </a:r>
              </a:p>
              <a:p>
                <a:pPr marL="0" indent="0" algn="just">
                  <a:buNone/>
                </a:pPr>
                <a:r>
                  <a:rPr lang="ru-RU" dirty="0"/>
                  <a:t>т</a:t>
                </a:r>
                <a:r>
                  <a:rPr lang="ru-RU" dirty="0" smtClean="0"/>
                  <a:t>о правила решения задач остаются теми же, что и для простых схем с операционными усилителями: напряжения на входах операционного усилителя (операционных усилителей) считаются равными и из этого условия находится общий коэффициент усиления схемы.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37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Два операционных усилителя охвачены петлей ООС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Из равенства потенциалов на входах сразу получаем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Проверим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оу1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=К1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оу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оу1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вых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К1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К2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вых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вх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вых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К1К2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1+К1К2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019" y="2473160"/>
            <a:ext cx="4224770" cy="16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4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Операционный усилитель с эмиттерным повторителем и токоограничивающим резистором.</a:t>
                </a:r>
              </a:p>
              <a:p>
                <a:pPr marL="0" indent="0" algn="just">
                  <a:buNone/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При этом ток КЗ схемы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 кз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пит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 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до тех пор пока мы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Остаемся в рамках линейной схемы (нет ограничений =</a:t>
                </a:r>
                <a:r>
                  <a:rPr lang="en-US" dirty="0" smtClean="0"/>
                  <a:t>&gt;</a:t>
                </a:r>
                <a:r>
                  <a:rPr lang="ru-RU" dirty="0" smtClean="0"/>
                  <a:t> </a:t>
                </a:r>
                <a:r>
                  <a:rPr lang="en-US" dirty="0" smtClean="0"/>
                  <a:t>V</a:t>
                </a:r>
                <a:r>
                  <a:rPr lang="ru-RU" dirty="0" smtClean="0"/>
                  <a:t>пит - бесконечно)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007" y="2583934"/>
            <a:ext cx="2832946" cy="23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4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21497</TotalTime>
  <Words>717</Words>
  <Application>Microsoft Office PowerPoint</Application>
  <PresentationFormat>Широкоэкранный</PresentationFormat>
  <Paragraphs>200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Тема Office</vt:lpstr>
      <vt:lpstr>Лекция 17</vt:lpstr>
      <vt:lpstr>N-канальный JFET полевой транзистор</vt:lpstr>
      <vt:lpstr>N-канальный JFET полевой транзистор</vt:lpstr>
      <vt:lpstr>N-канальный JFET полевой транзистор</vt:lpstr>
      <vt:lpstr>N-канальный MOSFET (ПДП) транзистор</vt:lpstr>
      <vt:lpstr>N-канальный MOSFET (ПДП) транзистор</vt:lpstr>
      <vt:lpstr>N-канальный MOSFET (ПДП) транзистор</vt:lpstr>
      <vt:lpstr>N-канальный MOSFET (ПДП) транзистор</vt:lpstr>
      <vt:lpstr>N-канальный MOSFET (ПДП) транзистор</vt:lpstr>
      <vt:lpstr>Схемы включения</vt:lpstr>
      <vt:lpstr>Схемы включения</vt:lpstr>
      <vt:lpstr>Паразитные параметры транзисторов</vt:lpstr>
      <vt:lpstr>Паразитные параметры транзисторов</vt:lpstr>
      <vt:lpstr>Операционный усилитель</vt:lpstr>
      <vt:lpstr>Операционный усилитель</vt:lpstr>
      <vt:lpstr>Операционный усилитель</vt:lpstr>
      <vt:lpstr>Операционный усилитель</vt:lpstr>
      <vt:lpstr>Включение операционного усилителя</vt:lpstr>
      <vt:lpstr>Обратные связи в общем виде</vt:lpstr>
      <vt:lpstr>Обратные связи в общем виде</vt:lpstr>
      <vt:lpstr>Обратные связи в общем виде</vt:lpstr>
      <vt:lpstr>Обратные связи</vt:lpstr>
      <vt:lpstr>Обратные связи</vt:lpstr>
      <vt:lpstr>Отрицательная обратная связь</vt:lpstr>
      <vt:lpstr>Отрицательная обратная связь</vt:lpstr>
      <vt:lpstr>Отрицательная обратная связь</vt:lpstr>
      <vt:lpstr>Отрицательная обратная связь</vt:lpstr>
      <vt:lpstr>Математические операции на ОУ</vt:lpstr>
      <vt:lpstr>Математические операции на ОУ</vt:lpstr>
      <vt:lpstr>Математические операции на ОУ</vt:lpstr>
      <vt:lpstr>Математические операции на ОУ</vt:lpstr>
      <vt:lpstr>Математические операции на ОУ</vt:lpstr>
      <vt:lpstr>Математические операции на ОУ</vt:lpstr>
      <vt:lpstr>Обратные связи в многокаскадных схемах</vt:lpstr>
      <vt:lpstr>Пример</vt:lpstr>
      <vt:lpstr>Пример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637</cp:revision>
  <dcterms:created xsi:type="dcterms:W3CDTF">2020-09-02T13:49:40Z</dcterms:created>
  <dcterms:modified xsi:type="dcterms:W3CDTF">2021-09-09T12:53:02Z</dcterms:modified>
</cp:coreProperties>
</file>