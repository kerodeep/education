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80" r:id="rId3"/>
    <p:sldId id="300" r:id="rId4"/>
    <p:sldId id="281" r:id="rId5"/>
    <p:sldId id="282" r:id="rId6"/>
    <p:sldId id="293" r:id="rId7"/>
    <p:sldId id="283" r:id="rId8"/>
    <p:sldId id="290" r:id="rId9"/>
    <p:sldId id="285" r:id="rId10"/>
    <p:sldId id="286" r:id="rId11"/>
    <p:sldId id="287" r:id="rId12"/>
    <p:sldId id="284" r:id="rId13"/>
    <p:sldId id="288" r:id="rId14"/>
    <p:sldId id="289" r:id="rId15"/>
    <p:sldId id="291" r:id="rId16"/>
    <p:sldId id="294" r:id="rId17"/>
    <p:sldId id="292" r:id="rId18"/>
    <p:sldId id="302" r:id="rId19"/>
    <p:sldId id="304" r:id="rId20"/>
    <p:sldId id="303" r:id="rId21"/>
    <p:sldId id="305" r:id="rId22"/>
    <p:sldId id="295" r:id="rId23"/>
    <p:sldId id="296" r:id="rId24"/>
    <p:sldId id="301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9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/>
              <a:t>Операторные методы расчета электрических цепей</a:t>
            </a:r>
            <a:r>
              <a:rPr lang="ru-RU" b="1" i="1" dirty="0" smtClean="0"/>
              <a:t>.</a:t>
            </a:r>
            <a:r>
              <a:rPr lang="ru-RU" i="1" dirty="0" smtClean="0"/>
              <a:t> </a:t>
            </a:r>
            <a:endParaRPr lang="en-US" i="1" dirty="0" smtClean="0"/>
          </a:p>
          <a:p>
            <a:pPr marL="0" indent="0" algn="ctr">
              <a:buNone/>
            </a:pPr>
            <a:r>
              <a:rPr lang="ru-RU" i="1" dirty="0" smtClean="0"/>
              <a:t>метод Лапласа.</a:t>
            </a:r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Напоминание: интегральное представление Лапласа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Метод Фурье очень мощный и универсальный аппарат, при этом существуют и методы быстрых численных преобразований ограниченных выборок для численного анализа (Быстрое преобразование Фурье БПФ) Ортогональность его базисных функций позволяет независимо рассматривать прохождение через линейную систему каждой частотной компоненты. Но в общем виде это преобразование от -∞ до ∞. И поэтому  анализ переходного процесса, подразумевающий коммутацию усложняется наличием сингулярной функции ступеньки во входном воздействии. Спектр частот за счет наличия этой функции во входном сигнале получается заведомо неограниченным, а сам результат усложненным для анализа. 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969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Напоминание: интегральное представление Лапласа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Если вспомнить классический метод расчета переходного процесса, уравнение свободной составляющей описывается как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dirty="0" smtClean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некоторое комплексное значение. Поэтому видится разумным попробовать искать отражение нашей системы путем разложения не на гармонические функции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 smtClean="0"/>
                  <a:t>, </a:t>
                </a:r>
                <a:r>
                  <a:rPr lang="ru-RU" dirty="0" smtClean="0"/>
                  <a:t>а на затухающие экспоненты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где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 smtClean="0"/>
                  <a:t>, ограничив при этом интервал времени как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 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∞)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Такое представление существует и носит название </a:t>
                </a:r>
                <a:r>
                  <a:rPr lang="ru-RU" b="1" dirty="0" smtClean="0"/>
                  <a:t>преобразования </a:t>
                </a:r>
                <a:r>
                  <a:rPr lang="ru-RU" b="1" dirty="0"/>
                  <a:t>Лапласа</a:t>
                </a:r>
                <a:r>
                  <a:rPr lang="ru-RU" dirty="0"/>
                  <a:t> </a:t>
                </a:r>
              </a:p>
              <a:p>
                <a:pPr marL="0" indent="0" algn="ctr">
                  <a:buNone/>
                </a:pPr>
                <a:r>
                  <a:rPr lang="ru-RU" b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𝑿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𝝅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ru-RU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𝒑𝒕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𝒅𝒕</m:t>
                                </m:r>
                              </m:e>
                            </m:nary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box>
                              <m:box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𝝅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den>
                                </m:f>
                              </m:e>
                            </m:box>
                            <m:nary>
                              <m:naryPr>
                                <m:ctrlPr>
                                  <a:rPr lang="ru-RU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ru-RU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ru-RU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ru-RU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𝒑𝒕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𝒅𝒑</m:t>
                                </m:r>
                              </m:e>
                            </m:nary>
                          </m:e>
                        </m:eqArr>
                      </m:e>
                    </m:d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59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Преобразование Лапласа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У </a:t>
                </a:r>
                <a:r>
                  <a:rPr lang="ru-RU" dirty="0" smtClean="0"/>
                  <a:t>преобразования Лапласа </a:t>
                </a:r>
                <a:r>
                  <a:rPr lang="ru-RU" dirty="0"/>
                  <a:t>все хорошо с прямым преобразованием, и все не очень хорошо с обратным – в общем случае интеграл расходится.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Из условия сходимости интеграла имеем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dirty="0" smtClean="0"/>
                  <a:t>, 0≤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ru-RU" dirty="0" smtClean="0"/>
                  <a:t>≤</a:t>
                </a:r>
                <a:r>
                  <a:rPr lang="en-US" dirty="0" smtClean="0"/>
                  <a:t>Re(p)</a:t>
                </a:r>
                <a:r>
                  <a:rPr lang="ru-RU" dirty="0" smtClean="0"/>
                  <a:t>, т.е. </a:t>
                </a:r>
                <a:r>
                  <a:rPr lang="en-US" dirty="0" smtClean="0"/>
                  <a:t>f</a:t>
                </a:r>
                <a:r>
                  <a:rPr lang="ru-RU" dirty="0" smtClean="0"/>
                  <a:t> можем быть и возрастающей функцией, спектр Фурье от которой существовать не будет. Однако при этом обратный интеграл как уже было сказано будет расходящимся (если его попытаться взять в лоб). Однако он берется по комплексной плоскости с использованием особых методов теории функций комплексного переменного  - теории вычетов. Говорится что данный интеграл существует и может быть взят в смысле главного значения.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На практике обычно не берут этот интеграл в смысле главного значения, а находят оригинал по таблицам для распространенных функций. Это немного ограничивает применяемость, но, надо отметить, что физические системы имеют довольно типовые изображения.</a:t>
                </a: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986" b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299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Преобразование Лапласа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решения задач представляется почти аналогичной методу комплексных амплитуд: отличие составляет необходимость учитывать начальное состояние схемы (в момент времени равный нулю) Для использования преобразования Лапласа к нахождению переходного процесса после коммутации в электрической схеме применяют следующие правила:</a:t>
                </a:r>
              </a:p>
              <a:p>
                <a:pPr algn="just"/>
                <a:r>
                  <a:rPr lang="ru-RU" dirty="0" smtClean="0"/>
                  <a:t>Индуктивность представляется в виде сопротивления </a:t>
                </a:r>
                <a:r>
                  <a:rPr lang="en-US" dirty="0" err="1" smtClean="0"/>
                  <a:t>pL</a:t>
                </a:r>
                <a:r>
                  <a:rPr lang="en-US" dirty="0" smtClean="0"/>
                  <a:t> </a:t>
                </a:r>
                <a:r>
                  <a:rPr lang="ru-RU" dirty="0" smtClean="0"/>
                  <a:t>последовательно с источником напряжения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dirty="0" smtClean="0"/>
              </a:p>
              <a:p>
                <a:pPr algn="just"/>
                <a:r>
                  <a:rPr lang="ru-RU" dirty="0" smtClean="0"/>
                  <a:t>Конденсатор представляется в виде сопротивления 1</a:t>
                </a:r>
                <a:r>
                  <a:rPr lang="en-US" dirty="0" smtClean="0"/>
                  <a:t>/</a:t>
                </a:r>
                <a:r>
                  <a:rPr lang="en-US" dirty="0" err="1" smtClean="0"/>
                  <a:t>pC</a:t>
                </a:r>
                <a:r>
                  <a:rPr lang="en-US" dirty="0" smtClean="0"/>
                  <a:t> </a:t>
                </a:r>
                <a:r>
                  <a:rPr lang="ru-RU" dirty="0" smtClean="0"/>
                  <a:t>последовательно с источником напряжения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 smtClean="0"/>
                  <a:t>Резистор представляется в виде сопротивления </a:t>
                </a:r>
                <a:r>
                  <a:rPr lang="en-US" dirty="0" smtClean="0"/>
                  <a:t>R</a:t>
                </a:r>
              </a:p>
              <a:p>
                <a:pPr algn="just"/>
                <a:r>
                  <a:rPr lang="ru-RU" dirty="0" smtClean="0"/>
                  <a:t>Источник постоянного напряжения </a:t>
                </a:r>
                <a:r>
                  <a:rPr lang="en-US" dirty="0" smtClean="0"/>
                  <a:t>– </a:t>
                </a:r>
                <a:r>
                  <a:rPr lang="ru-RU" dirty="0" smtClean="0"/>
                  <a:t>в виде источника 1</a:t>
                </a:r>
                <a:r>
                  <a:rPr lang="en-US" dirty="0" smtClean="0"/>
                  <a:t>/p</a:t>
                </a:r>
                <a:endParaRPr lang="ru-RU" dirty="0" smtClean="0"/>
              </a:p>
              <a:p>
                <a:pPr algn="just"/>
                <a:r>
                  <a:rPr lang="ru-RU" dirty="0" smtClean="0"/>
                  <a:t>Источник произвольной формы </a:t>
                </a:r>
                <a:r>
                  <a:rPr lang="en-US" dirty="0" smtClean="0"/>
                  <a:t>x(t) – </a:t>
                </a:r>
                <a:r>
                  <a:rPr lang="ru-RU" dirty="0" smtClean="0"/>
                  <a:t>в виде изображения </a:t>
                </a:r>
                <a:r>
                  <a:rPr lang="en-US" dirty="0" smtClean="0"/>
                  <a:t>X</a:t>
                </a:r>
                <a:r>
                  <a:rPr lang="ru-RU" dirty="0" smtClean="0"/>
                  <a:t>(</a:t>
                </a:r>
                <a:r>
                  <a:rPr lang="en-US" dirty="0" smtClean="0"/>
                  <a:t>p</a:t>
                </a:r>
                <a:r>
                  <a:rPr lang="ru-RU" dirty="0" smtClean="0"/>
                  <a:t>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986" b="-36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95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Преобразование Лапласа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Свойства преобразования Лапласа: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ru-RU" dirty="0" smtClean="0"/>
                  <a:t>Сдвиг времени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ru-RU" dirty="0" smtClean="0"/>
                  <a:t>Дифференцирование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ru-RU" dirty="0" smtClean="0"/>
                  <a:t>Интегрирование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ru-RU" dirty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ru-RU" dirty="0" smtClean="0"/>
                  <a:t>Свертка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88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 smtClean="0"/>
                  <a:t>Показательная функция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𝑞𝑡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65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 smtClean="0"/>
                  <a:t>Нарастающая функция</a:t>
                </a:r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𝑞𝑡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399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ru-RU" dirty="0" smtClean="0"/>
                  <a:t>Синусоидальные колебания с периодом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dirty="0" smtClean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box>
                                <m:box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𝑝𝑡</m:t>
                          </m:r>
                        </m:sup>
                      </m:sSup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box>
                                <m:box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box>
                                <m:box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𝑝𝑡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𝑝𝑡</m:t>
                            </m:r>
                          </m:sup>
                        </m:sSup>
                      </m:e>
                    </m:nary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𝑝𝑡</m:t>
                            </m:r>
                          </m:sup>
                        </m:sSup>
                      </m:e>
                    </m:nary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3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 smtClean="0"/>
                  <a:t>Синусоидальные колебания с периодом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dirty="0" smtClean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box>
                                <m:box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box>
                                <m:box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en-US" b="0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16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 smtClean="0"/>
                  <a:t>Это же можно получить если вспомнить табличное значение </a:t>
                </a:r>
                <a:r>
                  <a:rPr lang="en-US" dirty="0" smtClean="0"/>
                  <a:t>(</a:t>
                </a:r>
                <a:r>
                  <a:rPr lang="ru-RU" dirty="0" smtClean="0"/>
                  <a:t>получается аналогично нашему решению</a:t>
                </a:r>
                <a:r>
                  <a:rPr lang="en-US" dirty="0" smtClean="0"/>
                  <a:t>) </a:t>
                </a:r>
                <a:r>
                  <a:rPr lang="ru-RU" dirty="0" smtClean="0"/>
                  <a:t>для интеграла вида</a:t>
                </a:r>
                <a:endParaRPr lang="en-US" dirty="0" smtClean="0"/>
              </a:p>
              <a:p>
                <a:pPr lvl="1" algn="just"/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 algn="just"/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 smtClean="0"/>
                  <a:t>Тогда если взять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и воспользоваться </a:t>
                </a:r>
                <a:r>
                  <a:rPr lang="ru-RU" dirty="0" err="1" smtClean="0"/>
                  <a:t>фанными</a:t>
                </a:r>
                <a:r>
                  <a:rPr lang="ru-RU" dirty="0" smtClean="0"/>
                  <a:t> формулами, то получим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box>
                                <m:box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 smtClean="0"/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en-US" b="0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8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ru-RU" dirty="0" smtClean="0"/>
                  <a:t>Полуволна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Воспользуемся вышеприведенными формулами:</a:t>
                </a:r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box>
                                <m:box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8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734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 smtClean="0"/>
                  <a:t>Полуволна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Но это изображение можно получить и другим (более прогрессивным) способом: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Заметим, что единичная полуволна – это сумма двух сигналов: синуса который начинается с </a:t>
                </a:r>
                <a:r>
                  <a:rPr lang="en-US" dirty="0" smtClean="0"/>
                  <a:t>t=0, </a:t>
                </a:r>
                <a:r>
                  <a:rPr lang="ru-RU" dirty="0" smtClean="0"/>
                  <a:t>и синуса, начинающегося с </a:t>
                </a:r>
                <a:r>
                  <a:rPr lang="en-US" dirty="0" smtClean="0"/>
                  <a:t>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98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899" y="4309196"/>
            <a:ext cx="26860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85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простейших функций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brk m:alnAt="63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box>
                                      <m:box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box>
                                    <m:box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box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95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изображений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33" y="1346096"/>
            <a:ext cx="4237164" cy="55119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85438"/>
            <a:ext cx="2468274" cy="303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11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Алгоритм решения задач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 smtClean="0"/>
                  <a:t>Составляем схему, используя замену элемента его изображением.</a:t>
                </a:r>
              </a:p>
              <a:p>
                <a:pPr algn="just"/>
                <a:r>
                  <a:rPr lang="ru-RU" dirty="0" smtClean="0"/>
                  <a:t>Находим интересующие нас параметры в виде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dirty="0"/>
                  <a:t>, при этом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нельзя выразить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algn="just"/>
                <a:r>
                  <a:rPr lang="ru-RU" dirty="0" smtClean="0"/>
                  <a:t>Оригинал параметра тогда</a:t>
                </a:r>
                <a:r>
                  <a:rPr lang="en-US" dirty="0" smtClean="0"/>
                  <a:t> </a:t>
                </a:r>
                <a:r>
                  <a:rPr lang="ru-RU" dirty="0" smtClean="0"/>
                  <a:t>будет выражаться в виде: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𝑑𝑝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где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корни многочлена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962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Алгоритм решения задач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Частный случай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dirty="0" smtClean="0"/>
                  <a:t>, при этом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algn="just"/>
                <a:r>
                  <a:rPr lang="ru-RU" dirty="0" smtClean="0"/>
                  <a:t>Оригинал параметра тогда</a:t>
                </a:r>
                <a:r>
                  <a:rPr lang="en-US" dirty="0" smtClean="0"/>
                  <a:t> </a:t>
                </a:r>
                <a:r>
                  <a:rPr lang="ru-RU" dirty="0" smtClean="0"/>
                  <a:t>будет выражаться в виде: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𝑑𝑝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где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корни многочлена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Частный случай 2</a:t>
                </a:r>
                <a:r>
                  <a:rPr lang="en-US" dirty="0" smtClean="0"/>
                  <a:t>: </a:t>
                </a:r>
                <a:r>
                  <a:rPr lang="ru-RU" dirty="0" smtClean="0"/>
                  <a:t>комплексно-сопряженные корни: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Для них два элемента суммы заменятся на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𝑑𝑝</m:t>
                            </m:r>
                          </m:den>
                        </m:f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где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любой из сопряженных корней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72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метода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E(t</a:t>
                </a:r>
                <a:r>
                  <a:rPr lang="en-US" b="1" i="1" dirty="0">
                    <a:ea typeface="Cambria Math" panose="02040503050406030204" pitchFamily="18" charset="0"/>
                  </a:rPr>
                  <a:t>) – 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генерирует прямоугольный импульс </a:t>
                </a:r>
              </a:p>
              <a:p>
                <a:pPr marL="0" indent="0">
                  <a:buNone/>
                </a:pPr>
                <a:r>
                  <a:rPr lang="ru-RU" b="1" i="1" dirty="0">
                    <a:ea typeface="Cambria Math" panose="02040503050406030204" pitchFamily="18" charset="0"/>
                  </a:rPr>
                  <a:t>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		амплитуды Е и длительностью </a:t>
                </a:r>
                <a:r>
                  <a:rPr lang="el-GR" b="1" i="1" dirty="0" smtClean="0">
                    <a:ea typeface="Cambria Math" panose="02040503050406030204" pitchFamily="18" charset="0"/>
                  </a:rPr>
                  <a:t>τ</a:t>
                </a:r>
                <a:endParaRPr lang="en-US" b="1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a typeface="Cambria Math" panose="02040503050406030204" pitchFamily="18" charset="0"/>
                  </a:rPr>
                  <a:t>		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Найти ток в цепи.</a:t>
                </a:r>
              </a:p>
              <a:p>
                <a:pPr marL="0" indent="0">
                  <a:buNone/>
                </a:pPr>
                <a:r>
                  <a:rPr lang="ru-RU" b="1" i="1" dirty="0">
                    <a:ea typeface="Cambria Math" panose="02040503050406030204" pitchFamily="18" charset="0"/>
                  </a:rPr>
                  <a:t>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i="1" dirty="0" smtClean="0">
                    <a:ea typeface="Cambria Math" panose="02040503050406030204" pitchFamily="18" charset="0"/>
                  </a:rPr>
                  <a:t>Перейдем к спектральной плотности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nary>
                        <m:nary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i="1" dirty="0" smtClean="0">
                    <a:ea typeface="Cambria Math" panose="02040503050406030204" pitchFamily="18" charset="0"/>
                  </a:rPr>
                  <a:t>Тогда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i="1" dirty="0"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;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Перейдем во временную область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i="1" dirty="0"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𝑅𝐶</m:t>
                                </m:r>
                              </m:den>
                            </m:f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en-US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1" y="1690688"/>
            <a:ext cx="2500966" cy="157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25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метода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i="1" dirty="0"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𝑅𝐶</m:t>
                                </m:r>
                              </m:den>
                            </m:f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en-US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 smtClean="0">
                    <a:ea typeface="Cambria Math" panose="02040503050406030204" pitchFamily="18" charset="0"/>
                  </a:rPr>
                  <a:t>			</a:t>
                </a:r>
                <a:r>
                  <a:rPr lang="ru-RU" i="1" dirty="0" smtClean="0">
                    <a:ea typeface="Cambria Math" panose="02040503050406030204" pitchFamily="18" charset="0"/>
                  </a:rPr>
                  <a:t>Вспомним,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ru-RU" i="1" dirty="0" smtClean="0">
                    <a:ea typeface="Cambria Math" panose="02040503050406030204" pitchFamily="18" charset="0"/>
                  </a:rPr>
                  <a:t> - это сдвиг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i="1" dirty="0" smtClean="0">
                    <a:ea typeface="Cambria Math" panose="020405030504060302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i="1" dirty="0" smtClean="0">
                    <a:ea typeface="Cambria Math" panose="02040503050406030204" pitchFamily="18" charset="0"/>
                  </a:rPr>
                  <a:t>			</a:t>
                </a:r>
                <a:r>
                  <a:rPr lang="ru-RU" i="1" dirty="0" smtClean="0">
                    <a:ea typeface="Cambria Math" panose="02040503050406030204" pitchFamily="18" charset="0"/>
                  </a:rPr>
                  <a:t>Так что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где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i="1" dirty="0" smtClean="0">
                    <a:ea typeface="Cambria Math" panose="02040503050406030204" pitchFamily="18" charset="0"/>
                  </a:rPr>
                  <a:t>(0)=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i="1" dirty="0"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𝑅𝐶</m:t>
                                </m:r>
                              </m:den>
                            </m:f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ru-RU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i="1" dirty="0"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          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𝑅𝐶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      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𝑅𝐶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   0&gt;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𝑅𝐶</m:t>
                                          </m:r>
                                        </m:den>
                                      </m:f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𝑅𝐶</m:t>
                                          </m:r>
                                        </m:den>
                                      </m:f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1" y="1690688"/>
            <a:ext cx="2500966" cy="15766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56994"/>
            <a:ext cx="28765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98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метода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E(t</a:t>
                </a:r>
                <a:r>
                  <a:rPr lang="en-US" b="1" i="1" dirty="0">
                    <a:ea typeface="Cambria Math" panose="02040503050406030204" pitchFamily="18" charset="0"/>
                  </a:rPr>
                  <a:t>) – </a:t>
                </a:r>
                <a:r>
                  <a:rPr lang="ru-RU" b="1" i="1" dirty="0">
                    <a:ea typeface="Cambria Math" panose="02040503050406030204" pitchFamily="18" charset="0"/>
                  </a:rPr>
                  <a:t>источник постоянного напряжения Е</a:t>
                </a:r>
                <a:endParaRPr lang="en-US" b="1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a typeface="Cambria Math" panose="02040503050406030204" pitchFamily="18" charset="0"/>
                  </a:rPr>
                  <a:t>			t=0 </a:t>
                </a:r>
                <a:r>
                  <a:rPr lang="ru-RU" b="1" i="1" dirty="0">
                    <a:ea typeface="Cambria Math" panose="02040503050406030204" pitchFamily="18" charset="0"/>
                  </a:rPr>
                  <a:t>замыкание 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ключа</a:t>
                </a:r>
              </a:p>
              <a:p>
                <a:pPr marL="0" indent="0">
                  <a:buNone/>
                </a:pPr>
                <a:r>
                  <a:rPr lang="ru-RU" b="1" i="1" dirty="0">
                    <a:ea typeface="Cambria Math" panose="02040503050406030204" pitchFamily="18" charset="0"/>
                  </a:rPr>
                  <a:t>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E(t) –</a:t>
                </a:r>
                <a:r>
                  <a:rPr lang="ru-RU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ступенька.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не определен 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сингулярность.</m:t>
                    </m:r>
                  </m:oMath>
                </a14:m>
                <a:r>
                  <a:rPr lang="ru-RU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Надо брать не в лоб. Вспомним,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тогда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для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надо взять половину интеграла постоянного сигнала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Тогда имеем: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den>
                    </m:f>
                  </m:oMath>
                </a14:m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65" y="1944274"/>
            <a:ext cx="1674421" cy="158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20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метода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den>
                    </m:f>
                  </m:oMath>
                </a14:m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𝜋𝛿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65" y="1944274"/>
            <a:ext cx="1674421" cy="158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31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E(t</a:t>
                </a:r>
                <a:r>
                  <a:rPr lang="en-US" b="1" i="1" dirty="0">
                    <a:ea typeface="Cambria Math" panose="02040503050406030204" pitchFamily="18" charset="0"/>
                  </a:rPr>
                  <a:t>) – </a:t>
                </a:r>
                <a:r>
                  <a:rPr lang="ru-RU" b="1" i="1" dirty="0">
                    <a:ea typeface="Cambria Math" panose="02040503050406030204" pitchFamily="18" charset="0"/>
                  </a:rPr>
                  <a:t>источник постоянного напряжения Е</a:t>
                </a:r>
                <a:endParaRPr lang="en-US" b="1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a typeface="Cambria Math" panose="02040503050406030204" pitchFamily="18" charset="0"/>
                  </a:rPr>
                  <a:t>			t=0 </a:t>
                </a:r>
                <a:r>
                  <a:rPr lang="ru-RU" b="1" i="1" dirty="0">
                    <a:ea typeface="Cambria Math" panose="02040503050406030204" pitchFamily="18" charset="0"/>
                  </a:rPr>
                  <a:t>замыкание 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ключа</a:t>
                </a:r>
              </a:p>
              <a:p>
                <a:pPr marL="0" indent="0">
                  <a:buNone/>
                </a:pPr>
                <a:r>
                  <a:rPr lang="ru-RU" b="1" i="1" dirty="0">
                    <a:ea typeface="Cambria Math" panose="02040503050406030204" pitchFamily="18" charset="0"/>
                  </a:rPr>
                  <a:t>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𝒑𝑳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𝒑𝑳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b="1" dirty="0">
                    <a:ea typeface="Cambria Math" panose="02040503050406030204" pitchFamily="18" charset="0"/>
                  </a:rPr>
                  <a:t> </a:t>
                </a:r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𝒑𝑳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 </m:t>
                      </m:r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a typeface="Cambria Math" panose="02040503050406030204" pitchFamily="18" charset="0"/>
                  </a:rPr>
                  <a:t>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;</m:t>
                    </m:r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65" y="1944274"/>
            <a:ext cx="1674421" cy="158285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65" y="3915640"/>
            <a:ext cx="1763487" cy="149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42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E(t</a:t>
                </a:r>
                <a:r>
                  <a:rPr lang="en-US" b="1" i="1" dirty="0">
                    <a:ea typeface="Cambria Math" panose="02040503050406030204" pitchFamily="18" charset="0"/>
                  </a:rPr>
                  <a:t>) – </a:t>
                </a:r>
                <a:r>
                  <a:rPr lang="ru-RU" b="1" i="1" dirty="0">
                    <a:ea typeface="Cambria Math" panose="02040503050406030204" pitchFamily="18" charset="0"/>
                  </a:rPr>
                  <a:t>источник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𝒔𝒊𝒏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a typeface="Cambria Math" panose="02040503050406030204" pitchFamily="18" charset="0"/>
                  </a:rPr>
                  <a:t>			t=0 </a:t>
                </a:r>
                <a:r>
                  <a:rPr lang="ru-RU" b="1" i="1" dirty="0">
                    <a:ea typeface="Cambria Math" panose="02040503050406030204" pitchFamily="18" charset="0"/>
                  </a:rPr>
                  <a:t>замыкание 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ключа</a:t>
                </a:r>
              </a:p>
              <a:p>
                <a:pPr marL="0" indent="0">
                  <a:buNone/>
                </a:pPr>
                <a:r>
                  <a:rPr lang="ru-RU" b="1" i="1" dirty="0">
                    <a:ea typeface="Cambria Math" panose="02040503050406030204" pitchFamily="18" charset="0"/>
                  </a:rPr>
                  <a:t>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𝒑𝑳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𝒑𝑳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𝒑𝑳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𝒑𝑹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a typeface="Cambria Math" panose="02040503050406030204" pitchFamily="18" charset="0"/>
                  </a:rPr>
                  <a:t>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;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𝝎𝝉</m:t>
                          </m:r>
                        </m:num>
                        <m:den>
                          <m:r>
                            <a:rPr lang="ru-R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ru-R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65" y="1944274"/>
            <a:ext cx="1674421" cy="158285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65" y="3933453"/>
            <a:ext cx="1799113" cy="152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57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Найти напряжение на емкости.</a:t>
                </a:r>
              </a:p>
              <a:p>
                <a:pPr marL="0" indent="0">
                  <a:buNone/>
                </a:pPr>
                <a:r>
                  <a:rPr lang="ru-RU" b="1" i="1" dirty="0">
                    <a:ea typeface="Cambria Math" panose="02040503050406030204" pitchFamily="18" charset="0"/>
                  </a:rPr>
                  <a:t>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		Источник постоянного напряжения</a:t>
                </a:r>
              </a:p>
              <a:p>
                <a:pPr marL="0" indent="0">
                  <a:buNone/>
                </a:pPr>
                <a:r>
                  <a:rPr lang="ru-RU" b="1" i="1" dirty="0">
                    <a:ea typeface="Cambria Math" panose="02040503050406030204" pitchFamily="18" charset="0"/>
                  </a:rPr>
                  <a:t>	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		отключается в момент времени 0.</a:t>
                </a:r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a typeface="Cambria Math" panose="02040503050406030204" pitchFamily="18" charset="0"/>
                  </a:rPr>
                  <a:t>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		</a:t>
                </a:r>
                <a:r>
                  <a:rPr lang="ru-RU" i="1" dirty="0" smtClean="0">
                    <a:ea typeface="Cambria Math" panose="02040503050406030204" pitchFamily="18" charset="0"/>
                  </a:rPr>
                  <a:t>Решение:</a:t>
                </a:r>
              </a:p>
              <a:p>
                <a:pPr marL="0" indent="0">
                  <a:buNone/>
                </a:pPr>
                <a:r>
                  <a:rPr lang="ru-RU" b="1" i="1" dirty="0" smtClean="0">
                    <a:ea typeface="Cambria Math" panose="02040503050406030204" pitchFamily="18" charset="0"/>
                  </a:rPr>
                  <a:t>			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nary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𝑝𝐶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𝑝𝐶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 smtClean="0">
                    <a:ea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𝑝𝑅𝐶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𝑝𝑅𝐶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 smtClean="0">
                    <a:ea typeface="Cambria Math" panose="02040503050406030204" pitchFamily="18" charset="0"/>
                  </a:rPr>
                  <a:t>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𝑝𝑅𝐶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𝑅𝐶</m:t>
                    </m:r>
                  </m:oMath>
                </a14:m>
                <a:endParaRPr lang="en-US" b="0" i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i="1" dirty="0" smtClean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𝑹𝑪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=0;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𝑹𝑪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b="1" i="1" dirty="0" smtClean="0">
                    <a:ea typeface="Cambria Math" panose="02040503050406030204" pitchFamily="18" charset="0"/>
                  </a:rPr>
                  <a:t>		</a:t>
                </a:r>
                <a:endParaRPr lang="en-US" b="1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55" y="2193718"/>
            <a:ext cx="2122158" cy="18791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55" y="4200718"/>
            <a:ext cx="3505599" cy="184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799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8586</TotalTime>
  <Words>325</Words>
  <Application>Microsoft Office PowerPoint</Application>
  <PresentationFormat>Широкоэкранный</PresentationFormat>
  <Paragraphs>137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Тема Office</vt:lpstr>
      <vt:lpstr>Лекция 9</vt:lpstr>
      <vt:lpstr>Напоминание: интегральное представление Лапласа</vt:lpstr>
      <vt:lpstr>Напоминание: интегральное представление Лапласа</vt:lpstr>
      <vt:lpstr>Преобразование Лапласа</vt:lpstr>
      <vt:lpstr>Преобразование Лапласа</vt:lpstr>
      <vt:lpstr>Преобразование Лапласа</vt:lpstr>
      <vt:lpstr>Изображения простейших функций</vt:lpstr>
      <vt:lpstr>Изображения простейших функций</vt:lpstr>
      <vt:lpstr>Изображения простейших функций</vt:lpstr>
      <vt:lpstr>Изображения простейших функций</vt:lpstr>
      <vt:lpstr>Изображения простейших функций</vt:lpstr>
      <vt:lpstr>Изображения простейших функций</vt:lpstr>
      <vt:lpstr>Изображения простейших функций</vt:lpstr>
      <vt:lpstr>Изображения простейших функций</vt:lpstr>
      <vt:lpstr>Таблица изображений</vt:lpstr>
      <vt:lpstr>Алгоритм решения задач</vt:lpstr>
      <vt:lpstr>Алгоритм решения задач</vt:lpstr>
      <vt:lpstr>Пример метода Фурье</vt:lpstr>
      <vt:lpstr>Пример метода Фурье</vt:lpstr>
      <vt:lpstr>Пример метода Фурье</vt:lpstr>
      <vt:lpstr>Пример метода Фурье</vt:lpstr>
      <vt:lpstr>Пример</vt:lpstr>
      <vt:lpstr>Пример</vt:lpstr>
      <vt:lpstr>Задача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351</cp:revision>
  <dcterms:created xsi:type="dcterms:W3CDTF">2020-09-02T13:49:40Z</dcterms:created>
  <dcterms:modified xsi:type="dcterms:W3CDTF">2021-09-09T12:31:50Z</dcterms:modified>
</cp:coreProperties>
</file>