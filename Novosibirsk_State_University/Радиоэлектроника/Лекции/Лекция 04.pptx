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91" r:id="rId3"/>
    <p:sldId id="281" r:id="rId4"/>
    <p:sldId id="279" r:id="rId5"/>
    <p:sldId id="280" r:id="rId6"/>
    <p:sldId id="282" r:id="rId7"/>
    <p:sldId id="283" r:id="rId8"/>
    <p:sldId id="284" r:id="rId9"/>
    <p:sldId id="285" r:id="rId10"/>
    <p:sldId id="286" r:id="rId11"/>
    <p:sldId id="288" r:id="rId12"/>
    <p:sldId id="289" r:id="rId13"/>
    <p:sldId id="290" r:id="rId14"/>
    <p:sldId id="293" r:id="rId15"/>
    <p:sldId id="294" r:id="rId16"/>
    <p:sldId id="29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4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dirty="0"/>
              <a:t>Методы расчета электрических </a:t>
            </a:r>
            <a:r>
              <a:rPr lang="ru-RU" b="1" dirty="0" smtClean="0"/>
              <a:t>цепей</a:t>
            </a:r>
            <a:r>
              <a:rPr lang="en-US" b="1" dirty="0" smtClean="0"/>
              <a:t>:</a:t>
            </a:r>
          </a:p>
          <a:p>
            <a:pPr marL="0" indent="0" algn="ctr">
              <a:buNone/>
            </a:pPr>
            <a:r>
              <a:rPr lang="ru-RU" b="1" i="1" dirty="0" smtClean="0"/>
              <a:t>Примеры.</a:t>
            </a:r>
            <a:endParaRPr lang="en-US" i="1" dirty="0" smtClean="0"/>
          </a:p>
          <a:p>
            <a:pPr marL="0" indent="0" algn="ctr">
              <a:buNone/>
            </a:pPr>
            <a:r>
              <a:rPr lang="ru-RU" i="1" dirty="0" smtClean="0"/>
              <a:t>Частотно-зависимые цепи.</a:t>
            </a:r>
          </a:p>
          <a:p>
            <a:pPr marL="0" indent="0" algn="ctr">
              <a:buNone/>
            </a:pPr>
            <a:r>
              <a:rPr lang="ru-RU" i="1" dirty="0" smtClean="0"/>
              <a:t>Логарифмические</a:t>
            </a:r>
          </a:p>
          <a:p>
            <a:pPr marL="0" indent="0" algn="ctr">
              <a:buNone/>
            </a:pPr>
            <a:r>
              <a:rPr lang="ru-RU" i="1" dirty="0" smtClean="0"/>
              <a:t>амплитудно-частотные характеристики.</a:t>
            </a:r>
          </a:p>
          <a:p>
            <a:pPr marL="0" indent="0" algn="ctr">
              <a:buNone/>
            </a:pPr>
            <a:r>
              <a:rPr lang="ru-RU" i="1" dirty="0" smtClean="0"/>
              <a:t>Фильтры.</a:t>
            </a:r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Цепи переменного тока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В</a:t>
                </a:r>
                <a:r>
                  <a:rPr lang="ru-RU" dirty="0" smtClean="0"/>
                  <a:t>озвращаясь </a:t>
                </a:r>
                <a:r>
                  <a:rPr lang="ru-RU" dirty="0" smtClean="0"/>
                  <a:t>к цепям переменного тока имеем следующую запись для комплексных сопротивлений резистора, индуктивности и электрического конденсатора: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dirty="0" smtClean="0"/>
                  <a:t>Сопротивление </a:t>
                </a:r>
                <a:r>
                  <a:rPr lang="en-US" dirty="0" smtClean="0"/>
                  <a:t>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50000"/>
                  </a:lnSpc>
                </a:pPr>
                <a:r>
                  <a:rPr lang="ru-RU" dirty="0" smtClean="0"/>
                  <a:t>Индуктивность </a:t>
                </a:r>
                <a:r>
                  <a:rPr lang="en-US" dirty="0"/>
                  <a:t>L</a:t>
                </a:r>
                <a:r>
                  <a:rPr lang="en-US" dirty="0" smtClean="0"/>
                  <a:t>: 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ru-RU" dirty="0" smtClean="0"/>
                  <a:t>Емкость С</a:t>
                </a:r>
                <a:r>
                  <a:rPr lang="en-US" dirty="0" smtClean="0"/>
                  <a:t>: </a:t>
                </a:r>
                <a:r>
                  <a:rPr lang="ru-RU" dirty="0" smtClean="0"/>
                  <a:t>	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/>
                  <a:t>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 r="-4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11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Мощность в цепи </a:t>
            </a:r>
            <a:r>
              <a:rPr lang="ru-RU" dirty="0" err="1" smtClean="0"/>
              <a:t>переменонго</a:t>
            </a:r>
            <a:r>
              <a:rPr lang="ru-RU" dirty="0" smtClean="0"/>
              <a:t> тока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Вспомним как в комплексном виде можно представить мощность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dirty="0" smtClean="0"/>
                  <a:t>Комплексная мощность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Полная мощность: </a:t>
                </a:r>
                <a:r>
                  <a:rPr lang="en-US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Активная мощность: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𝒄𝒐𝒔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𝑹𝒆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Реактивная </a:t>
                </a:r>
                <a:r>
                  <a:rPr lang="ru-RU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мощность: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𝒔𝒊𝒏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/>
                  <a:t>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Пример</a:t>
            </a:r>
            <a:r>
              <a:rPr lang="en-US" dirty="0"/>
              <a:t>:</a:t>
            </a:r>
            <a:r>
              <a:rPr lang="ru-RU" dirty="0" smtClean="0"/>
              <a:t> </a:t>
            </a:r>
            <a:r>
              <a:rPr lang="en-US" dirty="0" smtClean="0"/>
              <a:t>RC </a:t>
            </a:r>
            <a:r>
              <a:rPr lang="ru-RU" dirty="0" smtClean="0"/>
              <a:t>цепочка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Снова посмотрим схему из источника резистора и конденсатора: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𝝋</m:t>
                          </m:r>
                        </m:sup>
                      </m:sSup>
                    </m:oMath>
                  </m:oMathPara>
                </a14:m>
                <a:endParaRPr lang="ru-RU" dirty="0" smtClean="0"/>
              </a:p>
              <a:p>
                <a:pPr marL="0" indent="0" algn="ctr">
                  <a:buNone/>
                </a:pPr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-arctg(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lang="en-US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043" t="-3501" b="-26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45231" y="2262249"/>
            <a:ext cx="5560682" cy="199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6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RC </a:t>
            </a:r>
            <a:r>
              <a:rPr lang="ru-RU" dirty="0"/>
              <a:t>цепочка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Мы получили комплексную запись напряжения на конденсаторе. Таким же образом мы можем найти любую величину тока и напряжения в данной схеме в комплексном виде. Но нам бы хотелось </a:t>
                </a:r>
                <a:r>
                  <a:rPr lang="ru-RU" dirty="0" smtClean="0"/>
                  <a:t>понять: </a:t>
                </a:r>
                <a:r>
                  <a:rPr lang="ru-RU" dirty="0" smtClean="0"/>
                  <a:t>а какое там напряжение в </a:t>
                </a:r>
                <a:r>
                  <a:rPr lang="ru-RU" dirty="0" smtClean="0"/>
                  <a:t>реальности? </a:t>
                </a:r>
                <a:r>
                  <a:rPr lang="ru-RU" dirty="0" smtClean="0"/>
                  <a:t>Это ведь некая вещественная измеримая </a:t>
                </a:r>
                <a:r>
                  <a:rPr lang="ru-RU" dirty="0" smtClean="0"/>
                  <a:t>величина (изменяющаяся во времени по гармоническому закону).</a:t>
                </a: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Вспомним как изначально появились векторные диаграммы. </a:t>
                </a:r>
                <a:r>
                  <a:rPr lang="ru-RU" dirty="0" smtClean="0"/>
                  <a:t>Реальная величина представлялась проекцией вращающегося с постоянной частотой комплексного вектора</a:t>
                </a:r>
                <a:r>
                  <a:rPr lang="ru-RU" dirty="0" smtClean="0"/>
                  <a:t>. </a:t>
                </a: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Это соответствует взятию реальной части комплексного числа.</a:t>
                </a:r>
              </a:p>
              <a:p>
                <a:pPr marL="0" indent="0">
                  <a:buNone/>
                </a:pPr>
                <a:r>
                  <a:rPr lang="ru-RU" dirty="0" smtClean="0"/>
                  <a:t>Тогда напряжение на конденсаторе в реальности будет: </a:t>
                </a:r>
                <a:endParaRPr lang="en-US" b="0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l-GR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𝑎𝑟𝑐𝑡𝑔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15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Фильтры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𝑅𝐶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𝑎𝑟𝑐𝑡𝑔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ru-RU" dirty="0" smtClean="0"/>
                  <a:t>Что мы тут видим – мы видим что и у фазы и у амплитуды найденного напряжения есть зависимость от частоты источника ЭДС.</a:t>
                </a:r>
              </a:p>
              <a:p>
                <a:pPr marL="0" indent="0">
                  <a:buNone/>
                </a:pPr>
                <a:r>
                  <a:rPr lang="ru-RU" dirty="0" smtClean="0"/>
                  <a:t>Для низких частот напряжение почти равно Е, фаза около нуля</a:t>
                </a:r>
              </a:p>
              <a:p>
                <a:pPr marL="0" indent="0">
                  <a:buNone/>
                </a:pPr>
                <a:r>
                  <a:rPr lang="ru-RU" dirty="0" smtClean="0"/>
                  <a:t>Для высоких частот напряжение стремится к нулю, </a:t>
                </a:r>
              </a:p>
              <a:p>
                <a:pPr marL="0" indent="0">
                  <a:buNone/>
                </a:pPr>
                <a:r>
                  <a:rPr lang="ru-RU" dirty="0" smtClean="0"/>
                  <a:t>фаза стремится к </a:t>
                </a:r>
                <a14:m>
                  <m:oMath xmlns:m="http://schemas.openxmlformats.org/officeDocument/2006/math">
                    <m:r>
                      <a:rPr lang="ru-R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ru-RU" dirty="0" smtClean="0"/>
                  <a:t> </a:t>
                </a:r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895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Фильтры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Если рисовать график </a:t>
                </a:r>
                <a:r>
                  <a:rPr lang="ru-RU" b="1" dirty="0" smtClean="0"/>
                  <a:t>модуля амплитуды </a:t>
                </a:r>
                <a:r>
                  <a:rPr lang="ru-RU" dirty="0" smtClean="0"/>
                  <a:t>и </a:t>
                </a:r>
                <a:r>
                  <a:rPr lang="ru-RU" b="1" dirty="0" smtClean="0"/>
                  <a:t>аргумента</a:t>
                </a:r>
                <a:r>
                  <a:rPr lang="ru-RU" dirty="0" smtClean="0"/>
                  <a:t> напряжения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ru-RU" dirty="0" smtClean="0"/>
                  <a:t>в зависимости от частоты, то получится следующая картинка: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Линия проведена на частоте среза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lang="ru-RU" dirty="0" smtClean="0"/>
                  <a:t>, модуль нормирован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217" t="-30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94709" y="2554038"/>
            <a:ext cx="5802581" cy="289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1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Фильтры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Если вынести входной источник ЭДС то схему можно изобразить так:</a:t>
                </a:r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Такая схема с входом (клеммы 1,2) и выходом (клеммы 3,4) </a:t>
                </a:r>
                <a:r>
                  <a:rPr lang="ru-RU" dirty="0" smtClean="0"/>
                  <a:t>есть четырехполюсник. Выделим </a:t>
                </a:r>
                <a:r>
                  <a:rPr lang="ru-RU" dirty="0" smtClean="0"/>
                  <a:t>один ее характеризующий параметр: </a:t>
                </a:r>
                <a:r>
                  <a:rPr lang="ru-RU" b="1" dirty="0" smtClean="0"/>
                  <a:t>коэффициент пропускания </a:t>
                </a:r>
                <a:r>
                  <a:rPr lang="ru-RU" dirty="0" smtClean="0"/>
                  <a:t>(</a:t>
                </a:r>
                <a:r>
                  <a:rPr lang="ru-RU" b="1" dirty="0" smtClean="0"/>
                  <a:t>коэффициент усиления</a:t>
                </a:r>
                <a:r>
                  <a:rPr lang="ru-RU" dirty="0" smtClean="0"/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вых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вх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35407" y="2256311"/>
            <a:ext cx="3235839" cy="15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5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Фильтры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Коэффициент пропускания обычно выражают в логарифмической (степенной) шкале: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(дБ)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вых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вх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ru-RU" dirty="0" smtClean="0"/>
                  <a:t>,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ru-RU" dirty="0" smtClean="0"/>
                  <a:t>Таким образом единичный коэффициент – это 0 дБ</a:t>
                </a:r>
              </a:p>
              <a:p>
                <a:pPr marL="0" indent="0">
                  <a:buNone/>
                </a:pPr>
                <a:r>
                  <a:rPr lang="ru-RU" dirty="0" smtClean="0"/>
                  <a:t>Ослабление в 10 раз – это </a:t>
                </a:r>
                <a:r>
                  <a:rPr lang="en-US" dirty="0" smtClean="0"/>
                  <a:t>k=</a:t>
                </a:r>
                <a:r>
                  <a:rPr lang="ru-RU" dirty="0" smtClean="0"/>
                  <a:t> -20дБ</a:t>
                </a:r>
              </a:p>
              <a:p>
                <a:pPr marL="0" indent="0">
                  <a:buNone/>
                </a:pPr>
                <a:r>
                  <a:rPr lang="ru-RU" dirty="0" smtClean="0"/>
                  <a:t>Ослабление в 100 раз – это</a:t>
                </a:r>
                <a:r>
                  <a:rPr lang="en-US" dirty="0" smtClean="0"/>
                  <a:t> k=</a:t>
                </a:r>
                <a:r>
                  <a:rPr lang="ru-RU" dirty="0" smtClean="0"/>
                  <a:t> -60дБ</a:t>
                </a:r>
              </a:p>
              <a:p>
                <a:pPr marL="0" indent="0">
                  <a:buNone/>
                </a:pPr>
                <a:r>
                  <a:rPr lang="ru-RU" dirty="0" smtClean="0"/>
                  <a:t>Усиление в 10 раз – это </a:t>
                </a:r>
                <a:r>
                  <a:rPr lang="en-US" dirty="0" smtClean="0"/>
                  <a:t>k=20</a:t>
                </a:r>
                <a:r>
                  <a:rPr lang="ru-RU" dirty="0" smtClean="0"/>
                  <a:t>дБ</a:t>
                </a:r>
              </a:p>
              <a:p>
                <a:pPr marL="0" indent="0">
                  <a:buNone/>
                </a:pPr>
                <a:r>
                  <a:rPr lang="ru-RU" dirty="0" smtClean="0"/>
                  <a:t>Обратная величина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вх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в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ы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х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ru-RU" dirty="0" smtClean="0"/>
                  <a:t> называется </a:t>
                </a:r>
                <a:r>
                  <a:rPr lang="ru-RU" b="1" dirty="0" smtClean="0"/>
                  <a:t>коэффициентом ослабления </a:t>
                </a:r>
                <a:endParaRPr lang="ru-RU" b="1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217" t="-2241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56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Фильтры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405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Построим теперь график коэффициента пропускания в логарифмическом масштабе.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ru-RU" dirty="0" smtClean="0"/>
                  <a:t>По оси абсцисс будем откладывать порядок частоты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1=</m:t>
                        </m:r>
                        <m:sSup>
                          <m:sSup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 , 2=</m:t>
                        </m:r>
                        <m:sSup>
                          <m:sSup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, т.д.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ru-RU" dirty="0" smtClean="0"/>
                  <a:t>По оси ординат –коэффициент пропускания в децибелах 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4056"/>
                <a:ext cx="10515600" cy="4351338"/>
              </a:xfrm>
              <a:blipFill rotWithShape="0">
                <a:blip r:embed="rId2" cstate="print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71213" y="3811851"/>
            <a:ext cx="5249573" cy="260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9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Фильтры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Что видно:</a:t>
            </a:r>
          </a:p>
          <a:p>
            <a:r>
              <a:rPr lang="ru-RU" dirty="0" smtClean="0"/>
              <a:t>В таком масштабе график имеет постоянный коэффициент до частоты среза (-3дБ) , а потом наклон. </a:t>
            </a:r>
          </a:p>
          <a:p>
            <a:r>
              <a:rPr lang="ru-RU" dirty="0" smtClean="0"/>
              <a:t>При этом наклон этот постоянный 20 дБ/декаду. Декада – изменение частоты в 10 раз – одно деление в логарифмическом масштабе.</a:t>
            </a:r>
          </a:p>
          <a:p>
            <a:pPr>
              <a:buNone/>
            </a:pPr>
            <a:r>
              <a:rPr lang="ru-RU" dirty="0" smtClean="0"/>
              <a:t>Характеристика зависимости модуля коэффициента пропускания от частоты, выполненная в указанном логарифмическом масштабе называется </a:t>
            </a:r>
            <a:r>
              <a:rPr lang="ru-RU" b="1" dirty="0" smtClean="0"/>
              <a:t>ЛАЧХ – логарифмической </a:t>
            </a:r>
            <a:r>
              <a:rPr lang="ru-RU" b="1" dirty="0" err="1" smtClean="0"/>
              <a:t>амлитудно-частотной</a:t>
            </a:r>
            <a:r>
              <a:rPr lang="ru-RU" b="1" dirty="0" smtClean="0"/>
              <a:t> характеристикой.</a:t>
            </a:r>
          </a:p>
          <a:p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428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Фильтры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По типу характеристики фильтры можно разделить на</a:t>
            </a:r>
          </a:p>
          <a:p>
            <a:pPr marL="0" indent="0"/>
            <a:r>
              <a:rPr lang="ru-RU" b="1" dirty="0" smtClean="0"/>
              <a:t>Фильтры низких частот </a:t>
            </a:r>
            <a:r>
              <a:rPr lang="ru-RU" dirty="0" smtClean="0"/>
              <a:t>(ФНЧ) – ЛАЧХ имеет постоянный уровень для частот ниже частоты среза, зачем начинается спад.</a:t>
            </a:r>
          </a:p>
          <a:p>
            <a:pPr marL="0" indent="0"/>
            <a:r>
              <a:rPr lang="ru-RU" b="1" dirty="0" smtClean="0"/>
              <a:t>Фильтры высоких частот </a:t>
            </a:r>
            <a:r>
              <a:rPr lang="ru-RU" dirty="0" smtClean="0"/>
              <a:t>(ФВЧ) – ЛАЧХ имеет подъем для частот ниже частоты среза, выше переходит на постоянный уровень</a:t>
            </a:r>
          </a:p>
          <a:p>
            <a:pPr marL="0" indent="0"/>
            <a:r>
              <a:rPr lang="ru-RU" b="1" dirty="0" smtClean="0"/>
              <a:t>Полосовые фильтры </a:t>
            </a:r>
            <a:r>
              <a:rPr lang="ru-RU" dirty="0" smtClean="0"/>
              <a:t>– ЛАЧХ имеет постоянный уровень для диапазона частот </a:t>
            </a:r>
            <a:r>
              <a:rPr lang="el-GR" dirty="0" smtClean="0"/>
              <a:t>ΔΩ</a:t>
            </a:r>
            <a:r>
              <a:rPr lang="ru-RU" dirty="0" smtClean="0"/>
              <a:t>,  на частотах ниже идет подъем до данного уровня, на частотах выше начинается спад. Диапазон частот </a:t>
            </a:r>
            <a:r>
              <a:rPr lang="el-GR" dirty="0" smtClean="0"/>
              <a:t>ΔΩ</a:t>
            </a:r>
            <a:r>
              <a:rPr lang="ru-RU" dirty="0" smtClean="0"/>
              <a:t> называется полосой пропускания.</a:t>
            </a:r>
          </a:p>
          <a:p>
            <a:pPr marL="0" indent="0"/>
            <a:r>
              <a:rPr lang="ru-RU" b="1" dirty="0" smtClean="0"/>
              <a:t>Заградительные (</a:t>
            </a:r>
            <a:r>
              <a:rPr lang="ru-RU" b="1" dirty="0" err="1" smtClean="0"/>
              <a:t>режекторные</a:t>
            </a:r>
            <a:r>
              <a:rPr lang="ru-RU" b="1" dirty="0" smtClean="0"/>
              <a:t>) фильтры </a:t>
            </a:r>
            <a:r>
              <a:rPr lang="ru-RU" dirty="0" smtClean="0"/>
              <a:t>– имеющие постоянный уровень ЛАЧХ вне полосы частот </a:t>
            </a:r>
            <a:r>
              <a:rPr lang="el-GR" dirty="0" smtClean="0"/>
              <a:t>ΔΩ</a:t>
            </a:r>
            <a:r>
              <a:rPr lang="ru-RU" dirty="0" smtClean="0"/>
              <a:t>, и пониженный уровень в этой полосе частот</a:t>
            </a:r>
          </a:p>
          <a:p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428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Фильтры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Наклон ЛАЧХ фильтра (20дБ/дек, 40дБ/дек, 60дБ/дек, и т.д.) определяет характеристику, которая называется </a:t>
            </a:r>
            <a:r>
              <a:rPr lang="ru-RU" b="1" dirty="0" smtClean="0"/>
              <a:t>порядком фильтра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20дБ/дек – фильтр 1 порядка</a:t>
            </a:r>
          </a:p>
          <a:p>
            <a:pPr marL="0" indent="0">
              <a:buNone/>
            </a:pPr>
            <a:r>
              <a:rPr lang="ru-RU" dirty="0" smtClean="0"/>
              <a:t>40дБ/дек – фильтр 2 порядка</a:t>
            </a:r>
          </a:p>
          <a:p>
            <a:pPr marL="0" indent="0">
              <a:buNone/>
            </a:pPr>
            <a:r>
              <a:rPr lang="ru-RU" dirty="0" smtClean="0"/>
              <a:t>Чем выше порядок фильтра, тем выше его фильтрующая способность.</a:t>
            </a:r>
          </a:p>
          <a:p>
            <a:pPr marL="0" indent="0">
              <a:buNone/>
            </a:pPr>
            <a:endParaRPr lang="ru-RU" dirty="0" smtClean="0"/>
          </a:p>
          <a:p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428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Пример </a:t>
            </a:r>
            <a:r>
              <a:rPr lang="ru-RU" dirty="0" err="1" smtClean="0"/>
              <a:t>режекторного</a:t>
            </a:r>
            <a:r>
              <a:rPr lang="ru-RU" dirty="0" smtClean="0"/>
              <a:t> фильтра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Двойной Т-фильтр</a:t>
            </a:r>
          </a:p>
          <a:p>
            <a:pPr marL="0" indent="0">
              <a:buNone/>
            </a:pPr>
            <a:endParaRPr lang="ru-RU" dirty="0" smtClean="0"/>
          </a:p>
          <a:p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550" y="2683801"/>
            <a:ext cx="2891889" cy="175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1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Пример </a:t>
            </a:r>
            <a:r>
              <a:rPr lang="ru-RU" dirty="0" err="1" smtClean="0"/>
              <a:t>режекторного</a:t>
            </a:r>
            <a:r>
              <a:rPr lang="ru-RU" dirty="0" smtClean="0"/>
              <a:t> фильтра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Перейдем к комплексным обозначениям. В схеме три независимых контура ,  отсюда получим систему для токов: </a:t>
                </a:r>
                <a:r>
                  <a:rPr lang="en-US" dirty="0" smtClean="0"/>
                  <a:t>(</a:t>
                </a:r>
                <a:r>
                  <a:rPr lang="en-US" dirty="0" err="1" smtClean="0"/>
                  <a:t>Zc</a:t>
                </a:r>
                <a:r>
                  <a:rPr lang="en-US" dirty="0" smtClean="0"/>
                  <a:t>=Z)</a:t>
                </a:r>
                <a:endParaRPr lang="ru-RU" dirty="0" smtClean="0"/>
              </a:p>
              <a:p>
                <a:pPr marL="1371600" lvl="3" indent="0" algn="ctr">
                  <a:buNone/>
                </a:pPr>
                <a:r>
                  <a:rPr lang="ru-RU" dirty="0" smtClean="0"/>
                  <a:t>				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ru-RU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</m:t>
                            </m:r>
                          </m:e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</m:t>
                            </m:r>
                          </m:e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ru-RU" b="1" dirty="0" smtClean="0"/>
              </a:p>
              <a:p>
                <a:pPr marL="13716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вых=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b="1" dirty="0" smtClean="0"/>
              </a:p>
              <a:p>
                <a:pPr marL="1371600" lvl="3" indent="0" algn="ctr">
                  <a:buNone/>
                </a:pPr>
                <a:r>
                  <a:rPr lang="ru-RU" dirty="0" smtClean="0"/>
                  <a:t>Запишем в матричном виде:</a:t>
                </a:r>
              </a:p>
              <a:p>
                <a:pPr marL="13716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1371600" lvl="3" indent="0" algn="ctr">
                  <a:buNone/>
                </a:pPr>
                <a:r>
                  <a:rPr lang="ru-RU" dirty="0" smtClean="0"/>
                  <a:t>Приведем матрицу к диагональному виду</a:t>
                </a:r>
                <a:endParaRPr lang="en-US" dirty="0" smtClean="0"/>
              </a:p>
              <a:p>
                <a:pPr marL="1371600" lvl="3" indent="0" algn="ctr">
                  <a:buNone/>
                </a:pPr>
                <a:endParaRPr lang="en-US" dirty="0" smtClean="0"/>
              </a:p>
              <a:p>
                <a:pPr marL="1371600" lvl="3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mr>
                          <m:m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𝒁</m:t>
                                          </m:r>
                                        </m:num>
                                        <m:den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  <m:d>
                                    <m:d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den>
                              </m:f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  <m:d>
                                    <m:d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𝒁</m:t>
                                          </m:r>
                                        </m:num>
                                        <m:den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d>
                                    <m:d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num>
                                        <m:den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</m:den>
                              </m:f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  <m:d>
                                    <m:d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𝒁</m:t>
                                          </m:r>
                                        </m:num>
                                        <m:den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d>
                                    <m:d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num>
                                        <m:den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</m:den>
                              </m:f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/>
                  <a:t>=&gt;</a:t>
                </a:r>
              </a:p>
              <a:p>
                <a:pPr marL="1371600" lvl="3" indent="0" algn="ctr">
                  <a:buNone/>
                </a:pPr>
                <a:endParaRPr lang="en-US" dirty="0" smtClean="0"/>
              </a:p>
              <a:p>
                <a:pPr marL="13716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num>
                                    <m:den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num>
                                    <m:den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num>
                                    <m:den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ru-RU" b="1" dirty="0" smtClean="0"/>
              </a:p>
              <a:p>
                <a:pPr marL="1371600" lvl="3" indent="0" algn="ctr">
                  <a:buNone/>
                </a:pPr>
                <a:r>
                  <a:rPr lang="ru-RU" dirty="0" smtClean="0"/>
                  <a:t>Теперь надо все это расписать и в итоге мы получим решение. Это долгий путь решения в лоб.</a:t>
                </a:r>
              </a:p>
              <a:p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766" y="2752873"/>
            <a:ext cx="211455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8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Пример </a:t>
            </a:r>
            <a:r>
              <a:rPr lang="ru-RU" dirty="0" err="1" smtClean="0"/>
              <a:t>режекторного</a:t>
            </a:r>
            <a:r>
              <a:rPr lang="ru-RU" dirty="0" smtClean="0"/>
              <a:t> фильтра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Однако, эту же задачу можно решить и  преобразованиями схемы методами эквивалентного генератора</a:t>
                </a:r>
                <a:r>
                  <a:rPr lang="en-US" dirty="0" smtClean="0"/>
                  <a:t> (</a:t>
                </a:r>
                <a:r>
                  <a:rPr lang="ru-RU" dirty="0" smtClean="0"/>
                  <a:t>быстро и с минимальной </a:t>
                </a:r>
                <a:r>
                  <a:rPr lang="ru-RU" smtClean="0"/>
                  <a:t>вероятностью ошибиться</a:t>
                </a:r>
                <a:r>
                  <a:rPr lang="en-US" smtClean="0"/>
                  <a:t>)</a:t>
                </a:r>
                <a:r>
                  <a:rPr lang="ru-RU" dirty="0" smtClean="0"/>
                  <a:t>: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/2</m:t>
                        </m:r>
                      </m:den>
                    </m:f>
                  </m:oMath>
                </a14:m>
                <a:r>
                  <a:rPr lang="en-US" dirty="0" smtClean="0"/>
                  <a:t>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𝑅𝑍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ru-RU" dirty="0" smtClean="0"/>
                  <a:t>Отсюда получаем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вых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𝑅𝑍</m:t>
                        </m:r>
                      </m:den>
                    </m:f>
                  </m:oMath>
                </a14:m>
                <a:r>
                  <a:rPr lang="ru-RU" dirty="0" smtClean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ru-RU" dirty="0" smtClean="0"/>
                  <a:t>Теперь вспомним что есть </a:t>
                </a:r>
                <a:r>
                  <a:rPr lang="en-US" dirty="0" smtClean="0"/>
                  <a:t>Z: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получаем при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𝑅𝐶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вых</m:t>
                    </m:r>
                  </m:oMath>
                </a14:m>
                <a:r>
                  <a:rPr lang="en-US" dirty="0" smtClean="0"/>
                  <a:t>=0</a:t>
                </a:r>
                <a:endParaRPr lang="ru-RU" dirty="0" smtClean="0"/>
              </a:p>
              <a:p>
                <a:pPr marL="1371600" lvl="3" indent="0" algn="ctr">
                  <a:buNone/>
                </a:pPr>
                <a:endParaRPr lang="en-US" dirty="0" smtClean="0"/>
              </a:p>
              <a:p>
                <a:pPr marL="1371600" lvl="3" indent="0" algn="r">
                  <a:buNone/>
                </a:pPr>
                <a:endParaRPr lang="ru-RU" dirty="0" smtClean="0"/>
              </a:p>
              <a:p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38" t="-2521" b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447" y="2394268"/>
            <a:ext cx="66579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7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2276</TotalTime>
  <Words>524</Words>
  <Application>Microsoft Office PowerPoint</Application>
  <PresentationFormat>Широкоэкранный</PresentationFormat>
  <Paragraphs>185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Тема Office</vt:lpstr>
      <vt:lpstr>Лекция 4</vt:lpstr>
      <vt:lpstr>Цепи переменного тока</vt:lpstr>
      <vt:lpstr>Мощность в цепи переменонго тока</vt:lpstr>
      <vt:lpstr>Пример: RC цепочка</vt:lpstr>
      <vt:lpstr>Пример: RC цепочка</vt:lpstr>
      <vt:lpstr>Фильтры</vt:lpstr>
      <vt:lpstr>Фильтры</vt:lpstr>
      <vt:lpstr>Фильтры</vt:lpstr>
      <vt:lpstr>Фильтры</vt:lpstr>
      <vt:lpstr>Фильтры</vt:lpstr>
      <vt:lpstr>Фильтры</vt:lpstr>
      <vt:lpstr>Фильтры</vt:lpstr>
      <vt:lpstr>Фильтры</vt:lpstr>
      <vt:lpstr>Пример режекторного фильтра</vt:lpstr>
      <vt:lpstr>Пример режекторного фильтра</vt:lpstr>
      <vt:lpstr>Пример режекторного фильтра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174</cp:revision>
  <dcterms:created xsi:type="dcterms:W3CDTF">2020-09-02T13:49:40Z</dcterms:created>
  <dcterms:modified xsi:type="dcterms:W3CDTF">2022-09-22T09:25:14Z</dcterms:modified>
</cp:coreProperties>
</file>