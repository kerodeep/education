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80" r:id="rId3"/>
    <p:sldId id="306" r:id="rId4"/>
    <p:sldId id="369" r:id="rId5"/>
    <p:sldId id="370" r:id="rId6"/>
    <p:sldId id="371" r:id="rId7"/>
    <p:sldId id="372" r:id="rId8"/>
    <p:sldId id="373" r:id="rId9"/>
    <p:sldId id="374" r:id="rId10"/>
    <p:sldId id="376" r:id="rId11"/>
    <p:sldId id="375" r:id="rId12"/>
    <p:sldId id="377" r:id="rId13"/>
    <p:sldId id="378" r:id="rId14"/>
    <p:sldId id="337" r:id="rId15"/>
    <p:sldId id="339" r:id="rId16"/>
    <p:sldId id="379" r:id="rId17"/>
    <p:sldId id="380" r:id="rId18"/>
    <p:sldId id="381" r:id="rId19"/>
    <p:sldId id="38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12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Трансформатор.</a:t>
            </a:r>
          </a:p>
          <a:p>
            <a:pPr marL="0" indent="0" algn="ctr">
              <a:buNone/>
            </a:pPr>
            <a:r>
              <a:rPr lang="ru-RU" b="1" i="1" dirty="0" smtClean="0"/>
              <a:t>Принцип действия, схема замещения</a:t>
            </a: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 smtClean="0"/>
              <a:t>Трансформатор</a:t>
            </a:r>
            <a:r>
              <a:rPr lang="ru-RU" dirty="0" smtClean="0"/>
              <a:t> это статическое электромагнитное устройство, предназначенное для преобразования величин переменного напряжения и тока. </a:t>
            </a:r>
          </a:p>
          <a:p>
            <a:pPr marL="0" indent="0" algn="just">
              <a:buNone/>
            </a:pPr>
            <a:r>
              <a:rPr lang="ru-RU" dirty="0" smtClean="0"/>
              <a:t>Принцип действия электромагнитного трансформатора основан на преобразовании энергии </a:t>
            </a:r>
            <a:r>
              <a:rPr lang="ru-RU" b="1" dirty="0" smtClean="0"/>
              <a:t>электрического поля </a:t>
            </a:r>
            <a:r>
              <a:rPr lang="ru-RU" dirty="0" smtClean="0"/>
              <a:t>в энергию </a:t>
            </a:r>
            <a:r>
              <a:rPr lang="ru-RU" b="1" dirty="0" smtClean="0"/>
              <a:t>магнитного поля </a:t>
            </a:r>
            <a:r>
              <a:rPr lang="ru-RU" dirty="0" smtClean="0"/>
              <a:t>и обратном преобразовании последней.</a:t>
            </a:r>
          </a:p>
          <a:p>
            <a:pPr marL="0" indent="0" algn="just">
              <a:buNone/>
            </a:pPr>
            <a:r>
              <a:rPr lang="ru-RU" dirty="0" smtClean="0"/>
              <a:t>Трансформатор </a:t>
            </a:r>
            <a:r>
              <a:rPr lang="ru-RU" dirty="0"/>
              <a:t>состоит из двух или </a:t>
            </a:r>
            <a:r>
              <a:rPr lang="ru-RU" dirty="0" smtClean="0"/>
              <a:t>более индуктивно </a:t>
            </a:r>
            <a:r>
              <a:rPr lang="ru-RU" dirty="0"/>
              <a:t>связанных и, как правило, электрически изолированных друг от друга обмоток, находящихся на общем </a:t>
            </a:r>
            <a:r>
              <a:rPr lang="ru-RU" dirty="0" smtClean="0"/>
              <a:t>сердечнике. </a:t>
            </a:r>
          </a:p>
        </p:txBody>
      </p:sp>
    </p:spTree>
    <p:extLst>
      <p:ext uri="{BB962C8B-B14F-4D97-AF65-F5344CB8AC3E}">
        <p14:creationId xmlns:p14="http://schemas.microsoft.com/office/powerpoint/2010/main" val="288969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Магнитный поток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Мы помним, что при протекании тока по некоторому контуру создается магнитный поток Ф пронизывающий этот контур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𝐿𝐼</m:t>
                    </m:r>
                  </m:oMath>
                </a14:m>
                <a:r>
                  <a:rPr lang="ru-RU" dirty="0" smtClean="0"/>
                  <a:t>.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Если поток испытывает изменение, то на контуре возникает </a:t>
                </a:r>
                <a:r>
                  <a:rPr lang="ru-RU" dirty="0" err="1" smtClean="0"/>
                  <a:t>э.д.с</a:t>
                </a:r>
                <a:r>
                  <a:rPr lang="ru-RU" dirty="0" smtClean="0"/>
                  <a:t>. самоиндукции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ru-RU" b="1" dirty="0" smtClean="0"/>
                  <a:t>, </a:t>
                </a:r>
                <a:endParaRPr lang="ru-RU" b="1" dirty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794" y="3551960"/>
            <a:ext cx="1875308" cy="204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5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Магнитный поток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Если теперь взять не просто контур, а соленоид из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</a:t>
                </a:r>
                <a:r>
                  <a:rPr lang="ru-RU" dirty="0" smtClean="0"/>
                  <a:t>витков</a:t>
                </a:r>
                <a:r>
                  <a:rPr lang="en-US" dirty="0" smtClean="0"/>
                  <a:t> </a:t>
                </a:r>
                <a:r>
                  <a:rPr lang="ru-RU" dirty="0" smtClean="0"/>
                  <a:t>площадью </a:t>
                </a:r>
                <a:r>
                  <a:rPr lang="en-US" i="1" dirty="0" smtClean="0"/>
                  <a:t>S</a:t>
                </a:r>
                <a:r>
                  <a:rPr lang="ru-RU" dirty="0" smtClean="0"/>
                  <a:t>, то магнитное поле  </a:t>
                </a:r>
                <a:r>
                  <a:rPr lang="en-US" i="1" dirty="0"/>
                  <a:t>B</a:t>
                </a:r>
                <a:r>
                  <a:rPr lang="en-US" dirty="0"/>
                  <a:t> </a:t>
                </a:r>
                <a:r>
                  <a:rPr lang="ru-RU" b="1" dirty="0" smtClean="0"/>
                  <a:t>внутри</a:t>
                </a:r>
                <a:r>
                  <a:rPr lang="ru-RU" dirty="0" smtClean="0"/>
                  <a:t> него будет примерно однородным и его можно выразить через поток через один виток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ru-RU" dirty="0" smtClean="0"/>
                  <a:t>: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𝐵𝑆</m:t>
                    </m:r>
                  </m:oMath>
                </a14:m>
                <a:r>
                  <a:rPr lang="ru-RU" i="1" dirty="0" smtClean="0"/>
                  <a:t>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Так как витков </a:t>
                </a:r>
                <a:r>
                  <a:rPr lang="en-US" i="1" dirty="0" smtClean="0"/>
                  <a:t>N</a:t>
                </a:r>
                <a:r>
                  <a:rPr lang="ru-RU" dirty="0" smtClean="0"/>
                  <a:t>, то полный поток пронизывающий весь соленоид будет в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</a:t>
                </a:r>
                <a:r>
                  <a:rPr lang="ru-RU" dirty="0" smtClean="0"/>
                  <a:t>раз больше, чем поток через оди</a:t>
                </a:r>
                <a:r>
                  <a:rPr lang="ru-RU" dirty="0"/>
                  <a:t>н</a:t>
                </a:r>
                <a:r>
                  <a:rPr lang="ru-RU" dirty="0" smtClean="0"/>
                  <a:t> виток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𝛹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 smtClean="0"/>
                  <a:t>. </a:t>
                </a:r>
                <a:endParaRPr lang="en-US" dirty="0" smtClean="0"/>
              </a:p>
              <a:p>
                <a:pPr marL="0" indent="0" algn="just">
                  <a:buNone/>
                </a:pPr>
                <a:endParaRPr lang="ru-RU" b="1" dirty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739" y="4488872"/>
            <a:ext cx="1937134" cy="20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Взаимный магнитный поток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Теперь рассмотрим 2 близко расположенные контура в которых течет разный ток. В контуре 1 </a:t>
                </a:r>
                <a:r>
                  <a:rPr lang="ru-RU" dirty="0"/>
                  <a:t>т</a:t>
                </a:r>
                <a:r>
                  <a:rPr lang="ru-RU" dirty="0" smtClean="0"/>
                  <a:t>ечет ток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 smtClean="0"/>
                  <a:t>, а в контуре 2 течет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этом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 smtClean="0"/>
                  <a:t> создает пропорциональный этому току магнитный поток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через контур 2, так как часть потока будет пронзать контур 2, а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 smtClean="0"/>
                  <a:t>аналогичным образом будет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создавать поток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dirty="0" smtClean="0"/>
                  <a:t> </a:t>
                </a:r>
                <a:r>
                  <a:rPr lang="ru-RU" dirty="0"/>
                  <a:t>через контур </a:t>
                </a:r>
                <a:r>
                  <a:rPr lang="ru-RU" dirty="0" smtClean="0"/>
                  <a:t>1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ru-RU" dirty="0" smtClean="0"/>
                  <a:t>пропорциональный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ru-RU" b="1" dirty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626613"/>
            <a:ext cx="3657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3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Взаимный магнитный поток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Если теперь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 smtClean="0"/>
                  <a:t> </a:t>
                </a:r>
                <a:r>
                  <a:rPr lang="ru-RU" dirty="0" smtClean="0"/>
                  <a:t>будет изменяться, то во 2 контуре начнет индуцироваться </a:t>
                </a:r>
                <a:r>
                  <a:rPr lang="ru-RU" dirty="0" err="1" smtClean="0"/>
                  <a:t>э.д.с</a:t>
                </a:r>
                <a:r>
                  <a:rPr lang="ru-RU" dirty="0" smtClean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ru-RU" b="1" dirty="0"/>
                  <a:t>, </a:t>
                </a:r>
                <a:r>
                  <a:rPr lang="ru-RU" dirty="0" smtClean="0"/>
                  <a:t>и аналогично при изменении тока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 smtClean="0"/>
                  <a:t>  на контуре 1 возникнет </a:t>
                </a:r>
                <a:r>
                  <a:rPr lang="ru-RU" dirty="0" err="1"/>
                  <a:t>э.д.с</a:t>
                </a:r>
                <a:r>
                  <a:rPr lang="ru-RU" dirty="0"/>
                  <a:t>.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ru-RU" b="1" dirty="0"/>
              </a:p>
              <a:p>
                <a:pPr marL="0" indent="0" algn="just">
                  <a:buNone/>
                </a:pPr>
                <a:r>
                  <a:rPr lang="ru-RU" dirty="0" smtClean="0"/>
                  <a:t>Такие контуры, в которых  магнитный поток </a:t>
                </a:r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порождаемый током в одном контуре</a:t>
                </a:r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пронзает второй называют </a:t>
                </a:r>
                <a:r>
                  <a:rPr lang="ru-RU" b="1" dirty="0" smtClean="0"/>
                  <a:t>связанными</a:t>
                </a:r>
                <a:r>
                  <a:rPr lang="ru-RU" dirty="0" smtClean="0"/>
                  <a:t>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А явление возникновения </a:t>
                </a:r>
                <a:r>
                  <a:rPr lang="ru-RU" dirty="0" err="1"/>
                  <a:t>э.д.с</a:t>
                </a:r>
                <a:r>
                  <a:rPr lang="ru-RU" dirty="0"/>
                  <a:t>. </a:t>
                </a:r>
                <a:r>
                  <a:rPr lang="ru-RU" dirty="0" smtClean="0"/>
                  <a:t>в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одном из контуров при изменении тока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 другом – </a:t>
                </a:r>
                <a:r>
                  <a:rPr lang="ru-RU" b="1" dirty="0" smtClean="0"/>
                  <a:t>явлением взаимной индукции </a:t>
                </a:r>
              </a:p>
              <a:p>
                <a:pPr marL="0" indent="0" algn="just">
                  <a:buNone/>
                </a:pPr>
                <a:endParaRPr lang="ru-RU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r="-1159" b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626613"/>
            <a:ext cx="3657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Взаимная индукция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Коэффициенты пропорциональности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ru-RU" b="1" dirty="0" smtClean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ru-RU" b="1" dirty="0" smtClean="0"/>
                  <a:t> называются взаимной индуктивностью контуров.</a:t>
                </a:r>
                <a:r>
                  <a:rPr lang="ru-RU" dirty="0" smtClean="0"/>
                  <a:t> Для линейных систем, магнитная проницаемость которых (коэффициент пропорциональности между магнитным полем В и напряженностью поля Н) не зависит от величины поля: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Если теперь у нас есть два соленоида в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 smtClean="0"/>
                  <a:t>витков в первом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 smtClean="0"/>
                  <a:t>во втором,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Взаимную индуктивность второго контура можно тогда выразить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 smtClean="0"/>
                  <a:t>,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dirty="0" smtClean="0"/>
                  <a:t> называют потокосцеплением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Для первого контура аналогично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 smtClean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94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Взаимная индукция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Так как мы считаем, что система линейна,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Отсюда имеем принцип взаимности для магнитной цепи: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Если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 smtClean="0"/>
                  <a:t> в первой обмотке обуславливает во второй потокосцепление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dirty="0" smtClean="0"/>
                  <a:t>, то такой же ток во второй цепи обуславливает в первой потокосцепление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изменении тока в первой обмотке, во второй появится </a:t>
                </a:r>
                <a:r>
                  <a:rPr lang="ru-RU" dirty="0" err="1" smtClean="0"/>
                  <a:t>э.д.с</a:t>
                </a:r>
                <a:r>
                  <a:rPr lang="ru-RU" dirty="0" smtClean="0"/>
                  <a:t>. равная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ru-RU" dirty="0" smtClean="0"/>
                  <a:t>, аналогично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90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Теперь посмотрим что произойдет, если мы подадим на первую катушку переменное напряжение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 smtClean="0"/>
                  <a:t>, а к выводам второй подключим нагрузку.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Под действием напряжения в первой катушке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будет развиваться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который будет вызывать на второй обмотке </a:t>
                </a:r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r>
                  <a:rPr lang="ru-RU" dirty="0" err="1" smtClean="0"/>
                  <a:t>э.д.с</a:t>
                </a:r>
                <a:r>
                  <a:rPr lang="ru-RU" dirty="0" smtClean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Так как у нас есть нагрузка, то при этом во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второй катушке появится 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b="0" dirty="0" smtClean="0">
                    <a:ea typeface="Cambria Math" panose="02040503050406030204" pitchFamily="18" charset="0"/>
                  </a:rPr>
                  <a:t>,</a:t>
                </a:r>
              </a:p>
              <a:p>
                <a:pPr marL="0" indent="0" algn="just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 </a:t>
                </a:r>
                <a:r>
                  <a:rPr lang="ru-RU" dirty="0" smtClean="0">
                    <a:ea typeface="Cambria Math" panose="02040503050406030204" pitchFamily="18" charset="0"/>
                  </a:rPr>
                  <a:t>порождающий поток навстречу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r="-986" b="-3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619" y="3220244"/>
            <a:ext cx="2465181" cy="303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0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Выразим эти выражения через число витков и индуктивность одного витка. Пусть у нас геометрия витков</a:t>
                </a:r>
              </a:p>
              <a:p>
                <a:pPr marL="0" indent="0" algn="just">
                  <a:buNone/>
                </a:pPr>
                <a:r>
                  <a:rPr lang="ru-RU" b="0" dirty="0">
                    <a:ea typeface="Cambria Math" panose="02040503050406030204" pitchFamily="18" charset="0"/>
                  </a:rPr>
                  <a:t> </a:t>
                </a:r>
                <a:r>
                  <a:rPr lang="ru-RU" b="0" dirty="0" smtClean="0">
                    <a:ea typeface="Cambria Math" panose="02040503050406030204" pitchFamily="18" charset="0"/>
                  </a:rPr>
                  <a:t>катушек одинакова, и отличаются они только 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 числом витков. 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Индуктивность 1 витка </a:t>
                </a:r>
                <a:r>
                  <a:rPr lang="en-US" dirty="0" smtClean="0">
                    <a:ea typeface="Cambria Math" panose="02040503050406030204" pitchFamily="18" charset="0"/>
                  </a:rPr>
                  <a:t>L</a:t>
                </a:r>
                <a:r>
                  <a:rPr lang="ru-RU" dirty="0" smtClean="0">
                    <a:ea typeface="Cambria Math" panose="02040503050406030204" pitchFamily="18" charset="0"/>
                  </a:rPr>
                  <a:t>, 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взаимная индуктивность двух витков катушек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м</m:t>
                        </m:r>
                      </m:sub>
                    </m:sSub>
                  </m:oMath>
                </a14:m>
                <a:r>
                  <a:rPr lang="ru-RU" dirty="0" smtClean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ru-RU" b="0" dirty="0" smtClean="0">
                    <a:ea typeface="Cambria Math" panose="02040503050406030204" pitchFamily="18" charset="0"/>
                  </a:rPr>
                  <a:t>Тогда полная индуктивность 1 контура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ru-RU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Второго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="0" dirty="0" smtClean="0">
                    <a:ea typeface="Cambria Math" panose="02040503050406030204" pitchFamily="18" charset="0"/>
                  </a:rPr>
                  <a:t> </a:t>
                </a:r>
                <a:r>
                  <a:rPr lang="ru-RU" b="0" dirty="0" smtClean="0">
                    <a:ea typeface="Cambria Math" panose="02040503050406030204" pitchFamily="18" charset="0"/>
                  </a:rPr>
                  <a:t>а взаимная индуктивность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м</m:t>
                        </m:r>
                      </m:sub>
                    </m:sSub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Тогда напряжение на выходе 2 катушки: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м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619" y="3220244"/>
            <a:ext cx="2465181" cy="303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этом выходной ток</a:t>
                </a:r>
                <a:r>
                  <a:rPr lang="en-US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м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А входной ток станет определяться </a:t>
                </a:r>
              </a:p>
              <a:p>
                <a:pPr marL="0" indent="0" algn="just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не индуктивностью катушки а </a:t>
                </a:r>
              </a:p>
              <a:p>
                <a:pPr marL="0" indent="0" algn="just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 существенно </a:t>
                </a:r>
                <a:r>
                  <a:rPr lang="ru-RU" dirty="0" smtClean="0">
                    <a:ea typeface="Cambria Math" panose="02040503050406030204" pitchFamily="18" charset="0"/>
                  </a:rPr>
                  <a:t>меньшей, </a:t>
                </a:r>
                <a:r>
                  <a:rPr lang="ru-RU" dirty="0">
                    <a:ea typeface="Cambria Math" panose="02040503050406030204" pitchFamily="18" charset="0"/>
                  </a:rPr>
                  <a:t>связанной с </a:t>
                </a:r>
              </a:p>
              <a:p>
                <a:pPr marL="0" indent="0" algn="just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 к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омпенсацией потока</m:t>
                    </m:r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. Для идеального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 трансформатора со 100% потокосцеплением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Cambria Math" panose="02040503050406030204" pitchFamily="18" charset="0"/>
                  </a:rPr>
                  <a:t>б</a:t>
                </a:r>
                <a:r>
                  <a:rPr lang="ru-RU" dirty="0" smtClean="0">
                    <a:latin typeface="Cambria Math" panose="02040503050406030204" pitchFamily="18" charset="0"/>
                  </a:rPr>
                  <a:t>удем иметь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en-US" dirty="0"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619" y="3220244"/>
            <a:ext cx="2465181" cy="303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2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В соответствии с этим мы можем теперь нарисовать схему замещения трансформатора. В этой схеме есть несколько важных допущений: коэффициент трансформации не учитывается, для анализа схемы со стороны первичной обмотки надо трансформировать сопротивления подключенные со вторичной стороны, для анализа со стороны вторичной обмотки – соответственно сопротивления с первичной стороны к квадрат коэффициента трансформации раз. Второе допущение – мы не учитываем, что постоянное напряжение на входе не вызывает появления выходного напряжения.  </a:t>
            </a:r>
            <a:endParaRPr lang="en-US" dirty="0" smtClean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b="0" dirty="0" smtClean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942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Трансформатор: схема замещения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b="0" dirty="0" smtClean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Объект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62" y="1523247"/>
            <a:ext cx="5248275" cy="15716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24" y="3021651"/>
            <a:ext cx="5086350" cy="9334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773" y="4035841"/>
            <a:ext cx="4433438" cy="191963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136" y="3833607"/>
            <a:ext cx="31146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Магнитная проницаемость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027722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Как уменьшить потоки рассеяния?</a:t>
            </a:r>
          </a:p>
          <a:p>
            <a:pPr marL="0" indent="0" algn="just">
              <a:buNone/>
            </a:pPr>
            <a:r>
              <a:rPr lang="ru-RU" dirty="0" smtClean="0"/>
              <a:t>Для этого вспомним как магнитное поле взаимодействует с веществом. </a:t>
            </a:r>
          </a:p>
          <a:p>
            <a:r>
              <a:rPr lang="ru-RU" dirty="0"/>
              <a:t>В- магнитная индукция</a:t>
            </a:r>
          </a:p>
          <a:p>
            <a:r>
              <a:rPr lang="ru-RU" dirty="0"/>
              <a:t>В веществе : В=В</a:t>
            </a:r>
            <a:r>
              <a:rPr lang="ru-RU" sz="1200" dirty="0"/>
              <a:t>0</a:t>
            </a:r>
            <a:r>
              <a:rPr lang="ru-RU" dirty="0"/>
              <a:t>+В</a:t>
            </a:r>
            <a:r>
              <a:rPr lang="ru-RU" sz="1200" dirty="0"/>
              <a:t>в</a:t>
            </a:r>
          </a:p>
          <a:p>
            <a:r>
              <a:rPr lang="ru-RU" dirty="0"/>
              <a:t>Внутреннее поле в веществе </a:t>
            </a:r>
            <a:r>
              <a:rPr lang="en-US" dirty="0"/>
              <a:t>J – </a:t>
            </a:r>
            <a:r>
              <a:rPr lang="ru-RU" dirty="0"/>
              <a:t>намагниченность (магнитный момент единицы объема)</a:t>
            </a:r>
          </a:p>
          <a:p>
            <a:r>
              <a:rPr lang="ru-RU" dirty="0"/>
              <a:t>Н = </a:t>
            </a:r>
            <a:r>
              <a:rPr lang="en-US" dirty="0"/>
              <a:t>B/µ</a:t>
            </a:r>
            <a:r>
              <a:rPr lang="en-US" sz="1200" dirty="0"/>
              <a:t>0</a:t>
            </a:r>
            <a:r>
              <a:rPr lang="en-US" dirty="0"/>
              <a:t> – </a:t>
            </a:r>
            <a:r>
              <a:rPr lang="en-US" dirty="0" smtClean="0"/>
              <a:t>J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/>
              <a:t> 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8" name="Объект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464" y="4130899"/>
            <a:ext cx="3598224" cy="241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3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Магнитная проницаемость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38398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Типы магнитной проницаемости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2167731"/>
            <a:ext cx="860107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5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Магнитная проницаемость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38398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Типы магнитной проницаемости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903" y="2395641"/>
            <a:ext cx="95005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6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Ферромагнетик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38398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Природа ферромагнетизма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45" y="2288763"/>
            <a:ext cx="76244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Ферромагнетик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534896" cy="38804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Петля гистерезиса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Объек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81" y="2193760"/>
            <a:ext cx="79274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6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Магнитопровод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534896" cy="38804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Распространенные типы </a:t>
            </a:r>
            <a:r>
              <a:rPr lang="ru-RU" dirty="0" err="1" smtClean="0"/>
              <a:t>магнитопроводов</a:t>
            </a: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42" y="2360015"/>
            <a:ext cx="2946869" cy="322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8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15829</TotalTime>
  <Words>445</Words>
  <Application>Microsoft Office PowerPoint</Application>
  <PresentationFormat>Широкоэкранный</PresentationFormat>
  <Paragraphs>96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Тема Office</vt:lpstr>
      <vt:lpstr>Лекция 12</vt:lpstr>
      <vt:lpstr>Трансформатор</vt:lpstr>
      <vt:lpstr>Магнитный поток </vt:lpstr>
      <vt:lpstr>Магнитный поток </vt:lpstr>
      <vt:lpstr>Взаимный магнитный поток</vt:lpstr>
      <vt:lpstr>Взаимный магнитный поток</vt:lpstr>
      <vt:lpstr>Взаимная индукция</vt:lpstr>
      <vt:lpstr>Взаимная индукция</vt:lpstr>
      <vt:lpstr>Трансформатор</vt:lpstr>
      <vt:lpstr>Трансформатор</vt:lpstr>
      <vt:lpstr>Трансформатор</vt:lpstr>
      <vt:lpstr>Трансформатор</vt:lpstr>
      <vt:lpstr>Трансформатор: схема замещения</vt:lpstr>
      <vt:lpstr>Магнитная проницаемость</vt:lpstr>
      <vt:lpstr>Магнитная проницаемость</vt:lpstr>
      <vt:lpstr>Магнитная проницаемость</vt:lpstr>
      <vt:lpstr>Ферромагнетик</vt:lpstr>
      <vt:lpstr>Ферромагнетик</vt:lpstr>
      <vt:lpstr>Магнитопровод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507</cp:revision>
  <dcterms:created xsi:type="dcterms:W3CDTF">2020-09-02T13:49:40Z</dcterms:created>
  <dcterms:modified xsi:type="dcterms:W3CDTF">2021-09-09T12:38:08Z</dcterms:modified>
</cp:coreProperties>
</file>