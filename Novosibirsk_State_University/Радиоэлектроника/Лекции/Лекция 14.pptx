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 autoAdjust="0"/>
  </p:normalViewPr>
  <p:slideViewPr>
    <p:cSldViewPr snapToGrid="0">
      <p:cViewPr varScale="1">
        <p:scale>
          <a:sx n="114" d="100"/>
          <a:sy n="114" d="100"/>
        </p:scale>
        <p:origin x="35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smtClean="0"/>
              <a:t>14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 smtClean="0"/>
              <a:t>Явление </a:t>
            </a:r>
            <a:r>
              <a:rPr lang="ru-RU" b="1" i="1" dirty="0" err="1" smtClean="0"/>
              <a:t>полупроводимости</a:t>
            </a:r>
            <a:r>
              <a:rPr lang="ru-RU" b="1" i="1" dirty="0" smtClean="0"/>
              <a:t>.</a:t>
            </a:r>
          </a:p>
          <a:p>
            <a:pPr marL="0" indent="0" algn="ctr">
              <a:buNone/>
            </a:pPr>
            <a:r>
              <a:rPr lang="ru-RU" b="1" i="1" dirty="0" smtClean="0"/>
              <a:t>Полупроводниковые приборы.</a:t>
            </a:r>
          </a:p>
          <a:p>
            <a:pPr marL="0" indent="0" algn="ctr">
              <a:buNone/>
            </a:pPr>
            <a:r>
              <a:rPr lang="ru-RU" b="1" i="1" dirty="0" smtClean="0"/>
              <a:t>Диод,</a:t>
            </a:r>
          </a:p>
          <a:p>
            <a:pPr marL="0" indent="0" algn="ctr">
              <a:buNone/>
            </a:pPr>
            <a:r>
              <a:rPr lang="ru-RU" b="1" i="1" dirty="0" smtClean="0"/>
              <a:t>Биполярный транзистор,</a:t>
            </a:r>
          </a:p>
          <a:p>
            <a:pPr marL="0" indent="0" algn="ctr">
              <a:buNone/>
            </a:pPr>
            <a:r>
              <a:rPr lang="ru-RU" b="1" i="1" dirty="0" smtClean="0"/>
              <a:t>Полевой транзистор</a:t>
            </a: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проводимости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Проводимость в кристаллах.</a:t>
            </a:r>
          </a:p>
          <a:p>
            <a:pPr marL="0" indent="0" algn="just">
              <a:buNone/>
            </a:pPr>
            <a:r>
              <a:rPr lang="ru-RU" dirty="0" smtClean="0"/>
              <a:t>Если </a:t>
            </a:r>
            <a:r>
              <a:rPr lang="ru-RU" dirty="0"/>
              <a:t>рассматривать структуру атомов различных элементов, то можно выделить оболочки, которые полностью заполнены электронами (внутренние), и не полностью заполненные (внешние). Последние слабее связаны с ядром, и легче вступают во взаимодействие с другими атомами. Электроны на внешней оболочке называют </a:t>
            </a:r>
            <a:r>
              <a:rPr lang="ru-RU" b="1" dirty="0"/>
              <a:t>валентными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dirty="0" smtClean="0"/>
              <a:t>Если атомы объединены связями – составляют кристаллическую решетку то существует влияние на валентные </a:t>
            </a:r>
            <a:r>
              <a:rPr lang="ru-RU" dirty="0"/>
              <a:t>электроны ядер соседних атомов. В результате чего каждый отдельный разрешенный энергетический уровень расщепляется на ряд новых энергетических уровней, энергии которых близки друг к другу. Совокупность уровней, на каждом из которых могут находиться электроны, называют разрешенной зоной. Промежутки между разрешенными зонами носят название запрещенных зон. </a:t>
            </a:r>
            <a:endParaRPr lang="ru-RU" dirty="0" smtClean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204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проводимости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Проводимость в кристаллах.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858" y="2772569"/>
            <a:ext cx="59340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7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проводимости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Проводимость в кристаллах.</a:t>
            </a:r>
          </a:p>
          <a:p>
            <a:pPr marL="0" indent="0" algn="just">
              <a:buNone/>
            </a:pPr>
            <a:r>
              <a:rPr lang="ru-RU" dirty="0"/>
              <a:t>В энергетическом спектре твердого тела можно выделить три вида зон:</a:t>
            </a:r>
          </a:p>
          <a:p>
            <a:pPr marL="0" indent="0" algn="just">
              <a:buNone/>
            </a:pPr>
            <a:r>
              <a:rPr lang="ru-RU" dirty="0" smtClean="0"/>
              <a:t>1</a:t>
            </a:r>
            <a:r>
              <a:rPr lang="ru-RU" dirty="0"/>
              <a:t>) разрешенные (полностью заполненные) зоны;</a:t>
            </a:r>
          </a:p>
          <a:p>
            <a:pPr marL="0" indent="0" algn="just">
              <a:buNone/>
            </a:pPr>
            <a:r>
              <a:rPr lang="ru-RU" dirty="0" smtClean="0"/>
              <a:t>2</a:t>
            </a:r>
            <a:r>
              <a:rPr lang="ru-RU" dirty="0"/>
              <a:t>) запрещенные зоны;</a:t>
            </a:r>
          </a:p>
          <a:p>
            <a:pPr marL="0" indent="0" algn="just">
              <a:buNone/>
            </a:pPr>
            <a:r>
              <a:rPr lang="ru-RU" dirty="0" smtClean="0"/>
              <a:t>3</a:t>
            </a:r>
            <a:r>
              <a:rPr lang="ru-RU" dirty="0"/>
              <a:t>) зоны проводимости.</a:t>
            </a:r>
          </a:p>
          <a:p>
            <a:pPr marL="0" indent="0" algn="just">
              <a:buNone/>
            </a:pPr>
            <a:r>
              <a:rPr lang="ru-RU" b="1" dirty="0" smtClean="0"/>
              <a:t>Разрешенная </a:t>
            </a:r>
            <a:r>
              <a:rPr lang="ru-RU" b="1" dirty="0"/>
              <a:t>зона </a:t>
            </a:r>
            <a:r>
              <a:rPr lang="ru-RU" dirty="0"/>
              <a:t>характеризуется тем, что все уровни ее при температуре 0К заполнены электронами. Верхнюю заполненную часть разрешенной зоны называют </a:t>
            </a:r>
            <a:r>
              <a:rPr lang="ru-RU" b="1" dirty="0"/>
              <a:t>валентной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b="1" dirty="0" smtClean="0"/>
              <a:t>Запрещенная </a:t>
            </a:r>
            <a:r>
              <a:rPr lang="ru-RU" b="1" dirty="0"/>
              <a:t>зона </a:t>
            </a:r>
            <a:r>
              <a:rPr lang="ru-RU" dirty="0"/>
              <a:t>характеризуется тем, что в ее пределах нет энергетических уровней, на которых могли бы находиться электроны.</a:t>
            </a:r>
          </a:p>
          <a:p>
            <a:pPr marL="0" indent="0" algn="just">
              <a:buNone/>
            </a:pPr>
            <a:r>
              <a:rPr lang="ru-RU" b="1" dirty="0" smtClean="0"/>
              <a:t>Зона </a:t>
            </a:r>
            <a:r>
              <a:rPr lang="ru-RU" b="1" dirty="0"/>
              <a:t>проводимости </a:t>
            </a:r>
            <a:r>
              <a:rPr lang="ru-RU" dirty="0"/>
              <a:t>характеризуется тем, что электроны, находящиеся в ней, обладают энергиями, позволяющими им освобождаться от связи с атомами и передвигаться внутри твердого тела (например, под действием электрических полей) (свободные электроны).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159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проводимости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Проводимость в кристаллах.</a:t>
            </a:r>
          </a:p>
          <a:p>
            <a:pPr marL="0" indent="0" algn="just">
              <a:buNone/>
            </a:pPr>
            <a:r>
              <a:rPr lang="ru-RU" dirty="0" smtClean="0"/>
              <a:t>						</a:t>
            </a:r>
            <a:r>
              <a:rPr lang="ru-RU" b="1" dirty="0"/>
              <a:t>Проводник (металл)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						</a:t>
            </a:r>
            <a:r>
              <a:rPr lang="ru-RU" i="1" dirty="0" smtClean="0"/>
              <a:t>Зона проводимости</a:t>
            </a:r>
          </a:p>
          <a:p>
            <a:pPr marL="0" indent="0" algn="just">
              <a:buNone/>
            </a:pPr>
            <a:r>
              <a:rPr lang="ru-RU" i="1" dirty="0"/>
              <a:t>	</a:t>
            </a:r>
            <a:r>
              <a:rPr lang="ru-RU" i="1" dirty="0" smtClean="0"/>
              <a:t>					перекрывается с </a:t>
            </a:r>
          </a:p>
          <a:p>
            <a:pPr marL="0" indent="0" algn="just">
              <a:buNone/>
            </a:pPr>
            <a:r>
              <a:rPr lang="ru-RU" i="1" dirty="0"/>
              <a:t>	</a:t>
            </a:r>
            <a:r>
              <a:rPr lang="ru-RU" i="1" dirty="0" smtClean="0"/>
              <a:t>					валентной зоной</a:t>
            </a:r>
            <a:endParaRPr lang="ru-RU" i="1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213" y="2538226"/>
            <a:ext cx="321945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0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проводимости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Проводимость в кристаллах.</a:t>
            </a:r>
          </a:p>
          <a:p>
            <a:pPr marL="0" indent="0" algn="just">
              <a:buNone/>
            </a:pPr>
            <a:r>
              <a:rPr lang="ru-RU" dirty="0" smtClean="0"/>
              <a:t>						</a:t>
            </a:r>
            <a:r>
              <a:rPr lang="ru-RU" b="1" dirty="0" smtClean="0"/>
              <a:t>Диэлектрик(изолятор)</a:t>
            </a:r>
            <a:endParaRPr lang="ru-RU" b="1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						</a:t>
            </a:r>
            <a:r>
              <a:rPr lang="ru-RU" i="1" dirty="0" smtClean="0"/>
              <a:t>Между зоной проводимости</a:t>
            </a:r>
          </a:p>
          <a:p>
            <a:pPr marL="0" indent="0" algn="just">
              <a:buNone/>
            </a:pPr>
            <a:r>
              <a:rPr lang="ru-RU" i="1" dirty="0"/>
              <a:t>	</a:t>
            </a:r>
            <a:r>
              <a:rPr lang="ru-RU" i="1" dirty="0" smtClean="0"/>
              <a:t>					и валентной зоной есть</a:t>
            </a:r>
          </a:p>
          <a:p>
            <a:pPr marL="0" indent="0" algn="just">
              <a:buNone/>
            </a:pPr>
            <a:r>
              <a:rPr lang="ru-RU" i="1" dirty="0"/>
              <a:t>	</a:t>
            </a:r>
            <a:r>
              <a:rPr lang="ru-RU" i="1" dirty="0" smtClean="0"/>
              <a:t>					запрещенная зона более 							нескольких эВ</a:t>
            </a:r>
            <a:endParaRPr lang="ru-RU" i="1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452" y="2529681"/>
            <a:ext cx="322897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7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проводимости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Проводимость в кристаллах.</a:t>
            </a:r>
          </a:p>
          <a:p>
            <a:pPr marL="0" indent="0" algn="just">
              <a:buNone/>
            </a:pPr>
            <a:r>
              <a:rPr lang="ru-RU" dirty="0" smtClean="0"/>
              <a:t>						</a:t>
            </a:r>
            <a:r>
              <a:rPr lang="ru-RU" b="1" dirty="0" smtClean="0"/>
              <a:t>Полупроводник</a:t>
            </a:r>
            <a:endParaRPr lang="ru-RU" b="1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						</a:t>
            </a:r>
            <a:r>
              <a:rPr lang="ru-RU" i="1" dirty="0"/>
              <a:t>Между зоной проводимости</a:t>
            </a:r>
          </a:p>
          <a:p>
            <a:pPr marL="0" indent="0" algn="just">
              <a:buNone/>
            </a:pPr>
            <a:r>
              <a:rPr lang="ru-RU" i="1" dirty="0"/>
              <a:t>						и валентной зоной есть</a:t>
            </a:r>
          </a:p>
          <a:p>
            <a:pPr marL="0" indent="0" algn="just">
              <a:buNone/>
            </a:pPr>
            <a:r>
              <a:rPr lang="ru-RU" i="1" dirty="0"/>
              <a:t>						запрещенная </a:t>
            </a:r>
            <a:r>
              <a:rPr lang="ru-RU" i="1" dirty="0" smtClean="0"/>
              <a:t>зона</a:t>
            </a:r>
          </a:p>
          <a:p>
            <a:pPr marL="0" indent="0" algn="just">
              <a:buNone/>
            </a:pPr>
            <a:r>
              <a:rPr lang="ru-RU" i="1" dirty="0"/>
              <a:t>	</a:t>
            </a:r>
            <a:r>
              <a:rPr lang="ru-RU" i="1" dirty="0" smtClean="0"/>
              <a:t>					в несколько </a:t>
            </a:r>
            <a:r>
              <a:rPr lang="ru-RU" i="1" dirty="0"/>
              <a:t>эВ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603" y="2400609"/>
            <a:ext cx="32004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1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проводимости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Донорная и акцепторная примесь в полупроводниках.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		</a:t>
            </a:r>
            <a:r>
              <a:rPr lang="en-US" dirty="0" smtClean="0"/>
              <a:t>n-</a:t>
            </a:r>
            <a:r>
              <a:rPr lang="ru-RU" dirty="0" smtClean="0"/>
              <a:t>полупроводник		</a:t>
            </a:r>
            <a:r>
              <a:rPr lang="en-US" dirty="0" smtClean="0"/>
              <a:t>p-</a:t>
            </a:r>
            <a:r>
              <a:rPr lang="ru-RU" dirty="0" smtClean="0"/>
              <a:t>полупроводник</a:t>
            </a:r>
          </a:p>
          <a:p>
            <a:pPr marL="0" indent="0" algn="just">
              <a:buNone/>
            </a:pPr>
            <a:r>
              <a:rPr lang="en-US" dirty="0" err="1"/>
              <a:t>i</a:t>
            </a:r>
            <a:r>
              <a:rPr lang="en-US" dirty="0"/>
              <a:t>-</a:t>
            </a:r>
            <a:r>
              <a:rPr lang="ru-RU" dirty="0" smtClean="0"/>
              <a:t>полупроводник		донорная примесь	         акцепторная примесь</a:t>
            </a:r>
          </a:p>
          <a:p>
            <a:pPr marL="0" indent="0" algn="just">
              <a:buNone/>
            </a:pPr>
            <a:r>
              <a:rPr lang="ru-RU" dirty="0"/>
              <a:t>(беспримесный</a:t>
            </a:r>
            <a:r>
              <a:rPr lang="ru-RU" dirty="0" smtClean="0"/>
              <a:t>)</a:t>
            </a:r>
            <a:r>
              <a:rPr lang="en-US" dirty="0" smtClean="0"/>
              <a:t>		</a:t>
            </a:r>
            <a:r>
              <a:rPr lang="ru-RU" dirty="0" smtClean="0"/>
              <a:t>(</a:t>
            </a:r>
            <a:r>
              <a:rPr lang="en-US" dirty="0" smtClean="0"/>
              <a:t>V </a:t>
            </a:r>
            <a:r>
              <a:rPr lang="ru-RU" dirty="0" smtClean="0"/>
              <a:t>группа: </a:t>
            </a:r>
            <a:r>
              <a:rPr lang="en-US" dirty="0" smtClean="0"/>
              <a:t>P, As, Sb</a:t>
            </a:r>
            <a:r>
              <a:rPr lang="ru-RU" dirty="0" smtClean="0"/>
              <a:t>)</a:t>
            </a:r>
            <a:r>
              <a:rPr lang="en-US" dirty="0" smtClean="0"/>
              <a:t>	         (III </a:t>
            </a:r>
            <a:r>
              <a:rPr lang="ru-RU" dirty="0" smtClean="0"/>
              <a:t>группа: </a:t>
            </a:r>
            <a:r>
              <a:rPr lang="en-US" dirty="0" smtClean="0"/>
              <a:t>Al, B, Ga, In)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465" y="2248909"/>
            <a:ext cx="2199145" cy="281591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828" y="2309750"/>
            <a:ext cx="2059608" cy="21870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678" y="2248909"/>
            <a:ext cx="1994250" cy="230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4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Полупроводимость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Контакт полупроводников разного типа.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667" y="2502416"/>
            <a:ext cx="3571875" cy="20669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616" y="4659475"/>
            <a:ext cx="2371786" cy="182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3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Полупроводимость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ru-RU" dirty="0"/>
              <a:t>При возникновении контакта в разнотипных полупроводниках начинаются интенсивные диффузии носителей заряда. Т.к. концентрация электронов в n-области больше, чем в </a:t>
            </a:r>
            <a:r>
              <a:rPr lang="ru-RU" dirty="0" smtClean="0"/>
              <a:t>p-области, </a:t>
            </a:r>
            <a:r>
              <a:rPr lang="ru-RU" dirty="0"/>
              <a:t>то часть электронов диффундирует из n-области в p-область. При этом в p-области, у металлургической границы, окажутся избыточные электроны, которые будут занимать вакантные ковалентные связи, что уменьшит в пограничном слое концентрацию дырок и создаст слой отрицательных неподвижных зарядов (ионов) акцепторов.</a:t>
            </a:r>
          </a:p>
          <a:p>
            <a:pPr marL="0" indent="0" algn="just">
              <a:buNone/>
            </a:pPr>
            <a:r>
              <a:rPr lang="ru-RU" dirty="0" smtClean="0"/>
              <a:t>Так </a:t>
            </a:r>
            <a:r>
              <a:rPr lang="ru-RU" dirty="0"/>
              <a:t>как часть электронов из области n перешла в область p, то в пограничном слое области n уменьшится концентрация электронов, и проявятся не скомпенсированные положительные ионы атомов доноров.</a:t>
            </a:r>
          </a:p>
          <a:p>
            <a:pPr marL="0" indent="0" algn="just">
              <a:buNone/>
            </a:pPr>
            <a:r>
              <a:rPr lang="ru-RU" dirty="0" smtClean="0"/>
              <a:t>Таким </a:t>
            </a:r>
            <a:r>
              <a:rPr lang="ru-RU" dirty="0"/>
              <a:t>образом, вокруг </a:t>
            </a:r>
            <a:r>
              <a:rPr lang="ru-RU" dirty="0" smtClean="0"/>
              <a:t>границы </a:t>
            </a:r>
            <a:r>
              <a:rPr lang="ru-RU" dirty="0"/>
              <a:t>образуется двойной слой противоположных по знаку неподвижных зарядов (ионов доноров и акцепторов). Именно этот слой и называют p-n переходом или запирающим слоем; он определяет контактную разность потенциалов (потенциальный барьер), для </a:t>
            </a:r>
            <a:r>
              <a:rPr lang="ru-RU" dirty="0" err="1"/>
              <a:t>Ge</a:t>
            </a:r>
            <a:r>
              <a:rPr lang="ru-RU" dirty="0"/>
              <a:t> – (0,2÷0,3) В, для </a:t>
            </a:r>
            <a:r>
              <a:rPr lang="ru-RU" dirty="0" err="1"/>
              <a:t>Si</a:t>
            </a:r>
            <a:r>
              <a:rPr lang="ru-RU" dirty="0"/>
              <a:t> – (0,7÷0,8) В.</a:t>
            </a:r>
          </a:p>
          <a:p>
            <a:pPr marL="0" indent="0" algn="just">
              <a:buNone/>
            </a:pPr>
            <a:r>
              <a:rPr lang="ru-RU" dirty="0" smtClean="0"/>
              <a:t>Такие </a:t>
            </a:r>
            <a:r>
              <a:rPr lang="ru-RU" dirty="0"/>
              <a:t>переходы электронов будут продолжаться до тех пор, пока электрическое поле потенциального барьера не вырастет настолько, что энергии электронов уже окажется недостаточно для преодоления этого поля.</a:t>
            </a:r>
          </a:p>
          <a:p>
            <a:pPr marL="0" indent="0" algn="just">
              <a:buNone/>
            </a:pPr>
            <a:r>
              <a:rPr lang="ru-RU" dirty="0" smtClean="0"/>
              <a:t>Потенциальный </a:t>
            </a:r>
            <a:r>
              <a:rPr lang="ru-RU" dirty="0"/>
              <a:t>барьер создает тормозящее поле для основных носителей зарядов и препятствует перемещению электронов в p-область, дырок – в n-область.</a:t>
            </a:r>
          </a:p>
          <a:p>
            <a:pPr marL="0" indent="0" algn="just">
              <a:buNone/>
            </a:pPr>
            <a:r>
              <a:rPr lang="ru-RU" dirty="0" smtClean="0"/>
              <a:t>Для </a:t>
            </a:r>
            <a:r>
              <a:rPr lang="ru-RU" dirty="0"/>
              <a:t>неосновных носителей зарядов (дырок в n-области и электронов в p-области) поле потенциального барьера является ускоряющим. В результате чего осуществляется переброс неосновных носителей заряда через p-n переход (ток дрейфа). Неосновные носители заряда, переходя через область перехода, нейтрализуют часть ионов обоих знаков, что приводит к понижению потенциального барьера и увеличению диффузионного тока основных носителей. </a:t>
            </a:r>
            <a:endParaRPr lang="en-US" dirty="0" smtClean="0"/>
          </a:p>
          <a:p>
            <a:pPr marL="0" indent="0" algn="just">
              <a:buNone/>
            </a:pPr>
            <a:r>
              <a:rPr lang="ru-RU" dirty="0" smtClean="0"/>
              <a:t>Таким образом </a:t>
            </a:r>
            <a:r>
              <a:rPr lang="ru-RU" dirty="0"/>
              <a:t>в p-n переходе устанавливается динамическое равновесие.</a:t>
            </a:r>
          </a:p>
        </p:txBody>
      </p:sp>
    </p:spTree>
    <p:extLst>
      <p:ext uri="{BB962C8B-B14F-4D97-AF65-F5344CB8AC3E}">
        <p14:creationId xmlns:p14="http://schemas.microsoft.com/office/powerpoint/2010/main" val="36791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Полупроводимость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ВАХ характеристика </a:t>
            </a:r>
            <a:r>
              <a:rPr lang="en-US" dirty="0" smtClean="0"/>
              <a:t>p</a:t>
            </a:r>
            <a:r>
              <a:rPr lang="ru-RU" dirty="0" smtClean="0"/>
              <a:t>-</a:t>
            </a:r>
            <a:r>
              <a:rPr lang="en-US" dirty="0" smtClean="0"/>
              <a:t>n </a:t>
            </a:r>
            <a:r>
              <a:rPr lang="ru-RU" dirty="0" smtClean="0"/>
              <a:t>перехода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03" y="2484726"/>
            <a:ext cx="3108305" cy="240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8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Полупроводимость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ru-RU" b="1" dirty="0" smtClean="0"/>
              <a:t>Контакт металл-полупроводник.</a:t>
            </a:r>
          </a:p>
          <a:p>
            <a:pPr marL="0" indent="0" algn="just">
              <a:buNone/>
            </a:pPr>
            <a:r>
              <a:rPr lang="ru-RU" dirty="0"/>
              <a:t>В месте соприкосновения полупроводникового кристалла п- или р-типа проводимости с металлами возникает контакт </a:t>
            </a:r>
            <a:r>
              <a:rPr lang="ru-RU" dirty="0" smtClean="0"/>
              <a:t>металл- полупроводник</a:t>
            </a:r>
          </a:p>
          <a:p>
            <a:pPr marL="0" indent="0">
              <a:buNone/>
            </a:pPr>
            <a:r>
              <a:rPr lang="ru-RU" dirty="0"/>
              <a:t>В зависимости от соотношения работ выхода и типа электропроводности полупроводника возможны четыре типичных ситуации при контакте металла и полупроводника:</a:t>
            </a:r>
          </a:p>
          <a:p>
            <a:r>
              <a:rPr lang="ru-RU" dirty="0" err="1" smtClean="0"/>
              <a:t>Ам</a:t>
            </a:r>
            <a:r>
              <a:rPr lang="ru-RU" dirty="0" smtClean="0"/>
              <a:t> </a:t>
            </a:r>
            <a:r>
              <a:rPr lang="ru-RU" dirty="0"/>
              <a:t>&lt; Ап полупроводник </a:t>
            </a:r>
            <a:r>
              <a:rPr lang="en-US" dirty="0" smtClean="0"/>
              <a:t>n</a:t>
            </a:r>
            <a:r>
              <a:rPr lang="ru-RU" dirty="0" smtClean="0"/>
              <a:t>-типа</a:t>
            </a:r>
            <a:r>
              <a:rPr lang="ru-RU" dirty="0"/>
              <a:t>. В данном случае будет преобладать выход электронов из металла (М ) в полупроводник, поэтому в слое полупроводника около границы раздела накапливаются основные носители (электроны), и этот слой становится обогащенным, т.е. имеющим повышенную концентрацию </a:t>
            </a:r>
            <a:r>
              <a:rPr lang="ru-RU" dirty="0" smtClean="0"/>
              <a:t>электронов. Сопротивление </a:t>
            </a:r>
            <a:r>
              <a:rPr lang="ru-RU" dirty="0"/>
              <a:t>этого слоя будет малым при любой полярности приложенного напряжения, и. следовательно, такой переход не обладает выпрямляющим свойством. Его иначе называют невыпрямляющим переходом (или омическим контактом</a:t>
            </a:r>
            <a:r>
              <a:rPr lang="ru-RU" dirty="0" smtClean="0"/>
              <a:t>).</a:t>
            </a:r>
          </a:p>
          <a:p>
            <a:r>
              <a:rPr lang="ru-RU" dirty="0" err="1"/>
              <a:t>Ам</a:t>
            </a:r>
            <a:r>
              <a:rPr lang="ru-RU" dirty="0"/>
              <a:t> &gt; Ап полупроводника р-типа. В этом случае будет преобладать выход электронов из полупроводника в металл, при этом в приграничном слое также образуется область, обогащенная основными носителями заряда (дырками), имеющая малое сопротивление. Такой переход также не обладает выпрямляющим свойством.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991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Полупроводимость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ru-RU" b="1" dirty="0" smtClean="0"/>
              <a:t>Контакт металл-полупроводник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r>
              <a:rPr lang="ru-RU" dirty="0"/>
              <a:t>В месте соприкосновения полупроводникового кристалла п- или р-типа проводимости с металлами возникает контакт </a:t>
            </a:r>
            <a:r>
              <a:rPr lang="ru-RU" dirty="0" smtClean="0"/>
              <a:t>металл- полупроводник</a:t>
            </a:r>
          </a:p>
          <a:p>
            <a:pPr marL="0" indent="0">
              <a:buNone/>
            </a:pPr>
            <a:r>
              <a:rPr lang="ru-RU" dirty="0"/>
              <a:t>В зависимости от соотношения работ выхода и типа электропроводности полупроводника возможны четыре типичных ситуации при контакте металла и полупроводника:</a:t>
            </a:r>
          </a:p>
          <a:p>
            <a:r>
              <a:rPr lang="ru-RU" dirty="0" err="1"/>
              <a:t>Ам</a:t>
            </a:r>
            <a:r>
              <a:rPr lang="ru-RU" dirty="0"/>
              <a:t> &gt; Ап полупроводник </a:t>
            </a:r>
            <a:r>
              <a:rPr lang="en-US" dirty="0" smtClean="0"/>
              <a:t>n</a:t>
            </a:r>
            <a:r>
              <a:rPr lang="ru-RU" dirty="0" smtClean="0"/>
              <a:t>-типа</a:t>
            </a:r>
            <a:r>
              <a:rPr lang="ru-RU" dirty="0"/>
              <a:t>. При таких условиях электроны будут переходить главным образом из полупроводника в металл и в приграничном слое полупроводника образуется область, обедненная основными носителями заряда и имеющая большое </a:t>
            </a:r>
            <a:r>
              <a:rPr lang="ru-RU" dirty="0" smtClean="0"/>
              <a:t>сопротивление. Здесь </a:t>
            </a:r>
            <a:r>
              <a:rPr lang="ru-RU" dirty="0"/>
              <a:t>создается сравнительно высокий потенциальный барьер, высота которого будет существенно зависеть от полярности приложенного напряжения.</a:t>
            </a:r>
          </a:p>
          <a:p>
            <a:r>
              <a:rPr lang="ru-RU" dirty="0" err="1"/>
              <a:t>Ам</a:t>
            </a:r>
            <a:r>
              <a:rPr lang="ru-RU" dirty="0"/>
              <a:t> &gt; Ап полупроводник р-типа. Контакт, образованный при таких условиях обладает выпрямляющим свойством, как и предыдущий. Отличительной особенностью контакта «металл -полупроводник» является то. что здесь высота потенциального барьера для электронов и дырок разная.</a:t>
            </a:r>
          </a:p>
          <a:p>
            <a:pPr marL="0" indent="0">
              <a:buNone/>
            </a:pPr>
            <a:r>
              <a:rPr lang="ru-RU" dirty="0"/>
              <a:t>В результате такие контакты могут быть при определенных условиях </a:t>
            </a:r>
            <a:r>
              <a:rPr lang="ru-RU" dirty="0" err="1"/>
              <a:t>неинжектирующими</a:t>
            </a:r>
            <a:r>
              <a:rPr lang="ru-RU" dirty="0"/>
              <a:t>, т.е. при протекании прямого тока через контакт в полупроводниковую область не будут инжектироваться неосновные носители, что очень важно для высокочастотных и импульсных полупроводниковых приборов</a:t>
            </a:r>
            <a:r>
              <a:rPr lang="ru-RU" dirty="0" smtClean="0"/>
              <a:t>. </a:t>
            </a:r>
          </a:p>
          <a:p>
            <a:pPr marL="0" indent="0">
              <a:buNone/>
            </a:pPr>
            <a:r>
              <a:rPr lang="ru-RU" dirty="0" smtClean="0"/>
              <a:t>Полупроводящие свойства контакта металл-полупроводник называют эффектом </a:t>
            </a:r>
            <a:r>
              <a:rPr lang="ru-RU" dirty="0" err="1" smtClean="0"/>
              <a:t>Шоттки</a:t>
            </a:r>
            <a:endParaRPr lang="ru-RU" dirty="0"/>
          </a:p>
          <a:p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870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p-n </a:t>
            </a:r>
            <a:r>
              <a:rPr lang="ru-RU" dirty="0" smtClean="0"/>
              <a:t>переход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Полупроводниковый диод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793" y="2516415"/>
            <a:ext cx="3858738" cy="335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3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Переход </a:t>
            </a:r>
            <a:r>
              <a:rPr lang="ru-RU" dirty="0" err="1" smtClean="0"/>
              <a:t>Шоттки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b="1" dirty="0" smtClean="0"/>
              <a:t>Полупроводниковый диод </a:t>
            </a:r>
            <a:r>
              <a:rPr lang="ru-RU" b="1" dirty="0" err="1" smtClean="0"/>
              <a:t>Шоттки</a:t>
            </a:r>
            <a:endParaRPr lang="ru-RU" b="1" dirty="0" smtClean="0"/>
          </a:p>
          <a:p>
            <a:pPr marL="0" indent="0" algn="just">
              <a:buNone/>
            </a:pPr>
            <a:r>
              <a:rPr lang="ru-RU" dirty="0" smtClean="0"/>
              <a:t>Так как контакт </a:t>
            </a:r>
            <a:r>
              <a:rPr lang="ru-RU" dirty="0" err="1" smtClean="0"/>
              <a:t>Шоттки</a:t>
            </a:r>
            <a:r>
              <a:rPr lang="ru-RU" dirty="0" smtClean="0"/>
              <a:t> , как и </a:t>
            </a:r>
            <a:r>
              <a:rPr lang="en-US" dirty="0" smtClean="0"/>
              <a:t>p-n </a:t>
            </a:r>
            <a:r>
              <a:rPr lang="ru-RU" dirty="0" smtClean="0"/>
              <a:t>переход обладает свойством </a:t>
            </a:r>
            <a:r>
              <a:rPr lang="ru-RU" dirty="0" err="1" smtClean="0"/>
              <a:t>полупроводимости</a:t>
            </a:r>
            <a:r>
              <a:rPr lang="ru-RU" dirty="0" smtClean="0"/>
              <a:t>, то на нем так же можно организовать диод.</a:t>
            </a:r>
          </a:p>
          <a:p>
            <a:pPr marL="0" indent="0" algn="just">
              <a:buNone/>
            </a:pPr>
            <a:r>
              <a:rPr lang="ru-RU" dirty="0" smtClean="0"/>
              <a:t>Такой диод называется диодом </a:t>
            </a:r>
            <a:r>
              <a:rPr lang="ru-RU" dirty="0" err="1" smtClean="0"/>
              <a:t>Шоттки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По сравнению с обычным диодом у него есть несколько полезных свойств:</a:t>
            </a:r>
          </a:p>
          <a:p>
            <a:pPr algn="just"/>
            <a:r>
              <a:rPr lang="ru-RU" dirty="0"/>
              <a:t>Падение напряжения на диоде </a:t>
            </a:r>
            <a:r>
              <a:rPr lang="ru-RU" dirty="0" err="1"/>
              <a:t>Шоттки</a:t>
            </a:r>
            <a:r>
              <a:rPr lang="ru-RU" dirty="0"/>
              <a:t> при его прямом включении составляет 0,2—0,4 вольта, в то время как для </a:t>
            </a:r>
            <a:r>
              <a:rPr lang="ru-RU" dirty="0" smtClean="0"/>
              <a:t>обычных кремниевых </a:t>
            </a:r>
            <a:r>
              <a:rPr lang="ru-RU" dirty="0"/>
              <a:t>диодов, это значение порядка 0,6—0,7 вольта</a:t>
            </a:r>
            <a:r>
              <a:rPr lang="ru-RU" dirty="0" smtClean="0"/>
              <a:t>.</a:t>
            </a:r>
          </a:p>
          <a:p>
            <a:pPr algn="just"/>
            <a:r>
              <a:rPr lang="ru-RU" dirty="0"/>
              <a:t> </a:t>
            </a:r>
            <a:r>
              <a:rPr lang="ru-RU" dirty="0" smtClean="0"/>
              <a:t>Очень </a:t>
            </a:r>
            <a:r>
              <a:rPr lang="ru-RU" dirty="0"/>
              <a:t>маленький заряд обратного </a:t>
            </a:r>
            <a:r>
              <a:rPr lang="ru-RU" dirty="0" smtClean="0"/>
              <a:t>восстановления – что уменьшает шум выпрямительной схемы.</a:t>
            </a:r>
          </a:p>
          <a:p>
            <a:pPr algn="just"/>
            <a:endParaRPr lang="ru-RU" dirty="0" smtClean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182" y="2956635"/>
            <a:ext cx="1259465" cy="95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3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Биполярный транзистор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Устройство биполярного транзистора.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Э – эмиттер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К – коллектор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Б – база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</a:t>
                </a:r>
                <a:r>
                  <a:rPr lang="el-GR" dirty="0" smtClean="0"/>
                  <a:t>ω</a:t>
                </a:r>
                <a:r>
                  <a:rPr lang="ru-RU" dirty="0" smtClean="0"/>
                  <a:t> – толщина базы (менее 1 мкм)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</m:oMath>
                </a14:m>
                <a:r>
                  <a:rPr lang="ru-RU" dirty="0"/>
                  <a:t> - площадь эмиттера			</a:t>
                </a:r>
                <a:r>
                  <a:rPr lang="ru-RU" dirty="0" smtClean="0"/>
                  <a:t>				</a:t>
                </a:r>
                <a:r>
                  <a:rPr lang="ru-RU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</m:oMath>
                </a14:m>
                <a:r>
                  <a:rPr lang="ru-RU" dirty="0"/>
                  <a:t> - площадь </a:t>
                </a:r>
                <a:r>
                  <a:rPr lang="ru-RU" dirty="0" smtClean="0"/>
                  <a:t>коллектора</a:t>
                </a:r>
                <a:endParaRPr lang="ru-RU" dirty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303" y="2541319"/>
            <a:ext cx="2631109" cy="351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6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Биполярный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Устройство биполярного транзистора.</a:t>
            </a:r>
          </a:p>
          <a:p>
            <a:pPr marL="0" indent="0" algn="just">
              <a:buNone/>
            </a:pPr>
            <a:r>
              <a:rPr lang="ru-RU" dirty="0"/>
              <a:t>	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587" y="2557462"/>
            <a:ext cx="4314825" cy="17430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509" y="4567900"/>
            <a:ext cx="2037068" cy="92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Биполярный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Сплавной транзистор (изначальная конструкция)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772" y="2987383"/>
            <a:ext cx="5046332" cy="305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2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Биполярный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Планарный транзистор (современные транзисторы)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016" y="2554527"/>
            <a:ext cx="2888796" cy="336866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929" y="2253996"/>
            <a:ext cx="3311893" cy="366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5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Биполярный транзистор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 транзистора.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322" y="2828783"/>
            <a:ext cx="4377603" cy="213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3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Полевые транзисторы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 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85" y="1755359"/>
            <a:ext cx="6690815" cy="472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1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</a:t>
            </a:r>
            <a:r>
              <a:rPr lang="ru-RU" dirty="0" smtClean="0"/>
              <a:t>канальный </a:t>
            </a:r>
            <a:r>
              <a:rPr lang="en-US" dirty="0" smtClean="0"/>
              <a:t>JFET </a:t>
            </a:r>
            <a:r>
              <a:rPr lang="ru-RU" dirty="0" smtClean="0"/>
              <a:t>полевой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Принцип работы.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71" y="2001044"/>
            <a:ext cx="34480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9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</a:t>
            </a:r>
            <a:r>
              <a:rPr lang="ru-RU" dirty="0" smtClean="0"/>
              <a:t>канальный </a:t>
            </a:r>
            <a:r>
              <a:rPr lang="en-US" dirty="0" smtClean="0"/>
              <a:t>JFET </a:t>
            </a:r>
            <a:r>
              <a:rPr lang="ru-RU" dirty="0" smtClean="0"/>
              <a:t>полевой транзистор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 транзистора.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и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зи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отс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зи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311" y="2889909"/>
            <a:ext cx="4541222" cy="221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40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</a:t>
            </a:r>
            <a:r>
              <a:rPr lang="ru-RU" dirty="0" smtClean="0"/>
              <a:t>канальный </a:t>
            </a:r>
            <a:r>
              <a:rPr lang="en-US" dirty="0" smtClean="0"/>
              <a:t>MOSFET (</a:t>
            </a:r>
            <a:r>
              <a:rPr lang="ru-RU" dirty="0" smtClean="0"/>
              <a:t>ПДП</a:t>
            </a:r>
            <a:r>
              <a:rPr lang="en-US" dirty="0" smtClean="0"/>
              <a:t>)</a:t>
            </a:r>
            <a:r>
              <a:rPr lang="ru-RU" dirty="0" smtClean="0"/>
              <a:t>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Со встроенным каналом.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416" y="2025147"/>
            <a:ext cx="2856016" cy="173636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308" y="2248827"/>
            <a:ext cx="400050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7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</a:t>
            </a:r>
            <a:r>
              <a:rPr lang="ru-RU" dirty="0" smtClean="0"/>
              <a:t>канальный </a:t>
            </a:r>
            <a:r>
              <a:rPr lang="en-US" dirty="0" smtClean="0"/>
              <a:t>MOSFET (</a:t>
            </a:r>
            <a:r>
              <a:rPr lang="ru-RU" dirty="0" smtClean="0"/>
              <a:t>ПДП</a:t>
            </a:r>
            <a:r>
              <a:rPr lang="en-US" dirty="0" smtClean="0"/>
              <a:t>)</a:t>
            </a:r>
            <a:r>
              <a:rPr lang="ru-RU" dirty="0" smtClean="0"/>
              <a:t>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Со индуцированным каналом.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108" y="2357438"/>
            <a:ext cx="3343275" cy="38195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383" y="1825625"/>
            <a:ext cx="4130035" cy="233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18100</TotalTime>
  <Words>1086</Words>
  <Application>Microsoft Office PowerPoint</Application>
  <PresentationFormat>Широкоэкранный</PresentationFormat>
  <Paragraphs>131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Тема Office</vt:lpstr>
      <vt:lpstr>Лекция 14</vt:lpstr>
      <vt:lpstr>Типы проводимости</vt:lpstr>
      <vt:lpstr>Типы проводимости</vt:lpstr>
      <vt:lpstr>Типы проводимости</vt:lpstr>
      <vt:lpstr>Типы проводимости</vt:lpstr>
      <vt:lpstr>Типы проводимости</vt:lpstr>
      <vt:lpstr>Типы проводимости</vt:lpstr>
      <vt:lpstr>Типы проводимости</vt:lpstr>
      <vt:lpstr>Полупроводимость</vt:lpstr>
      <vt:lpstr>Полупроводимость</vt:lpstr>
      <vt:lpstr>Полупроводимость</vt:lpstr>
      <vt:lpstr>Полупроводимость</vt:lpstr>
      <vt:lpstr>Полупроводимость</vt:lpstr>
      <vt:lpstr>p-n переход</vt:lpstr>
      <vt:lpstr>Переход Шоттки</vt:lpstr>
      <vt:lpstr>Биполярный транзистор</vt:lpstr>
      <vt:lpstr>Биполярный транзистор</vt:lpstr>
      <vt:lpstr>Биполярный транзистор</vt:lpstr>
      <vt:lpstr>Биполярный транзистор</vt:lpstr>
      <vt:lpstr>Биполярный транзистор</vt:lpstr>
      <vt:lpstr>Полевые транзисторы</vt:lpstr>
      <vt:lpstr>N-канальный JFET полевой транзистор</vt:lpstr>
      <vt:lpstr>N-канальный JFET полевой транзистор</vt:lpstr>
      <vt:lpstr>N-канальный MOSFET (ПДП) транзистор</vt:lpstr>
      <vt:lpstr>N-канальный MOSFET (ПДП) транзистор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565</cp:revision>
  <dcterms:created xsi:type="dcterms:W3CDTF">2020-09-02T13:49:40Z</dcterms:created>
  <dcterms:modified xsi:type="dcterms:W3CDTF">2021-09-09T12:39:35Z</dcterms:modified>
</cp:coreProperties>
</file>