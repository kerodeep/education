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0" r:id="rId3"/>
    <p:sldId id="281" r:id="rId4"/>
    <p:sldId id="280" r:id="rId5"/>
    <p:sldId id="282" r:id="rId6"/>
    <p:sldId id="283" r:id="rId7"/>
    <p:sldId id="261" r:id="rId8"/>
    <p:sldId id="284" r:id="rId9"/>
    <p:sldId id="285" r:id="rId10"/>
    <p:sldId id="286" r:id="rId11"/>
    <p:sldId id="287" r:id="rId12"/>
    <p:sldId id="288" r:id="rId13"/>
    <p:sldId id="289" r:id="rId14"/>
    <p:sldId id="290" r:id="rId15"/>
    <p:sldId id="291" r:id="rId16"/>
    <p:sldId id="262" r:id="rId17"/>
    <p:sldId id="292" r:id="rId18"/>
    <p:sldId id="293" r:id="rId19"/>
    <p:sldId id="263" r:id="rId20"/>
    <p:sldId id="294" r:id="rId21"/>
    <p:sldId id="295" r:id="rId22"/>
    <p:sldId id="296" r:id="rId23"/>
    <p:sldId id="297" r:id="rId24"/>
    <p:sldId id="298" r:id="rId25"/>
    <p:sldId id="299" r:id="rId26"/>
    <p:sldId id="300" r:id="rId27"/>
    <p:sldId id="301" r:id="rId28"/>
    <p:sldId id="302" r:id="rId29"/>
    <p:sldId id="303" r:id="rId30"/>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autoAdjust="0"/>
  </p:normalViewPr>
  <p:slideViewPr>
    <p:cSldViewPr snapToGrid="0">
      <p:cViewPr varScale="1">
        <p:scale>
          <a:sx n="114" d="100"/>
          <a:sy n="114" d="100"/>
        </p:scale>
        <p:origin x="354" y="10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ru-RU"/>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1687F890-8936-473A-AEE0-9462A4D15301}" type="datetimeFigureOut">
              <a:rPr lang="ru-RU" smtClean="0"/>
              <a:pPr/>
              <a:t>09.09.2021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3219159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1687F890-8936-473A-AEE0-9462A4D15301}" type="datetimeFigureOut">
              <a:rPr lang="ru-RU" smtClean="0"/>
              <a:pPr/>
              <a:t>09.09.2021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1757748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ru-RU"/>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1687F890-8936-473A-AEE0-9462A4D15301}" type="datetimeFigureOut">
              <a:rPr lang="ru-RU" smtClean="0"/>
              <a:pPr/>
              <a:t>09.09.2021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3573028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1687F890-8936-473A-AEE0-9462A4D15301}" type="datetimeFigureOut">
              <a:rPr lang="ru-RU" smtClean="0"/>
              <a:pPr/>
              <a:t>09.09.2021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3497264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ru-RU"/>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1687F890-8936-473A-AEE0-9462A4D15301}" type="datetimeFigureOut">
              <a:rPr lang="ru-RU" smtClean="0"/>
              <a:pPr/>
              <a:t>09.09.2021</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210919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1687F890-8936-473A-AEE0-9462A4D15301}" type="datetimeFigureOut">
              <a:rPr lang="ru-RU" smtClean="0"/>
              <a:pPr/>
              <a:t>09.09.2021</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1704121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1687F890-8936-473A-AEE0-9462A4D15301}" type="datetimeFigureOut">
              <a:rPr lang="ru-RU" smtClean="0"/>
              <a:pPr/>
              <a:t>09.09.2021</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2518047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1687F890-8936-473A-AEE0-9462A4D15301}" type="datetimeFigureOut">
              <a:rPr lang="ru-RU" smtClean="0"/>
              <a:pPr/>
              <a:t>09.09.2021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1050089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1687F890-8936-473A-AEE0-9462A4D15301}" type="datetimeFigureOut">
              <a:rPr lang="ru-RU" smtClean="0"/>
              <a:pPr/>
              <a:t>09.09.2021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3168983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1687F890-8936-473A-AEE0-9462A4D15301}" type="datetimeFigureOut">
              <a:rPr lang="ru-RU" smtClean="0"/>
              <a:pPr/>
              <a:t>09.09.2021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2752213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1687F890-8936-473A-AEE0-9462A4D15301}" type="datetimeFigureOut">
              <a:rPr lang="ru-RU" smtClean="0"/>
              <a:pPr/>
              <a:t>09.09.2021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2670513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87F890-8936-473A-AEE0-9462A4D15301}" type="datetimeFigureOut">
              <a:rPr lang="ru-RU" smtClean="0"/>
              <a:pPr/>
              <a:t>09.09.2021</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32AA0A-C727-452B-8E2D-EB79C39F6205}" type="slidenum">
              <a:rPr lang="ru-RU" smtClean="0"/>
              <a:pPr/>
              <a:t>‹#›</a:t>
            </a:fld>
            <a:endParaRPr lang="ru-RU"/>
          </a:p>
        </p:txBody>
      </p:sp>
    </p:spTree>
    <p:extLst>
      <p:ext uri="{BB962C8B-B14F-4D97-AF65-F5344CB8AC3E}">
        <p14:creationId xmlns:p14="http://schemas.microsoft.com/office/powerpoint/2010/main" val="2675226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i="1" dirty="0" smtClean="0"/>
              <a:t>Лекция </a:t>
            </a:r>
            <a:r>
              <a:rPr lang="en-US" b="1" i="1" smtClean="0"/>
              <a:t>7</a:t>
            </a:r>
            <a:endParaRPr lang="ru-RU" b="1" i="1" dirty="0"/>
          </a:p>
        </p:txBody>
      </p:sp>
      <p:sp>
        <p:nvSpPr>
          <p:cNvPr id="3" name="Объект 2"/>
          <p:cNvSpPr>
            <a:spLocks noGrp="1"/>
          </p:cNvSpPr>
          <p:nvPr>
            <p:ph idx="1"/>
          </p:nvPr>
        </p:nvSpPr>
        <p:spPr/>
        <p:txBody>
          <a:bodyPr/>
          <a:lstStyle/>
          <a:p>
            <a:pPr marL="0" indent="0" algn="ctr">
              <a:buNone/>
            </a:pPr>
            <a:r>
              <a:rPr lang="ru-RU" b="1" i="1" dirty="0" smtClean="0"/>
              <a:t>Переходные процессы в линейных электрических цепях</a:t>
            </a:r>
          </a:p>
          <a:p>
            <a:pPr marL="0" indent="0" algn="ctr">
              <a:buNone/>
            </a:pPr>
            <a:r>
              <a:rPr lang="ru-RU" i="1" dirty="0" smtClean="0"/>
              <a:t>Законы коммутации,</a:t>
            </a:r>
          </a:p>
          <a:p>
            <a:pPr marL="0" indent="0" algn="ctr">
              <a:buNone/>
            </a:pPr>
            <a:r>
              <a:rPr lang="ru-RU" i="1" dirty="0" smtClean="0"/>
              <a:t>начальные условия</a:t>
            </a:r>
          </a:p>
          <a:p>
            <a:pPr marL="0" indent="0" algn="ctr">
              <a:buNone/>
            </a:pPr>
            <a:r>
              <a:rPr lang="ru-RU" i="1" dirty="0" smtClean="0"/>
              <a:t>принужденный и свободный режимы.</a:t>
            </a:r>
          </a:p>
          <a:p>
            <a:pPr marL="0" indent="0" algn="ctr">
              <a:buNone/>
            </a:pPr>
            <a:endParaRPr lang="ru-RU" i="1" dirty="0" smtClean="0"/>
          </a:p>
          <a:p>
            <a:pPr marL="0" indent="0" algn="ctr">
              <a:buNone/>
            </a:pPr>
            <a:endParaRPr lang="ru-RU" i="1" dirty="0" smtClean="0"/>
          </a:p>
          <a:p>
            <a:pPr marL="0" indent="0" algn="ctr">
              <a:buNone/>
            </a:pPr>
            <a:endParaRPr lang="ru-RU" i="1" dirty="0" smtClean="0"/>
          </a:p>
        </p:txBody>
      </p:sp>
    </p:spTree>
    <p:extLst>
      <p:ext uri="{BB962C8B-B14F-4D97-AF65-F5344CB8AC3E}">
        <p14:creationId xmlns:p14="http://schemas.microsoft.com/office/powerpoint/2010/main" val="27955526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Типы процессов, происходящих в электрических цепях</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fontScale="92500" lnSpcReduction="10000"/>
              </a:bodyPr>
              <a:lstStyle/>
              <a:p>
                <a:pPr algn="just"/>
                <a:r>
                  <a:rPr lang="ru-RU" dirty="0" smtClean="0"/>
                  <a:t>Ранее при рассмотрении электрических цепей мы полагали, что характеристики элементов этих цепей неизменны во времени. Генераторы сигналов при этом предполагались имеющими неизменные параметры: либо это просто был источник постоянного тока или напряжения, либо источник переменного тока либо напряжения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i="1">
                            <a:latin typeface="Cambria Math" panose="02040503050406030204" pitchFamily="18" charset="0"/>
                          </a:rPr>
                          <m:t>𝐴</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𝑐𝑜𝑠</m:t>
                    </m:r>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𝜑</m:t>
                        </m:r>
                      </m:e>
                      <m:sub>
                        <m:r>
                          <a:rPr lang="en-US" b="0" i="1" smtClean="0">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oMath>
                </a14:m>
                <a:r>
                  <a:rPr lang="ru-RU" dirty="0" smtClean="0"/>
                  <a:t>параметры которого (амплитуда, частота, начальная фаза) неизменны во времени. </a:t>
                </a:r>
              </a:p>
              <a:p>
                <a:pPr algn="just"/>
                <a:r>
                  <a:rPr lang="ru-RU" dirty="0" smtClean="0"/>
                  <a:t>Однако такая ситуация не всегда точно описывает происходящие процессы. Например, напряжение источника может включаться и выключаться. Либо схема может делиться на несколько частей, некоторые из которых могут подключаться и отключаться от остальных. </a:t>
                </a:r>
              </a:p>
              <a:p>
                <a:pPr marL="0" indent="0" algn="just">
                  <a:buNone/>
                </a:pPr>
                <a:endParaRPr lang="ru-RU"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928" t="-2801" r="-986"/>
                </a:stretch>
              </a:blipFill>
            </p:spPr>
            <p:txBody>
              <a:bodyPr/>
              <a:lstStyle/>
              <a:p>
                <a:r>
                  <a:rPr lang="ru-RU">
                    <a:noFill/>
                  </a:rPr>
                  <a:t> </a:t>
                </a:r>
              </a:p>
            </p:txBody>
          </p:sp>
        </mc:Fallback>
      </mc:AlternateContent>
    </p:spTree>
    <p:extLst>
      <p:ext uri="{BB962C8B-B14F-4D97-AF65-F5344CB8AC3E}">
        <p14:creationId xmlns:p14="http://schemas.microsoft.com/office/powerpoint/2010/main" val="920108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Стационарный процесс</a:t>
            </a:r>
            <a:endParaRPr lang="ru-RU" dirty="0"/>
          </a:p>
        </p:txBody>
      </p:sp>
      <p:sp>
        <p:nvSpPr>
          <p:cNvPr id="3" name="Объект 2"/>
          <p:cNvSpPr>
            <a:spLocks noGrp="1"/>
          </p:cNvSpPr>
          <p:nvPr>
            <p:ph idx="1"/>
          </p:nvPr>
        </p:nvSpPr>
        <p:spPr/>
        <p:txBody>
          <a:bodyPr/>
          <a:lstStyle/>
          <a:p>
            <a:pPr algn="just"/>
            <a:r>
              <a:rPr lang="ru-RU" dirty="0" smtClean="0"/>
              <a:t>Первый вариант, когда параметры электрической цепи неизменны во времени, называется стационарным процессом в электрической цепи. Для нахождения состояния цепи достаточно записать уравнения Кирхгофа и решить их используя изученные ранее методы (метод контурных токов, узловых потенциалов, в случае цепи переменного тока сначала использовать метод комплексных амплитуд)</a:t>
            </a:r>
            <a:endParaRPr lang="ru-RU" dirty="0"/>
          </a:p>
        </p:txBody>
      </p:sp>
    </p:spTree>
    <p:extLst>
      <p:ext uri="{BB962C8B-B14F-4D97-AF65-F5344CB8AC3E}">
        <p14:creationId xmlns:p14="http://schemas.microsoft.com/office/powerpoint/2010/main" val="2044852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Нестационарный процесс</a:t>
            </a:r>
            <a:endParaRPr lang="ru-RU" dirty="0"/>
          </a:p>
        </p:txBody>
      </p:sp>
      <p:sp>
        <p:nvSpPr>
          <p:cNvPr id="3" name="Объект 2"/>
          <p:cNvSpPr>
            <a:spLocks noGrp="1"/>
          </p:cNvSpPr>
          <p:nvPr>
            <p:ph idx="1"/>
          </p:nvPr>
        </p:nvSpPr>
        <p:spPr/>
        <p:txBody>
          <a:bodyPr/>
          <a:lstStyle/>
          <a:p>
            <a:r>
              <a:rPr lang="ru-RU" dirty="0" smtClean="0"/>
              <a:t>Второй вариант – когда происходит изменение параметров электрической цепи во времени называется </a:t>
            </a:r>
            <a:r>
              <a:rPr lang="ru-RU" b="1" dirty="0" smtClean="0"/>
              <a:t>нестационарным процессом в электрической цепи</a:t>
            </a:r>
            <a:r>
              <a:rPr lang="ru-RU" dirty="0" smtClean="0"/>
              <a:t>. </a:t>
            </a:r>
          </a:p>
          <a:p>
            <a:r>
              <a:rPr lang="ru-RU" dirty="0" smtClean="0"/>
              <a:t>При этом может изменяться:</a:t>
            </a:r>
          </a:p>
          <a:p>
            <a:pPr lvl="1"/>
            <a:r>
              <a:rPr lang="ru-RU" dirty="0" smtClean="0"/>
              <a:t>Напряжение или ток источников ЭДС</a:t>
            </a:r>
          </a:p>
          <a:p>
            <a:pPr lvl="1"/>
            <a:r>
              <a:rPr lang="ru-RU" dirty="0" smtClean="0"/>
              <a:t>Конфигурация цепи</a:t>
            </a:r>
          </a:p>
          <a:p>
            <a:pPr lvl="1"/>
            <a:r>
              <a:rPr lang="ru-RU" dirty="0" smtClean="0"/>
              <a:t>Параметры элементов цепи.</a:t>
            </a:r>
            <a:endParaRPr lang="ru-RU" dirty="0"/>
          </a:p>
          <a:p>
            <a:pPr marL="457200" lvl="1" indent="0">
              <a:buNone/>
            </a:pPr>
            <a:endParaRPr lang="ru-RU" dirty="0"/>
          </a:p>
        </p:txBody>
      </p:sp>
    </p:spTree>
    <p:extLst>
      <p:ext uri="{BB962C8B-B14F-4D97-AF65-F5344CB8AC3E}">
        <p14:creationId xmlns:p14="http://schemas.microsoft.com/office/powerpoint/2010/main" val="2889698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Нестационарный процесс</a:t>
            </a:r>
            <a:endParaRPr lang="ru-RU" dirty="0"/>
          </a:p>
        </p:txBody>
      </p:sp>
      <p:sp>
        <p:nvSpPr>
          <p:cNvPr id="3" name="Объект 2"/>
          <p:cNvSpPr>
            <a:spLocks noGrp="1"/>
          </p:cNvSpPr>
          <p:nvPr>
            <p:ph idx="1"/>
          </p:nvPr>
        </p:nvSpPr>
        <p:spPr/>
        <p:txBody>
          <a:bodyPr>
            <a:normAutofit lnSpcReduction="10000"/>
          </a:bodyPr>
          <a:lstStyle/>
          <a:p>
            <a:pPr algn="just"/>
            <a:r>
              <a:rPr lang="ru-RU" dirty="0" smtClean="0"/>
              <a:t>Процесс изменения параметров может быть мгновенным или длительным, заданным некоторым временным правилом.</a:t>
            </a:r>
          </a:p>
          <a:p>
            <a:pPr algn="just"/>
            <a:r>
              <a:rPr lang="ru-RU" dirty="0" smtClean="0"/>
              <a:t>Далее мы будем рассматривать класс нестационарных задач при котором изменение параметров происходит мгновенно.</a:t>
            </a:r>
          </a:p>
          <a:p>
            <a:pPr algn="just"/>
            <a:r>
              <a:rPr lang="ru-RU" dirty="0" smtClean="0"/>
              <a:t>Такое (мгновенное) изменение параметров называется </a:t>
            </a:r>
            <a:r>
              <a:rPr lang="ru-RU" b="1" dirty="0" smtClean="0"/>
              <a:t>коммутацией</a:t>
            </a:r>
            <a:r>
              <a:rPr lang="ru-RU" dirty="0" smtClean="0"/>
              <a:t>. А переход схемы от одного исходного состояния к другому, установившемуся называется </a:t>
            </a:r>
            <a:r>
              <a:rPr lang="ru-RU" b="1" dirty="0" smtClean="0"/>
              <a:t>переходным процессом. </a:t>
            </a:r>
            <a:r>
              <a:rPr lang="ru-RU" dirty="0" smtClean="0"/>
              <a:t>Под исходным и установившимся состоянием понимается совокупность токов и напряжений до момента коммутации (исходное) и после того как закончится изменение во времени токов и напряжений  к их новым установившимся значениям.</a:t>
            </a:r>
            <a:endParaRPr lang="ru-RU" b="1" dirty="0"/>
          </a:p>
          <a:p>
            <a:pPr marL="457200" lvl="1" indent="0">
              <a:buNone/>
            </a:pPr>
            <a:endParaRPr lang="ru-RU" dirty="0"/>
          </a:p>
        </p:txBody>
      </p:sp>
    </p:spTree>
    <p:extLst>
      <p:ext uri="{BB962C8B-B14F-4D97-AF65-F5344CB8AC3E}">
        <p14:creationId xmlns:p14="http://schemas.microsoft.com/office/powerpoint/2010/main" val="2664855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Переходной процесс</a:t>
            </a:r>
            <a:endParaRPr lang="ru-RU" dirty="0"/>
          </a:p>
        </p:txBody>
      </p:sp>
      <p:sp>
        <p:nvSpPr>
          <p:cNvPr id="3" name="Объект 2"/>
          <p:cNvSpPr>
            <a:spLocks noGrp="1"/>
          </p:cNvSpPr>
          <p:nvPr>
            <p:ph idx="1"/>
          </p:nvPr>
        </p:nvSpPr>
        <p:spPr/>
        <p:txBody>
          <a:bodyPr>
            <a:normAutofit lnSpcReduction="10000"/>
          </a:bodyPr>
          <a:lstStyle/>
          <a:p>
            <a:pPr algn="just"/>
            <a:r>
              <a:rPr lang="ru-RU" dirty="0" smtClean="0"/>
              <a:t>Процесс коммутации  происходит мгновенно. Однако переходной процесс при этом занимает какое-то, в общем случае бесконечно большое, время. В силу этого за длительность переходного процесса часто принимают не точно то время когда система придет к новому стационарному значению, а то время за которое система придет в состояние, токи и напряжения при котором отличаются от стационарного на некоторую (обычно </a:t>
            </a:r>
            <a:r>
              <a:rPr lang="en-US" dirty="0" smtClean="0"/>
              <a:t>&lt;1%</a:t>
            </a:r>
            <a:r>
              <a:rPr lang="ru-RU" dirty="0" smtClean="0"/>
              <a:t>) величину.</a:t>
            </a:r>
          </a:p>
          <a:p>
            <a:pPr algn="just"/>
            <a:endParaRPr lang="ru-RU" dirty="0"/>
          </a:p>
          <a:p>
            <a:pPr marL="0" indent="0" algn="just">
              <a:buNone/>
            </a:pPr>
            <a:endParaRPr lang="ru-RU" dirty="0"/>
          </a:p>
          <a:p>
            <a:pPr marL="0" indent="0" algn="just">
              <a:buNone/>
            </a:pPr>
            <a:r>
              <a:rPr lang="ru-RU" dirty="0" smtClean="0"/>
              <a:t>  </a:t>
            </a:r>
          </a:p>
          <a:p>
            <a:pPr algn="just"/>
            <a:endParaRPr lang="ru-RU" b="1" dirty="0"/>
          </a:p>
          <a:p>
            <a:pPr marL="457200" lvl="1" indent="0">
              <a:buNone/>
            </a:pPr>
            <a:endParaRPr lang="ru-RU" dirty="0"/>
          </a:p>
        </p:txBody>
      </p:sp>
      <p:pic>
        <p:nvPicPr>
          <p:cNvPr id="4" name="Рисунок 3"/>
          <p:cNvPicPr>
            <a:picLocks noChangeAspect="1"/>
          </p:cNvPicPr>
          <p:nvPr/>
        </p:nvPicPr>
        <p:blipFill>
          <a:blip r:embed="rId2"/>
          <a:stretch>
            <a:fillRect/>
          </a:stretch>
        </p:blipFill>
        <p:spPr>
          <a:xfrm>
            <a:off x="4558238" y="4415875"/>
            <a:ext cx="3075523" cy="1761088"/>
          </a:xfrm>
          <a:prstGeom prst="rect">
            <a:avLst/>
          </a:prstGeom>
        </p:spPr>
      </p:pic>
    </p:spTree>
    <p:extLst>
      <p:ext uri="{BB962C8B-B14F-4D97-AF65-F5344CB8AC3E}">
        <p14:creationId xmlns:p14="http://schemas.microsoft.com/office/powerpoint/2010/main" val="1409010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Переходной процесс</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fontScale="92500" lnSpcReduction="20000"/>
              </a:bodyPr>
              <a:lstStyle/>
              <a:p>
                <a:pPr algn="just"/>
                <a:r>
                  <a:rPr lang="ru-RU" dirty="0" smtClean="0"/>
                  <a:t>В случае если цепь содержит только сопротивления, то есть в схеме нет элементов, в которых </a:t>
                </a:r>
                <a:r>
                  <a:rPr lang="ru-RU" b="1" dirty="0" smtClean="0"/>
                  <a:t>запасается</a:t>
                </a:r>
                <a:r>
                  <a:rPr lang="ru-RU" dirty="0" smtClean="0"/>
                  <a:t> электрическая энергия, </a:t>
                </a:r>
                <a:r>
                  <a:rPr lang="ru-RU" b="1" dirty="0" smtClean="0"/>
                  <a:t>длительность</a:t>
                </a:r>
                <a:r>
                  <a:rPr lang="ru-RU" dirty="0" smtClean="0"/>
                  <a:t> переходного процесса </a:t>
                </a:r>
                <a:r>
                  <a:rPr lang="ru-RU" b="1" dirty="0" smtClean="0"/>
                  <a:t>равна</a:t>
                </a:r>
                <a:r>
                  <a:rPr lang="ru-RU" dirty="0" smtClean="0"/>
                  <a:t> времени коммутации. То есть, в случае мгновенной коммутации цепи переходной процесс произойдет мгновенно.</a:t>
                </a:r>
              </a:p>
              <a:p>
                <a:pPr algn="just"/>
                <a:r>
                  <a:rPr lang="ru-RU" dirty="0" smtClean="0"/>
                  <a:t>Если схема </a:t>
                </a:r>
                <a:r>
                  <a:rPr lang="ru-RU" b="1" i="1" dirty="0" smtClean="0"/>
                  <a:t>содержит индуктивные элементы </a:t>
                </a:r>
                <a:r>
                  <a:rPr lang="ru-RU" dirty="0" smtClean="0"/>
                  <a:t>(энергия в которых запасается в магнитном поле </a:t>
                </a:r>
                <a14:m>
                  <m:oMath xmlns:m="http://schemas.openxmlformats.org/officeDocument/2006/math">
                    <m:r>
                      <a:rPr lang="en-US" b="0" i="1" smtClean="0">
                        <a:latin typeface="Cambria Math" panose="02040503050406030204" pitchFamily="18" charset="0"/>
                      </a:rPr>
                      <m:t>𝑊</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𝐿</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𝐼</m:t>
                            </m:r>
                          </m:e>
                          <m:sup>
                            <m:r>
                              <a:rPr lang="en-US" b="0" i="1" smtClean="0">
                                <a:latin typeface="Cambria Math" panose="02040503050406030204" pitchFamily="18" charset="0"/>
                              </a:rPr>
                              <m:t>2</m:t>
                            </m:r>
                          </m:sup>
                        </m:sSup>
                      </m:num>
                      <m:den>
                        <m:r>
                          <a:rPr lang="en-US" b="0" i="1" smtClean="0">
                            <a:latin typeface="Cambria Math" panose="02040503050406030204" pitchFamily="18" charset="0"/>
                          </a:rPr>
                          <m:t>2</m:t>
                        </m:r>
                      </m:den>
                    </m:f>
                  </m:oMath>
                </a14:m>
                <a:r>
                  <a:rPr lang="ru-RU" dirty="0" smtClean="0"/>
                  <a:t>) или </a:t>
                </a:r>
                <a:r>
                  <a:rPr lang="ru-RU" b="1" i="1" dirty="0" smtClean="0"/>
                  <a:t>электрические конденсаторы</a:t>
                </a:r>
                <a:r>
                  <a:rPr lang="ru-RU" dirty="0" smtClean="0"/>
                  <a:t> (энергия в которых запасается в электрическом поле</a:t>
                </a:r>
                <a:r>
                  <a:rPr lang="en-US" dirty="0" smtClean="0"/>
                  <a:t> </a:t>
                </a:r>
                <a14:m>
                  <m:oMath xmlns:m="http://schemas.openxmlformats.org/officeDocument/2006/math">
                    <m:r>
                      <a:rPr lang="en-US" i="1">
                        <a:latin typeface="Cambria Math" panose="02040503050406030204" pitchFamily="18" charset="0"/>
                      </a:rPr>
                      <m:t>𝑊</m:t>
                    </m:r>
                    <m:r>
                      <a:rPr lang="en-US" i="1">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𝐶</m:t>
                        </m:r>
                        <m:sSup>
                          <m:sSupPr>
                            <m:ctrlPr>
                              <a:rPr lang="en-US" i="1">
                                <a:latin typeface="Cambria Math" panose="02040503050406030204" pitchFamily="18" charset="0"/>
                              </a:rPr>
                            </m:ctrlPr>
                          </m:sSupPr>
                          <m:e>
                            <m:r>
                              <a:rPr lang="en-US" b="0" i="1" smtClean="0">
                                <a:latin typeface="Cambria Math" panose="02040503050406030204" pitchFamily="18" charset="0"/>
                              </a:rPr>
                              <m:t>𝑈</m:t>
                            </m:r>
                          </m:e>
                          <m:sup>
                            <m:r>
                              <a:rPr lang="en-US" i="1">
                                <a:latin typeface="Cambria Math" panose="02040503050406030204" pitchFamily="18" charset="0"/>
                              </a:rPr>
                              <m:t>2</m:t>
                            </m:r>
                          </m:sup>
                        </m:sSup>
                      </m:num>
                      <m:den>
                        <m:r>
                          <a:rPr lang="en-US" i="1">
                            <a:latin typeface="Cambria Math" panose="02040503050406030204" pitchFamily="18" charset="0"/>
                          </a:rPr>
                          <m:t>2</m:t>
                        </m:r>
                      </m:den>
                    </m:f>
                  </m:oMath>
                </a14:m>
                <a:r>
                  <a:rPr lang="ru-RU" dirty="0" smtClean="0"/>
                  <a:t>) то переходной процесс имеет некоторую длительность, которая в любом случае будет определяться мощностью источников ЭДС, которая потребуется на изменение энергии в этих реактивных элементах. </a:t>
                </a:r>
                <a14:m>
                  <m:oMath xmlns:m="http://schemas.openxmlformats.org/officeDocument/2006/math">
                    <m:r>
                      <a:rPr lang="ru-RU"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𝐸</m:t>
                        </m:r>
                      </m:num>
                      <m:den>
                        <m:r>
                          <a:rPr lang="en-US" b="0" i="1" smtClean="0">
                            <a:latin typeface="Cambria Math" panose="02040503050406030204" pitchFamily="18" charset="0"/>
                            <a:ea typeface="Cambria Math" panose="02040503050406030204" pitchFamily="18" charset="0"/>
                          </a:rPr>
                          <m:t>𝑃</m:t>
                        </m:r>
                      </m:den>
                    </m:f>
                  </m:oMath>
                </a14:m>
                <a:endParaRPr lang="ru-RU"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928" t="-3501" r="-986"/>
                </a:stretch>
              </a:blipFill>
            </p:spPr>
            <p:txBody>
              <a:bodyPr/>
              <a:lstStyle/>
              <a:p>
                <a:r>
                  <a:rPr lang="ru-RU">
                    <a:noFill/>
                  </a:rPr>
                  <a:t> </a:t>
                </a:r>
              </a:p>
            </p:txBody>
          </p:sp>
        </mc:Fallback>
      </mc:AlternateContent>
    </p:spTree>
    <p:extLst>
      <p:ext uri="{BB962C8B-B14F-4D97-AF65-F5344CB8AC3E}">
        <p14:creationId xmlns:p14="http://schemas.microsoft.com/office/powerpoint/2010/main" val="3733173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Переходной процесс</a:t>
            </a:r>
            <a:endParaRPr lang="ru-RU" dirty="0"/>
          </a:p>
        </p:txBody>
      </p:sp>
      <p:sp>
        <p:nvSpPr>
          <p:cNvPr id="3" name="Объект 2"/>
          <p:cNvSpPr>
            <a:spLocks noGrp="1"/>
          </p:cNvSpPr>
          <p:nvPr>
            <p:ph idx="1"/>
          </p:nvPr>
        </p:nvSpPr>
        <p:spPr/>
        <p:txBody>
          <a:bodyPr>
            <a:normAutofit lnSpcReduction="10000"/>
          </a:bodyPr>
          <a:lstStyle/>
          <a:p>
            <a:pPr algn="just"/>
            <a:r>
              <a:rPr lang="ru-RU" dirty="0" smtClean="0"/>
              <a:t>Если при наличии реактивных элементов схема будет устроена так, что энергия в этих элементах не изменяется, т.е. токи в индуктивностях неизменны при коммутации и напряжения на конденсаторах неизменны при коммутации то переходной процесс так же равен времени коммутации, как и в случае чисто резистивной схемы. </a:t>
            </a:r>
            <a:endParaRPr lang="en-US" dirty="0" smtClean="0"/>
          </a:p>
          <a:p>
            <a:pPr algn="just"/>
            <a:r>
              <a:rPr lang="ru-RU" dirty="0" smtClean="0"/>
              <a:t>Переходные процессы в линейных электрических цепях описываются линейными дифференциальными уравнениями. Порядок уравнения равен количеству независимых реактивных элементов, запасающих энергию. При этом для решения этих уравнений требуется задать </a:t>
            </a:r>
            <a:r>
              <a:rPr lang="ru-RU" b="1" dirty="0" smtClean="0"/>
              <a:t>начальные условия – состояние схемы до момента коммутации</a:t>
            </a:r>
            <a:r>
              <a:rPr lang="ru-RU" dirty="0" smtClean="0"/>
              <a:t>.</a:t>
            </a:r>
          </a:p>
          <a:p>
            <a:endParaRPr lang="ru-RU" dirty="0"/>
          </a:p>
        </p:txBody>
      </p:sp>
    </p:spTree>
    <p:extLst>
      <p:ext uri="{BB962C8B-B14F-4D97-AF65-F5344CB8AC3E}">
        <p14:creationId xmlns:p14="http://schemas.microsoft.com/office/powerpoint/2010/main" val="4211844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Начальные условия</a:t>
            </a:r>
            <a:endParaRPr lang="ru-RU" dirty="0"/>
          </a:p>
        </p:txBody>
      </p:sp>
      <p:sp>
        <p:nvSpPr>
          <p:cNvPr id="3" name="Объект 2"/>
          <p:cNvSpPr>
            <a:spLocks noGrp="1"/>
          </p:cNvSpPr>
          <p:nvPr>
            <p:ph idx="1"/>
          </p:nvPr>
        </p:nvSpPr>
        <p:spPr/>
        <p:txBody>
          <a:bodyPr>
            <a:normAutofit fontScale="92500" lnSpcReduction="20000"/>
          </a:bodyPr>
          <a:lstStyle/>
          <a:p>
            <a:pPr algn="just"/>
            <a:r>
              <a:rPr lang="ru-RU" dirty="0"/>
              <a:t>Если порядок дифференциального уравнения </a:t>
            </a:r>
            <a:r>
              <a:rPr lang="ru-RU" b="1" dirty="0"/>
              <a:t>выше первого</a:t>
            </a:r>
            <a:r>
              <a:rPr lang="ru-RU" dirty="0"/>
              <a:t>, т.е. независимых реактивных элементов больше одного,  требуется знать одновременно и токи и напряжения до коммутации (либо токи и их производные, или напряжения и их производные) </a:t>
            </a:r>
            <a:endParaRPr lang="ru-RU" dirty="0" smtClean="0"/>
          </a:p>
          <a:p>
            <a:pPr algn="just"/>
            <a:r>
              <a:rPr lang="ru-RU" dirty="0" smtClean="0"/>
              <a:t>Соответственно, при нахождении формы переходного процесса первый этап – определение начальных условий. Сам переходной процесс существенно зависит от начальных условий.</a:t>
            </a:r>
          </a:p>
          <a:p>
            <a:pPr algn="just"/>
            <a:endParaRPr lang="ru-RU" dirty="0"/>
          </a:p>
          <a:p>
            <a:pPr algn="just"/>
            <a:endParaRPr lang="ru-RU" dirty="0" smtClean="0"/>
          </a:p>
          <a:p>
            <a:pPr algn="just"/>
            <a:endParaRPr lang="ru-RU" dirty="0" smtClean="0"/>
          </a:p>
          <a:p>
            <a:pPr algn="just"/>
            <a:r>
              <a:rPr lang="ru-RU" b="1" i="1" dirty="0" smtClean="0"/>
              <a:t>Начальные условия определяются применением законов коммутации</a:t>
            </a:r>
            <a:r>
              <a:rPr lang="en-US" b="1" i="1" dirty="0" smtClean="0"/>
              <a:t>. </a:t>
            </a:r>
            <a:r>
              <a:rPr lang="ru-RU" b="1" i="1" dirty="0" smtClean="0"/>
              <a:t>И, конечно, применением законов Кирхгофа. </a:t>
            </a:r>
            <a:endParaRPr lang="ru-RU" b="1" i="1" dirty="0"/>
          </a:p>
          <a:p>
            <a:endParaRPr lang="ru-RU" dirty="0"/>
          </a:p>
        </p:txBody>
      </p:sp>
      <p:pic>
        <p:nvPicPr>
          <p:cNvPr id="4" name="Рисунок 3"/>
          <p:cNvPicPr>
            <a:picLocks noChangeAspect="1"/>
          </p:cNvPicPr>
          <p:nvPr/>
        </p:nvPicPr>
        <p:blipFill>
          <a:blip r:embed="rId2"/>
          <a:stretch>
            <a:fillRect/>
          </a:stretch>
        </p:blipFill>
        <p:spPr>
          <a:xfrm>
            <a:off x="8861403" y="3681349"/>
            <a:ext cx="1472231" cy="1499879"/>
          </a:xfrm>
          <a:prstGeom prst="rect">
            <a:avLst/>
          </a:prstGeom>
        </p:spPr>
      </p:pic>
    </p:spTree>
    <p:extLst>
      <p:ext uri="{BB962C8B-B14F-4D97-AF65-F5344CB8AC3E}">
        <p14:creationId xmlns:p14="http://schemas.microsoft.com/office/powerpoint/2010/main" val="2529164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Законы коммутации</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fontScale="92500" lnSpcReduction="10000"/>
              </a:bodyPr>
              <a:lstStyle/>
              <a:p>
                <a:pPr algn="just"/>
                <a:r>
                  <a:rPr lang="ru-RU" dirty="0" smtClean="0"/>
                  <a:t>Первый закон коммутации: </a:t>
                </a:r>
                <a:r>
                  <a:rPr lang="ru-RU" b="1" i="1" dirty="0" smtClean="0"/>
                  <a:t>В цепях с реактивными элементами  соблюдается принцип непрерывности во времени потокосцепления в индуктивности и электрического заряда в емкости.</a:t>
                </a:r>
              </a:p>
              <a:p>
                <a:r>
                  <a:rPr lang="ru-RU" dirty="0" smtClean="0"/>
                  <a:t>Первое означает что </a:t>
                </a:r>
                <a:r>
                  <a:rPr lang="ru-RU" b="1" i="1" dirty="0" smtClean="0"/>
                  <a:t>ток через индуктивность не может измениться мгновенно (скачком) т.е. </a:t>
                </a:r>
                <a14:m>
                  <m:oMath xmlns:m="http://schemas.openxmlformats.org/officeDocument/2006/math">
                    <m:sSub>
                      <m:sSubPr>
                        <m:ctrlPr>
                          <a:rPr lang="ru-RU" b="1" i="1" smtClean="0">
                            <a:latin typeface="Cambria Math" panose="02040503050406030204" pitchFamily="18" charset="0"/>
                          </a:rPr>
                        </m:ctrlPr>
                      </m:sSubPr>
                      <m:e>
                        <m:r>
                          <a:rPr lang="en-US" b="1" i="1" smtClean="0">
                            <a:latin typeface="Cambria Math" panose="02040503050406030204" pitchFamily="18" charset="0"/>
                          </a:rPr>
                          <m:t>𝒊</m:t>
                        </m:r>
                      </m:e>
                      <m:sub>
                        <m:r>
                          <a:rPr lang="en-US" b="1" i="1" smtClean="0">
                            <a:latin typeface="Cambria Math" panose="02040503050406030204" pitchFamily="18" charset="0"/>
                          </a:rPr>
                          <m:t>𝑳</m:t>
                        </m:r>
                      </m:sub>
                    </m:sSub>
                    <m:d>
                      <m:dPr>
                        <m:ctrlPr>
                          <a:rPr lang="en-US" b="1" i="1" smtClean="0">
                            <a:latin typeface="Cambria Math" panose="02040503050406030204" pitchFamily="18" charset="0"/>
                          </a:rPr>
                        </m:ctrlPr>
                      </m:dPr>
                      <m:e>
                        <m:r>
                          <a:rPr lang="en-US" b="1" i="1" smtClean="0">
                            <a:latin typeface="Cambria Math" panose="02040503050406030204" pitchFamily="18" charset="0"/>
                          </a:rPr>
                          <m:t>−</m:t>
                        </m:r>
                        <m:r>
                          <a:rPr lang="en-US" b="1" i="1" smtClean="0">
                            <a:latin typeface="Cambria Math" panose="02040503050406030204" pitchFamily="18" charset="0"/>
                          </a:rPr>
                          <m:t>𝟎</m:t>
                        </m:r>
                      </m:e>
                    </m:d>
                    <m:r>
                      <a:rPr lang="en-US" b="1" i="1" smtClean="0">
                        <a:latin typeface="Cambria Math" panose="02040503050406030204" pitchFamily="18" charset="0"/>
                      </a:rPr>
                      <m:t>=</m:t>
                    </m:r>
                    <m:sSub>
                      <m:sSubPr>
                        <m:ctrlPr>
                          <a:rPr lang="ru-RU" b="1" i="1">
                            <a:latin typeface="Cambria Math" panose="02040503050406030204" pitchFamily="18" charset="0"/>
                          </a:rPr>
                        </m:ctrlPr>
                      </m:sSubPr>
                      <m:e>
                        <m:r>
                          <a:rPr lang="en-US" b="1" i="1">
                            <a:latin typeface="Cambria Math" panose="02040503050406030204" pitchFamily="18" charset="0"/>
                          </a:rPr>
                          <m:t>𝒊</m:t>
                        </m:r>
                      </m:e>
                      <m:sub>
                        <m:r>
                          <a:rPr lang="en-US" b="1" i="1">
                            <a:latin typeface="Cambria Math" panose="02040503050406030204" pitchFamily="18" charset="0"/>
                          </a:rPr>
                          <m:t>𝑳</m:t>
                        </m:r>
                      </m:sub>
                    </m:sSub>
                    <m:d>
                      <m:dPr>
                        <m:ctrlPr>
                          <a:rPr lang="en-US" b="1" i="1">
                            <a:latin typeface="Cambria Math" panose="02040503050406030204" pitchFamily="18" charset="0"/>
                          </a:rPr>
                        </m:ctrlPr>
                      </m:dPr>
                      <m:e>
                        <m:r>
                          <a:rPr lang="en-US" b="1" i="1" smtClean="0">
                            <a:latin typeface="Cambria Math" panose="02040503050406030204" pitchFamily="18" charset="0"/>
                          </a:rPr>
                          <m:t>+</m:t>
                        </m:r>
                        <m:r>
                          <a:rPr lang="en-US" b="1" i="1">
                            <a:latin typeface="Cambria Math" panose="02040503050406030204" pitchFamily="18" charset="0"/>
                          </a:rPr>
                          <m:t>𝟎</m:t>
                        </m:r>
                      </m:e>
                    </m:d>
                  </m:oMath>
                </a14:m>
                <a:endParaRPr lang="ru-RU" b="1" i="1" dirty="0"/>
              </a:p>
              <a:p>
                <a:r>
                  <a:rPr lang="ru-RU" dirty="0" smtClean="0"/>
                  <a:t>Второе </a:t>
                </a:r>
                <a:r>
                  <a:rPr lang="ru-RU" dirty="0"/>
                  <a:t>означает что </a:t>
                </a:r>
                <a:r>
                  <a:rPr lang="ru-RU" b="1" i="1" dirty="0" smtClean="0"/>
                  <a:t>напряжение на емкости </a:t>
                </a:r>
                <a:r>
                  <a:rPr lang="ru-RU" b="1" i="1" dirty="0"/>
                  <a:t>не может измениться мгновенно (скачком) </a:t>
                </a:r>
                <a:r>
                  <a:rPr lang="ru-RU" b="1" i="1" dirty="0" smtClean="0"/>
                  <a:t>т.е. </a:t>
                </a:r>
                <a14:m>
                  <m:oMath xmlns:m="http://schemas.openxmlformats.org/officeDocument/2006/math">
                    <m:sSub>
                      <m:sSubPr>
                        <m:ctrlPr>
                          <a:rPr lang="ru-RU" b="1" i="1">
                            <a:latin typeface="Cambria Math" panose="02040503050406030204" pitchFamily="18" charset="0"/>
                          </a:rPr>
                        </m:ctrlPr>
                      </m:sSubPr>
                      <m:e>
                        <m:r>
                          <a:rPr lang="en-US" b="1" i="1" smtClean="0">
                            <a:latin typeface="Cambria Math" panose="02040503050406030204" pitchFamily="18" charset="0"/>
                          </a:rPr>
                          <m:t>𝑼</m:t>
                        </m:r>
                      </m:e>
                      <m:sub>
                        <m:r>
                          <a:rPr lang="en-US" b="1" i="1" smtClean="0">
                            <a:latin typeface="Cambria Math" panose="02040503050406030204" pitchFamily="18" charset="0"/>
                          </a:rPr>
                          <m:t>𝑪</m:t>
                        </m:r>
                      </m:sub>
                    </m:sSub>
                    <m:d>
                      <m:dPr>
                        <m:ctrlPr>
                          <a:rPr lang="en-US" b="1" i="1">
                            <a:latin typeface="Cambria Math" panose="02040503050406030204" pitchFamily="18" charset="0"/>
                          </a:rPr>
                        </m:ctrlPr>
                      </m:dPr>
                      <m:e>
                        <m:r>
                          <a:rPr lang="en-US" b="1" i="1">
                            <a:latin typeface="Cambria Math" panose="02040503050406030204" pitchFamily="18" charset="0"/>
                          </a:rPr>
                          <m:t>−</m:t>
                        </m:r>
                        <m:r>
                          <a:rPr lang="en-US" b="1" i="1">
                            <a:latin typeface="Cambria Math" panose="02040503050406030204" pitchFamily="18" charset="0"/>
                          </a:rPr>
                          <m:t>𝟎</m:t>
                        </m:r>
                      </m:e>
                    </m:d>
                    <m:r>
                      <a:rPr lang="en-US" b="1" i="1">
                        <a:latin typeface="Cambria Math" panose="02040503050406030204" pitchFamily="18" charset="0"/>
                      </a:rPr>
                      <m:t>=</m:t>
                    </m:r>
                    <m:sSub>
                      <m:sSubPr>
                        <m:ctrlPr>
                          <a:rPr lang="ru-RU" b="1" i="1">
                            <a:latin typeface="Cambria Math" panose="02040503050406030204" pitchFamily="18" charset="0"/>
                          </a:rPr>
                        </m:ctrlPr>
                      </m:sSubPr>
                      <m:e>
                        <m:r>
                          <a:rPr lang="en-US" b="1" i="1" smtClean="0">
                            <a:latin typeface="Cambria Math" panose="02040503050406030204" pitchFamily="18" charset="0"/>
                          </a:rPr>
                          <m:t>𝑼</m:t>
                        </m:r>
                      </m:e>
                      <m:sub>
                        <m:r>
                          <a:rPr lang="en-US" b="1" i="1" smtClean="0">
                            <a:latin typeface="Cambria Math" panose="02040503050406030204" pitchFamily="18" charset="0"/>
                          </a:rPr>
                          <m:t>𝑪</m:t>
                        </m:r>
                      </m:sub>
                    </m:sSub>
                    <m:d>
                      <m:dPr>
                        <m:ctrlPr>
                          <a:rPr lang="en-US" b="1" i="1">
                            <a:latin typeface="Cambria Math" panose="02040503050406030204" pitchFamily="18" charset="0"/>
                          </a:rPr>
                        </m:ctrlPr>
                      </m:dPr>
                      <m:e>
                        <m:r>
                          <a:rPr lang="en-US" b="1" i="1">
                            <a:latin typeface="Cambria Math" panose="02040503050406030204" pitchFamily="18" charset="0"/>
                          </a:rPr>
                          <m:t>+</m:t>
                        </m:r>
                        <m:r>
                          <a:rPr lang="en-US" b="1" i="1">
                            <a:latin typeface="Cambria Math" panose="02040503050406030204" pitchFamily="18" charset="0"/>
                          </a:rPr>
                          <m:t>𝟎</m:t>
                        </m:r>
                      </m:e>
                    </m:d>
                  </m:oMath>
                </a14:m>
                <a:endParaRPr lang="en-US" b="1" i="1" dirty="0" smtClean="0"/>
              </a:p>
              <a:p>
                <a:r>
                  <a:rPr lang="ru-RU" dirty="0" smtClean="0"/>
                  <a:t>При этом </a:t>
                </a:r>
                <a14:m>
                  <m:oMath xmlns:m="http://schemas.openxmlformats.org/officeDocument/2006/math">
                    <m:sSub>
                      <m:sSubPr>
                        <m:ctrlPr>
                          <a:rPr lang="ru-RU" b="1" i="1">
                            <a:latin typeface="Cambria Math" panose="02040503050406030204" pitchFamily="18" charset="0"/>
                          </a:rPr>
                        </m:ctrlPr>
                      </m:sSubPr>
                      <m:e>
                        <m:r>
                          <a:rPr lang="en-US" b="1" i="1">
                            <a:latin typeface="Cambria Math" panose="02040503050406030204" pitchFamily="18" charset="0"/>
                          </a:rPr>
                          <m:t>𝑼</m:t>
                        </m:r>
                      </m:e>
                      <m:sub>
                        <m:r>
                          <a:rPr lang="en-US" b="1" i="1" smtClean="0">
                            <a:latin typeface="Cambria Math" panose="02040503050406030204" pitchFamily="18" charset="0"/>
                          </a:rPr>
                          <m:t>𝑳</m:t>
                        </m:r>
                      </m:sub>
                    </m:sSub>
                    <m:r>
                      <a:rPr lang="ru-RU" b="1" i="1" smtClean="0">
                        <a:latin typeface="Cambria Math" panose="02040503050406030204" pitchFamily="18" charset="0"/>
                      </a:rPr>
                      <m:t> </m:t>
                    </m:r>
                    <m:sSub>
                      <m:sSubPr>
                        <m:ctrlPr>
                          <a:rPr lang="ru-RU" b="1" i="1">
                            <a:latin typeface="Cambria Math" panose="02040503050406030204" pitchFamily="18" charset="0"/>
                          </a:rPr>
                        </m:ctrlPr>
                      </m:sSubPr>
                      <m:e>
                        <m:r>
                          <a:rPr lang="ru-RU" b="1" i="1" smtClean="0">
                            <a:latin typeface="Cambria Math" panose="02040503050406030204" pitchFamily="18" charset="0"/>
                          </a:rPr>
                          <m:t>и </m:t>
                        </m:r>
                        <m:r>
                          <a:rPr lang="en-US" b="1" i="1">
                            <a:latin typeface="Cambria Math" panose="02040503050406030204" pitchFamily="18" charset="0"/>
                          </a:rPr>
                          <m:t>𝒊</m:t>
                        </m:r>
                      </m:e>
                      <m:sub>
                        <m:r>
                          <a:rPr lang="en-US" b="1" i="1" smtClean="0">
                            <a:latin typeface="Cambria Math" panose="02040503050406030204" pitchFamily="18" charset="0"/>
                          </a:rPr>
                          <m:t>𝑪</m:t>
                        </m:r>
                      </m:sub>
                    </m:sSub>
                  </m:oMath>
                </a14:m>
                <a:r>
                  <a:rPr lang="en-US" dirty="0" smtClean="0"/>
                  <a:t> </a:t>
                </a:r>
                <a:r>
                  <a:rPr lang="ru-RU" dirty="0" smtClean="0"/>
                  <a:t>могут мгновенно меняться.</a:t>
                </a:r>
              </a:p>
              <a:p>
                <a:r>
                  <a:rPr lang="ru-RU" dirty="0" smtClean="0"/>
                  <a:t>Эти правила можно считать </a:t>
                </a:r>
                <a:r>
                  <a:rPr lang="ru-RU" b="1" dirty="0" smtClean="0"/>
                  <a:t>выполняющимися всегда</a:t>
                </a:r>
                <a:r>
                  <a:rPr lang="ru-RU" dirty="0" smtClean="0"/>
                  <a:t>, но для идеальных элементов они не абсолютны:  </a:t>
                </a:r>
                <a:endParaRPr lang="ru-RU"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928" t="-2801" r="-986"/>
                </a:stretch>
              </a:blipFill>
            </p:spPr>
            <p:txBody>
              <a:bodyPr/>
              <a:lstStyle/>
              <a:p>
                <a:r>
                  <a:rPr lang="ru-RU">
                    <a:noFill/>
                  </a:rPr>
                  <a:t> </a:t>
                </a:r>
              </a:p>
            </p:txBody>
          </p:sp>
        </mc:Fallback>
      </mc:AlternateContent>
    </p:spTree>
    <p:extLst>
      <p:ext uri="{BB962C8B-B14F-4D97-AF65-F5344CB8AC3E}">
        <p14:creationId xmlns:p14="http://schemas.microsoft.com/office/powerpoint/2010/main" val="2245134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Законы коммутации</a:t>
            </a:r>
            <a:endParaRPr lang="ru-RU" dirty="0"/>
          </a:p>
        </p:txBody>
      </p:sp>
      <p:sp>
        <p:nvSpPr>
          <p:cNvPr id="3" name="Объект 2"/>
          <p:cNvSpPr>
            <a:spLocks noGrp="1"/>
          </p:cNvSpPr>
          <p:nvPr>
            <p:ph idx="1"/>
          </p:nvPr>
        </p:nvSpPr>
        <p:spPr/>
        <p:txBody>
          <a:bodyPr>
            <a:normAutofit fontScale="92500" lnSpcReduction="10000"/>
          </a:bodyPr>
          <a:lstStyle/>
          <a:p>
            <a:r>
              <a:rPr lang="ru-RU" dirty="0" smtClean="0"/>
              <a:t>Возможна конфигурация схемы из идеальных элементов, в которой законы коммутации будут формально нарушены:</a:t>
            </a:r>
          </a:p>
          <a:p>
            <a:endParaRPr lang="ru-RU" dirty="0"/>
          </a:p>
          <a:p>
            <a:endParaRPr lang="ru-RU" dirty="0" smtClean="0"/>
          </a:p>
          <a:p>
            <a:endParaRPr lang="ru-RU" dirty="0"/>
          </a:p>
          <a:p>
            <a:endParaRPr lang="ru-RU" dirty="0" smtClean="0"/>
          </a:p>
          <a:p>
            <a:pPr algn="just"/>
            <a:r>
              <a:rPr lang="ru-RU" dirty="0" smtClean="0"/>
              <a:t>Напряжение на конденсаторе при коммутации ключа становится Е. Пусть конденсатор до момента коммутации был разряжен. Тогда напряжение на конденсаторе скачком изменяется на Е. Но при этом от источника потребляется бесконечный большой ток в течение бесконечно малого времени. </a:t>
            </a:r>
            <a:endParaRPr lang="ru-RU" dirty="0"/>
          </a:p>
        </p:txBody>
      </p:sp>
      <p:pic>
        <p:nvPicPr>
          <p:cNvPr id="6" name="Рисунок 5"/>
          <p:cNvPicPr>
            <a:picLocks noChangeAspect="1"/>
          </p:cNvPicPr>
          <p:nvPr/>
        </p:nvPicPr>
        <p:blipFill>
          <a:blip r:embed="rId2"/>
          <a:stretch>
            <a:fillRect/>
          </a:stretch>
        </p:blipFill>
        <p:spPr>
          <a:xfrm>
            <a:off x="4773883" y="2573129"/>
            <a:ext cx="1454725" cy="1438739"/>
          </a:xfrm>
          <a:prstGeom prst="rect">
            <a:avLst/>
          </a:prstGeom>
        </p:spPr>
      </p:pic>
    </p:spTree>
    <p:extLst>
      <p:ext uri="{BB962C8B-B14F-4D97-AF65-F5344CB8AC3E}">
        <p14:creationId xmlns:p14="http://schemas.microsoft.com/office/powerpoint/2010/main" val="3417371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Законы коммутации</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fontScale="92500" lnSpcReduction="20000"/>
              </a:bodyPr>
              <a:lstStyle/>
              <a:p>
                <a:pPr marL="0" indent="0">
                  <a:buNone/>
                </a:pPr>
                <a:r>
                  <a:rPr lang="en-US" dirty="0" smtClean="0"/>
                  <a:t>		</a:t>
                </a:r>
                <a:r>
                  <a:rPr lang="ru-RU" dirty="0"/>
                  <a:t>Пусть источник идеальный и ему все равно. </a:t>
                </a:r>
                <a:endParaRPr lang="en-US" dirty="0" smtClean="0"/>
              </a:p>
              <a:p>
                <a:pPr marL="0" indent="0">
                  <a:buNone/>
                </a:pPr>
                <a:r>
                  <a:rPr lang="en-US" dirty="0"/>
                  <a:t>	</a:t>
                </a:r>
                <a:r>
                  <a:rPr lang="en-US" dirty="0" smtClean="0"/>
                  <a:t>	</a:t>
                </a:r>
                <a:r>
                  <a:rPr lang="ru-RU" dirty="0" smtClean="0"/>
                  <a:t>Найдем энергию, запасенную в </a:t>
                </a:r>
                <a:r>
                  <a:rPr lang="ru-RU" dirty="0"/>
                  <a:t>конденсаторе: </a:t>
                </a:r>
                <a:endParaRPr lang="ru-RU" dirty="0" smtClean="0"/>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𝑊</m:t>
                          </m:r>
                        </m:e>
                        <m:sub>
                          <m:r>
                            <a:rPr lang="en-US" b="0" i="1" smtClean="0">
                              <a:latin typeface="Cambria Math" panose="02040503050406030204" pitchFamily="18" charset="0"/>
                            </a:rPr>
                            <m:t>𝐶</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𝐶</m:t>
                          </m:r>
                          <m:sSup>
                            <m:sSupPr>
                              <m:ctrlPr>
                                <a:rPr lang="en-US" i="1">
                                  <a:latin typeface="Cambria Math" panose="02040503050406030204" pitchFamily="18" charset="0"/>
                                </a:rPr>
                              </m:ctrlPr>
                            </m:sSupPr>
                            <m:e>
                              <m:r>
                                <a:rPr lang="en-US" i="1">
                                  <a:latin typeface="Cambria Math" panose="02040503050406030204" pitchFamily="18" charset="0"/>
                                </a:rPr>
                                <m:t>𝐸</m:t>
                              </m:r>
                            </m:e>
                            <m:sup>
                              <m:r>
                                <a:rPr lang="en-US" i="1">
                                  <a:latin typeface="Cambria Math" panose="02040503050406030204" pitchFamily="18" charset="0"/>
                                </a:rPr>
                                <m:t>2</m:t>
                              </m:r>
                            </m:sup>
                          </m:sSup>
                        </m:num>
                        <m:den>
                          <m:r>
                            <a:rPr lang="en-US" i="1">
                              <a:latin typeface="Cambria Math" panose="02040503050406030204" pitchFamily="18" charset="0"/>
                            </a:rPr>
                            <m:t>2</m:t>
                          </m:r>
                        </m:den>
                      </m:f>
                    </m:oMath>
                  </m:oMathPara>
                </a14:m>
                <a:endParaRPr lang="en-US" dirty="0" smtClean="0"/>
              </a:p>
              <a:p>
                <a:pPr marL="0" indent="0">
                  <a:buNone/>
                </a:pPr>
                <a:r>
                  <a:rPr lang="en-US" dirty="0"/>
                  <a:t>	</a:t>
                </a:r>
                <a:r>
                  <a:rPr lang="en-US" dirty="0" smtClean="0"/>
                  <a:t>	</a:t>
                </a:r>
                <a:r>
                  <a:rPr lang="ru-RU" dirty="0" smtClean="0"/>
                  <a:t>Найдем работу, которую совершил источник по перемещению заряда </a:t>
                </a:r>
                <a:r>
                  <a:rPr lang="en-US" dirty="0" smtClean="0"/>
                  <a:t>Q=CE: </a:t>
                </a:r>
                <a:endParaRPr lang="ru-RU"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𝑊</m:t>
                          </m:r>
                        </m:e>
                        <m:sub>
                          <m:r>
                            <a:rPr lang="en-US" b="0" i="1" smtClean="0">
                              <a:latin typeface="Cambria Math" panose="02040503050406030204" pitchFamily="18" charset="0"/>
                            </a:rPr>
                            <m:t>𝐸</m:t>
                          </m:r>
                        </m:sub>
                      </m:sSub>
                      <m:r>
                        <a:rPr lang="en-US" i="1">
                          <a:latin typeface="Cambria Math" panose="02040503050406030204" pitchFamily="18" charset="0"/>
                        </a:rPr>
                        <m:t>=</m:t>
                      </m:r>
                      <m:r>
                        <a:rPr lang="en-US" b="0" i="1" smtClean="0">
                          <a:latin typeface="Cambria Math" panose="02040503050406030204" pitchFamily="18" charset="0"/>
                        </a:rPr>
                        <m:t>𝑄𝑈</m:t>
                      </m:r>
                      <m:r>
                        <a:rPr lang="en-US" b="0" i="1" smtClean="0">
                          <a:latin typeface="Cambria Math" panose="02040503050406030204" pitchFamily="18" charset="0"/>
                        </a:rPr>
                        <m:t>=</m:t>
                      </m:r>
                      <m:r>
                        <a:rPr lang="en-US" i="1">
                          <a:latin typeface="Cambria Math" panose="02040503050406030204" pitchFamily="18" charset="0"/>
                        </a:rPr>
                        <m:t>𝐶</m:t>
                      </m:r>
                      <m:sSup>
                        <m:sSupPr>
                          <m:ctrlPr>
                            <a:rPr lang="en-US" i="1">
                              <a:latin typeface="Cambria Math" panose="02040503050406030204" pitchFamily="18" charset="0"/>
                            </a:rPr>
                          </m:ctrlPr>
                        </m:sSupPr>
                        <m:e>
                          <m:r>
                            <a:rPr lang="en-US" i="1">
                              <a:latin typeface="Cambria Math" panose="02040503050406030204" pitchFamily="18" charset="0"/>
                            </a:rPr>
                            <m:t>𝐸</m:t>
                          </m:r>
                        </m:e>
                        <m:sup>
                          <m:r>
                            <a:rPr lang="en-US" i="1">
                              <a:latin typeface="Cambria Math" panose="02040503050406030204" pitchFamily="18" charset="0"/>
                            </a:rPr>
                            <m:t>2</m:t>
                          </m:r>
                        </m:sup>
                      </m:sSup>
                    </m:oMath>
                  </m:oMathPara>
                </a14:m>
                <a:endParaRPr lang="en-US" dirty="0" smtClean="0"/>
              </a:p>
              <a:p>
                <a:pPr marL="0" indent="0">
                  <a:buNone/>
                </a:pPr>
                <a:r>
                  <a:rPr lang="ru-RU" dirty="0" smtClean="0"/>
                  <a:t>Видим интересный результат: источник совершил работу, но только половина затраченной источником ЭДС энергии запасена в конденсаторе. Куда делась еще половина? Ответ: затрачена на перемещение заряда, т.е. выделилась в виде тепла, хотя элементы все идеальны.</a:t>
                </a:r>
              </a:p>
              <a:p>
                <a:endParaRPr lang="ru-RU" dirty="0"/>
              </a:p>
              <a:p>
                <a:endParaRPr lang="ru-RU" dirty="0" smtClean="0"/>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1043" t="-3501"/>
                </a:stretch>
              </a:blipFill>
            </p:spPr>
            <p:txBody>
              <a:bodyPr/>
              <a:lstStyle/>
              <a:p>
                <a:r>
                  <a:rPr lang="ru-RU">
                    <a:noFill/>
                  </a:rPr>
                  <a:t> </a:t>
                </a:r>
              </a:p>
            </p:txBody>
          </p:sp>
        </mc:Fallback>
      </mc:AlternateContent>
      <p:pic>
        <p:nvPicPr>
          <p:cNvPr id="6" name="Рисунок 5"/>
          <p:cNvPicPr>
            <a:picLocks noChangeAspect="1"/>
          </p:cNvPicPr>
          <p:nvPr/>
        </p:nvPicPr>
        <p:blipFill>
          <a:blip r:embed="rId3"/>
          <a:stretch>
            <a:fillRect/>
          </a:stretch>
        </p:blipFill>
        <p:spPr>
          <a:xfrm>
            <a:off x="884714" y="1783420"/>
            <a:ext cx="1454725" cy="1438739"/>
          </a:xfrm>
          <a:prstGeom prst="rect">
            <a:avLst/>
          </a:prstGeom>
        </p:spPr>
      </p:pic>
    </p:spTree>
    <p:extLst>
      <p:ext uri="{BB962C8B-B14F-4D97-AF65-F5344CB8AC3E}">
        <p14:creationId xmlns:p14="http://schemas.microsoft.com/office/powerpoint/2010/main" val="8848193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Законы коммутации</a:t>
            </a:r>
            <a:endParaRPr lang="ru-RU" dirty="0"/>
          </a:p>
        </p:txBody>
      </p:sp>
      <p:sp>
        <p:nvSpPr>
          <p:cNvPr id="3" name="Объект 2"/>
          <p:cNvSpPr>
            <a:spLocks noGrp="1"/>
          </p:cNvSpPr>
          <p:nvPr>
            <p:ph idx="1"/>
          </p:nvPr>
        </p:nvSpPr>
        <p:spPr/>
        <p:txBody>
          <a:bodyPr>
            <a:normAutofit fontScale="85000" lnSpcReduction="20000"/>
          </a:bodyPr>
          <a:lstStyle/>
          <a:p>
            <a:pPr marL="0" indent="0" algn="just">
              <a:buNone/>
            </a:pPr>
            <a:r>
              <a:rPr lang="ru-RU" dirty="0" smtClean="0"/>
              <a:t>Приведенный пример показывает, что для применения законов коммутации требуется </a:t>
            </a:r>
            <a:r>
              <a:rPr lang="ru-RU" b="1" i="1" dirty="0" smtClean="0"/>
              <a:t>разумная идеализация </a:t>
            </a:r>
            <a:r>
              <a:rPr lang="ru-RU" dirty="0" smtClean="0"/>
              <a:t>цепи. Т.е. как минимум стоит избегать источников от которых потребляется бесконечный ток или на которых развивается бесконечное напряжение, так как это никак не соответствует реальной жизни. </a:t>
            </a:r>
          </a:p>
          <a:p>
            <a:pPr marL="0" indent="0" algn="just">
              <a:buNone/>
            </a:pPr>
            <a:r>
              <a:rPr lang="ru-RU" dirty="0" smtClean="0"/>
              <a:t>Ток все равно ограничен, т.е. хоть и очень малое но электрическое сопротивление все же всегда есть, а если его нет, то есть другие эффекты ограничивающие ток: в сверхпроводнике потерь нет, но ток не может быть выше некоторого критического значения. </a:t>
            </a:r>
          </a:p>
          <a:p>
            <a:pPr marL="0" indent="0" algn="just">
              <a:buNone/>
            </a:pPr>
            <a:r>
              <a:rPr lang="ru-RU" dirty="0" smtClean="0"/>
              <a:t>Так же и с бесконечным напряжением. Какой бы идеальной не была изолирующая среда, всегда найдется такое напряжения, при котором возникнет слабое звено, которое вызовет электрический пробой. Например у нас идеальный вакуум, вообще нет никаких носителей заряда. Но при некоторой напряженности электрического поля эти носители просто вырвет из электродов .</a:t>
            </a:r>
            <a:endParaRPr lang="ru-RU" dirty="0"/>
          </a:p>
          <a:p>
            <a:endParaRPr lang="ru-RU" dirty="0" smtClean="0"/>
          </a:p>
        </p:txBody>
      </p:sp>
    </p:spTree>
    <p:extLst>
      <p:ext uri="{BB962C8B-B14F-4D97-AF65-F5344CB8AC3E}">
        <p14:creationId xmlns:p14="http://schemas.microsoft.com/office/powerpoint/2010/main" val="33767499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Законы коммутации</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a:bodyPr>
              <a:lstStyle/>
              <a:p>
                <a:pPr marL="0" indent="0" algn="just">
                  <a:buNone/>
                </a:pPr>
                <a:r>
                  <a:rPr lang="ru-RU" dirty="0" smtClean="0"/>
                  <a:t>Таким образом, пример стоит на самом деле представить так:</a:t>
                </a:r>
              </a:p>
              <a:p>
                <a:pPr marL="0" indent="0" algn="just">
                  <a:buNone/>
                </a:pPr>
                <a:r>
                  <a:rPr lang="ru-RU" dirty="0"/>
                  <a:t>	</a:t>
                </a:r>
                <a:r>
                  <a:rPr lang="ru-RU" dirty="0" smtClean="0"/>
                  <a:t>		При этом ток будет ограничен значением </a:t>
                </a:r>
                <a:r>
                  <a:rPr lang="en-US" dirty="0" smtClean="0"/>
                  <a:t>E/r</a:t>
                </a:r>
                <a:endParaRPr lang="ru-RU" dirty="0" smtClean="0"/>
              </a:p>
              <a:p>
                <a:pPr marL="0" indent="0" algn="just">
                  <a:buNone/>
                </a:pPr>
                <a:r>
                  <a:rPr lang="ru-RU" dirty="0"/>
                  <a:t>	</a:t>
                </a:r>
                <a:r>
                  <a:rPr lang="ru-RU" dirty="0" smtClean="0"/>
                  <a:t>		Напряжение на емкости будет равно нулю</a:t>
                </a:r>
              </a:p>
              <a:p>
                <a:pPr marL="0" indent="0" algn="just">
                  <a:buNone/>
                </a:pPr>
                <a:r>
                  <a:rPr lang="ru-RU" dirty="0"/>
                  <a:t>	</a:t>
                </a:r>
                <a:r>
                  <a:rPr lang="ru-RU" dirty="0" smtClean="0"/>
                  <a:t>		в момент коммутации и сразу после него. И на сопротивлении </a:t>
                </a:r>
                <a:r>
                  <a:rPr lang="en-US" dirty="0" smtClean="0"/>
                  <a:t>r </a:t>
                </a:r>
                <a:r>
                  <a:rPr lang="ru-RU" dirty="0" smtClean="0"/>
                  <a:t>выделится за время </a:t>
                </a:r>
                <a:r>
                  <a:rPr lang="ru-RU" dirty="0" err="1" smtClean="0"/>
                  <a:t>переходногопроцесса</a:t>
                </a:r>
                <a:r>
                  <a:rPr lang="ru-RU" dirty="0" smtClean="0"/>
                  <a:t> энергия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b="0" i="1" smtClean="0">
                            <a:latin typeface="Cambria Math" panose="02040503050406030204" pitchFamily="18" charset="0"/>
                          </a:rPr>
                          <m:t>𝑟</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𝐶</m:t>
                        </m:r>
                        <m:sSup>
                          <m:sSupPr>
                            <m:ctrlPr>
                              <a:rPr lang="en-US" i="1">
                                <a:latin typeface="Cambria Math" panose="02040503050406030204" pitchFamily="18" charset="0"/>
                              </a:rPr>
                            </m:ctrlPr>
                          </m:sSupPr>
                          <m:e>
                            <m:r>
                              <a:rPr lang="en-US" i="1">
                                <a:latin typeface="Cambria Math" panose="02040503050406030204" pitchFamily="18" charset="0"/>
                              </a:rPr>
                              <m:t>𝐸</m:t>
                            </m:r>
                          </m:e>
                          <m:sup>
                            <m:r>
                              <a:rPr lang="en-US" i="1">
                                <a:latin typeface="Cambria Math" panose="02040503050406030204" pitchFamily="18" charset="0"/>
                              </a:rPr>
                              <m:t>2</m:t>
                            </m:r>
                          </m:sup>
                        </m:sSup>
                      </m:num>
                      <m:den>
                        <m:r>
                          <a:rPr lang="en-US" i="1">
                            <a:latin typeface="Cambria Math" panose="02040503050406030204" pitchFamily="18" charset="0"/>
                          </a:rPr>
                          <m:t>2</m:t>
                        </m:r>
                      </m:den>
                    </m:f>
                  </m:oMath>
                </a14:m>
                <a:endParaRPr lang="ru-RU" dirty="0"/>
              </a:p>
              <a:p>
                <a:endParaRPr lang="ru-RU" dirty="0" smtClean="0"/>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1217" t="-2241" r="-1159"/>
                </a:stretch>
              </a:blipFill>
            </p:spPr>
            <p:txBody>
              <a:bodyPr/>
              <a:lstStyle/>
              <a:p>
                <a:r>
                  <a:rPr lang="ru-RU">
                    <a:noFill/>
                  </a:rPr>
                  <a:t> </a:t>
                </a:r>
              </a:p>
            </p:txBody>
          </p:sp>
        </mc:Fallback>
      </mc:AlternateContent>
      <p:pic>
        <p:nvPicPr>
          <p:cNvPr id="4" name="Рисунок 3"/>
          <p:cNvPicPr>
            <a:picLocks noChangeAspect="1"/>
          </p:cNvPicPr>
          <p:nvPr/>
        </p:nvPicPr>
        <p:blipFill>
          <a:blip r:embed="rId3"/>
          <a:stretch>
            <a:fillRect/>
          </a:stretch>
        </p:blipFill>
        <p:spPr>
          <a:xfrm>
            <a:off x="1012928" y="2483799"/>
            <a:ext cx="1794959" cy="1233178"/>
          </a:xfrm>
          <a:prstGeom prst="rect">
            <a:avLst/>
          </a:prstGeom>
        </p:spPr>
      </p:pic>
    </p:spTree>
    <p:extLst>
      <p:ext uri="{BB962C8B-B14F-4D97-AF65-F5344CB8AC3E}">
        <p14:creationId xmlns:p14="http://schemas.microsoft.com/office/powerpoint/2010/main" val="1016465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Законы коммутации</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a:bodyPr>
              <a:lstStyle/>
              <a:p>
                <a:pPr marL="0" indent="0" algn="just">
                  <a:buNone/>
                </a:pPr>
                <a:r>
                  <a:rPr lang="ru-RU" dirty="0" smtClean="0"/>
                  <a:t>Второй закон коммутации: </a:t>
                </a:r>
              </a:p>
              <a:p>
                <a:pPr algn="just"/>
                <a:r>
                  <a:rPr lang="ru-RU" b="1" dirty="0" smtClean="0"/>
                  <a:t>При нулевых начальных условиях (</a:t>
                </a:r>
                <a14:m>
                  <m:oMath xmlns:m="http://schemas.openxmlformats.org/officeDocument/2006/math">
                    <m:sSub>
                      <m:sSubPr>
                        <m:ctrlPr>
                          <a:rPr lang="ru-RU" b="1" i="1">
                            <a:latin typeface="Cambria Math" panose="02040503050406030204" pitchFamily="18" charset="0"/>
                          </a:rPr>
                        </m:ctrlPr>
                      </m:sSubPr>
                      <m:e>
                        <m:r>
                          <a:rPr lang="en-US" b="1" i="1">
                            <a:latin typeface="Cambria Math" panose="02040503050406030204" pitchFamily="18" charset="0"/>
                          </a:rPr>
                          <m:t>𝒊</m:t>
                        </m:r>
                      </m:e>
                      <m:sub>
                        <m:r>
                          <a:rPr lang="en-US" b="1" i="1">
                            <a:latin typeface="Cambria Math" panose="02040503050406030204" pitchFamily="18" charset="0"/>
                          </a:rPr>
                          <m:t>𝑳</m:t>
                        </m:r>
                      </m:sub>
                    </m:sSub>
                    <m:d>
                      <m:dPr>
                        <m:ctrlPr>
                          <a:rPr lang="en-US" b="1" i="1">
                            <a:latin typeface="Cambria Math" panose="02040503050406030204" pitchFamily="18" charset="0"/>
                          </a:rPr>
                        </m:ctrlPr>
                      </m:dPr>
                      <m:e>
                        <m:r>
                          <a:rPr lang="en-US" b="1" i="1">
                            <a:latin typeface="Cambria Math" panose="02040503050406030204" pitchFamily="18" charset="0"/>
                          </a:rPr>
                          <m:t>−</m:t>
                        </m:r>
                        <m:r>
                          <a:rPr lang="en-US" b="1" i="1">
                            <a:latin typeface="Cambria Math" panose="02040503050406030204" pitchFamily="18" charset="0"/>
                          </a:rPr>
                          <m:t>𝟎</m:t>
                        </m:r>
                      </m:e>
                    </m:d>
                    <m:r>
                      <a:rPr lang="en-US" b="1" i="1">
                        <a:latin typeface="Cambria Math" panose="02040503050406030204" pitchFamily="18" charset="0"/>
                      </a:rPr>
                      <m:t>=</m:t>
                    </m:r>
                    <m:sSub>
                      <m:sSubPr>
                        <m:ctrlPr>
                          <a:rPr lang="ru-RU" b="1" i="1">
                            <a:latin typeface="Cambria Math" panose="02040503050406030204" pitchFamily="18" charset="0"/>
                          </a:rPr>
                        </m:ctrlPr>
                      </m:sSubPr>
                      <m:e>
                        <m:r>
                          <a:rPr lang="en-US" b="1" i="1">
                            <a:latin typeface="Cambria Math" panose="02040503050406030204" pitchFamily="18" charset="0"/>
                          </a:rPr>
                          <m:t>𝒊</m:t>
                        </m:r>
                      </m:e>
                      <m:sub>
                        <m:r>
                          <a:rPr lang="en-US" b="1" i="1">
                            <a:latin typeface="Cambria Math" panose="02040503050406030204" pitchFamily="18" charset="0"/>
                          </a:rPr>
                          <m:t>𝑳</m:t>
                        </m:r>
                      </m:sub>
                    </m:sSub>
                    <m:d>
                      <m:dPr>
                        <m:ctrlPr>
                          <a:rPr lang="en-US" b="1" i="1">
                            <a:latin typeface="Cambria Math" panose="02040503050406030204" pitchFamily="18" charset="0"/>
                          </a:rPr>
                        </m:ctrlPr>
                      </m:dPr>
                      <m:e>
                        <m:r>
                          <a:rPr lang="en-US" b="1" i="1">
                            <a:latin typeface="Cambria Math" panose="02040503050406030204" pitchFamily="18" charset="0"/>
                          </a:rPr>
                          <m:t>+</m:t>
                        </m:r>
                        <m:r>
                          <a:rPr lang="en-US" b="1" i="1">
                            <a:latin typeface="Cambria Math" panose="02040503050406030204" pitchFamily="18" charset="0"/>
                          </a:rPr>
                          <m:t>𝟎</m:t>
                        </m:r>
                      </m:e>
                    </m:d>
                    <m:r>
                      <a:rPr lang="ru-RU" b="1" i="1" smtClean="0">
                        <a:latin typeface="Cambria Math" panose="02040503050406030204" pitchFamily="18" charset="0"/>
                      </a:rPr>
                      <m:t>=</m:t>
                    </m:r>
                    <m:r>
                      <a:rPr lang="ru-RU" b="1" i="1" smtClean="0">
                        <a:latin typeface="Cambria Math" panose="02040503050406030204" pitchFamily="18" charset="0"/>
                      </a:rPr>
                      <m:t>𝟎</m:t>
                    </m:r>
                  </m:oMath>
                </a14:m>
                <a:r>
                  <a:rPr lang="en-US" b="1" dirty="0" smtClean="0"/>
                  <a:t>, </a:t>
                </a:r>
                <a14:m>
                  <m:oMath xmlns:m="http://schemas.openxmlformats.org/officeDocument/2006/math">
                    <m:sSub>
                      <m:sSubPr>
                        <m:ctrlPr>
                          <a:rPr lang="ru-RU" b="1" i="1">
                            <a:latin typeface="Cambria Math" panose="02040503050406030204" pitchFamily="18" charset="0"/>
                          </a:rPr>
                        </m:ctrlPr>
                      </m:sSubPr>
                      <m:e>
                        <m:r>
                          <a:rPr lang="en-US" b="1" i="1">
                            <a:latin typeface="Cambria Math" panose="02040503050406030204" pitchFamily="18" charset="0"/>
                          </a:rPr>
                          <m:t>𝑼</m:t>
                        </m:r>
                      </m:e>
                      <m:sub>
                        <m:r>
                          <a:rPr lang="en-US" b="1" i="1">
                            <a:latin typeface="Cambria Math" panose="02040503050406030204" pitchFamily="18" charset="0"/>
                          </a:rPr>
                          <m:t>𝑪</m:t>
                        </m:r>
                      </m:sub>
                    </m:sSub>
                    <m:d>
                      <m:dPr>
                        <m:ctrlPr>
                          <a:rPr lang="en-US" b="1" i="1">
                            <a:latin typeface="Cambria Math" panose="02040503050406030204" pitchFamily="18" charset="0"/>
                          </a:rPr>
                        </m:ctrlPr>
                      </m:dPr>
                      <m:e>
                        <m:r>
                          <a:rPr lang="en-US" b="1" i="1">
                            <a:latin typeface="Cambria Math" panose="02040503050406030204" pitchFamily="18" charset="0"/>
                          </a:rPr>
                          <m:t>−</m:t>
                        </m:r>
                        <m:r>
                          <a:rPr lang="en-US" b="1" i="1">
                            <a:latin typeface="Cambria Math" panose="02040503050406030204" pitchFamily="18" charset="0"/>
                          </a:rPr>
                          <m:t>𝟎</m:t>
                        </m:r>
                      </m:e>
                    </m:d>
                    <m:r>
                      <a:rPr lang="en-US" b="1" i="1">
                        <a:latin typeface="Cambria Math" panose="02040503050406030204" pitchFamily="18" charset="0"/>
                      </a:rPr>
                      <m:t>=</m:t>
                    </m:r>
                    <m:sSub>
                      <m:sSubPr>
                        <m:ctrlPr>
                          <a:rPr lang="ru-RU" b="1" i="1">
                            <a:latin typeface="Cambria Math" panose="02040503050406030204" pitchFamily="18" charset="0"/>
                          </a:rPr>
                        </m:ctrlPr>
                      </m:sSubPr>
                      <m:e>
                        <m:r>
                          <a:rPr lang="en-US" b="1" i="1">
                            <a:latin typeface="Cambria Math" panose="02040503050406030204" pitchFamily="18" charset="0"/>
                          </a:rPr>
                          <m:t>𝑼</m:t>
                        </m:r>
                      </m:e>
                      <m:sub>
                        <m:r>
                          <a:rPr lang="en-US" b="1" i="1">
                            <a:latin typeface="Cambria Math" panose="02040503050406030204" pitchFamily="18" charset="0"/>
                          </a:rPr>
                          <m:t>𝑪</m:t>
                        </m:r>
                      </m:sub>
                    </m:sSub>
                    <m:d>
                      <m:dPr>
                        <m:ctrlPr>
                          <a:rPr lang="en-US" b="1" i="1">
                            <a:latin typeface="Cambria Math" panose="02040503050406030204" pitchFamily="18" charset="0"/>
                          </a:rPr>
                        </m:ctrlPr>
                      </m:dPr>
                      <m:e>
                        <m:r>
                          <a:rPr lang="en-US" b="1" i="1">
                            <a:latin typeface="Cambria Math" panose="02040503050406030204" pitchFamily="18" charset="0"/>
                          </a:rPr>
                          <m:t>+</m:t>
                        </m:r>
                        <m:r>
                          <a:rPr lang="en-US" b="1" i="1">
                            <a:latin typeface="Cambria Math" panose="02040503050406030204" pitchFamily="18" charset="0"/>
                          </a:rPr>
                          <m:t>𝟎</m:t>
                        </m:r>
                      </m:e>
                    </m:d>
                    <m:r>
                      <a:rPr lang="en-US" b="1" i="1" smtClean="0">
                        <a:latin typeface="Cambria Math" panose="02040503050406030204" pitchFamily="18" charset="0"/>
                      </a:rPr>
                      <m:t>=</m:t>
                    </m:r>
                    <m:r>
                      <a:rPr lang="en-US" b="1" i="1" smtClean="0">
                        <a:latin typeface="Cambria Math" panose="02040503050406030204" pitchFamily="18" charset="0"/>
                      </a:rPr>
                      <m:t>𝟎</m:t>
                    </m:r>
                  </m:oMath>
                </a14:m>
                <a:r>
                  <a:rPr lang="ru-RU" b="1" dirty="0" smtClean="0"/>
                  <a:t>)</a:t>
                </a:r>
                <a:r>
                  <a:rPr lang="en-US" b="1" dirty="0" smtClean="0"/>
                  <a:t> </a:t>
                </a:r>
                <a:r>
                  <a:rPr lang="ru-RU" b="1" dirty="0" smtClean="0"/>
                  <a:t>индуктивность соответствует разрыву цепи, а емкость замыканию. </a:t>
                </a:r>
              </a:p>
              <a:p>
                <a:pPr algn="just"/>
                <a:r>
                  <a:rPr lang="ru-RU" b="1" dirty="0"/>
                  <a:t>При </a:t>
                </a:r>
                <a:r>
                  <a:rPr lang="ru-RU" b="1" dirty="0" smtClean="0"/>
                  <a:t>ненулевых </a:t>
                </a:r>
                <a:r>
                  <a:rPr lang="ru-RU" b="1" dirty="0"/>
                  <a:t>начальных условиях </a:t>
                </a:r>
                <a:r>
                  <a:rPr lang="ru-RU" b="1" dirty="0" smtClean="0"/>
                  <a:t>индуктивность в момент времени +0 соответствует источнику тока </a:t>
                </a:r>
                <a14:m>
                  <m:oMath xmlns:m="http://schemas.openxmlformats.org/officeDocument/2006/math">
                    <m:sSub>
                      <m:sSubPr>
                        <m:ctrlPr>
                          <a:rPr lang="ru-RU" b="1" i="1">
                            <a:latin typeface="Cambria Math" panose="02040503050406030204" pitchFamily="18" charset="0"/>
                          </a:rPr>
                        </m:ctrlPr>
                      </m:sSubPr>
                      <m:e>
                        <m:r>
                          <a:rPr lang="en-US" b="1" i="1">
                            <a:latin typeface="Cambria Math" panose="02040503050406030204" pitchFamily="18" charset="0"/>
                          </a:rPr>
                          <m:t>𝒊</m:t>
                        </m:r>
                      </m:e>
                      <m:sub>
                        <m:r>
                          <a:rPr lang="en-US" b="1" i="1">
                            <a:latin typeface="Cambria Math" panose="02040503050406030204" pitchFamily="18" charset="0"/>
                          </a:rPr>
                          <m:t>𝑳</m:t>
                        </m:r>
                      </m:sub>
                    </m:sSub>
                    <m:d>
                      <m:dPr>
                        <m:ctrlPr>
                          <a:rPr lang="en-US" b="1" i="1">
                            <a:latin typeface="Cambria Math" panose="02040503050406030204" pitchFamily="18" charset="0"/>
                          </a:rPr>
                        </m:ctrlPr>
                      </m:dPr>
                      <m:e>
                        <m:r>
                          <a:rPr lang="en-US" b="1" i="1">
                            <a:latin typeface="Cambria Math" panose="02040503050406030204" pitchFamily="18" charset="0"/>
                          </a:rPr>
                          <m:t>−</m:t>
                        </m:r>
                        <m:r>
                          <a:rPr lang="en-US" b="1" i="1">
                            <a:latin typeface="Cambria Math" panose="02040503050406030204" pitchFamily="18" charset="0"/>
                          </a:rPr>
                          <m:t>𝟎</m:t>
                        </m:r>
                      </m:e>
                    </m:d>
                  </m:oMath>
                </a14:m>
                <a:r>
                  <a:rPr lang="en-US" b="1" dirty="0" smtClean="0"/>
                  <a:t>,</a:t>
                </a:r>
                <a:r>
                  <a:rPr lang="ru-RU" b="1" dirty="0" smtClean="0"/>
                  <a:t> а электрический конденсатор в момент 0+ соответствует источнику напряжения</a:t>
                </a:r>
                <a:r>
                  <a:rPr lang="en-US" b="1" dirty="0" smtClean="0"/>
                  <a:t> </a:t>
                </a:r>
                <a14:m>
                  <m:oMath xmlns:m="http://schemas.openxmlformats.org/officeDocument/2006/math">
                    <m:sSub>
                      <m:sSubPr>
                        <m:ctrlPr>
                          <a:rPr lang="ru-RU" b="1" i="1">
                            <a:latin typeface="Cambria Math" panose="02040503050406030204" pitchFamily="18" charset="0"/>
                          </a:rPr>
                        </m:ctrlPr>
                      </m:sSubPr>
                      <m:e>
                        <m:r>
                          <a:rPr lang="en-US" b="1" i="1">
                            <a:latin typeface="Cambria Math" panose="02040503050406030204" pitchFamily="18" charset="0"/>
                          </a:rPr>
                          <m:t>𝑼</m:t>
                        </m:r>
                      </m:e>
                      <m:sub>
                        <m:r>
                          <a:rPr lang="en-US" b="1" i="1">
                            <a:latin typeface="Cambria Math" panose="02040503050406030204" pitchFamily="18" charset="0"/>
                          </a:rPr>
                          <m:t>𝑪</m:t>
                        </m:r>
                      </m:sub>
                    </m:sSub>
                    <m:d>
                      <m:dPr>
                        <m:ctrlPr>
                          <a:rPr lang="en-US" b="1" i="1">
                            <a:latin typeface="Cambria Math" panose="02040503050406030204" pitchFamily="18" charset="0"/>
                          </a:rPr>
                        </m:ctrlPr>
                      </m:dPr>
                      <m:e>
                        <m:r>
                          <a:rPr lang="en-US" b="1" i="1">
                            <a:latin typeface="Cambria Math" panose="02040503050406030204" pitchFamily="18" charset="0"/>
                          </a:rPr>
                          <m:t>−</m:t>
                        </m:r>
                        <m:r>
                          <a:rPr lang="en-US" b="1" i="1">
                            <a:latin typeface="Cambria Math" panose="02040503050406030204" pitchFamily="18" charset="0"/>
                          </a:rPr>
                          <m:t>𝟎</m:t>
                        </m:r>
                      </m:e>
                    </m:d>
                  </m:oMath>
                </a14:m>
                <a:r>
                  <a:rPr lang="ru-RU" b="1" dirty="0" smtClean="0"/>
                  <a:t>. </a:t>
                </a:r>
                <a:endParaRPr lang="ru-RU" b="1" dirty="0"/>
              </a:p>
              <a:p>
                <a:pPr algn="just"/>
                <a:endParaRPr lang="ru-RU" b="1" dirty="0"/>
              </a:p>
              <a:p>
                <a:endParaRPr lang="ru-RU" dirty="0" smtClean="0"/>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1217" t="-2241" r="-1159"/>
                </a:stretch>
              </a:blipFill>
            </p:spPr>
            <p:txBody>
              <a:bodyPr/>
              <a:lstStyle/>
              <a:p>
                <a:r>
                  <a:rPr lang="ru-RU">
                    <a:noFill/>
                  </a:rPr>
                  <a:t> </a:t>
                </a:r>
              </a:p>
            </p:txBody>
          </p:sp>
        </mc:Fallback>
      </mc:AlternateContent>
    </p:spTree>
    <p:extLst>
      <p:ext uri="{BB962C8B-B14F-4D97-AF65-F5344CB8AC3E}">
        <p14:creationId xmlns:p14="http://schemas.microsoft.com/office/powerpoint/2010/main" val="5542433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Законы коммутации. Пример </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a:bodyPr>
              <a:lstStyle/>
              <a:p>
                <a:pPr marL="0" indent="0">
                  <a:buNone/>
                </a:pPr>
                <a:r>
                  <a:rPr lang="ru-RU" dirty="0" smtClean="0">
                    <a:latin typeface="Cambria Math" panose="02040503050406030204" pitchFamily="18" charset="0"/>
                  </a:rPr>
                  <a:t>			Дано: </a:t>
                </a:r>
                <a:r>
                  <a:rPr lang="en-US" dirty="0" smtClean="0">
                    <a:latin typeface="Cambria Math" panose="02040503050406030204" pitchFamily="18" charset="0"/>
                  </a:rPr>
                  <a:t>R1, R2, L, C, E</a:t>
                </a:r>
              </a:p>
              <a:p>
                <a:pPr marL="0" indent="0">
                  <a:buNone/>
                </a:pPr>
                <a:r>
                  <a:rPr lang="en-US" dirty="0">
                    <a:latin typeface="Cambria Math" panose="02040503050406030204" pitchFamily="18" charset="0"/>
                  </a:rPr>
                  <a:t>	</a:t>
                </a:r>
                <a:r>
                  <a:rPr lang="en-US" dirty="0" smtClean="0">
                    <a:latin typeface="Cambria Math" panose="02040503050406030204" pitchFamily="18" charset="0"/>
                  </a:rPr>
                  <a:t>		</a:t>
                </a:r>
                <a:r>
                  <a:rPr lang="ru-RU" dirty="0" smtClean="0">
                    <a:latin typeface="Cambria Math" panose="02040503050406030204" pitchFamily="18" charset="0"/>
                  </a:rPr>
                  <a:t>Определить</a:t>
                </a:r>
                <a14:m>
                  <m:oMath xmlns:m="http://schemas.openxmlformats.org/officeDocument/2006/math">
                    <m:sSub>
                      <m:sSubPr>
                        <m:ctrlPr>
                          <a:rPr lang="en-US" b="0" i="1" smtClean="0">
                            <a:latin typeface="Cambria Math" panose="02040503050406030204" pitchFamily="18" charset="0"/>
                          </a:rPr>
                        </m:ctrlPr>
                      </m:sSubPr>
                      <m:e>
                        <m:r>
                          <m:rPr>
                            <m:nor/>
                          </m:rPr>
                          <a:rPr lang="ru-RU" dirty="0">
                            <a:latin typeface="Cambria Math" panose="02040503050406030204" pitchFamily="18" charset="0"/>
                          </a:rPr>
                          <m:t>:</m:t>
                        </m:r>
                        <m:r>
                          <m:rPr>
                            <m:nor/>
                          </m:rPr>
                          <a:rPr lang="en-US" b="0" i="0" dirty="0" smtClean="0">
                            <a:latin typeface="Cambria Math" panose="02040503050406030204" pitchFamily="18" charset="0"/>
                          </a:rPr>
                          <m:t> 1)</m:t>
                        </m:r>
                        <m:r>
                          <m:rPr>
                            <m:nor/>
                          </m:rPr>
                          <a:rPr lang="ru-RU" dirty="0">
                            <a:latin typeface="Cambria Math" panose="02040503050406030204" pitchFamily="18" charset="0"/>
                          </a:rPr>
                          <m:t> </m:t>
                        </m:r>
                        <m:r>
                          <a:rPr lang="en-US" i="1">
                            <a:latin typeface="Cambria Math" panose="02040503050406030204" pitchFamily="18" charset="0"/>
                          </a:rPr>
                          <m:t>𝑖</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3</m:t>
                        </m:r>
                      </m:sub>
                    </m:sSub>
                    <m:r>
                      <a:rPr lang="en-US" b="0" i="1" smtClean="0">
                        <a:latin typeface="Cambria Math" panose="02040503050406030204" pitchFamily="18" charset="0"/>
                      </a:rPr>
                      <m:t>: </m:t>
                    </m:r>
                    <m:r>
                      <a:rPr lang="en-US" b="0" i="1" smtClean="0">
                        <a:latin typeface="Cambria Math" panose="02040503050406030204" pitchFamily="18" charset="0"/>
                      </a:rPr>
                      <m:t>𝑡</m:t>
                    </m:r>
                    <m:r>
                      <a:rPr lang="en-US" b="0" i="1" smtClean="0">
                        <a:latin typeface="Cambria Math" panose="02040503050406030204" pitchFamily="18" charset="0"/>
                      </a:rPr>
                      <m:t>=+0</m:t>
                    </m:r>
                  </m:oMath>
                </a14:m>
                <a:endParaRPr lang="en-US" b="0" dirty="0" smtClean="0">
                  <a:latin typeface="Cambria Math" panose="02040503050406030204" pitchFamily="18" charset="0"/>
                </a:endParaRPr>
              </a:p>
              <a:p>
                <a:pPr marL="0" indent="0">
                  <a:buNone/>
                </a:pPr>
                <a:r>
                  <a:rPr lang="en-US" dirty="0">
                    <a:latin typeface="Cambria Math" panose="02040503050406030204" pitchFamily="18" charset="0"/>
                  </a:rPr>
                  <a:t>	</a:t>
                </a:r>
                <a:r>
                  <a:rPr lang="en-US" dirty="0" smtClean="0">
                    <a:latin typeface="Cambria Math" panose="02040503050406030204" pitchFamily="18" charset="0"/>
                  </a:rPr>
                  <a:t>				   2)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𝑖</m:t>
                            </m:r>
                          </m:sub>
                        </m:sSub>
                      </m:num>
                      <m:den>
                        <m:r>
                          <a:rPr lang="en-US" b="0" i="1" smtClean="0">
                            <a:latin typeface="Cambria Math" panose="02040503050406030204" pitchFamily="18" charset="0"/>
                          </a:rPr>
                          <m:t>𝑑𝑡</m:t>
                        </m:r>
                      </m:den>
                    </m:f>
                    <m:r>
                      <a:rPr lang="en-US" b="0" i="1" smtClean="0">
                        <a:latin typeface="Cambria Math" panose="02040503050406030204" pitchFamily="18" charset="0"/>
                      </a:rPr>
                      <m:t>(0+)</m:t>
                    </m:r>
                  </m:oMath>
                </a14:m>
                <a:r>
                  <a:rPr lang="en-US" dirty="0" smtClean="0">
                    <a:latin typeface="Cambria Math" panose="02040503050406030204" pitchFamily="18" charset="0"/>
                  </a:rPr>
                  <a:t>	</a:t>
                </a:r>
                <a:endParaRPr lang="en-US" b="0" dirty="0" smtClean="0">
                  <a:latin typeface="Cambria Math" panose="02040503050406030204" pitchFamily="18" charset="0"/>
                </a:endParaRPr>
              </a:p>
              <a:p>
                <a:pPr marL="0" indent="0">
                  <a:buNone/>
                </a:pPr>
                <a:r>
                  <a:rPr lang="en-US" dirty="0" smtClean="0">
                    <a:latin typeface="Cambria Math" panose="02040503050406030204" pitchFamily="18" charset="0"/>
                  </a:rPr>
                  <a:t>			</a:t>
                </a:r>
                <a:r>
                  <a:rPr lang="ru-RU" dirty="0" smtClean="0">
                    <a:latin typeface="Cambria Math" panose="02040503050406030204" pitchFamily="18" charset="0"/>
                  </a:rPr>
                  <a:t>Видим 2 независимых реактивных элемента: 2 независимых условия для уравнения 2 порядка.</a:t>
                </a:r>
                <a:endParaRPr lang="ru-RU" dirty="0">
                  <a:latin typeface="Cambria Math" panose="02040503050406030204" pitchFamily="18" charset="0"/>
                </a:endParaRPr>
              </a:p>
              <a:p>
                <a14:m>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=−0: </m:t>
                    </m:r>
                    <m:d>
                      <m:dPr>
                        <m:begChr m:val="{"/>
                        <m:endChr m:val=""/>
                        <m:ctrlPr>
                          <a:rPr lang="ru-RU" i="1" smtClean="0">
                            <a:latin typeface="Cambria Math" panose="02040503050406030204" pitchFamily="18" charset="0"/>
                          </a:rPr>
                        </m:ctrlPr>
                      </m:dPr>
                      <m:e>
                        <m:eqArr>
                          <m:eqArrPr>
                            <m:ctrlPr>
                              <a:rPr lang="ru-RU" i="1" smtClean="0">
                                <a:latin typeface="Cambria Math" panose="02040503050406030204" pitchFamily="18" charset="0"/>
                              </a:rPr>
                            </m:ctrlPr>
                          </m:eqArrPr>
                          <m:e>
                            <m:sSub>
                              <m:sSubPr>
                                <m:ctrlPr>
                                  <a:rPr lang="ru-RU"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𝐸</m:t>
                                </m:r>
                              </m:num>
                              <m:den>
                                <m:r>
                                  <a:rPr lang="en-US" b="0" i="1" smtClean="0">
                                    <a:latin typeface="Cambria Math" panose="02040503050406030204" pitchFamily="18" charset="0"/>
                                  </a:rPr>
                                  <m:t>𝑅</m:t>
                                </m:r>
                                <m:r>
                                  <a:rPr lang="en-US" b="0" i="1" smtClean="0">
                                    <a:latin typeface="Cambria Math" panose="02040503050406030204" pitchFamily="18" charset="0"/>
                                  </a:rPr>
                                  <m:t>1+</m:t>
                                </m:r>
                                <m:r>
                                  <a:rPr lang="en-US" b="0" i="1" smtClean="0">
                                    <a:latin typeface="Cambria Math" panose="02040503050406030204" pitchFamily="18" charset="0"/>
                                  </a:rPr>
                                  <m:t>𝑅</m:t>
                                </m:r>
                                <m:r>
                                  <a:rPr lang="en-US" b="0" i="1" smtClean="0">
                                    <a:latin typeface="Cambria Math" panose="02040503050406030204" pitchFamily="18" charset="0"/>
                                  </a:rPr>
                                  <m:t>2</m:t>
                                </m:r>
                              </m:den>
                            </m:f>
                            <m:r>
                              <a:rPr lang="en-US" b="0" i="1" smtClean="0">
                                <a:latin typeface="Cambria Math" panose="02040503050406030204" pitchFamily="18" charset="0"/>
                              </a:rPr>
                              <m:t>=</m:t>
                            </m:r>
                            <m:sSub>
                              <m:sSubPr>
                                <m:ctrlPr>
                                  <a:rPr lang="ru-RU" i="1">
                                    <a:latin typeface="Cambria Math" panose="02040503050406030204" pitchFamily="18" charset="0"/>
                                  </a:rPr>
                                </m:ctrlPr>
                              </m:sSubPr>
                              <m:e>
                                <m:r>
                                  <a:rPr lang="en-US" i="1">
                                    <a:latin typeface="Cambria Math" panose="02040503050406030204" pitchFamily="18" charset="0"/>
                                  </a:rPr>
                                  <m:t>𝑖</m:t>
                                </m:r>
                              </m:e>
                              <m:sub>
                                <m:r>
                                  <a:rPr lang="en-US" b="0" i="1" smtClean="0">
                                    <a:latin typeface="Cambria Math" panose="02040503050406030204" pitchFamily="18" charset="0"/>
                                  </a:rPr>
                                  <m:t>2</m:t>
                                </m:r>
                              </m:sub>
                            </m:sSub>
                            <m:d>
                              <m:dPr>
                                <m:ctrlPr>
                                  <a:rPr lang="en-US" i="1">
                                    <a:latin typeface="Cambria Math" panose="02040503050406030204" pitchFamily="18" charset="0"/>
                                  </a:rPr>
                                </m:ctrlPr>
                              </m:dPr>
                              <m:e>
                                <m:r>
                                  <a:rPr lang="en-US" i="1">
                                    <a:latin typeface="Cambria Math" panose="02040503050406030204" pitchFamily="18" charset="0"/>
                                  </a:rPr>
                                  <m:t>−0</m:t>
                                </m:r>
                              </m:e>
                            </m:d>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𝑐</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=0                          </m:t>
                            </m:r>
                          </m:e>
                        </m:eqArr>
                      </m:e>
                    </m:d>
                  </m:oMath>
                </a14:m>
                <a:endParaRPr lang="en-US" dirty="0" smtClean="0"/>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1217" t="-2381" r="-1913"/>
                </a:stretch>
              </a:blipFill>
            </p:spPr>
            <p:txBody>
              <a:bodyPr/>
              <a:lstStyle/>
              <a:p>
                <a:r>
                  <a:rPr lang="ru-RU">
                    <a:noFill/>
                  </a:rPr>
                  <a:t> </a:t>
                </a:r>
              </a:p>
            </p:txBody>
          </p:sp>
        </mc:Fallback>
      </mc:AlternateContent>
      <p:pic>
        <p:nvPicPr>
          <p:cNvPr id="4" name="Рисунок 3"/>
          <p:cNvPicPr>
            <a:picLocks noChangeAspect="1"/>
          </p:cNvPicPr>
          <p:nvPr/>
        </p:nvPicPr>
        <p:blipFill>
          <a:blip r:embed="rId3"/>
          <a:stretch>
            <a:fillRect/>
          </a:stretch>
        </p:blipFill>
        <p:spPr>
          <a:xfrm>
            <a:off x="790698" y="1690688"/>
            <a:ext cx="2029753" cy="1621078"/>
          </a:xfrm>
          <a:prstGeom prst="rect">
            <a:avLst/>
          </a:prstGeom>
        </p:spPr>
      </p:pic>
    </p:spTree>
    <p:extLst>
      <p:ext uri="{BB962C8B-B14F-4D97-AF65-F5344CB8AC3E}">
        <p14:creationId xmlns:p14="http://schemas.microsoft.com/office/powerpoint/2010/main" val="30331364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Законы коммутации. Пример </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lnSpcReduction="10000"/>
              </a:bodyPr>
              <a:lstStyle/>
              <a:p>
                <a:pPr marL="0" indent="0">
                  <a:buNone/>
                </a:pPr>
                <a:r>
                  <a:rPr lang="ru-RU" dirty="0" smtClean="0">
                    <a:latin typeface="Cambria Math" panose="02040503050406030204" pitchFamily="18" charset="0"/>
                  </a:rPr>
                  <a:t>Первый момент после коммутации </a:t>
                </a:r>
              </a:p>
              <a:p>
                <a:pPr marL="0" indent="0">
                  <a:buNone/>
                </a:pPr>
                <a:r>
                  <a:rPr lang="ru-RU" dirty="0">
                    <a:latin typeface="Cambria Math" panose="02040503050406030204" pitchFamily="18" charset="0"/>
                  </a:rPr>
                  <a:t>	</a:t>
                </a:r>
                <a:r>
                  <a:rPr lang="ru-RU" dirty="0" smtClean="0">
                    <a:latin typeface="Cambria Math" panose="02040503050406030204" pitchFamily="18" charset="0"/>
                  </a:rPr>
                  <a:t>		</a:t>
                </a:r>
                <a14:m>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=+0: </m:t>
                    </m:r>
                    <m:d>
                      <m:dPr>
                        <m:begChr m:val="{"/>
                        <m:endChr m:val=""/>
                        <m:ctrlPr>
                          <a:rPr lang="ru-RU" i="1" smtClean="0">
                            <a:latin typeface="Cambria Math" panose="02040503050406030204" pitchFamily="18" charset="0"/>
                          </a:rPr>
                        </m:ctrlPr>
                      </m:dPr>
                      <m:e>
                        <m:eqArr>
                          <m:eqArrPr>
                            <m:ctrlPr>
                              <a:rPr lang="ru-RU" i="1" smtClean="0">
                                <a:latin typeface="Cambria Math" panose="02040503050406030204" pitchFamily="18" charset="0"/>
                              </a:rPr>
                            </m:ctrlPr>
                          </m:eqArrPr>
                          <m:e>
                            <m:eqArr>
                              <m:eqArrPr>
                                <m:ctrlPr>
                                  <a:rPr lang="ru-RU" i="1" smtClean="0">
                                    <a:latin typeface="Cambria Math" panose="02040503050406030204" pitchFamily="18" charset="0"/>
                                  </a:rPr>
                                </m:ctrlPr>
                              </m:eqArrPr>
                              <m:e>
                                <m:sSub>
                                  <m:sSubPr>
                                    <m:ctrlPr>
                                      <a:rPr lang="ru-RU"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ru-RU" b="0" i="1" smtClean="0">
                                        <a:latin typeface="Cambria Math" panose="02040503050406030204" pitchFamily="18" charset="0"/>
                                      </a:rPr>
                                      <m:t>+</m:t>
                                    </m:r>
                                    <m:r>
                                      <a:rPr lang="en-US" b="0" i="1" smtClean="0">
                                        <a:latin typeface="Cambria Math" panose="02040503050406030204" pitchFamily="18" charset="0"/>
                                      </a:rPr>
                                      <m:t>0</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𝐸</m:t>
                                    </m:r>
                                  </m:num>
                                  <m:den>
                                    <m:r>
                                      <a:rPr lang="en-US" b="0" i="1" smtClean="0">
                                        <a:latin typeface="Cambria Math" panose="02040503050406030204" pitchFamily="18" charset="0"/>
                                      </a:rPr>
                                      <m:t>𝑅</m:t>
                                    </m:r>
                                    <m:r>
                                      <a:rPr lang="en-US" b="0" i="1" smtClean="0">
                                        <a:latin typeface="Cambria Math" panose="02040503050406030204" pitchFamily="18" charset="0"/>
                                      </a:rPr>
                                      <m:t>1</m:t>
                                    </m:r>
                                  </m:den>
                                </m:f>
                                <m:r>
                                  <a:rPr lang="en-US" b="0" i="1" smtClean="0">
                                    <a:latin typeface="Cambria Math" panose="02040503050406030204" pitchFamily="18" charset="0"/>
                                  </a:rPr>
                                  <m:t>                          </m:t>
                                </m:r>
                              </m:e>
                              <m:e>
                                <m:sSub>
                                  <m:sSubPr>
                                    <m:ctrlPr>
                                      <a:rPr lang="ru-RU" i="1">
                                        <a:latin typeface="Cambria Math" panose="02040503050406030204" pitchFamily="18" charset="0"/>
                                      </a:rPr>
                                    </m:ctrlPr>
                                  </m:sSubPr>
                                  <m:e>
                                    <m:r>
                                      <a:rPr lang="en-US" i="1">
                                        <a:latin typeface="Cambria Math" panose="02040503050406030204" pitchFamily="18" charset="0"/>
                                      </a:rPr>
                                      <m:t>𝑖</m:t>
                                    </m:r>
                                  </m:e>
                                  <m:sub>
                                    <m:r>
                                      <a:rPr lang="en-US" b="0" i="1" smtClean="0">
                                        <a:latin typeface="Cambria Math" panose="02040503050406030204" pitchFamily="18" charset="0"/>
                                      </a:rPr>
                                      <m:t>2</m:t>
                                    </m:r>
                                  </m:sub>
                                </m:sSub>
                                <m:d>
                                  <m:dPr>
                                    <m:ctrlPr>
                                      <a:rPr lang="en-US" i="1">
                                        <a:latin typeface="Cambria Math" panose="02040503050406030204" pitchFamily="18" charset="0"/>
                                      </a:rPr>
                                    </m:ctrlPr>
                                  </m:dPr>
                                  <m:e>
                                    <m:r>
                                      <a:rPr lang="ru-RU" b="0" i="1" smtClean="0">
                                        <a:latin typeface="Cambria Math" panose="02040503050406030204" pitchFamily="18" charset="0"/>
                                      </a:rPr>
                                      <m:t>+</m:t>
                                    </m:r>
                                    <m:r>
                                      <a:rPr lang="en-US" i="1">
                                        <a:latin typeface="Cambria Math" panose="02040503050406030204" pitchFamily="18" charset="0"/>
                                      </a:rPr>
                                      <m:t>0</m:t>
                                    </m:r>
                                  </m:e>
                                </m:d>
                                <m:r>
                                  <a:rPr lang="ru-RU" b="0" i="1" smtClean="0">
                                    <a:latin typeface="Cambria Math" panose="02040503050406030204" pitchFamily="18" charset="0"/>
                                  </a:rPr>
                                  <m:t>=</m:t>
                                </m:r>
                                <m:sSub>
                                  <m:sSubPr>
                                    <m:ctrlPr>
                                      <a:rPr lang="ru-RU" i="1">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2</m:t>
                                    </m:r>
                                  </m:sub>
                                </m:sSub>
                                <m:d>
                                  <m:dPr>
                                    <m:ctrlPr>
                                      <a:rPr lang="en-US" i="1">
                                        <a:latin typeface="Cambria Math" panose="02040503050406030204" pitchFamily="18" charset="0"/>
                                      </a:rPr>
                                    </m:ctrlPr>
                                  </m:dPr>
                                  <m:e>
                                    <m:r>
                                      <a:rPr lang="ru-RU" b="0" i="1" smtClean="0">
                                        <a:latin typeface="Cambria Math" panose="02040503050406030204" pitchFamily="18" charset="0"/>
                                      </a:rPr>
                                      <m:t>−</m:t>
                                    </m:r>
                                    <m:r>
                                      <a:rPr lang="en-US" i="1">
                                        <a:latin typeface="Cambria Math" panose="02040503050406030204" pitchFamily="18" charset="0"/>
                                      </a:rPr>
                                      <m:t>0</m:t>
                                    </m:r>
                                  </m:e>
                                </m:d>
                                <m:r>
                                  <a:rPr lang="ru-RU"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𝐸</m:t>
                                    </m:r>
                                  </m:num>
                                  <m:den>
                                    <m:r>
                                      <a:rPr lang="en-US" i="1">
                                        <a:latin typeface="Cambria Math" panose="02040503050406030204" pitchFamily="18" charset="0"/>
                                      </a:rPr>
                                      <m:t>𝑅</m:t>
                                    </m:r>
                                    <m:r>
                                      <a:rPr lang="en-US" i="1">
                                        <a:latin typeface="Cambria Math" panose="02040503050406030204" pitchFamily="18" charset="0"/>
                                      </a:rPr>
                                      <m:t>1+</m:t>
                                    </m:r>
                                    <m:r>
                                      <a:rPr lang="en-US" b="0" i="1" smtClean="0">
                                        <a:latin typeface="Cambria Math" panose="02040503050406030204" pitchFamily="18" charset="0"/>
                                      </a:rPr>
                                      <m:t>𝑅</m:t>
                                    </m:r>
                                    <m:r>
                                      <a:rPr lang="en-US" b="0" i="1" smtClean="0">
                                        <a:latin typeface="Cambria Math" panose="02040503050406030204" pitchFamily="18" charset="0"/>
                                      </a:rPr>
                                      <m:t>2</m:t>
                                    </m:r>
                                  </m:den>
                                </m:f>
                              </m:e>
                            </m:eqArr>
                            <m:r>
                              <a:rPr lang="en-US" b="0" i="1" smtClean="0">
                                <a:latin typeface="Cambria Math" panose="02040503050406030204" pitchFamily="18" charset="0"/>
                              </a:rPr>
                              <m:t>                          </m:t>
                            </m:r>
                          </m:e>
                          <m:e>
                            <m:sSub>
                              <m:sSubPr>
                                <m:ctrlPr>
                                  <a:rPr lang="ru-RU" i="1">
                                    <a:latin typeface="Cambria Math" panose="02040503050406030204" pitchFamily="18" charset="0"/>
                                  </a:rPr>
                                </m:ctrlPr>
                              </m:sSubPr>
                              <m:e>
                                <m:r>
                                  <a:rPr lang="en-US" i="1">
                                    <a:latin typeface="Cambria Math" panose="02040503050406030204" pitchFamily="18" charset="0"/>
                                  </a:rPr>
                                  <m:t>𝑖</m:t>
                                </m:r>
                              </m:e>
                              <m:sub>
                                <m:r>
                                  <a:rPr lang="en-US" b="0" i="1" smtClean="0">
                                    <a:latin typeface="Cambria Math" panose="02040503050406030204" pitchFamily="18" charset="0"/>
                                  </a:rPr>
                                  <m:t>3</m:t>
                                </m:r>
                              </m:sub>
                            </m:sSub>
                            <m:d>
                              <m:dPr>
                                <m:ctrlPr>
                                  <a:rPr lang="en-US" i="1">
                                    <a:latin typeface="Cambria Math" panose="02040503050406030204" pitchFamily="18" charset="0"/>
                                  </a:rPr>
                                </m:ctrlPr>
                              </m:dPr>
                              <m:e>
                                <m:r>
                                  <a:rPr lang="ru-RU" i="1">
                                    <a:latin typeface="Cambria Math" panose="02040503050406030204" pitchFamily="18" charset="0"/>
                                  </a:rPr>
                                  <m:t>+</m:t>
                                </m:r>
                                <m:r>
                                  <a:rPr lang="en-US" i="1">
                                    <a:latin typeface="Cambria Math" panose="02040503050406030204" pitchFamily="18" charset="0"/>
                                  </a:rPr>
                                  <m:t>0</m:t>
                                </m:r>
                              </m:e>
                            </m:d>
                            <m:r>
                              <a:rPr lang="ru-RU" i="1">
                                <a:latin typeface="Cambria Math" panose="02040503050406030204" pitchFamily="18" charset="0"/>
                              </a:rPr>
                              <m:t>=</m:t>
                            </m:r>
                            <m:sSub>
                              <m:sSubPr>
                                <m:ctrlPr>
                                  <a:rPr lang="ru-RU" i="1">
                                    <a:latin typeface="Cambria Math" panose="02040503050406030204" pitchFamily="18" charset="0"/>
                                  </a:rPr>
                                </m:ctrlPr>
                              </m:sSubPr>
                              <m:e>
                                <m:r>
                                  <a:rPr lang="en-US" i="1">
                                    <a:latin typeface="Cambria Math" panose="02040503050406030204" pitchFamily="18" charset="0"/>
                                  </a:rPr>
                                  <m:t>𝑖</m:t>
                                </m:r>
                              </m:e>
                              <m:sub>
                                <m:r>
                                  <a:rPr lang="en-US" b="0" i="1" smtClean="0">
                                    <a:latin typeface="Cambria Math" panose="02040503050406030204" pitchFamily="18" charset="0"/>
                                  </a:rPr>
                                  <m:t>1</m:t>
                                </m:r>
                              </m:sub>
                            </m:sSub>
                            <m:d>
                              <m:dPr>
                                <m:ctrlPr>
                                  <a:rPr lang="en-US" i="1">
                                    <a:latin typeface="Cambria Math" panose="02040503050406030204" pitchFamily="18" charset="0"/>
                                  </a:rPr>
                                </m:ctrlPr>
                              </m:dPr>
                              <m:e>
                                <m:r>
                                  <a:rPr lang="en-US" b="0" i="1" smtClean="0">
                                    <a:latin typeface="Cambria Math" panose="02040503050406030204" pitchFamily="18" charset="0"/>
                                  </a:rPr>
                                  <m:t>+</m:t>
                                </m:r>
                                <m:r>
                                  <a:rPr lang="en-US" i="1">
                                    <a:latin typeface="Cambria Math" panose="02040503050406030204" pitchFamily="18" charset="0"/>
                                  </a:rPr>
                                  <m:t>0</m:t>
                                </m:r>
                              </m:e>
                            </m:d>
                            <m:r>
                              <a:rPr lang="en-US" b="0" i="1" smtClean="0">
                                <a:latin typeface="Cambria Math" panose="02040503050406030204" pitchFamily="18" charset="0"/>
                              </a:rPr>
                              <m:t>−</m:t>
                            </m:r>
                            <m:sSub>
                              <m:sSubPr>
                                <m:ctrlPr>
                                  <a:rPr lang="ru-RU" i="1">
                                    <a:latin typeface="Cambria Math" panose="02040503050406030204" pitchFamily="18" charset="0"/>
                                  </a:rPr>
                                </m:ctrlPr>
                              </m:sSubPr>
                              <m:e>
                                <m:r>
                                  <a:rPr lang="en-US" i="1">
                                    <a:latin typeface="Cambria Math" panose="02040503050406030204" pitchFamily="18" charset="0"/>
                                  </a:rPr>
                                  <m:t>𝑖</m:t>
                                </m:r>
                              </m:e>
                              <m:sub>
                                <m:r>
                                  <a:rPr lang="en-US" b="0" i="1" smtClean="0">
                                    <a:latin typeface="Cambria Math" panose="02040503050406030204" pitchFamily="18" charset="0"/>
                                  </a:rPr>
                                  <m:t>2</m:t>
                                </m:r>
                              </m:sub>
                            </m:sSub>
                            <m:d>
                              <m:dPr>
                                <m:ctrlPr>
                                  <a:rPr lang="en-US" i="1">
                                    <a:latin typeface="Cambria Math" panose="02040503050406030204" pitchFamily="18" charset="0"/>
                                  </a:rPr>
                                </m:ctrlPr>
                              </m:dPr>
                              <m:e>
                                <m:r>
                                  <a:rPr lang="en-US" i="1">
                                    <a:latin typeface="Cambria Math" panose="02040503050406030204" pitchFamily="18" charset="0"/>
                                  </a:rPr>
                                  <m:t>+0</m:t>
                                </m:r>
                              </m:e>
                            </m:d>
                            <m:r>
                              <a:rPr lang="ru-RU" i="1">
                                <a:latin typeface="Cambria Math" panose="02040503050406030204" pitchFamily="18" charset="0"/>
                              </a:rPr>
                              <m:t>=</m:t>
                            </m:r>
                            <m:f>
                              <m:fPr>
                                <m:ctrlPr>
                                  <a:rPr lang="en-US" i="1">
                                    <a:latin typeface="Cambria Math" panose="02040503050406030204" pitchFamily="18" charset="0"/>
                                  </a:rPr>
                                </m:ctrlPr>
                              </m:fPr>
                              <m:num>
                                <m:r>
                                  <a:rPr lang="en-US" i="1" smtClean="0">
                                    <a:latin typeface="Cambria Math" panose="02040503050406030204" pitchFamily="18" charset="0"/>
                                  </a:rPr>
                                  <m:t>𝐸</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2</m:t>
                                </m:r>
                              </m:num>
                              <m:den>
                                <m:r>
                                  <a:rPr lang="en-US" b="0" i="1" smtClean="0">
                                    <a:latin typeface="Cambria Math" panose="02040503050406030204" pitchFamily="18" charset="0"/>
                                  </a:rPr>
                                  <m:t>𝑅</m:t>
                                </m:r>
                                <m:r>
                                  <a:rPr lang="en-US" b="0" i="1" smtClean="0">
                                    <a:latin typeface="Cambria Math" panose="02040503050406030204" pitchFamily="18" charset="0"/>
                                  </a:rPr>
                                  <m:t>1(</m:t>
                                </m:r>
                                <m:r>
                                  <a:rPr lang="en-US" i="1">
                                    <a:latin typeface="Cambria Math" panose="02040503050406030204" pitchFamily="18" charset="0"/>
                                  </a:rPr>
                                  <m:t>𝑅</m:t>
                                </m:r>
                                <m:r>
                                  <a:rPr lang="en-US" i="1">
                                    <a:latin typeface="Cambria Math" panose="02040503050406030204" pitchFamily="18" charset="0"/>
                                  </a:rPr>
                                  <m:t>1+</m:t>
                                </m:r>
                                <m:r>
                                  <a:rPr lang="en-US" i="1">
                                    <a:latin typeface="Cambria Math" panose="02040503050406030204" pitchFamily="18" charset="0"/>
                                  </a:rPr>
                                  <m:t>𝑅</m:t>
                                </m:r>
                                <m:r>
                                  <a:rPr lang="en-US" i="1">
                                    <a:latin typeface="Cambria Math" panose="02040503050406030204" pitchFamily="18" charset="0"/>
                                  </a:rPr>
                                  <m:t>2)</m:t>
                                </m:r>
                              </m:den>
                            </m:f>
                          </m:e>
                        </m:eqArr>
                      </m:e>
                    </m:d>
                  </m:oMath>
                </a14:m>
                <a:endParaRPr lang="en-US" b="0" dirty="0" smtClean="0">
                  <a:latin typeface="Cambria Math" panose="02040503050406030204" pitchFamily="18" charset="0"/>
                </a:endParaRPr>
              </a:p>
              <a:p>
                <a:pPr marL="0" indent="0">
                  <a:buNone/>
                </a:pPr>
                <a:endParaRPr lang="en-US" i="1" dirty="0" smtClean="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𝑐</m:t>
                          </m:r>
                        </m:sub>
                      </m:sSub>
                      <m:d>
                        <m:dPr>
                          <m:ctrlPr>
                            <a:rPr lang="en-US" i="1">
                              <a:latin typeface="Cambria Math" panose="02040503050406030204" pitchFamily="18" charset="0"/>
                            </a:rPr>
                          </m:ctrlPr>
                        </m:dPr>
                        <m:e>
                          <m:r>
                            <a:rPr lang="en-US" b="0" i="1" smtClean="0">
                              <a:latin typeface="Cambria Math" panose="02040503050406030204" pitchFamily="18" charset="0"/>
                            </a:rPr>
                            <m:t>+</m:t>
                          </m:r>
                          <m:r>
                            <a:rPr lang="en-US" i="1">
                              <a:latin typeface="Cambria Math" panose="02040503050406030204" pitchFamily="18" charset="0"/>
                            </a:rPr>
                            <m:t>0</m:t>
                          </m:r>
                        </m:e>
                      </m:d>
                      <m:r>
                        <a:rPr lang="en-US" i="1">
                          <a:latin typeface="Cambria Math" panose="02040503050406030204" pitchFamily="18" charset="0"/>
                        </a:rPr>
                        <m:t>=0</m:t>
                      </m:r>
                      <m:r>
                        <a:rPr lang="en-US" b="0" i="1" smtClean="0">
                          <a:latin typeface="Cambria Math" panose="02040503050406030204" pitchFamily="18" charset="0"/>
                        </a:rPr>
                        <m:t>=</m:t>
                      </m:r>
                      <m:sSub>
                        <m:sSubPr>
                          <m:ctrlPr>
                            <a:rPr lang="ru-RU" i="1">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2</m:t>
                          </m:r>
                        </m:sub>
                      </m:sSub>
                      <m:d>
                        <m:dPr>
                          <m:ctrlPr>
                            <a:rPr lang="en-US" i="1">
                              <a:latin typeface="Cambria Math" panose="02040503050406030204" pitchFamily="18" charset="0"/>
                            </a:rPr>
                          </m:ctrlPr>
                        </m:dPr>
                        <m:e>
                          <m:r>
                            <a:rPr lang="ru-RU" i="1">
                              <a:latin typeface="Cambria Math" panose="02040503050406030204" pitchFamily="18" charset="0"/>
                            </a:rPr>
                            <m:t>+</m:t>
                          </m:r>
                          <m:r>
                            <a:rPr lang="en-US" i="1">
                              <a:latin typeface="Cambria Math" panose="02040503050406030204" pitchFamily="18" charset="0"/>
                            </a:rPr>
                            <m:t>0</m:t>
                          </m:r>
                        </m:e>
                      </m:d>
                      <m:r>
                        <a:rPr lang="en-US" b="0" i="1" smtClean="0">
                          <a:latin typeface="Cambria Math" panose="02040503050406030204" pitchFamily="18" charset="0"/>
                        </a:rPr>
                        <m:t>𝑅</m:t>
                      </m:r>
                      <m:r>
                        <a:rPr lang="en-US" b="0" i="1" smtClean="0">
                          <a:latin typeface="Cambria Math" panose="02040503050406030204" pitchFamily="18" charset="0"/>
                        </a:rPr>
                        <m:t>2+</m:t>
                      </m:r>
                      <m:r>
                        <a:rPr lang="en-US" b="0" i="1" smtClean="0">
                          <a:latin typeface="Cambria Math" panose="02040503050406030204" pitchFamily="18" charset="0"/>
                        </a:rPr>
                        <m:t>𝐿</m:t>
                      </m:r>
                      <m:f>
                        <m:fPr>
                          <m:ctrlPr>
                            <a:rPr lang="en-US" b="0" i="1" smtClean="0">
                              <a:latin typeface="Cambria Math" panose="02040503050406030204" pitchFamily="18" charset="0"/>
                            </a:rPr>
                          </m:ctrlPr>
                        </m:fPr>
                        <m:num>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2</m:t>
                              </m:r>
                            </m:sub>
                          </m:sSub>
                        </m:num>
                        <m:den>
                          <m:r>
                            <a:rPr lang="en-US" b="0" i="1" smtClean="0">
                              <a:latin typeface="Cambria Math" panose="02040503050406030204" pitchFamily="18" charset="0"/>
                            </a:rPr>
                            <m:t>𝑑𝑡</m:t>
                          </m:r>
                        </m:den>
                      </m:f>
                      <m:sSub>
                        <m:sSubPr>
                          <m:ctrlPr>
                            <a:rPr lang="en-US" b="0" i="1" smtClean="0">
                              <a:latin typeface="Cambria Math" panose="02040503050406030204" pitchFamily="18" charset="0"/>
                            </a:rPr>
                          </m:ctrlPr>
                        </m:sSubPr>
                        <m:e>
                          <m:r>
                            <a:rPr lang="en-US" i="1">
                              <a:latin typeface="Cambria Math" panose="02040503050406030204" pitchFamily="18" charset="0"/>
                            </a:rPr>
                            <m:t>|</m:t>
                          </m:r>
                        </m:e>
                        <m:sub>
                          <m:r>
                            <a:rPr lang="en-US" b="0" i="1" smtClean="0">
                              <a:latin typeface="Cambria Math" panose="02040503050406030204" pitchFamily="18" charset="0"/>
                            </a:rPr>
                            <m:t>𝑡</m:t>
                          </m:r>
                          <m:r>
                            <a:rPr lang="en-US" b="0" i="1" smtClean="0">
                              <a:latin typeface="Cambria Math" panose="02040503050406030204" pitchFamily="18" charset="0"/>
                            </a:rPr>
                            <m:t>=+0</m:t>
                          </m:r>
                        </m:sub>
                      </m:sSub>
                    </m:oMath>
                  </m:oMathPara>
                </a14:m>
                <a:endParaRPr lang="en-US" b="0" dirty="0" smtClean="0"/>
              </a:p>
              <a:p>
                <a:pPr marL="0" indent="0">
                  <a:buNone/>
                </a:pPr>
                <a14:m>
                  <m:oMathPara xmlns:m="http://schemas.openxmlformats.org/officeDocument/2006/math">
                    <m:oMathParaPr>
                      <m:jc m:val="left"/>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𝑑</m:t>
                          </m:r>
                          <m:sSub>
                            <m:sSubPr>
                              <m:ctrlPr>
                                <a:rPr lang="en-US" i="1">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2</m:t>
                              </m:r>
                            </m:sub>
                          </m:sSub>
                        </m:num>
                        <m:den>
                          <m:r>
                            <a:rPr lang="en-US" i="1">
                              <a:latin typeface="Cambria Math" panose="02040503050406030204" pitchFamily="18" charset="0"/>
                            </a:rPr>
                            <m:t>𝑑𝑡</m:t>
                          </m:r>
                        </m:den>
                      </m:f>
                      <m:d>
                        <m:dPr>
                          <m:ctrlPr>
                            <a:rPr lang="en-US" b="0" i="1" smtClean="0">
                              <a:latin typeface="Cambria Math" panose="02040503050406030204" pitchFamily="18" charset="0"/>
                            </a:rPr>
                          </m:ctrlPr>
                        </m:dPr>
                        <m:e>
                          <m:r>
                            <a:rPr lang="en-US" b="0" i="0" smtClean="0">
                              <a:latin typeface="Cambria Math" panose="02040503050406030204" pitchFamily="18" charset="0"/>
                            </a:rPr>
                            <m:t>+0</m:t>
                          </m:r>
                        </m:e>
                      </m:d>
                      <m:r>
                        <a:rPr lang="en-US" b="0" i="0" smtClean="0">
                          <a:latin typeface="Cambria Math" panose="02040503050406030204" pitchFamily="18" charset="0"/>
                        </a:rPr>
                        <m:t>=−</m:t>
                      </m:r>
                      <m:r>
                        <m:rPr>
                          <m:sty m:val="p"/>
                        </m:rPr>
                        <a:rPr lang="en-US" b="0" i="0" smtClean="0">
                          <a:latin typeface="Cambria Math" panose="02040503050406030204" pitchFamily="18" charset="0"/>
                        </a:rPr>
                        <m:t>E</m:t>
                      </m:r>
                      <m:f>
                        <m:fPr>
                          <m:ctrlPr>
                            <a:rPr lang="en-US" b="0" i="1" smtClean="0">
                              <a:latin typeface="Cambria Math" panose="02040503050406030204" pitchFamily="18" charset="0"/>
                            </a:rPr>
                          </m:ctrlPr>
                        </m:fPr>
                        <m:num>
                          <m:r>
                            <a:rPr lang="en-US" b="0" i="1" smtClean="0">
                              <a:latin typeface="Cambria Math" panose="02040503050406030204" pitchFamily="18" charset="0"/>
                            </a:rPr>
                            <m:t>𝑅</m:t>
                          </m:r>
                          <m:r>
                            <a:rPr lang="en-US" b="0" i="1" smtClean="0">
                              <a:latin typeface="Cambria Math" panose="02040503050406030204" pitchFamily="18" charset="0"/>
                            </a:rPr>
                            <m:t>2</m:t>
                          </m:r>
                        </m:num>
                        <m:den>
                          <m:r>
                            <a:rPr lang="en-US" b="0" i="1" smtClean="0">
                              <a:latin typeface="Cambria Math" panose="02040503050406030204" pitchFamily="18" charset="0"/>
                            </a:rPr>
                            <m:t>𝑅</m:t>
                          </m:r>
                          <m:r>
                            <a:rPr lang="en-US" b="0" i="1" smtClean="0">
                              <a:latin typeface="Cambria Math" panose="02040503050406030204" pitchFamily="18" charset="0"/>
                            </a:rPr>
                            <m:t>1(</m:t>
                          </m:r>
                          <m:r>
                            <a:rPr lang="en-US" b="0" i="1" smtClean="0">
                              <a:latin typeface="Cambria Math" panose="02040503050406030204" pitchFamily="18" charset="0"/>
                            </a:rPr>
                            <m:t>𝑅</m:t>
                          </m:r>
                          <m:r>
                            <a:rPr lang="en-US" b="0" i="1" smtClean="0">
                              <a:latin typeface="Cambria Math" panose="02040503050406030204" pitchFamily="18" charset="0"/>
                            </a:rPr>
                            <m:t>1+</m:t>
                          </m:r>
                          <m:r>
                            <a:rPr lang="en-US" b="0" i="1" smtClean="0">
                              <a:latin typeface="Cambria Math" panose="02040503050406030204" pitchFamily="18" charset="0"/>
                            </a:rPr>
                            <m:t>𝑅</m:t>
                          </m:r>
                          <m:r>
                            <a:rPr lang="en-US" b="0" i="1" smtClean="0">
                              <a:latin typeface="Cambria Math" panose="02040503050406030204" pitchFamily="18" charset="0"/>
                            </a:rPr>
                            <m:t>2)</m:t>
                          </m:r>
                        </m:den>
                      </m:f>
                    </m:oMath>
                  </m:oMathPara>
                </a14:m>
                <a:endParaRPr lang="en-US" dirty="0" smtClean="0"/>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1217" t="-3361"/>
                </a:stretch>
              </a:blipFill>
            </p:spPr>
            <p:txBody>
              <a:bodyPr/>
              <a:lstStyle/>
              <a:p>
                <a:r>
                  <a:rPr lang="ru-RU">
                    <a:noFill/>
                  </a:rPr>
                  <a:t> </a:t>
                </a:r>
              </a:p>
            </p:txBody>
          </p:sp>
        </mc:Fallback>
      </mc:AlternateContent>
      <p:pic>
        <p:nvPicPr>
          <p:cNvPr id="5" name="Рисунок 4"/>
          <p:cNvPicPr>
            <a:picLocks noChangeAspect="1"/>
          </p:cNvPicPr>
          <p:nvPr/>
        </p:nvPicPr>
        <p:blipFill>
          <a:blip r:embed="rId3"/>
          <a:stretch>
            <a:fillRect/>
          </a:stretch>
        </p:blipFill>
        <p:spPr>
          <a:xfrm>
            <a:off x="937471" y="2292246"/>
            <a:ext cx="2458873" cy="1598939"/>
          </a:xfrm>
          <a:prstGeom prst="rect">
            <a:avLst/>
          </a:prstGeom>
        </p:spPr>
      </p:pic>
    </p:spTree>
    <p:extLst>
      <p:ext uri="{BB962C8B-B14F-4D97-AF65-F5344CB8AC3E}">
        <p14:creationId xmlns:p14="http://schemas.microsoft.com/office/powerpoint/2010/main" val="36343163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Законы коммутации. Пример </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fontScale="92500"/>
              </a:bodyPr>
              <a:lstStyle/>
              <a:p>
                <a:pPr marL="0" indent="0">
                  <a:buNone/>
                </a:pPr>
                <a:r>
                  <a:rPr lang="ru-RU" dirty="0" smtClean="0">
                    <a:latin typeface="Cambria Math" panose="02040503050406030204" pitchFamily="18" charset="0"/>
                  </a:rPr>
                  <a:t>Первый момент после коммутации </a:t>
                </a:r>
              </a:p>
              <a:p>
                <a:pPr marL="0" indent="0">
                  <a:buNone/>
                </a:pPr>
                <a:r>
                  <a:rPr lang="ru-RU" dirty="0">
                    <a:latin typeface="Cambria Math" panose="02040503050406030204" pitchFamily="18" charset="0"/>
                  </a:rPr>
                  <a:t>	</a:t>
                </a:r>
                <a:r>
                  <a:rPr lang="ru-RU" dirty="0" smtClean="0">
                    <a:latin typeface="Cambria Math" panose="02040503050406030204" pitchFamily="18" charset="0"/>
                  </a:rPr>
                  <a:t>		</a:t>
                </a:r>
                <a14:m>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rPr>
                      <m:t>=</m:t>
                    </m:r>
                    <m:sSub>
                      <m:sSubPr>
                        <m:ctrlPr>
                          <a:rPr lang="ru-RU" i="1">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1</m:t>
                        </m:r>
                      </m:sub>
                    </m:sSub>
                    <m:d>
                      <m:dPr>
                        <m:ctrlPr>
                          <a:rPr lang="en-US" i="1">
                            <a:latin typeface="Cambria Math" panose="02040503050406030204" pitchFamily="18" charset="0"/>
                          </a:rPr>
                        </m:ctrlPr>
                      </m:dPr>
                      <m:e>
                        <m:r>
                          <a:rPr lang="ru-RU" i="1">
                            <a:latin typeface="Cambria Math" panose="02040503050406030204" pitchFamily="18" charset="0"/>
                          </a:rPr>
                          <m:t>+</m:t>
                        </m:r>
                        <m:r>
                          <a:rPr lang="en-US" i="1">
                            <a:latin typeface="Cambria Math" panose="02040503050406030204" pitchFamily="18" charset="0"/>
                          </a:rPr>
                          <m:t>0</m:t>
                        </m:r>
                      </m:e>
                    </m:d>
                    <m:r>
                      <a:rPr lang="en-US" b="0" i="1" smtClean="0">
                        <a:latin typeface="Cambria Math" panose="02040503050406030204" pitchFamily="18" charset="0"/>
                      </a:rPr>
                      <m:t>𝑅</m:t>
                    </m:r>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𝑐</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m:t>
                        </m:r>
                      </m:num>
                      <m:den>
                        <m:r>
                          <a:rPr lang="en-US" b="0" i="1" smtClean="0">
                            <a:latin typeface="Cambria Math" panose="02040503050406030204" pitchFamily="18" charset="0"/>
                          </a:rPr>
                          <m:t>𝑑𝑡</m:t>
                        </m:r>
                      </m:den>
                    </m:f>
                    <m:r>
                      <a:rPr lang="en-US" b="0" i="1" smtClean="0">
                        <a:latin typeface="Cambria Math" panose="02040503050406030204" pitchFamily="18" charset="0"/>
                      </a:rPr>
                      <m:t>⇒0=</m:t>
                    </m:r>
                    <m:r>
                      <a:rPr lang="en-US" b="0" i="1" smtClean="0">
                        <a:latin typeface="Cambria Math" panose="02040503050406030204" pitchFamily="18" charset="0"/>
                      </a:rPr>
                      <m:t>𝑅</m:t>
                    </m:r>
                    <m:r>
                      <a:rPr lang="en-US" b="0" i="1" smtClean="0">
                        <a:latin typeface="Cambria Math" panose="02040503050406030204" pitchFamily="18" charset="0"/>
                      </a:rPr>
                      <m:t>1</m:t>
                    </m:r>
                    <m:f>
                      <m:fPr>
                        <m:ctrlPr>
                          <a:rPr lang="en-US" b="0" i="1" smtClean="0">
                            <a:latin typeface="Cambria Math" panose="02040503050406030204" pitchFamily="18" charset="0"/>
                          </a:rPr>
                        </m:ctrlPr>
                      </m:fPr>
                      <m:num>
                        <m:sSub>
                          <m:sSubPr>
                            <m:ctrlPr>
                              <a:rPr lang="ru-RU" i="1">
                                <a:latin typeface="Cambria Math" panose="02040503050406030204" pitchFamily="18" charset="0"/>
                              </a:rPr>
                            </m:ctrlPr>
                          </m:sSubPr>
                          <m:e>
                            <m:r>
                              <a:rPr lang="en-US" b="0" i="1" smtClean="0">
                                <a:latin typeface="Cambria Math" panose="02040503050406030204" pitchFamily="18" charset="0"/>
                              </a:rPr>
                              <m:t>𝑑</m:t>
                            </m:r>
                            <m:r>
                              <a:rPr lang="en-US" i="1">
                                <a:latin typeface="Cambria Math" panose="02040503050406030204" pitchFamily="18" charset="0"/>
                              </a:rPr>
                              <m:t>𝑖</m:t>
                            </m:r>
                          </m:e>
                          <m:sub>
                            <m:r>
                              <a:rPr lang="en-US" i="1">
                                <a:latin typeface="Cambria Math" panose="02040503050406030204" pitchFamily="18" charset="0"/>
                              </a:rPr>
                              <m:t>1</m:t>
                            </m:r>
                          </m:sub>
                        </m:sSub>
                        <m:d>
                          <m:dPr>
                            <m:ctrlPr>
                              <a:rPr lang="en-US" i="1">
                                <a:latin typeface="Cambria Math" panose="02040503050406030204" pitchFamily="18" charset="0"/>
                              </a:rPr>
                            </m:ctrlPr>
                          </m:dPr>
                          <m:e>
                            <m:r>
                              <a:rPr lang="ru-RU" i="1">
                                <a:latin typeface="Cambria Math" panose="02040503050406030204" pitchFamily="18" charset="0"/>
                              </a:rPr>
                              <m:t>+</m:t>
                            </m:r>
                            <m:r>
                              <a:rPr lang="en-US" i="1">
                                <a:latin typeface="Cambria Math" panose="02040503050406030204" pitchFamily="18" charset="0"/>
                              </a:rPr>
                              <m:t>0</m:t>
                            </m:r>
                          </m:e>
                        </m:d>
                      </m:num>
                      <m:den>
                        <m:r>
                          <a:rPr lang="en-US" b="0" i="1" smtClean="0">
                            <a:latin typeface="Cambria Math" panose="02040503050406030204" pitchFamily="18" charset="0"/>
                          </a:rPr>
                          <m:t>𝑑𝑡</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m:t>
                        </m:r>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𝑐</m:t>
                            </m:r>
                          </m:sub>
                        </m:sSub>
                      </m:num>
                      <m:den>
                        <m:r>
                          <a:rPr lang="en-US" b="0" i="1" smtClean="0">
                            <a:latin typeface="Cambria Math" panose="02040503050406030204" pitchFamily="18" charset="0"/>
                          </a:rPr>
                          <m:t>𝑑𝑡</m:t>
                        </m:r>
                      </m:den>
                    </m:f>
                  </m:oMath>
                </a14:m>
                <a:endParaRPr lang="en-US" dirty="0" smtClean="0"/>
              </a:p>
              <a:p>
                <a:pPr marL="0" indent="0">
                  <a:buNone/>
                </a:pPr>
                <a:r>
                  <a:rPr lang="en-US" dirty="0"/>
                  <a:t>	</a:t>
                </a:r>
                <a:r>
                  <a:rPr lang="en-US" dirty="0" smtClean="0"/>
                  <a:t>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𝑑</m:t>
                        </m:r>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𝑐</m:t>
                            </m:r>
                          </m:sub>
                        </m:sSub>
                      </m:num>
                      <m:den>
                        <m:r>
                          <a:rPr lang="en-US" i="1">
                            <a:latin typeface="Cambria Math" panose="02040503050406030204" pitchFamily="18" charset="0"/>
                          </a:rPr>
                          <m:t>𝑑𝑡</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ru-RU" i="1">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3</m:t>
                            </m:r>
                          </m:sub>
                        </m:sSub>
                        <m:d>
                          <m:dPr>
                            <m:ctrlPr>
                              <a:rPr lang="en-US" i="1">
                                <a:latin typeface="Cambria Math" panose="02040503050406030204" pitchFamily="18" charset="0"/>
                              </a:rPr>
                            </m:ctrlPr>
                          </m:dPr>
                          <m:e>
                            <m:r>
                              <a:rPr lang="ru-RU" i="1">
                                <a:latin typeface="Cambria Math" panose="02040503050406030204" pitchFamily="18" charset="0"/>
                              </a:rPr>
                              <m:t>+</m:t>
                            </m:r>
                            <m:r>
                              <a:rPr lang="en-US" i="1">
                                <a:latin typeface="Cambria Math" panose="02040503050406030204" pitchFamily="18" charset="0"/>
                              </a:rPr>
                              <m:t>0</m:t>
                            </m:r>
                          </m:e>
                        </m:d>
                      </m:num>
                      <m:den>
                        <m:r>
                          <a:rPr lang="en-US" b="0" i="1" smtClean="0">
                            <a:latin typeface="Cambria Math" panose="02040503050406030204" pitchFamily="18" charset="0"/>
                          </a:rPr>
                          <m:t>𝐶</m:t>
                        </m:r>
                      </m:den>
                    </m:f>
                    <m:r>
                      <a:rPr lang="en-US" b="0" i="1" smtClean="0">
                        <a:latin typeface="Cambria Math" panose="02040503050406030204" pitchFamily="18" charset="0"/>
                      </a:rPr>
                      <m:t>⇒</m:t>
                    </m:r>
                    <m:f>
                      <m:fPr>
                        <m:ctrlPr>
                          <a:rPr lang="en-US" i="1">
                            <a:latin typeface="Cambria Math" panose="02040503050406030204" pitchFamily="18" charset="0"/>
                          </a:rPr>
                        </m:ctrlPr>
                      </m:fPr>
                      <m:num>
                        <m:sSub>
                          <m:sSubPr>
                            <m:ctrlPr>
                              <a:rPr lang="ru-RU" i="1">
                                <a:latin typeface="Cambria Math" panose="02040503050406030204" pitchFamily="18" charset="0"/>
                              </a:rPr>
                            </m:ctrlPr>
                          </m:sSubPr>
                          <m:e>
                            <m:r>
                              <a:rPr lang="en-US" b="0" i="1" smtClean="0">
                                <a:latin typeface="Cambria Math" panose="02040503050406030204" pitchFamily="18" charset="0"/>
                              </a:rPr>
                              <m:t>𝑑</m:t>
                            </m:r>
                            <m:r>
                              <a:rPr lang="en-US" i="1">
                                <a:latin typeface="Cambria Math" panose="02040503050406030204" pitchFamily="18" charset="0"/>
                              </a:rPr>
                              <m:t>𝑖</m:t>
                            </m:r>
                          </m:e>
                          <m:sub>
                            <m:r>
                              <a:rPr lang="en-US" i="1">
                                <a:latin typeface="Cambria Math" panose="02040503050406030204" pitchFamily="18" charset="0"/>
                              </a:rPr>
                              <m:t>1</m:t>
                            </m:r>
                          </m:sub>
                        </m:sSub>
                        <m:d>
                          <m:dPr>
                            <m:ctrlPr>
                              <a:rPr lang="en-US" i="1">
                                <a:latin typeface="Cambria Math" panose="02040503050406030204" pitchFamily="18" charset="0"/>
                              </a:rPr>
                            </m:ctrlPr>
                          </m:dPr>
                          <m:e>
                            <m:r>
                              <a:rPr lang="ru-RU" i="1">
                                <a:latin typeface="Cambria Math" panose="02040503050406030204" pitchFamily="18" charset="0"/>
                              </a:rPr>
                              <m:t>+</m:t>
                            </m:r>
                            <m:r>
                              <a:rPr lang="en-US" i="1">
                                <a:latin typeface="Cambria Math" panose="02040503050406030204" pitchFamily="18" charset="0"/>
                              </a:rPr>
                              <m:t>0</m:t>
                            </m:r>
                          </m:e>
                        </m:d>
                      </m:num>
                      <m:den>
                        <m:r>
                          <a:rPr lang="en-US" i="1">
                            <a:latin typeface="Cambria Math" panose="02040503050406030204" pitchFamily="18" charset="0"/>
                          </a:rPr>
                          <m:t>𝑑𝑡</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𝐶𝑅</m:t>
                        </m:r>
                        <m:r>
                          <a:rPr lang="en-US" b="0" i="1" smtClean="0">
                            <a:latin typeface="Cambria Math" panose="02040503050406030204" pitchFamily="18" charset="0"/>
                          </a:rPr>
                          <m:t>1</m:t>
                        </m:r>
                      </m:den>
                    </m:f>
                    <m:sSub>
                      <m:sSubPr>
                        <m:ctrlPr>
                          <a:rPr lang="ru-RU" i="1">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3</m:t>
                        </m:r>
                      </m:sub>
                    </m:sSub>
                    <m:d>
                      <m:dPr>
                        <m:ctrlPr>
                          <a:rPr lang="en-US" i="1">
                            <a:latin typeface="Cambria Math" panose="02040503050406030204" pitchFamily="18" charset="0"/>
                          </a:rPr>
                        </m:ctrlPr>
                      </m:dPr>
                      <m:e>
                        <m:r>
                          <a:rPr lang="ru-RU" i="1">
                            <a:latin typeface="Cambria Math" panose="02040503050406030204" pitchFamily="18" charset="0"/>
                          </a:rPr>
                          <m:t>+</m:t>
                        </m:r>
                        <m:r>
                          <a:rPr lang="en-US" i="1">
                            <a:latin typeface="Cambria Math" panose="02040503050406030204" pitchFamily="18" charset="0"/>
                          </a:rPr>
                          <m:t>0</m:t>
                        </m:r>
                      </m:e>
                    </m:d>
                  </m:oMath>
                </a14:m>
                <a:endParaRPr lang="en-US" dirty="0" smtClean="0"/>
              </a:p>
              <a:p>
                <a:pPr marL="0" indent="0">
                  <a:buNone/>
                </a:pPr>
                <a:r>
                  <a:rPr lang="en-US" dirty="0" smtClean="0"/>
                  <a:t>			</a:t>
                </a:r>
                <a14:m>
                  <m:oMath xmlns:m="http://schemas.openxmlformats.org/officeDocument/2006/math">
                    <m:f>
                      <m:fPr>
                        <m:ctrlPr>
                          <a:rPr lang="en-US" i="1">
                            <a:latin typeface="Cambria Math" panose="02040503050406030204" pitchFamily="18" charset="0"/>
                          </a:rPr>
                        </m:ctrlPr>
                      </m:fPr>
                      <m:num>
                        <m:sSub>
                          <m:sSubPr>
                            <m:ctrlPr>
                              <a:rPr lang="ru-RU" i="1">
                                <a:latin typeface="Cambria Math" panose="02040503050406030204" pitchFamily="18" charset="0"/>
                              </a:rPr>
                            </m:ctrlPr>
                          </m:sSubPr>
                          <m:e>
                            <m:r>
                              <a:rPr lang="en-US" i="1">
                                <a:latin typeface="Cambria Math" panose="02040503050406030204" pitchFamily="18" charset="0"/>
                              </a:rPr>
                              <m:t>𝑑𝑖</m:t>
                            </m:r>
                          </m:e>
                          <m:sub>
                            <m:r>
                              <a:rPr lang="en-US" i="1">
                                <a:latin typeface="Cambria Math" panose="02040503050406030204" pitchFamily="18" charset="0"/>
                              </a:rPr>
                              <m:t>1</m:t>
                            </m:r>
                          </m:sub>
                        </m:sSub>
                      </m:num>
                      <m:den>
                        <m:r>
                          <a:rPr lang="en-US" i="1">
                            <a:latin typeface="Cambria Math" panose="02040503050406030204" pitchFamily="18" charset="0"/>
                          </a:rPr>
                          <m:t>𝑑𝑡</m:t>
                        </m:r>
                      </m:den>
                    </m:f>
                    <m:d>
                      <m:dPr>
                        <m:ctrlPr>
                          <a:rPr lang="en-US" i="1">
                            <a:latin typeface="Cambria Math" panose="02040503050406030204" pitchFamily="18" charset="0"/>
                          </a:rPr>
                        </m:ctrlPr>
                      </m:dPr>
                      <m:e>
                        <m:r>
                          <a:rPr lang="ru-RU" i="1">
                            <a:latin typeface="Cambria Math" panose="02040503050406030204" pitchFamily="18" charset="0"/>
                          </a:rPr>
                          <m:t>+</m:t>
                        </m:r>
                        <m:r>
                          <a:rPr lang="en-US" i="1">
                            <a:latin typeface="Cambria Math" panose="02040503050406030204" pitchFamily="18" charset="0"/>
                          </a:rPr>
                          <m:t>0</m:t>
                        </m:r>
                      </m:e>
                    </m:d>
                    <m:r>
                      <a:rPr lang="en-US" i="1">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𝐸</m:t>
                    </m:r>
                    <m:f>
                      <m:fPr>
                        <m:ctrlPr>
                          <a:rPr lang="en-US" b="0" i="1" smtClean="0">
                            <a:latin typeface="Cambria Math" panose="02040503050406030204" pitchFamily="18" charset="0"/>
                          </a:rPr>
                        </m:ctrlPr>
                      </m:fPr>
                      <m:num>
                        <m:r>
                          <a:rPr lang="en-US" b="0" i="1" smtClean="0">
                            <a:latin typeface="Cambria Math" panose="02040503050406030204" pitchFamily="18" charset="0"/>
                          </a:rPr>
                          <m:t>𝑅</m:t>
                        </m:r>
                        <m:r>
                          <a:rPr lang="en-US" b="0" i="1" smtClean="0">
                            <a:latin typeface="Cambria Math" panose="02040503050406030204" pitchFamily="18" charset="0"/>
                          </a:rPr>
                          <m:t>2</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𝑅</m:t>
                            </m:r>
                            <m:r>
                              <a:rPr lang="en-US" b="0" i="1" smtClean="0">
                                <a:latin typeface="Cambria Math" panose="02040503050406030204" pitchFamily="18" charset="0"/>
                              </a:rPr>
                              <m:t>1</m:t>
                            </m:r>
                          </m:e>
                          <m:sup>
                            <m:r>
                              <a:rPr lang="en-US" b="0" i="1" smtClean="0">
                                <a:latin typeface="Cambria Math" panose="02040503050406030204" pitchFamily="18" charset="0"/>
                              </a:rPr>
                              <m:t>2</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𝑅</m:t>
                            </m:r>
                            <m:r>
                              <a:rPr lang="en-US" b="0" i="1" smtClean="0">
                                <a:latin typeface="Cambria Math" panose="02040503050406030204" pitchFamily="18" charset="0"/>
                              </a:rPr>
                              <m:t>1+</m:t>
                            </m:r>
                            <m:r>
                              <a:rPr lang="en-US" b="0" i="1" smtClean="0">
                                <a:latin typeface="Cambria Math" panose="02040503050406030204" pitchFamily="18" charset="0"/>
                              </a:rPr>
                              <m:t>𝑅</m:t>
                            </m:r>
                            <m:r>
                              <a:rPr lang="en-US" b="0" i="1" smtClean="0">
                                <a:latin typeface="Cambria Math" panose="02040503050406030204" pitchFamily="18" charset="0"/>
                              </a:rPr>
                              <m:t>2</m:t>
                            </m:r>
                          </m:e>
                        </m:d>
                        <m:r>
                          <a:rPr lang="en-US" b="0" i="1" smtClean="0">
                            <a:latin typeface="Cambria Math" panose="02040503050406030204" pitchFamily="18" charset="0"/>
                          </a:rPr>
                          <m:t>𝐶</m:t>
                        </m:r>
                      </m:den>
                    </m:f>
                  </m:oMath>
                </a14:m>
                <a:endParaRPr lang="en-US" b="0" dirty="0" smtClean="0"/>
              </a:p>
              <a:p>
                <a:pPr marL="0" indent="0">
                  <a:buNone/>
                </a:pPr>
                <a14:m>
                  <m:oMathPara xmlns:m="http://schemas.openxmlformats.org/officeDocument/2006/math">
                    <m:oMathParaPr>
                      <m:jc m:val="left"/>
                    </m:oMathParaPr>
                    <m:oMath xmlns:m="http://schemas.openxmlformats.org/officeDocument/2006/math">
                      <m:f>
                        <m:fPr>
                          <m:ctrlPr>
                            <a:rPr lang="en-US" i="1">
                              <a:latin typeface="Cambria Math" panose="02040503050406030204" pitchFamily="18" charset="0"/>
                            </a:rPr>
                          </m:ctrlPr>
                        </m:fPr>
                        <m:num>
                          <m:sSub>
                            <m:sSubPr>
                              <m:ctrlPr>
                                <a:rPr lang="ru-RU" i="1">
                                  <a:latin typeface="Cambria Math" panose="02040503050406030204" pitchFamily="18" charset="0"/>
                                </a:rPr>
                              </m:ctrlPr>
                            </m:sSubPr>
                            <m:e>
                              <m:r>
                                <a:rPr lang="en-US" i="1">
                                  <a:latin typeface="Cambria Math" panose="02040503050406030204" pitchFamily="18" charset="0"/>
                                </a:rPr>
                                <m:t>𝑑𝑖</m:t>
                              </m:r>
                            </m:e>
                            <m:sub>
                              <m:r>
                                <a:rPr lang="en-US" b="0" i="1" smtClean="0">
                                  <a:latin typeface="Cambria Math" panose="02040503050406030204" pitchFamily="18" charset="0"/>
                                </a:rPr>
                                <m:t>3</m:t>
                              </m:r>
                            </m:sub>
                          </m:sSub>
                        </m:num>
                        <m:den>
                          <m:r>
                            <a:rPr lang="en-US" i="1">
                              <a:latin typeface="Cambria Math" panose="02040503050406030204" pitchFamily="18" charset="0"/>
                            </a:rPr>
                            <m:t>𝑑𝑡</m:t>
                          </m:r>
                        </m:den>
                      </m:f>
                      <m:d>
                        <m:dPr>
                          <m:ctrlPr>
                            <a:rPr lang="en-US" i="1">
                              <a:latin typeface="Cambria Math" panose="02040503050406030204" pitchFamily="18" charset="0"/>
                            </a:rPr>
                          </m:ctrlPr>
                        </m:dPr>
                        <m:e>
                          <m:r>
                            <a:rPr lang="ru-RU" i="1">
                              <a:latin typeface="Cambria Math" panose="02040503050406030204" pitchFamily="18" charset="0"/>
                            </a:rPr>
                            <m:t>+</m:t>
                          </m:r>
                          <m:r>
                            <a:rPr lang="en-US" i="1">
                              <a:latin typeface="Cambria Math" panose="02040503050406030204" pitchFamily="18" charset="0"/>
                            </a:rPr>
                            <m:t>0</m:t>
                          </m:r>
                        </m:e>
                      </m:d>
                      <m:r>
                        <a:rPr lang="en-US" b="0" i="1" smtClean="0">
                          <a:latin typeface="Cambria Math" panose="02040503050406030204" pitchFamily="18" charset="0"/>
                        </a:rPr>
                        <m:t>=</m:t>
                      </m:r>
                      <m:f>
                        <m:fPr>
                          <m:ctrlPr>
                            <a:rPr lang="en-US" i="1">
                              <a:latin typeface="Cambria Math" panose="02040503050406030204" pitchFamily="18" charset="0"/>
                            </a:rPr>
                          </m:ctrlPr>
                        </m:fPr>
                        <m:num>
                          <m:sSub>
                            <m:sSubPr>
                              <m:ctrlPr>
                                <a:rPr lang="ru-RU" i="1">
                                  <a:latin typeface="Cambria Math" panose="02040503050406030204" pitchFamily="18" charset="0"/>
                                </a:rPr>
                              </m:ctrlPr>
                            </m:sSubPr>
                            <m:e>
                              <m:r>
                                <a:rPr lang="en-US" i="1">
                                  <a:latin typeface="Cambria Math" panose="02040503050406030204" pitchFamily="18" charset="0"/>
                                </a:rPr>
                                <m:t>𝑑𝑖</m:t>
                              </m:r>
                            </m:e>
                            <m:sub>
                              <m:r>
                                <a:rPr lang="en-US" i="1">
                                  <a:latin typeface="Cambria Math" panose="02040503050406030204" pitchFamily="18" charset="0"/>
                                </a:rPr>
                                <m:t>1</m:t>
                              </m:r>
                            </m:sub>
                          </m:sSub>
                        </m:num>
                        <m:den>
                          <m:r>
                            <a:rPr lang="en-US" i="1">
                              <a:latin typeface="Cambria Math" panose="02040503050406030204" pitchFamily="18" charset="0"/>
                            </a:rPr>
                            <m:t>𝑑𝑡</m:t>
                          </m:r>
                        </m:den>
                      </m:f>
                      <m:d>
                        <m:dPr>
                          <m:ctrlPr>
                            <a:rPr lang="en-US" i="1">
                              <a:latin typeface="Cambria Math" panose="02040503050406030204" pitchFamily="18" charset="0"/>
                            </a:rPr>
                          </m:ctrlPr>
                        </m:dPr>
                        <m:e>
                          <m:r>
                            <a:rPr lang="ru-RU" i="1">
                              <a:latin typeface="Cambria Math" panose="02040503050406030204" pitchFamily="18" charset="0"/>
                            </a:rPr>
                            <m:t>+</m:t>
                          </m:r>
                          <m:r>
                            <a:rPr lang="en-US" i="1">
                              <a:latin typeface="Cambria Math" panose="02040503050406030204" pitchFamily="18" charset="0"/>
                            </a:rPr>
                            <m:t>0</m:t>
                          </m:r>
                        </m:e>
                      </m:d>
                      <m:r>
                        <a:rPr lang="en-US" b="0" i="1" smtClean="0">
                          <a:latin typeface="Cambria Math" panose="02040503050406030204" pitchFamily="18" charset="0"/>
                        </a:rPr>
                        <m:t>−</m:t>
                      </m:r>
                      <m:f>
                        <m:fPr>
                          <m:ctrlPr>
                            <a:rPr lang="en-US" i="1">
                              <a:latin typeface="Cambria Math" panose="02040503050406030204" pitchFamily="18" charset="0"/>
                            </a:rPr>
                          </m:ctrlPr>
                        </m:fPr>
                        <m:num>
                          <m:sSub>
                            <m:sSubPr>
                              <m:ctrlPr>
                                <a:rPr lang="ru-RU" i="1">
                                  <a:latin typeface="Cambria Math" panose="02040503050406030204" pitchFamily="18" charset="0"/>
                                </a:rPr>
                              </m:ctrlPr>
                            </m:sSubPr>
                            <m:e>
                              <m:r>
                                <a:rPr lang="en-US" i="1">
                                  <a:latin typeface="Cambria Math" panose="02040503050406030204" pitchFamily="18" charset="0"/>
                                </a:rPr>
                                <m:t>𝑑𝑖</m:t>
                              </m:r>
                            </m:e>
                            <m:sub>
                              <m:r>
                                <a:rPr lang="en-US" b="0" i="1" smtClean="0">
                                  <a:latin typeface="Cambria Math" panose="02040503050406030204" pitchFamily="18" charset="0"/>
                                </a:rPr>
                                <m:t>2</m:t>
                              </m:r>
                            </m:sub>
                          </m:sSub>
                        </m:num>
                        <m:den>
                          <m:r>
                            <a:rPr lang="en-US" i="1">
                              <a:latin typeface="Cambria Math" panose="02040503050406030204" pitchFamily="18" charset="0"/>
                            </a:rPr>
                            <m:t>𝑑𝑡</m:t>
                          </m:r>
                        </m:den>
                      </m:f>
                      <m:d>
                        <m:dPr>
                          <m:ctrlPr>
                            <a:rPr lang="en-US" i="1">
                              <a:latin typeface="Cambria Math" panose="02040503050406030204" pitchFamily="18" charset="0"/>
                            </a:rPr>
                          </m:ctrlPr>
                        </m:dPr>
                        <m:e>
                          <m:r>
                            <a:rPr lang="ru-RU" i="1">
                              <a:latin typeface="Cambria Math" panose="02040503050406030204" pitchFamily="18" charset="0"/>
                            </a:rPr>
                            <m:t>+</m:t>
                          </m:r>
                          <m:r>
                            <a:rPr lang="en-US" i="1">
                              <a:latin typeface="Cambria Math" panose="02040503050406030204" pitchFamily="18" charset="0"/>
                            </a:rPr>
                            <m:t>0</m:t>
                          </m:r>
                        </m:e>
                      </m:d>
                      <m:r>
                        <a:rPr lang="en-US" b="0" i="1" smtClean="0">
                          <a:latin typeface="Cambria Math" panose="02040503050406030204" pitchFamily="18" charset="0"/>
                        </a:rPr>
                        <m:t>=</m:t>
                      </m:r>
                      <m:r>
                        <a:rPr lang="en-US">
                          <a:latin typeface="Cambria Math" panose="02040503050406030204" pitchFamily="18" charset="0"/>
                        </a:rPr>
                        <m:t>−</m:t>
                      </m:r>
                      <m:r>
                        <m:rPr>
                          <m:sty m:val="p"/>
                        </m:rPr>
                        <a:rPr lang="en-US">
                          <a:latin typeface="Cambria Math" panose="02040503050406030204" pitchFamily="18" charset="0"/>
                        </a:rPr>
                        <m:t>E</m:t>
                      </m:r>
                      <m:f>
                        <m:fPr>
                          <m:ctrlPr>
                            <a:rPr lang="en-US" i="1">
                              <a:latin typeface="Cambria Math" panose="02040503050406030204" pitchFamily="18" charset="0"/>
                            </a:rPr>
                          </m:ctrlPr>
                        </m:fPr>
                        <m:num>
                          <m:r>
                            <a:rPr lang="en-US" i="1">
                              <a:latin typeface="Cambria Math" panose="02040503050406030204" pitchFamily="18" charset="0"/>
                            </a:rPr>
                            <m:t>𝑅</m:t>
                          </m:r>
                          <m:r>
                            <a:rPr lang="en-US" i="1">
                              <a:latin typeface="Cambria Math" panose="02040503050406030204" pitchFamily="18" charset="0"/>
                            </a:rPr>
                            <m:t>2</m:t>
                          </m:r>
                        </m:num>
                        <m:den>
                          <m:r>
                            <a:rPr lang="en-US" i="1">
                              <a:latin typeface="Cambria Math" panose="02040503050406030204" pitchFamily="18" charset="0"/>
                            </a:rPr>
                            <m:t>𝑅</m:t>
                          </m:r>
                          <m:r>
                            <a:rPr lang="en-US" i="1">
                              <a:latin typeface="Cambria Math" panose="02040503050406030204" pitchFamily="18" charset="0"/>
                            </a:rPr>
                            <m:t>1</m:t>
                          </m:r>
                          <m:d>
                            <m:dPr>
                              <m:ctrlPr>
                                <a:rPr lang="en-US" i="1">
                                  <a:latin typeface="Cambria Math" panose="02040503050406030204" pitchFamily="18" charset="0"/>
                                </a:rPr>
                              </m:ctrlPr>
                            </m:dPr>
                            <m:e>
                              <m:r>
                                <a:rPr lang="en-US" i="1">
                                  <a:latin typeface="Cambria Math" panose="02040503050406030204" pitchFamily="18" charset="0"/>
                                </a:rPr>
                                <m:t>𝑅</m:t>
                              </m:r>
                              <m:r>
                                <a:rPr lang="en-US" i="1">
                                  <a:latin typeface="Cambria Math" panose="02040503050406030204" pitchFamily="18" charset="0"/>
                                </a:rPr>
                                <m:t>1+</m:t>
                              </m:r>
                              <m:r>
                                <a:rPr lang="en-US" i="1">
                                  <a:latin typeface="Cambria Math" panose="02040503050406030204" pitchFamily="18" charset="0"/>
                                </a:rPr>
                                <m:t>𝑅</m:t>
                              </m:r>
                              <m:r>
                                <a:rPr lang="en-US" i="1">
                                  <a:latin typeface="Cambria Math" panose="02040503050406030204" pitchFamily="18" charset="0"/>
                                </a:rPr>
                                <m:t>2</m:t>
                              </m:r>
                            </m:e>
                          </m:d>
                        </m:den>
                      </m:f>
                      <m:r>
                        <a:rPr lang="en-US" b="0" i="1" smtClean="0">
                          <a:latin typeface="Cambria Math" panose="02040503050406030204" pitchFamily="18" charset="0"/>
                        </a:rPr>
                        <m:t>+</m:t>
                      </m:r>
                      <m:r>
                        <a:rPr lang="en-US" i="1">
                          <a:latin typeface="Cambria Math" panose="02040503050406030204" pitchFamily="18" charset="0"/>
                        </a:rPr>
                        <m:t>𝐸</m:t>
                      </m:r>
                      <m:f>
                        <m:fPr>
                          <m:ctrlPr>
                            <a:rPr lang="en-US" i="1">
                              <a:latin typeface="Cambria Math" panose="02040503050406030204" pitchFamily="18" charset="0"/>
                            </a:rPr>
                          </m:ctrlPr>
                        </m:fPr>
                        <m:num>
                          <m:r>
                            <a:rPr lang="en-US" i="1">
                              <a:latin typeface="Cambria Math" panose="02040503050406030204" pitchFamily="18" charset="0"/>
                            </a:rPr>
                            <m:t>𝑅</m:t>
                          </m:r>
                          <m:r>
                            <a:rPr lang="en-US" i="1">
                              <a:latin typeface="Cambria Math" panose="02040503050406030204" pitchFamily="18" charset="0"/>
                            </a:rPr>
                            <m:t>2</m:t>
                          </m:r>
                        </m:num>
                        <m:den>
                          <m:sSup>
                            <m:sSupPr>
                              <m:ctrlPr>
                                <a:rPr lang="en-US" i="1">
                                  <a:latin typeface="Cambria Math" panose="02040503050406030204" pitchFamily="18" charset="0"/>
                                </a:rPr>
                              </m:ctrlPr>
                            </m:sSupPr>
                            <m:e>
                              <m:r>
                                <a:rPr lang="en-US" i="1">
                                  <a:latin typeface="Cambria Math" panose="02040503050406030204" pitchFamily="18" charset="0"/>
                                </a:rPr>
                                <m:t>𝑅</m:t>
                              </m:r>
                              <m:r>
                                <a:rPr lang="en-US" i="1">
                                  <a:latin typeface="Cambria Math" panose="02040503050406030204" pitchFamily="18" charset="0"/>
                                </a:rPr>
                                <m:t>1</m:t>
                              </m:r>
                            </m:e>
                            <m:sup>
                              <m:r>
                                <a:rPr lang="en-US" i="1">
                                  <a:latin typeface="Cambria Math" panose="02040503050406030204" pitchFamily="18" charset="0"/>
                                </a:rPr>
                                <m:t>2</m:t>
                              </m:r>
                            </m:sup>
                          </m:sSup>
                          <m:d>
                            <m:dPr>
                              <m:ctrlPr>
                                <a:rPr lang="en-US" i="1">
                                  <a:latin typeface="Cambria Math" panose="02040503050406030204" pitchFamily="18" charset="0"/>
                                </a:rPr>
                              </m:ctrlPr>
                            </m:dPr>
                            <m:e>
                              <m:r>
                                <a:rPr lang="en-US" i="1">
                                  <a:latin typeface="Cambria Math" panose="02040503050406030204" pitchFamily="18" charset="0"/>
                                </a:rPr>
                                <m:t>𝑅</m:t>
                              </m:r>
                              <m:r>
                                <a:rPr lang="en-US" i="1">
                                  <a:latin typeface="Cambria Math" panose="02040503050406030204" pitchFamily="18" charset="0"/>
                                </a:rPr>
                                <m:t>1+</m:t>
                              </m:r>
                              <m:r>
                                <a:rPr lang="en-US" i="1">
                                  <a:latin typeface="Cambria Math" panose="02040503050406030204" pitchFamily="18" charset="0"/>
                                </a:rPr>
                                <m:t>𝑅</m:t>
                              </m:r>
                              <m:r>
                                <a:rPr lang="en-US" i="1">
                                  <a:latin typeface="Cambria Math" panose="02040503050406030204" pitchFamily="18" charset="0"/>
                                </a:rPr>
                                <m:t>2</m:t>
                              </m:r>
                            </m:e>
                          </m:d>
                          <m:r>
                            <a:rPr lang="en-US" i="1">
                              <a:latin typeface="Cambria Math" panose="02040503050406030204" pitchFamily="18" charset="0"/>
                            </a:rPr>
                            <m:t>𝐶</m:t>
                          </m:r>
                        </m:den>
                      </m:f>
                      <m:r>
                        <a:rPr lang="en-US" b="0" i="1" smtClean="0">
                          <a:latin typeface="Cambria Math" panose="02040503050406030204" pitchFamily="18" charset="0"/>
                        </a:rPr>
                        <m:t>=</m:t>
                      </m:r>
                      <m:r>
                        <a:rPr lang="en-US">
                          <a:latin typeface="Cambria Math" panose="02040503050406030204" pitchFamily="18" charset="0"/>
                        </a:rPr>
                        <m:t>−</m:t>
                      </m:r>
                      <m:r>
                        <m:rPr>
                          <m:sty m:val="p"/>
                        </m:rPr>
                        <a:rPr lang="en-US">
                          <a:latin typeface="Cambria Math" panose="02040503050406030204" pitchFamily="18" charset="0"/>
                        </a:rPr>
                        <m:t>E</m:t>
                      </m:r>
                      <m:f>
                        <m:fPr>
                          <m:ctrlPr>
                            <a:rPr lang="en-US" i="1">
                              <a:latin typeface="Cambria Math" panose="02040503050406030204" pitchFamily="18" charset="0"/>
                            </a:rPr>
                          </m:ctrlPr>
                        </m:fPr>
                        <m:num>
                          <m:r>
                            <a:rPr lang="en-US" i="1">
                              <a:latin typeface="Cambria Math" panose="02040503050406030204" pitchFamily="18" charset="0"/>
                            </a:rPr>
                            <m:t>𝑅</m:t>
                          </m:r>
                          <m:r>
                            <a:rPr lang="en-US" i="1">
                              <a:latin typeface="Cambria Math" panose="02040503050406030204" pitchFamily="18" charset="0"/>
                            </a:rPr>
                            <m:t>2</m:t>
                          </m:r>
                        </m:num>
                        <m:den>
                          <m:r>
                            <a:rPr lang="en-US" i="1">
                              <a:latin typeface="Cambria Math" panose="02040503050406030204" pitchFamily="18" charset="0"/>
                            </a:rPr>
                            <m:t>𝑅</m:t>
                          </m:r>
                          <m:r>
                            <a:rPr lang="en-US" i="1">
                              <a:latin typeface="Cambria Math" panose="02040503050406030204" pitchFamily="18" charset="0"/>
                            </a:rPr>
                            <m:t>1</m:t>
                          </m:r>
                          <m:d>
                            <m:dPr>
                              <m:ctrlPr>
                                <a:rPr lang="en-US" i="1">
                                  <a:latin typeface="Cambria Math" panose="02040503050406030204" pitchFamily="18" charset="0"/>
                                </a:rPr>
                              </m:ctrlPr>
                            </m:dPr>
                            <m:e>
                              <m:r>
                                <a:rPr lang="en-US" i="1">
                                  <a:latin typeface="Cambria Math" panose="02040503050406030204" pitchFamily="18" charset="0"/>
                                </a:rPr>
                                <m:t>𝑅</m:t>
                              </m:r>
                              <m:r>
                                <a:rPr lang="en-US" i="1">
                                  <a:latin typeface="Cambria Math" panose="02040503050406030204" pitchFamily="18" charset="0"/>
                                </a:rPr>
                                <m:t>1+</m:t>
                              </m:r>
                              <m:r>
                                <a:rPr lang="en-US" i="1">
                                  <a:latin typeface="Cambria Math" panose="02040503050406030204" pitchFamily="18" charset="0"/>
                                </a:rPr>
                                <m:t>𝑅</m:t>
                              </m:r>
                              <m:r>
                                <a:rPr lang="en-US" i="1">
                                  <a:latin typeface="Cambria Math" panose="02040503050406030204" pitchFamily="18" charset="0"/>
                                </a:rPr>
                                <m:t>2</m:t>
                              </m:r>
                            </m:e>
                          </m:d>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𝑅</m:t>
                          </m:r>
                          <m:r>
                            <a:rPr lang="en-US" b="0" i="1" smtClean="0">
                              <a:latin typeface="Cambria Math" panose="02040503050406030204" pitchFamily="18" charset="0"/>
                            </a:rPr>
                            <m:t>1</m:t>
                          </m:r>
                          <m:r>
                            <a:rPr lang="en-US" b="0" i="1" smtClean="0">
                              <a:latin typeface="Cambria Math" panose="02040503050406030204" pitchFamily="18" charset="0"/>
                            </a:rPr>
                            <m:t>𝐶</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𝑅</m:t>
                          </m:r>
                          <m:r>
                            <a:rPr lang="en-US" b="0" i="1" smtClean="0">
                              <a:latin typeface="Cambria Math" panose="02040503050406030204" pitchFamily="18" charset="0"/>
                            </a:rPr>
                            <m:t>1</m:t>
                          </m:r>
                        </m:num>
                        <m:den>
                          <m:r>
                            <a:rPr lang="en-US" b="0" i="1" smtClean="0">
                              <a:latin typeface="Cambria Math" panose="02040503050406030204" pitchFamily="18" charset="0"/>
                            </a:rPr>
                            <m:t>𝐿</m:t>
                          </m:r>
                        </m:den>
                      </m:f>
                      <m:r>
                        <a:rPr lang="en-US" b="0" i="1" smtClean="0">
                          <a:latin typeface="Cambria Math" panose="02040503050406030204" pitchFamily="18" charset="0"/>
                        </a:rPr>
                        <m:t>)</m:t>
                      </m:r>
                    </m:oMath>
                  </m:oMathPara>
                </a14:m>
                <a:endParaRPr lang="en-US" dirty="0" smtClean="0"/>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1043" t="-2241"/>
                </a:stretch>
              </a:blipFill>
            </p:spPr>
            <p:txBody>
              <a:bodyPr/>
              <a:lstStyle/>
              <a:p>
                <a:r>
                  <a:rPr lang="ru-RU">
                    <a:noFill/>
                  </a:rPr>
                  <a:t> </a:t>
                </a:r>
              </a:p>
            </p:txBody>
          </p:sp>
        </mc:Fallback>
      </mc:AlternateContent>
      <p:pic>
        <p:nvPicPr>
          <p:cNvPr id="5" name="Рисунок 4"/>
          <p:cNvPicPr>
            <a:picLocks noChangeAspect="1"/>
          </p:cNvPicPr>
          <p:nvPr/>
        </p:nvPicPr>
        <p:blipFill>
          <a:blip r:embed="rId3"/>
          <a:stretch>
            <a:fillRect/>
          </a:stretch>
        </p:blipFill>
        <p:spPr>
          <a:xfrm>
            <a:off x="937471" y="2292246"/>
            <a:ext cx="2458873" cy="1598939"/>
          </a:xfrm>
          <a:prstGeom prst="rect">
            <a:avLst/>
          </a:prstGeom>
        </p:spPr>
      </p:pic>
    </p:spTree>
    <p:extLst>
      <p:ext uri="{BB962C8B-B14F-4D97-AF65-F5344CB8AC3E}">
        <p14:creationId xmlns:p14="http://schemas.microsoft.com/office/powerpoint/2010/main" val="31444853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Принужденный и свободный режимы</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fontScale="92500" lnSpcReduction="10000"/>
              </a:bodyPr>
              <a:lstStyle/>
              <a:p>
                <a:r>
                  <a:rPr lang="ru-RU" b="1" i="1" dirty="0" smtClean="0">
                    <a:ea typeface="Cambria Math" panose="02040503050406030204" pitchFamily="18" charset="0"/>
                  </a:rPr>
                  <a:t>Для анализа переходного процесса требуется решение дифференциальных уравнений, полученных на основе законов Кирхгофа. </a:t>
                </a:r>
              </a:p>
              <a:p>
                <a:r>
                  <a:rPr lang="ru-RU" dirty="0" smtClean="0">
                    <a:ea typeface="Cambria Math" panose="02040503050406030204" pitchFamily="18" charset="0"/>
                  </a:rPr>
                  <a:t>При этом дифференциально-интегральные уравнения преобразуются в дифференциальные: например запишем уравнение для последовательного </a:t>
                </a:r>
                <a:r>
                  <a:rPr lang="en-US" dirty="0" smtClean="0">
                    <a:ea typeface="Cambria Math" panose="02040503050406030204" pitchFamily="18" charset="0"/>
                  </a:rPr>
                  <a:t>RLC </a:t>
                </a:r>
                <a:r>
                  <a:rPr lang="ru-RU" dirty="0" smtClean="0">
                    <a:ea typeface="Cambria Math" panose="02040503050406030204" pitchFamily="18" charset="0"/>
                  </a:rPr>
                  <a:t>контура:</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𝑅𝑖</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𝐿</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𝑑𝑖</m:t>
                          </m:r>
                        </m:num>
                        <m:den>
                          <m:r>
                            <a:rPr lang="en-US" b="0" i="1" smtClean="0">
                              <a:latin typeface="Cambria Math" panose="02040503050406030204" pitchFamily="18" charset="0"/>
                              <a:ea typeface="Cambria Math" panose="02040503050406030204" pitchFamily="18" charset="0"/>
                            </a:rPr>
                            <m:t>𝑑𝑡</m:t>
                          </m:r>
                        </m:den>
                      </m:f>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𝐶</m:t>
                          </m:r>
                        </m:den>
                      </m:f>
                      <m:nary>
                        <m:naryPr>
                          <m:limLoc m:val="undOvr"/>
                          <m:subHide m:val="on"/>
                          <m:supHide m:val="on"/>
                          <m:ctrlPr>
                            <a:rPr lang="en-US" b="0" i="1" smtClean="0">
                              <a:latin typeface="Cambria Math" panose="02040503050406030204" pitchFamily="18" charset="0"/>
                              <a:ea typeface="Cambria Math" panose="02040503050406030204" pitchFamily="18" charset="0"/>
                            </a:rPr>
                          </m:ctrlPr>
                        </m:naryPr>
                        <m:sub/>
                        <m:sup/>
                        <m:e>
                          <m:r>
                            <a:rPr lang="en-US" b="0" i="1" smtClean="0">
                              <a:latin typeface="Cambria Math" panose="02040503050406030204" pitchFamily="18" charset="0"/>
                              <a:ea typeface="Cambria Math" panose="02040503050406030204" pitchFamily="18" charset="0"/>
                            </a:rPr>
                            <m:t>𝑖𝑑𝑡</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𝐸</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e>
                      </m:nary>
                    </m:oMath>
                  </m:oMathPara>
                </a14:m>
                <a:endParaRPr lang="en-US" dirty="0" smtClean="0">
                  <a:ea typeface="Cambria Math" panose="02040503050406030204" pitchFamily="18" charset="0"/>
                </a:endParaRPr>
              </a:p>
              <a:p>
                <a:pPr marL="0" indent="0">
                  <a:buNone/>
                </a:pPr>
                <a:r>
                  <a:rPr lang="ru-RU" dirty="0" smtClean="0">
                    <a:ea typeface="Cambria Math" panose="02040503050406030204" pitchFamily="18" charset="0"/>
                  </a:rPr>
                  <a:t>Дифференцируем, получаем </a:t>
                </a:r>
                <a:r>
                  <a:rPr lang="ru-RU" dirty="0" err="1" smtClean="0">
                    <a:ea typeface="Cambria Math" panose="02040503050406030204" pitchFamily="18" charset="0"/>
                  </a:rPr>
                  <a:t>диф</a:t>
                </a:r>
                <a:r>
                  <a:rPr lang="ru-RU" dirty="0" smtClean="0">
                    <a:ea typeface="Cambria Math" panose="02040503050406030204" pitchFamily="18" charset="0"/>
                  </a:rPr>
                  <a:t>. </a:t>
                </a:r>
                <a:r>
                  <a:rPr lang="ru-RU" dirty="0">
                    <a:ea typeface="Cambria Math" panose="02040503050406030204" pitchFamily="18" charset="0"/>
                  </a:rPr>
                  <a:t>у</a:t>
                </a:r>
                <a:r>
                  <a:rPr lang="ru-RU" dirty="0" smtClean="0">
                    <a:ea typeface="Cambria Math" panose="02040503050406030204" pitchFamily="18" charset="0"/>
                  </a:rPr>
                  <a:t>равнение 2 порядка</a:t>
                </a:r>
                <a:r>
                  <a:rPr lang="en-US" dirty="0">
                    <a:ea typeface="Cambria Math" panose="02040503050406030204" pitchFamily="18" charset="0"/>
                  </a:rPr>
                  <a:t>:</a:t>
                </a:r>
                <a:endParaRPr lang="ru-RU" dirty="0" smtClean="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𝑅</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𝑑𝑖</m:t>
                          </m:r>
                        </m:num>
                        <m:den>
                          <m:r>
                            <a:rPr lang="en-US" i="1">
                              <a:latin typeface="Cambria Math" panose="02040503050406030204" pitchFamily="18" charset="0"/>
                              <a:ea typeface="Cambria Math" panose="02040503050406030204" pitchFamily="18" charset="0"/>
                            </a:rPr>
                            <m:t>𝑑𝑡</m:t>
                          </m:r>
                        </m:den>
                      </m:f>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𝐿</m:t>
                      </m:r>
                      <m:f>
                        <m:fPr>
                          <m:ctrlPr>
                            <a:rPr lang="en-US" i="1">
                              <a:latin typeface="Cambria Math" panose="02040503050406030204" pitchFamily="18" charset="0"/>
                              <a:ea typeface="Cambria Math" panose="02040503050406030204" pitchFamily="18" charset="0"/>
                            </a:rPr>
                          </m:ctrlPr>
                        </m:fPr>
                        <m:num>
                          <m:sSup>
                            <m:sSupPr>
                              <m:ctrlPr>
                                <a:rPr lang="en-US"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𝑑</m:t>
                              </m:r>
                            </m:e>
                            <m:sup>
                              <m:r>
                                <a:rPr lang="en-US" b="0" i="1" smtClean="0">
                                  <a:latin typeface="Cambria Math" panose="02040503050406030204" pitchFamily="18" charset="0"/>
                                  <a:ea typeface="Cambria Math" panose="02040503050406030204" pitchFamily="18" charset="0"/>
                                </a:rPr>
                                <m:t>2</m:t>
                              </m:r>
                            </m:sup>
                          </m:sSup>
                          <m:r>
                            <a:rPr lang="en-US" i="1">
                              <a:latin typeface="Cambria Math" panose="02040503050406030204" pitchFamily="18" charset="0"/>
                              <a:ea typeface="Cambria Math" panose="02040503050406030204" pitchFamily="18" charset="0"/>
                            </a:rPr>
                            <m:t>𝑖</m:t>
                          </m:r>
                        </m:num>
                        <m:den>
                          <m:r>
                            <a:rPr lang="en-US" i="1">
                              <a:latin typeface="Cambria Math" panose="02040503050406030204" pitchFamily="18" charset="0"/>
                              <a:ea typeface="Cambria Math" panose="02040503050406030204" pitchFamily="18" charset="0"/>
                            </a:rPr>
                            <m:t>𝑑</m:t>
                          </m:r>
                          <m:sSup>
                            <m:sSupPr>
                              <m:ctrlPr>
                                <a:rPr lang="en-US"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𝑡</m:t>
                              </m:r>
                            </m:e>
                            <m:sup>
                              <m:r>
                                <a:rPr lang="en-US" b="0" i="1" smtClean="0">
                                  <a:latin typeface="Cambria Math" panose="02040503050406030204" pitchFamily="18" charset="0"/>
                                  <a:ea typeface="Cambria Math" panose="02040503050406030204" pitchFamily="18" charset="0"/>
                                </a:rPr>
                                <m:t>2</m:t>
                              </m:r>
                            </m:sup>
                          </m:sSup>
                        </m:den>
                      </m:f>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𝐶</m:t>
                          </m:r>
                        </m:den>
                      </m:f>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𝑑𝐸</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𝑑𝑡</m:t>
                          </m:r>
                        </m:den>
                      </m:f>
                    </m:oMath>
                  </m:oMathPara>
                </a14:m>
                <a:endParaRPr lang="en-US" dirty="0">
                  <a:ea typeface="Cambria Math" panose="02040503050406030204" pitchFamily="18" charset="0"/>
                </a:endParaRPr>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1043" t="-2801" r="-1681"/>
                </a:stretch>
              </a:blipFill>
            </p:spPr>
            <p:txBody>
              <a:bodyPr/>
              <a:lstStyle/>
              <a:p>
                <a:r>
                  <a:rPr lang="ru-RU">
                    <a:noFill/>
                  </a:rPr>
                  <a:t> </a:t>
                </a:r>
              </a:p>
            </p:txBody>
          </p:sp>
        </mc:Fallback>
      </mc:AlternateContent>
    </p:spTree>
    <p:extLst>
      <p:ext uri="{BB962C8B-B14F-4D97-AF65-F5344CB8AC3E}">
        <p14:creationId xmlns:p14="http://schemas.microsoft.com/office/powerpoint/2010/main" val="34358036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Принужденный и свободный режимы</a:t>
            </a:r>
            <a:endParaRPr lang="ru-RU" dirty="0"/>
          </a:p>
        </p:txBody>
      </p:sp>
      <p:sp>
        <p:nvSpPr>
          <p:cNvPr id="3" name="Объект 2"/>
          <p:cNvSpPr>
            <a:spLocks noGrp="1"/>
          </p:cNvSpPr>
          <p:nvPr>
            <p:ph idx="1"/>
          </p:nvPr>
        </p:nvSpPr>
        <p:spPr/>
        <p:txBody>
          <a:bodyPr>
            <a:normAutofit/>
          </a:bodyPr>
          <a:lstStyle/>
          <a:p>
            <a:r>
              <a:rPr lang="ru-RU" dirty="0" smtClean="0">
                <a:ea typeface="Cambria Math" panose="02040503050406030204" pitchFamily="18" charset="0"/>
              </a:rPr>
              <a:t>Классический метод решения такого уравнения: поиск решения как суммы решения однородного уравнения и частного решения неоднородного уравнения.</a:t>
            </a:r>
          </a:p>
          <a:p>
            <a:r>
              <a:rPr lang="ru-RU" dirty="0" smtClean="0">
                <a:ea typeface="Cambria Math" panose="02040503050406030204" pitchFamily="18" charset="0"/>
              </a:rPr>
              <a:t>Частное решение описывает поведение электрической цепи под действием вынуждающей силы (Источников ЭДС) – соответствует принужденному режиму.</a:t>
            </a:r>
          </a:p>
          <a:p>
            <a:r>
              <a:rPr lang="ru-RU" dirty="0" smtClean="0">
                <a:ea typeface="Cambria Math" panose="02040503050406030204" pitchFamily="18" charset="0"/>
              </a:rPr>
              <a:t>Общее решение однородного уравнения описывает внутренние процессы в электрической цепи и выбирается таким образом, чтобы обеспечить соответствие начальным условиям – данное решение соответствует свободному режиму.</a:t>
            </a:r>
            <a:endParaRPr lang="en-US" dirty="0">
              <a:ea typeface="Cambria Math" panose="02040503050406030204" pitchFamily="18" charset="0"/>
            </a:endParaRPr>
          </a:p>
        </p:txBody>
      </p:sp>
    </p:spTree>
    <p:extLst>
      <p:ext uri="{BB962C8B-B14F-4D97-AF65-F5344CB8AC3E}">
        <p14:creationId xmlns:p14="http://schemas.microsoft.com/office/powerpoint/2010/main" val="9628808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Принужденный и свободный режимы</a:t>
            </a:r>
            <a:endParaRPr lang="ru-RU" dirty="0"/>
          </a:p>
        </p:txBody>
      </p:sp>
      <p:sp>
        <p:nvSpPr>
          <p:cNvPr id="3" name="Объект 2"/>
          <p:cNvSpPr>
            <a:spLocks noGrp="1"/>
          </p:cNvSpPr>
          <p:nvPr>
            <p:ph idx="1"/>
          </p:nvPr>
        </p:nvSpPr>
        <p:spPr/>
        <p:txBody>
          <a:bodyPr>
            <a:normAutofit/>
          </a:bodyPr>
          <a:lstStyle/>
          <a:p>
            <a:r>
              <a:rPr lang="ru-RU" dirty="0" smtClean="0">
                <a:ea typeface="Cambria Math" panose="02040503050406030204" pitchFamily="18" charset="0"/>
              </a:rPr>
              <a:t>Классический метод решения такого уравнения: поиск решения как суммы решения однородного уравнения и частного решения неоднородного уравнения.</a:t>
            </a:r>
          </a:p>
          <a:p>
            <a:r>
              <a:rPr lang="ru-RU" dirty="0" smtClean="0">
                <a:ea typeface="Cambria Math" panose="02040503050406030204" pitchFamily="18" charset="0"/>
              </a:rPr>
              <a:t>Частное решение описывает поведение электрической цепи под действием вынуждающей силы (Источников ЭДС) – соответствует принужденному режиму.</a:t>
            </a:r>
          </a:p>
          <a:p>
            <a:r>
              <a:rPr lang="ru-RU" dirty="0" smtClean="0">
                <a:ea typeface="Cambria Math" panose="02040503050406030204" pitchFamily="18" charset="0"/>
              </a:rPr>
              <a:t>Общее решение однородного уравнения описывает внутренние процессы в электрической цепи и выбирается таким образом, чтобы обеспечить соответствие начальным условиям – данное решение соответствует свободному режиму.</a:t>
            </a:r>
          </a:p>
          <a:p>
            <a:endParaRPr lang="en-US" dirty="0">
              <a:ea typeface="Cambria Math" panose="02040503050406030204" pitchFamily="18" charset="0"/>
            </a:endParaRPr>
          </a:p>
        </p:txBody>
      </p:sp>
    </p:spTree>
    <p:extLst>
      <p:ext uri="{BB962C8B-B14F-4D97-AF65-F5344CB8AC3E}">
        <p14:creationId xmlns:p14="http://schemas.microsoft.com/office/powerpoint/2010/main" val="22986401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Принужденный и свободный режимы</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fontScale="92500" lnSpcReduction="20000"/>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𝑦</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𝑡</m:t>
                          </m:r>
                        </m:e>
                      </m:d>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ru-RU" b="0" i="1" smtClean="0">
                              <a:latin typeface="Cambria Math" panose="02040503050406030204" pitchFamily="18" charset="0"/>
                              <a:ea typeface="Cambria Math" panose="02040503050406030204" pitchFamily="18" charset="0"/>
                            </a:rPr>
                            <m:t>принужд.</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𝑡</m:t>
                          </m:r>
                        </m:e>
                      </m:d>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ru-RU" b="0" i="1" smtClean="0">
                              <a:latin typeface="Cambria Math" panose="02040503050406030204" pitchFamily="18" charset="0"/>
                              <a:ea typeface="Cambria Math" panose="02040503050406030204" pitchFamily="18" charset="0"/>
                            </a:rPr>
                            <m:t>свободн.</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𝑡</m:t>
                          </m:r>
                        </m:e>
                      </m:d>
                    </m:oMath>
                  </m:oMathPara>
                </a14:m>
                <a:endParaRPr lang="en-US" b="0" dirty="0" smtClean="0">
                  <a:ea typeface="Cambria Math" panose="02040503050406030204" pitchFamily="18" charset="0"/>
                </a:endParaRPr>
              </a:p>
              <a:p>
                <a:pPr marL="0" indent="0">
                  <a:buNone/>
                </a:pPr>
                <a:endParaRPr lang="en-US" b="0" dirty="0" smtClean="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𝑦</m:t>
                      </m:r>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m:t>
                          </m:r>
                        </m:e>
                      </m:d>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𝑦</m:t>
                          </m:r>
                        </m:e>
                        <m:sub>
                          <m:r>
                            <a:rPr lang="ru-RU" i="1">
                              <a:latin typeface="Cambria Math" panose="02040503050406030204" pitchFamily="18" charset="0"/>
                              <a:ea typeface="Cambria Math" panose="02040503050406030204" pitchFamily="18" charset="0"/>
                            </a:rPr>
                            <m:t>принужд.</m:t>
                          </m:r>
                        </m:sub>
                      </m:sSub>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m:t>
                          </m:r>
                        </m:e>
                      </m:d>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𝑦</m:t>
                          </m:r>
                        </m:e>
                        <m:sub>
                          <m:r>
                            <a:rPr lang="ru-RU" i="1">
                              <a:latin typeface="Cambria Math" panose="02040503050406030204" pitchFamily="18" charset="0"/>
                              <a:ea typeface="Cambria Math" panose="02040503050406030204" pitchFamily="18" charset="0"/>
                            </a:rPr>
                            <m:t>свободн.</m:t>
                          </m:r>
                        </m:sub>
                      </m:sSub>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m:t>
                          </m:r>
                        </m:e>
                      </m:d>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ru-RU" b="0" i="1" smtClean="0">
                              <a:latin typeface="Cambria Math" panose="02040503050406030204" pitchFamily="18" charset="0"/>
                              <a:ea typeface="Cambria Math" panose="02040503050406030204" pitchFamily="18" charset="0"/>
                            </a:rPr>
                            <m:t>нач.</m:t>
                          </m:r>
                        </m:sub>
                      </m:sSub>
                    </m:oMath>
                  </m:oMathPara>
                </a14:m>
                <a:endParaRPr lang="en-US" b="0" dirty="0" smtClean="0">
                  <a:ea typeface="Cambria Math" panose="02040503050406030204" pitchFamily="18" charset="0"/>
                </a:endParaRPr>
              </a:p>
              <a:p>
                <a:pPr marL="0" indent="0">
                  <a:buNone/>
                </a:pPr>
                <a:endParaRPr lang="en-US" b="0" dirty="0" smtClean="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𝑦</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+0</m:t>
                              </m:r>
                            </m:e>
                          </m:d>
                        </m:num>
                        <m:den>
                          <m:r>
                            <a:rPr lang="en-US" b="0" i="1" smtClean="0">
                              <a:latin typeface="Cambria Math" panose="02040503050406030204" pitchFamily="18" charset="0"/>
                              <a:ea typeface="Cambria Math" panose="02040503050406030204" pitchFamily="18" charset="0"/>
                            </a:rPr>
                            <m:t>𝑑𝑡</m:t>
                          </m:r>
                        </m:den>
                      </m:f>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𝑦</m:t>
                              </m:r>
                            </m:e>
                            <m:sub>
                              <m:r>
                                <a:rPr lang="ru-RU" i="1">
                                  <a:latin typeface="Cambria Math" panose="02040503050406030204" pitchFamily="18" charset="0"/>
                                  <a:ea typeface="Cambria Math" panose="02040503050406030204" pitchFamily="18" charset="0"/>
                                </a:rPr>
                                <m:t>принужд.</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+0</m:t>
                              </m:r>
                            </m:e>
                          </m:d>
                        </m:num>
                        <m:den>
                          <m:r>
                            <a:rPr lang="en-US" i="1">
                              <a:latin typeface="Cambria Math" panose="02040503050406030204" pitchFamily="18" charset="0"/>
                              <a:ea typeface="Cambria Math" panose="02040503050406030204" pitchFamily="18" charset="0"/>
                            </a:rPr>
                            <m:t>𝑑𝑡</m:t>
                          </m:r>
                        </m:den>
                      </m:f>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𝑦</m:t>
                              </m:r>
                            </m:e>
                            <m:sub>
                              <m:r>
                                <a:rPr lang="ru-RU" i="1">
                                  <a:latin typeface="Cambria Math" panose="02040503050406030204" pitchFamily="18" charset="0"/>
                                  <a:ea typeface="Cambria Math" panose="02040503050406030204" pitchFamily="18" charset="0"/>
                                </a:rPr>
                                <m:t>свободн.</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+0</m:t>
                              </m:r>
                            </m:e>
                          </m:d>
                        </m:num>
                        <m:den>
                          <m:r>
                            <a:rPr lang="en-US" i="1">
                              <a:latin typeface="Cambria Math" panose="02040503050406030204" pitchFamily="18" charset="0"/>
                              <a:ea typeface="Cambria Math" panose="02040503050406030204" pitchFamily="18" charset="0"/>
                            </a:rPr>
                            <m:t>𝑑𝑡</m:t>
                          </m:r>
                        </m:den>
                      </m:f>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𝑦</m:t>
                              </m:r>
                            </m:e>
                            <m:sub>
                              <m:r>
                                <a:rPr lang="ru-RU" i="1">
                                  <a:latin typeface="Cambria Math" panose="02040503050406030204" pitchFamily="18" charset="0"/>
                                  <a:ea typeface="Cambria Math" panose="02040503050406030204" pitchFamily="18" charset="0"/>
                                </a:rPr>
                                <m:t>нач.</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+0</m:t>
                              </m:r>
                            </m:e>
                          </m:d>
                        </m:num>
                        <m:den>
                          <m:r>
                            <a:rPr lang="en-US" i="1">
                              <a:latin typeface="Cambria Math" panose="02040503050406030204" pitchFamily="18" charset="0"/>
                              <a:ea typeface="Cambria Math" panose="02040503050406030204" pitchFamily="18" charset="0"/>
                            </a:rPr>
                            <m:t>𝑑𝑡</m:t>
                          </m:r>
                        </m:den>
                      </m:f>
                    </m:oMath>
                  </m:oMathPara>
                </a14:m>
                <a:endParaRPr lang="en-US" dirty="0" smtClean="0">
                  <a:ea typeface="Cambria Math" panose="02040503050406030204" pitchFamily="18" charset="0"/>
                </a:endParaRPr>
              </a:p>
              <a:p>
                <a:pPr marL="0" indent="0">
                  <a:buNone/>
                </a:pPr>
                <a:r>
                  <a:rPr lang="ru-RU" dirty="0" smtClean="0">
                    <a:ea typeface="Cambria Math" panose="02040503050406030204" pitchFamily="18" charset="0"/>
                  </a:rPr>
                  <a:t>Если воздействующая (вынуждающая) сила представляет собой </a:t>
                </a:r>
                <a:r>
                  <a:rPr lang="ru-RU" b="1" dirty="0" smtClean="0">
                    <a:ea typeface="Cambria Math" panose="02040503050406030204" pitchFamily="18" charset="0"/>
                  </a:rPr>
                  <a:t>источник постоянной ЭДС </a:t>
                </a:r>
                <a:r>
                  <a:rPr lang="ru-RU" dirty="0" smtClean="0">
                    <a:ea typeface="Cambria Math" panose="02040503050406030204" pitchFamily="18" charset="0"/>
                  </a:rPr>
                  <a:t>или </a:t>
                </a:r>
                <a:r>
                  <a:rPr lang="ru-RU" b="1" dirty="0" smtClean="0">
                    <a:ea typeface="Cambria Math" panose="02040503050406030204" pitchFamily="18" charset="0"/>
                  </a:rPr>
                  <a:t>источник переменного тока </a:t>
                </a:r>
                <a:r>
                  <a:rPr lang="ru-RU" dirty="0" smtClean="0">
                    <a:ea typeface="Cambria Math" panose="02040503050406030204" pitchFamily="18" charset="0"/>
                  </a:rPr>
                  <a:t>(периодическую функцию) – то </a:t>
                </a:r>
                <a:r>
                  <a:rPr lang="ru-RU" b="1" dirty="0" smtClean="0">
                    <a:ea typeface="Cambria Math" panose="02040503050406030204" pitchFamily="18" charset="0"/>
                  </a:rPr>
                  <a:t>вынужденное решение одновременно и установившееся</a:t>
                </a:r>
                <a:r>
                  <a:rPr lang="ru-RU" dirty="0" smtClean="0">
                    <a:ea typeface="Cambria Math" panose="02040503050406030204" pitchFamily="18" charset="0"/>
                  </a:rPr>
                  <a:t>.</a:t>
                </a:r>
              </a:p>
              <a:p>
                <a:pPr marL="0" indent="0">
                  <a:buNone/>
                </a:pPr>
                <a:r>
                  <a:rPr lang="ru-RU" b="1" i="1" dirty="0" smtClean="0">
                    <a:ea typeface="Cambria Math" panose="02040503050406030204" pitchFamily="18" charset="0"/>
                  </a:rPr>
                  <a:t>Функции, описывающие общее решение, называют свободными составляющими</a:t>
                </a:r>
                <a:r>
                  <a:rPr lang="ru-RU" dirty="0" smtClean="0">
                    <a:ea typeface="Cambria Math" panose="02040503050406030204" pitchFamily="18" charset="0"/>
                  </a:rPr>
                  <a:t>.</a:t>
                </a:r>
                <a:endParaRPr lang="en-US" dirty="0">
                  <a:ea typeface="Cambria Math" panose="02040503050406030204" pitchFamily="18" charset="0"/>
                </a:endParaRPr>
              </a:p>
              <a:p>
                <a:pPr marL="0" indent="0">
                  <a:buNone/>
                </a:pPr>
                <a:endParaRPr lang="en-US" dirty="0">
                  <a:ea typeface="Cambria Math" panose="02040503050406030204" pitchFamily="18" charset="0"/>
                </a:endParaRPr>
              </a:p>
              <a:p>
                <a:pPr marL="0" indent="0">
                  <a:buNone/>
                </a:pPr>
                <a:endParaRPr lang="en-US" dirty="0">
                  <a:ea typeface="Cambria Math" panose="02040503050406030204" pitchFamily="18" charset="0"/>
                </a:endParaRPr>
              </a:p>
              <a:p>
                <a:pPr marL="0" indent="0">
                  <a:buNone/>
                </a:pPr>
                <a:endParaRPr lang="en-US" b="0" dirty="0" smtClean="0">
                  <a:ea typeface="Cambria Math" panose="02040503050406030204" pitchFamily="18" charset="0"/>
                </a:endParaRPr>
              </a:p>
              <a:p>
                <a:endParaRPr lang="ru-RU" dirty="0" smtClean="0">
                  <a:ea typeface="Cambria Math" panose="02040503050406030204" pitchFamily="18" charset="0"/>
                </a:endParaRPr>
              </a:p>
              <a:p>
                <a:endParaRPr lang="en-US" dirty="0">
                  <a:ea typeface="Cambria Math" panose="02040503050406030204" pitchFamily="18" charset="0"/>
                </a:endParaRPr>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1043" b="-3081"/>
                </a:stretch>
              </a:blipFill>
            </p:spPr>
            <p:txBody>
              <a:bodyPr/>
              <a:lstStyle/>
              <a:p>
                <a:r>
                  <a:rPr lang="ru-RU">
                    <a:noFill/>
                  </a:rPr>
                  <a:t> </a:t>
                </a:r>
              </a:p>
            </p:txBody>
          </p:sp>
        </mc:Fallback>
      </mc:AlternateContent>
    </p:spTree>
    <p:extLst>
      <p:ext uri="{BB962C8B-B14F-4D97-AF65-F5344CB8AC3E}">
        <p14:creationId xmlns:p14="http://schemas.microsoft.com/office/powerpoint/2010/main" val="4410621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Принужденный и свободный режимы. </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𝑅</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𝑑𝑖</m:t>
                          </m:r>
                        </m:num>
                        <m:den>
                          <m:r>
                            <a:rPr lang="en-US" i="1">
                              <a:latin typeface="Cambria Math" panose="02040503050406030204" pitchFamily="18" charset="0"/>
                              <a:ea typeface="Cambria Math" panose="02040503050406030204" pitchFamily="18" charset="0"/>
                            </a:rPr>
                            <m:t>𝑑𝑡</m:t>
                          </m:r>
                        </m:den>
                      </m:f>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𝐿</m:t>
                      </m:r>
                      <m:f>
                        <m:fPr>
                          <m:ctrlPr>
                            <a:rPr lang="en-US" i="1">
                              <a:latin typeface="Cambria Math" panose="02040503050406030204" pitchFamily="18" charset="0"/>
                              <a:ea typeface="Cambria Math" panose="02040503050406030204" pitchFamily="18" charset="0"/>
                            </a:rPr>
                          </m:ctrlPr>
                        </m:fPr>
                        <m:num>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𝑑</m:t>
                              </m:r>
                            </m:e>
                            <m:sup>
                              <m:r>
                                <a:rPr lang="en-US" i="1">
                                  <a:latin typeface="Cambria Math" panose="02040503050406030204" pitchFamily="18" charset="0"/>
                                  <a:ea typeface="Cambria Math" panose="02040503050406030204" pitchFamily="18" charset="0"/>
                                </a:rPr>
                                <m:t>2</m:t>
                              </m:r>
                            </m:sup>
                          </m:sSup>
                          <m:r>
                            <a:rPr lang="en-US" i="1">
                              <a:latin typeface="Cambria Math" panose="02040503050406030204" pitchFamily="18" charset="0"/>
                              <a:ea typeface="Cambria Math" panose="02040503050406030204" pitchFamily="18" charset="0"/>
                            </a:rPr>
                            <m:t>𝑖</m:t>
                          </m:r>
                        </m:num>
                        <m:den>
                          <m:r>
                            <a:rPr lang="en-US" i="1">
                              <a:latin typeface="Cambria Math" panose="02040503050406030204" pitchFamily="18" charset="0"/>
                              <a:ea typeface="Cambria Math" panose="02040503050406030204" pitchFamily="18" charset="0"/>
                            </a:rPr>
                            <m:t>𝑑</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𝑡</m:t>
                              </m:r>
                            </m:e>
                            <m:sup>
                              <m:r>
                                <a:rPr lang="en-US" i="1">
                                  <a:latin typeface="Cambria Math" panose="02040503050406030204" pitchFamily="18" charset="0"/>
                                  <a:ea typeface="Cambria Math" panose="02040503050406030204" pitchFamily="18" charset="0"/>
                                </a:rPr>
                                <m:t>2</m:t>
                              </m:r>
                            </m:sup>
                          </m:sSup>
                        </m:den>
                      </m:f>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𝐶</m:t>
                          </m:r>
                        </m:den>
                      </m:f>
                      <m: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𝑑𝐸</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𝑑𝑡</m:t>
                          </m:r>
                        </m:den>
                      </m:f>
                    </m:oMath>
                  </m:oMathPara>
                </a14:m>
                <a:endParaRPr lang="ru-RU" dirty="0" smtClean="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𝐿</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𝑝</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𝑅𝑝</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𝐶</m:t>
                          </m:r>
                        </m:den>
                      </m:f>
                      <m:r>
                        <a:rPr lang="en-US" b="0" i="1" smtClean="0">
                          <a:latin typeface="Cambria Math" panose="02040503050406030204" pitchFamily="18" charset="0"/>
                          <a:ea typeface="Cambria Math" panose="02040503050406030204" pitchFamily="18" charset="0"/>
                        </a:rPr>
                        <m:t>=0</m:t>
                      </m:r>
                    </m:oMath>
                  </m:oMathPara>
                </a14:m>
                <a:endParaRPr lang="en-US" b="0" dirty="0" smtClean="0">
                  <a:ea typeface="Cambria Math" panose="02040503050406030204" pitchFamily="18" charset="0"/>
                </a:endParaRPr>
              </a:p>
              <a:p>
                <a:pPr marL="0" indent="0">
                  <a:buNone/>
                </a:pPr>
                <a:r>
                  <a:rPr lang="ru-RU" dirty="0" smtClean="0">
                    <a:ea typeface="Cambria Math" panose="02040503050406030204" pitchFamily="18" charset="0"/>
                  </a:rPr>
                  <a:t>Общее решение имеет вид:</a:t>
                </a: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𝑖</m:t>
                          </m:r>
                        </m:e>
                        <m:sub>
                          <m:r>
                            <a:rPr lang="ru-RU" b="0" i="1" smtClean="0">
                              <a:latin typeface="Cambria Math" panose="02040503050406030204" pitchFamily="18" charset="0"/>
                              <a:ea typeface="Cambria Math" panose="02040503050406030204" pitchFamily="18" charset="0"/>
                            </a:rPr>
                            <m:t>своб</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𝑡</m:t>
                          </m:r>
                        </m:e>
                      </m:d>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1</m:t>
                          </m:r>
                        </m:sub>
                      </m:sSub>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𝑝</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𝑡</m:t>
                          </m:r>
                        </m:sup>
                      </m:sSup>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2</m:t>
                          </m:r>
                        </m:sub>
                      </m:sSub>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𝑡</m:t>
                          </m:r>
                        </m:sup>
                      </m:sSup>
                    </m:oMath>
                  </m:oMathPara>
                </a14:m>
                <a:endParaRPr lang="en-US" dirty="0" smtClean="0">
                  <a:ea typeface="Cambria Math" panose="02040503050406030204" pitchFamily="18" charset="0"/>
                </a:endParaRPr>
              </a:p>
              <a:p>
                <a:pPr marL="0" indent="0">
                  <a:buNone/>
                </a:pPr>
                <a:r>
                  <a:rPr lang="ru-RU" dirty="0" smtClean="0">
                    <a:ea typeface="Cambria Math" panose="02040503050406030204" pitchFamily="18" charset="0"/>
                  </a:rPr>
                  <a:t>Полное решение:</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𝑖</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𝑡</m:t>
                          </m:r>
                        </m:e>
                      </m:d>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𝑖</m:t>
                          </m:r>
                        </m:e>
                        <m:sub>
                          <m:r>
                            <a:rPr lang="ru-RU" b="0" i="1" smtClean="0">
                              <a:latin typeface="Cambria Math" panose="02040503050406030204" pitchFamily="18" charset="0"/>
                              <a:ea typeface="Cambria Math" panose="02040503050406030204" pitchFamily="18" charset="0"/>
                            </a:rPr>
                            <m:t>пр</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𝑡</m:t>
                          </m:r>
                        </m:e>
                      </m:d>
                      <m:r>
                        <a:rPr lang="ru-RU"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1</m:t>
                          </m:r>
                        </m:sub>
                      </m:sSub>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𝑡</m:t>
                          </m:r>
                        </m:sup>
                      </m:sSup>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2</m:t>
                          </m:r>
                        </m:sub>
                      </m:sSub>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m:t>
                              </m:r>
                            </m:e>
                            <m:sub>
                              <m:r>
                                <a:rPr lang="en-US" i="1">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𝑡</m:t>
                          </m:r>
                        </m:sup>
                      </m:sSup>
                    </m:oMath>
                  </m:oMathPara>
                </a14:m>
                <a:endParaRPr lang="ru-RU" dirty="0" smtClean="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𝑑</m:t>
                          </m:r>
                          <m:r>
                            <a:rPr lang="en-US" i="1">
                              <a:latin typeface="Cambria Math" panose="02040503050406030204" pitchFamily="18" charset="0"/>
                              <a:ea typeface="Cambria Math" panose="02040503050406030204" pitchFamily="18" charset="0"/>
                            </a:rPr>
                            <m:t>𝑖</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𝑡</m:t>
                              </m:r>
                            </m:e>
                          </m:d>
                        </m:num>
                        <m:den>
                          <m:r>
                            <a:rPr lang="en-US" b="0" i="1" smtClean="0">
                              <a:latin typeface="Cambria Math" panose="02040503050406030204" pitchFamily="18" charset="0"/>
                              <a:ea typeface="Cambria Math" panose="02040503050406030204" pitchFamily="18" charset="0"/>
                            </a:rPr>
                            <m:t>𝑑𝑡</m:t>
                          </m:r>
                        </m:den>
                      </m:f>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𝑑</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𝑖</m:t>
                              </m:r>
                            </m:e>
                            <m:sub>
                              <m:r>
                                <a:rPr lang="ru-RU" i="1">
                                  <a:latin typeface="Cambria Math" panose="02040503050406030204" pitchFamily="18" charset="0"/>
                                  <a:ea typeface="Cambria Math" panose="02040503050406030204" pitchFamily="18" charset="0"/>
                                </a:rPr>
                                <m:t>пр</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𝑡</m:t>
                              </m:r>
                            </m:e>
                          </m:d>
                        </m:num>
                        <m:den>
                          <m:r>
                            <a:rPr lang="en-US" i="1">
                              <a:latin typeface="Cambria Math" panose="02040503050406030204" pitchFamily="18" charset="0"/>
                              <a:ea typeface="Cambria Math" panose="02040503050406030204" pitchFamily="18" charset="0"/>
                            </a:rPr>
                            <m:t>𝑑𝑡</m:t>
                          </m:r>
                        </m:den>
                      </m:f>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1</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m:t>
                          </m:r>
                        </m:e>
                        <m:sub>
                          <m:r>
                            <a:rPr lang="en-US" i="1">
                              <a:latin typeface="Cambria Math" panose="02040503050406030204" pitchFamily="18" charset="0"/>
                              <a:ea typeface="Cambria Math" panose="02040503050406030204" pitchFamily="18" charset="0"/>
                            </a:rPr>
                            <m:t>1</m:t>
                          </m:r>
                        </m:sub>
                      </m:sSub>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𝑡</m:t>
                          </m:r>
                        </m:sup>
                      </m:sSup>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2</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m:t>
                          </m:r>
                        </m:e>
                        <m:sub>
                          <m:r>
                            <a:rPr lang="en-US" b="0" i="1" smtClean="0">
                              <a:latin typeface="Cambria Math" panose="02040503050406030204" pitchFamily="18" charset="0"/>
                              <a:ea typeface="Cambria Math" panose="02040503050406030204" pitchFamily="18" charset="0"/>
                            </a:rPr>
                            <m:t>2</m:t>
                          </m:r>
                        </m:sub>
                      </m:sSub>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m:t>
                              </m:r>
                            </m:e>
                            <m:sub>
                              <m:r>
                                <a:rPr lang="en-US" i="1">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𝑡</m:t>
                          </m:r>
                        </m:sup>
                      </m:sSup>
                    </m:oMath>
                  </m:oMathPara>
                </a14:m>
                <a:endParaRPr lang="en-US" dirty="0">
                  <a:ea typeface="Cambria Math" panose="02040503050406030204" pitchFamily="18" charset="0"/>
                </a:endParaRPr>
              </a:p>
              <a:p>
                <a:pPr marL="0" indent="0">
                  <a:buNone/>
                </a:pPr>
                <a:endParaRPr lang="en-US" b="0" dirty="0" smtClean="0">
                  <a:ea typeface="Cambria Math" panose="02040503050406030204" pitchFamily="18" charset="0"/>
                </a:endParaRPr>
              </a:p>
              <a:p>
                <a:endParaRPr lang="ru-RU" dirty="0" smtClean="0">
                  <a:ea typeface="Cambria Math" panose="02040503050406030204" pitchFamily="18" charset="0"/>
                </a:endParaRPr>
              </a:p>
              <a:p>
                <a:endParaRPr lang="en-US" dirty="0">
                  <a:ea typeface="Cambria Math" panose="02040503050406030204" pitchFamily="18" charset="0"/>
                </a:endParaRPr>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1217"/>
                </a:stretch>
              </a:blipFill>
            </p:spPr>
            <p:txBody>
              <a:bodyPr/>
              <a:lstStyle/>
              <a:p>
                <a:r>
                  <a:rPr lang="ru-RU">
                    <a:noFill/>
                  </a:rPr>
                  <a:t> </a:t>
                </a:r>
              </a:p>
            </p:txBody>
          </p:sp>
        </mc:Fallback>
      </mc:AlternateContent>
    </p:spTree>
    <p:extLst>
      <p:ext uri="{BB962C8B-B14F-4D97-AF65-F5344CB8AC3E}">
        <p14:creationId xmlns:p14="http://schemas.microsoft.com/office/powerpoint/2010/main" val="3240111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Принужденный и свободный режимы. </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fontScale="92500" lnSpcReduction="20000"/>
              </a:bodyPr>
              <a:lstStyle/>
              <a:p>
                <a:pPr marL="0" indent="0">
                  <a:buNone/>
                </a:pPr>
                <a:r>
                  <a:rPr lang="ru-RU" dirty="0" smtClean="0">
                    <a:ea typeface="Cambria Math" panose="02040503050406030204" pitchFamily="18" charset="0"/>
                  </a:rPr>
                  <a:t>Начальные условия:</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𝑖</m:t>
                      </m:r>
                      <m:d>
                        <m:dPr>
                          <m:ctrlPr>
                            <a:rPr lang="en-US" b="0" i="1" smtClean="0">
                              <a:latin typeface="Cambria Math" panose="02040503050406030204" pitchFamily="18" charset="0"/>
                              <a:ea typeface="Cambria Math" panose="02040503050406030204" pitchFamily="18" charset="0"/>
                            </a:rPr>
                          </m:ctrlPr>
                        </m:dPr>
                        <m:e>
                          <m:r>
                            <a:rPr lang="ru-RU" b="0" i="1" smtClean="0">
                              <a:latin typeface="Cambria Math" panose="02040503050406030204" pitchFamily="18" charset="0"/>
                              <a:ea typeface="Cambria Math" panose="02040503050406030204" pitchFamily="18" charset="0"/>
                            </a:rPr>
                            <m:t>+0</m:t>
                          </m:r>
                        </m:e>
                      </m:d>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𝑖</m:t>
                          </m:r>
                        </m:e>
                        <m:sub>
                          <m:r>
                            <a:rPr lang="ru-RU" b="0" i="1" smtClean="0">
                              <a:latin typeface="Cambria Math" panose="02040503050406030204" pitchFamily="18" charset="0"/>
                              <a:ea typeface="Cambria Math" panose="02040503050406030204" pitchFamily="18" charset="0"/>
                            </a:rPr>
                            <m:t>пр</m:t>
                          </m:r>
                        </m:sub>
                      </m:sSub>
                      <m:d>
                        <m:dPr>
                          <m:ctrlPr>
                            <a:rPr lang="en-US" i="1">
                              <a:latin typeface="Cambria Math" panose="02040503050406030204" pitchFamily="18" charset="0"/>
                              <a:ea typeface="Cambria Math" panose="02040503050406030204" pitchFamily="18" charset="0"/>
                            </a:rPr>
                          </m:ctrlPr>
                        </m:dPr>
                        <m:e>
                          <m:r>
                            <a:rPr lang="ru-RU" b="0" i="1" smtClean="0">
                              <a:latin typeface="Cambria Math" panose="02040503050406030204" pitchFamily="18" charset="0"/>
                              <a:ea typeface="Cambria Math" panose="02040503050406030204" pitchFamily="18" charset="0"/>
                            </a:rPr>
                            <m:t>+0</m:t>
                          </m:r>
                        </m:e>
                      </m:d>
                      <m:r>
                        <a:rPr lang="ru-RU"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2</m:t>
                          </m:r>
                        </m:sub>
                      </m:sSub>
                    </m:oMath>
                  </m:oMathPara>
                </a14:m>
                <a:endParaRPr lang="ru-RU" dirty="0" smtClean="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𝑑</m:t>
                          </m:r>
                          <m:r>
                            <a:rPr lang="en-US" i="1">
                              <a:latin typeface="Cambria Math" panose="02040503050406030204" pitchFamily="18" charset="0"/>
                              <a:ea typeface="Cambria Math" panose="02040503050406030204" pitchFamily="18" charset="0"/>
                            </a:rPr>
                            <m:t>𝑖</m:t>
                          </m:r>
                          <m:d>
                            <m:dPr>
                              <m:ctrlPr>
                                <a:rPr lang="en-US" i="1">
                                  <a:latin typeface="Cambria Math" panose="02040503050406030204" pitchFamily="18" charset="0"/>
                                  <a:ea typeface="Cambria Math" panose="02040503050406030204" pitchFamily="18" charset="0"/>
                                </a:rPr>
                              </m:ctrlPr>
                            </m:dPr>
                            <m:e>
                              <m:r>
                                <a:rPr lang="ru-RU" b="0" i="1" smtClean="0">
                                  <a:latin typeface="Cambria Math" panose="02040503050406030204" pitchFamily="18" charset="0"/>
                                  <a:ea typeface="Cambria Math" panose="02040503050406030204" pitchFamily="18" charset="0"/>
                                </a:rPr>
                                <m:t>+0</m:t>
                              </m:r>
                            </m:e>
                          </m:d>
                        </m:num>
                        <m:den>
                          <m:r>
                            <a:rPr lang="en-US" b="0" i="1" smtClean="0">
                              <a:latin typeface="Cambria Math" panose="02040503050406030204" pitchFamily="18" charset="0"/>
                              <a:ea typeface="Cambria Math" panose="02040503050406030204" pitchFamily="18" charset="0"/>
                            </a:rPr>
                            <m:t>𝑑𝑡</m:t>
                          </m:r>
                        </m:den>
                      </m:f>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𝑑</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𝑖</m:t>
                              </m:r>
                            </m:e>
                            <m:sub>
                              <m:r>
                                <a:rPr lang="ru-RU" i="1">
                                  <a:latin typeface="Cambria Math" panose="02040503050406030204" pitchFamily="18" charset="0"/>
                                  <a:ea typeface="Cambria Math" panose="02040503050406030204" pitchFamily="18" charset="0"/>
                                </a:rPr>
                                <m:t>пр</m:t>
                              </m:r>
                            </m:sub>
                          </m:sSub>
                          <m:d>
                            <m:dPr>
                              <m:ctrlPr>
                                <a:rPr lang="en-US" i="1">
                                  <a:latin typeface="Cambria Math" panose="02040503050406030204" pitchFamily="18" charset="0"/>
                                  <a:ea typeface="Cambria Math" panose="02040503050406030204" pitchFamily="18" charset="0"/>
                                </a:rPr>
                              </m:ctrlPr>
                            </m:dPr>
                            <m:e>
                              <m:r>
                                <a:rPr lang="ru-RU" b="0" i="1" smtClean="0">
                                  <a:latin typeface="Cambria Math" panose="02040503050406030204" pitchFamily="18" charset="0"/>
                                  <a:ea typeface="Cambria Math" panose="02040503050406030204" pitchFamily="18" charset="0"/>
                                </a:rPr>
                                <m:t>+0</m:t>
                              </m:r>
                            </m:e>
                          </m:d>
                        </m:num>
                        <m:den>
                          <m:r>
                            <a:rPr lang="en-US" i="1">
                              <a:latin typeface="Cambria Math" panose="02040503050406030204" pitchFamily="18" charset="0"/>
                              <a:ea typeface="Cambria Math" panose="02040503050406030204" pitchFamily="18" charset="0"/>
                            </a:rPr>
                            <m:t>𝑑𝑡</m:t>
                          </m:r>
                        </m:den>
                      </m:f>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1</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2</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m:t>
                          </m:r>
                        </m:e>
                        <m:sub>
                          <m:r>
                            <a:rPr lang="en-US" b="0" i="1" smtClean="0">
                              <a:latin typeface="Cambria Math" panose="02040503050406030204" pitchFamily="18" charset="0"/>
                              <a:ea typeface="Cambria Math" panose="02040503050406030204" pitchFamily="18" charset="0"/>
                            </a:rPr>
                            <m:t>2</m:t>
                          </m:r>
                        </m:sub>
                      </m:sSub>
                    </m:oMath>
                  </m:oMathPara>
                </a14:m>
                <a:endParaRPr lang="ru-RU" dirty="0" smtClean="0">
                  <a:ea typeface="Cambria Math" panose="02040503050406030204" pitchFamily="18" charset="0"/>
                </a:endParaRPr>
              </a:p>
              <a:p>
                <a:pPr marL="0" indent="0">
                  <a:buNone/>
                </a:pPr>
                <a:r>
                  <a:rPr lang="ru-RU" dirty="0" smtClean="0">
                    <a:ea typeface="Cambria Math" panose="02040503050406030204" pitchFamily="18" charset="0"/>
                  </a:rPr>
                  <a:t>Отсюда находим </a:t>
                </a:r>
                <a14:m>
                  <m:oMath xmlns:m="http://schemas.openxmlformats.org/officeDocument/2006/math">
                    <m:r>
                      <a:rPr lang="ru-RU" b="0" i="0" smtClean="0">
                        <a:latin typeface="Cambria Math" panose="02040503050406030204" pitchFamily="18" charset="0"/>
                        <a:ea typeface="Cambria Math" panose="02040503050406030204" pitchFamily="18" charset="0"/>
                      </a:rPr>
                      <m:t>коэффициенты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1</m:t>
                        </m:r>
                      </m:sub>
                    </m:sSub>
                    <m:r>
                      <a:rPr lang="ru-RU"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2</m:t>
                        </m:r>
                      </m:sub>
                    </m:sSub>
                  </m:oMath>
                </a14:m>
                <a:r>
                  <a:rPr lang="ru-RU" dirty="0" smtClean="0">
                    <a:ea typeface="Cambria Math" panose="02040503050406030204" pitchFamily="18" charset="0"/>
                  </a:rPr>
                  <a:t> </a:t>
                </a:r>
                <a:endParaRPr lang="en-US" dirty="0">
                  <a:ea typeface="Cambria Math" panose="02040503050406030204" pitchFamily="18" charset="0"/>
                </a:endParaRPr>
              </a:p>
              <a:p>
                <a:pPr marL="0" indent="0">
                  <a:buNone/>
                </a:pPr>
                <a:r>
                  <a:rPr lang="ru-RU" b="0" dirty="0" smtClean="0">
                    <a:ea typeface="Cambria Math" panose="02040503050406030204" pitchFamily="18" charset="0"/>
                  </a:rPr>
                  <a:t>Таким образом процедура такова:</a:t>
                </a:r>
              </a:p>
              <a:p>
                <a:pPr marL="514350" indent="-514350">
                  <a:buFont typeface="+mj-lt"/>
                  <a:buAutoNum type="arabicPeriod"/>
                </a:pPr>
                <a:r>
                  <a:rPr lang="ru-RU" b="1" i="1" dirty="0" smtClean="0">
                    <a:ea typeface="Cambria Math" panose="02040503050406030204" pitchFamily="18" charset="0"/>
                  </a:rPr>
                  <a:t>Ищем частное решение (поведение при </a:t>
                </a:r>
                <a14:m>
                  <m:oMath xmlns:m="http://schemas.openxmlformats.org/officeDocument/2006/math">
                    <m:r>
                      <a:rPr lang="en-US" b="1" i="1" smtClean="0">
                        <a:latin typeface="Cambria Math" panose="02040503050406030204" pitchFamily="18" charset="0"/>
                        <a:ea typeface="Cambria Math" panose="02040503050406030204" pitchFamily="18" charset="0"/>
                      </a:rPr>
                      <m:t>𝒕</m:t>
                    </m:r>
                    <m:r>
                      <a:rPr lang="en-US" b="1" i="1" smtClean="0">
                        <a:latin typeface="Cambria Math" panose="02040503050406030204" pitchFamily="18" charset="0"/>
                        <a:ea typeface="Cambria Math" panose="02040503050406030204" pitchFamily="18" charset="0"/>
                      </a:rPr>
                      <m:t>→∞</m:t>
                    </m:r>
                  </m:oMath>
                </a14:m>
                <a:r>
                  <a:rPr lang="ru-RU" b="1" i="1" dirty="0" smtClean="0">
                    <a:ea typeface="Cambria Math" panose="02040503050406030204" pitchFamily="18" charset="0"/>
                  </a:rPr>
                  <a:t>)</a:t>
                </a:r>
                <a:endParaRPr lang="en-US" b="1" i="1" dirty="0" smtClean="0">
                  <a:ea typeface="Cambria Math" panose="02040503050406030204" pitchFamily="18" charset="0"/>
                </a:endParaRPr>
              </a:p>
              <a:p>
                <a:pPr marL="514350" indent="-514350">
                  <a:buFont typeface="+mj-lt"/>
                  <a:buAutoNum type="arabicPeriod"/>
                </a:pPr>
                <a:r>
                  <a:rPr lang="ru-RU" b="1" i="1" dirty="0" smtClean="0">
                    <a:ea typeface="Cambria Math" panose="02040503050406030204" pitchFamily="18" charset="0"/>
                  </a:rPr>
                  <a:t>Находим </a:t>
                </a:r>
                <a:r>
                  <a:rPr lang="en-US" b="1" i="1" dirty="0" smtClean="0">
                    <a:ea typeface="Cambria Math" panose="02040503050406030204" pitchFamily="18" charset="0"/>
                  </a:rPr>
                  <a:t>n </a:t>
                </a:r>
                <a:r>
                  <a:rPr lang="ru-RU" b="1" i="1" dirty="0" smtClean="0">
                    <a:ea typeface="Cambria Math" panose="02040503050406030204" pitchFamily="18" charset="0"/>
                  </a:rPr>
                  <a:t>корней характеристического уравнения</a:t>
                </a:r>
              </a:p>
              <a:p>
                <a:pPr marL="514350" indent="-514350">
                  <a:buFont typeface="+mj-lt"/>
                  <a:buAutoNum type="arabicPeriod"/>
                </a:pPr>
                <a:r>
                  <a:rPr lang="ru-RU" b="1" i="1" dirty="0" smtClean="0">
                    <a:ea typeface="Cambria Math" panose="02040503050406030204" pitchFamily="18" charset="0"/>
                  </a:rPr>
                  <a:t>Подставляя в получившееся выражение начальные условия находим коэффициенты </a:t>
                </a:r>
                <a14:m>
                  <m:oMath xmlns:m="http://schemas.openxmlformats.org/officeDocument/2006/math">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𝑨</m:t>
                        </m:r>
                      </m:e>
                      <m:sub>
                        <m:r>
                          <a:rPr lang="en-US" b="1" i="1">
                            <a:latin typeface="Cambria Math" panose="02040503050406030204" pitchFamily="18" charset="0"/>
                            <a:ea typeface="Cambria Math" panose="02040503050406030204" pitchFamily="18" charset="0"/>
                          </a:rPr>
                          <m:t>𝟏</m:t>
                        </m:r>
                      </m:sub>
                    </m:sSub>
                    <m:r>
                      <a:rPr lang="ru-RU" b="1" i="1">
                        <a:latin typeface="Cambria Math" panose="02040503050406030204" pitchFamily="18" charset="0"/>
                        <a:ea typeface="Cambria Math" panose="02040503050406030204" pitchFamily="18" charset="0"/>
                      </a:rPr>
                      <m:t>,</m:t>
                    </m:r>
                    <m:r>
                      <a:rPr lang="ru-RU" b="1" i="1" smtClean="0">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𝑨</m:t>
                        </m:r>
                      </m:e>
                      <m:sub>
                        <m:r>
                          <a:rPr lang="en-US" b="1" i="1" smtClean="0">
                            <a:latin typeface="Cambria Math" panose="02040503050406030204" pitchFamily="18" charset="0"/>
                            <a:ea typeface="Cambria Math" panose="02040503050406030204" pitchFamily="18" charset="0"/>
                          </a:rPr>
                          <m:t>𝒏</m:t>
                        </m:r>
                      </m:sub>
                    </m:sSub>
                  </m:oMath>
                </a14:m>
                <a:endParaRPr lang="en-US" b="1" i="1" dirty="0" smtClean="0">
                  <a:ea typeface="Cambria Math" panose="02040503050406030204" pitchFamily="18" charset="0"/>
                </a:endParaRPr>
              </a:p>
              <a:p>
                <a:pPr marL="514350" indent="-514350">
                  <a:buFont typeface="+mj-lt"/>
                  <a:buAutoNum type="arabicPeriod"/>
                </a:pPr>
                <a:r>
                  <a:rPr lang="ru-RU" b="1" i="1" dirty="0" smtClean="0">
                    <a:ea typeface="Cambria Math" panose="02040503050406030204" pitchFamily="18" charset="0"/>
                  </a:rPr>
                  <a:t>Переходной процесс: </a:t>
                </a:r>
                <a14:m>
                  <m:oMath xmlns:m="http://schemas.openxmlformats.org/officeDocument/2006/math">
                    <m:r>
                      <a:rPr lang="en-US" i="1">
                        <a:latin typeface="Cambria Math" panose="02040503050406030204" pitchFamily="18" charset="0"/>
                        <a:ea typeface="Cambria Math" panose="02040503050406030204" pitchFamily="18" charset="0"/>
                      </a:rPr>
                      <m:t>𝑖</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𝑡</m:t>
                        </m:r>
                      </m:e>
                    </m:d>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𝑖</m:t>
                        </m:r>
                      </m:e>
                      <m:sub>
                        <m:r>
                          <a:rPr lang="ru-RU" i="1">
                            <a:latin typeface="Cambria Math" panose="02040503050406030204" pitchFamily="18" charset="0"/>
                            <a:ea typeface="Cambria Math" panose="02040503050406030204" pitchFamily="18" charset="0"/>
                          </a:rPr>
                          <m:t>пр</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𝑡</m:t>
                        </m:r>
                      </m:e>
                    </m:d>
                    <m:r>
                      <a:rPr lang="ru-RU"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1</m:t>
                        </m:r>
                      </m:sub>
                    </m:sSub>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𝑡</m:t>
                        </m:r>
                      </m:sup>
                    </m:sSup>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𝑛</m:t>
                        </m:r>
                      </m:sub>
                    </m:sSub>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m:t>
                            </m:r>
                          </m:e>
                          <m:sub>
                            <m:r>
                              <a:rPr lang="en-US" b="0" i="1" smtClean="0">
                                <a:latin typeface="Cambria Math" panose="02040503050406030204" pitchFamily="18" charset="0"/>
                                <a:ea typeface="Cambria Math" panose="02040503050406030204" pitchFamily="18" charset="0"/>
                              </a:rPr>
                              <m:t>𝑛</m:t>
                            </m:r>
                          </m:sub>
                        </m:sSub>
                        <m:r>
                          <a:rPr lang="en-US" i="1">
                            <a:latin typeface="Cambria Math" panose="02040503050406030204" pitchFamily="18" charset="0"/>
                            <a:ea typeface="Cambria Math" panose="02040503050406030204" pitchFamily="18" charset="0"/>
                          </a:rPr>
                          <m:t>𝑡</m:t>
                        </m:r>
                      </m:sup>
                    </m:sSup>
                  </m:oMath>
                </a14:m>
                <a:endParaRPr lang="en-US" b="1" i="1" dirty="0" smtClean="0">
                  <a:ea typeface="Cambria Math" panose="02040503050406030204" pitchFamily="18" charset="0"/>
                </a:endParaRPr>
              </a:p>
              <a:p>
                <a:endParaRPr lang="ru-RU" dirty="0" smtClean="0">
                  <a:ea typeface="Cambria Math" panose="02040503050406030204" pitchFamily="18" charset="0"/>
                </a:endParaRPr>
              </a:p>
              <a:p>
                <a:endParaRPr lang="en-US" dirty="0">
                  <a:ea typeface="Cambria Math" panose="02040503050406030204" pitchFamily="18" charset="0"/>
                </a:endParaRPr>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1101" t="-3501" b="-140"/>
                </a:stretch>
              </a:blipFill>
            </p:spPr>
            <p:txBody>
              <a:bodyPr/>
              <a:lstStyle/>
              <a:p>
                <a:r>
                  <a:rPr lang="ru-RU">
                    <a:noFill/>
                  </a:rPr>
                  <a:t> </a:t>
                </a:r>
              </a:p>
            </p:txBody>
          </p:sp>
        </mc:Fallback>
      </mc:AlternateContent>
    </p:spTree>
    <p:extLst>
      <p:ext uri="{BB962C8B-B14F-4D97-AF65-F5344CB8AC3E}">
        <p14:creationId xmlns:p14="http://schemas.microsoft.com/office/powerpoint/2010/main" val="25140371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Примеры. Простейшие цепи. </a:t>
            </a:r>
            <a:r>
              <a:rPr lang="en-US" dirty="0" smtClean="0"/>
              <a:t>RL </a:t>
            </a:r>
            <a:r>
              <a:rPr lang="ru-RU" dirty="0" smtClean="0"/>
              <a:t>цепь </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a:bodyPr>
              <a:lstStyle/>
              <a:p>
                <a:pPr marL="0" indent="0">
                  <a:buNone/>
                </a:pPr>
                <a:r>
                  <a:rPr lang="ru-RU" b="1" i="1" dirty="0" smtClean="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𝑅𝑖</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𝐿</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𝑑𝑖</m:t>
                        </m:r>
                      </m:num>
                      <m:den>
                        <m:r>
                          <a:rPr lang="en-US" i="1">
                            <a:latin typeface="Cambria Math" panose="02040503050406030204" pitchFamily="18" charset="0"/>
                            <a:ea typeface="Cambria Math" panose="02040503050406030204" pitchFamily="18" charset="0"/>
                          </a:rPr>
                          <m:t>𝑑𝑡</m:t>
                        </m:r>
                      </m:den>
                    </m:f>
                    <m:r>
                      <a:rPr lang="ru-RU"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𝐸</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oMath>
                </a14:m>
                <a:endParaRPr lang="ru-RU" b="1" i="1" dirty="0" smtClean="0">
                  <a:ea typeface="Cambria Math" panose="02040503050406030204" pitchFamily="18" charset="0"/>
                </a:endParaRPr>
              </a:p>
              <a:p>
                <a:pPr marL="0" indent="0">
                  <a:buNone/>
                </a:pPr>
                <a:r>
                  <a:rPr lang="ru-RU" b="1" i="1" dirty="0">
                    <a:ea typeface="Cambria Math" panose="02040503050406030204" pitchFamily="18" charset="0"/>
                  </a:rPr>
                  <a:t>	</a:t>
                </a:r>
                <a:r>
                  <a:rPr lang="ru-RU" b="1" i="1" dirty="0" smtClean="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𝑖</m:t>
                        </m:r>
                      </m:e>
                      <m:sub>
                        <m:r>
                          <a:rPr lang="ru-RU" i="1">
                            <a:latin typeface="Cambria Math" panose="02040503050406030204" pitchFamily="18" charset="0"/>
                            <a:ea typeface="Cambria Math" panose="02040503050406030204" pitchFamily="18" charset="0"/>
                          </a:rPr>
                          <m:t>своб</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𝑡</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f>
                          <m:fPr>
                            <m:ctrlPr>
                              <a:rPr lang="en-US"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𝑅</m:t>
                            </m:r>
                          </m:num>
                          <m:den>
                            <m:r>
                              <a:rPr lang="en-US" b="0" i="1" smtClean="0">
                                <a:latin typeface="Cambria Math" panose="02040503050406030204" pitchFamily="18" charset="0"/>
                                <a:ea typeface="Cambria Math" panose="02040503050406030204" pitchFamily="18" charset="0"/>
                              </a:rPr>
                              <m:t>𝐿</m:t>
                            </m:r>
                          </m:den>
                        </m:f>
                        <m:r>
                          <a:rPr lang="en-US" i="1">
                            <a:latin typeface="Cambria Math" panose="02040503050406030204" pitchFamily="18" charset="0"/>
                            <a:ea typeface="Cambria Math" panose="02040503050406030204" pitchFamily="18" charset="0"/>
                          </a:rPr>
                          <m:t>𝑡</m:t>
                        </m:r>
                      </m:sup>
                    </m:sSup>
                  </m:oMath>
                </a14:m>
                <a:endParaRPr lang="en-US" b="1" i="1" dirty="0" smtClean="0">
                  <a:ea typeface="Cambria Math" panose="02040503050406030204" pitchFamily="18" charset="0"/>
                </a:endParaRPr>
              </a:p>
              <a:p>
                <a:pPr marL="0" indent="0">
                  <a:buNone/>
                </a:pPr>
                <a:r>
                  <a:rPr lang="en-US" b="1" i="1" dirty="0">
                    <a:ea typeface="Cambria Math" panose="02040503050406030204" pitchFamily="18" charset="0"/>
                  </a:rPr>
                  <a:t>	</a:t>
                </a:r>
                <a:r>
                  <a:rPr lang="en-US" b="1" i="1" dirty="0" smtClean="0">
                    <a:ea typeface="Cambria Math" panose="02040503050406030204" pitchFamily="18" charset="0"/>
                  </a:rPr>
                  <a:t>		</a:t>
                </a:r>
                <a14:m>
                  <m:oMath xmlns:m="http://schemas.openxmlformats.org/officeDocument/2006/math">
                    <m:r>
                      <a:rPr lang="en-US" b="0" i="1" smtClean="0">
                        <a:latin typeface="Cambria Math" panose="02040503050406030204" pitchFamily="18" charset="0"/>
                        <a:ea typeface="Cambria Math" panose="02040503050406030204" pitchFamily="18" charset="0"/>
                      </a:rPr>
                      <m:t>𝑖</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𝑡</m:t>
                        </m:r>
                      </m:e>
                    </m:d>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𝑖</m:t>
                        </m:r>
                      </m:e>
                      <m:sub>
                        <m:r>
                          <a:rPr lang="ru-RU" b="0" i="1" smtClean="0">
                            <a:latin typeface="Cambria Math" panose="02040503050406030204" pitchFamily="18" charset="0"/>
                            <a:ea typeface="Cambria Math" panose="02040503050406030204" pitchFamily="18" charset="0"/>
                          </a:rPr>
                          <m:t>пр</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𝑡</m:t>
                        </m:r>
                      </m:e>
                    </m:d>
                    <m:r>
                      <a:rPr lang="ru-RU"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𝐴</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𝑅</m:t>
                            </m:r>
                          </m:num>
                          <m:den>
                            <m:r>
                              <a:rPr lang="en-US" i="1">
                                <a:latin typeface="Cambria Math" panose="02040503050406030204" pitchFamily="18" charset="0"/>
                                <a:ea typeface="Cambria Math" panose="02040503050406030204" pitchFamily="18" charset="0"/>
                              </a:rPr>
                              <m:t>𝐿</m:t>
                            </m:r>
                          </m:den>
                        </m:f>
                        <m:r>
                          <a:rPr lang="en-US" i="1">
                            <a:latin typeface="Cambria Math" panose="02040503050406030204" pitchFamily="18" charset="0"/>
                            <a:ea typeface="Cambria Math" panose="02040503050406030204" pitchFamily="18" charset="0"/>
                          </a:rPr>
                          <m:t>𝑡</m:t>
                        </m:r>
                      </m:sup>
                    </m:sSup>
                  </m:oMath>
                </a14:m>
                <a:endParaRPr lang="ru-RU" b="1" i="1" dirty="0" smtClean="0">
                  <a:ea typeface="Cambria Math" panose="02040503050406030204" pitchFamily="18" charset="0"/>
                </a:endParaRPr>
              </a:p>
              <a:p>
                <a:pPr marL="0" indent="0">
                  <a:buNone/>
                </a:pPr>
                <a:r>
                  <a:rPr lang="ru-RU" dirty="0" smtClean="0">
                    <a:ea typeface="Cambria Math" panose="02040503050406030204" pitchFamily="18" charset="0"/>
                  </a:rPr>
                  <a:t>Чтобы двигаться дальше надо определить </a:t>
                </a:r>
                <a:r>
                  <a:rPr lang="en-US" dirty="0" smtClean="0">
                    <a:ea typeface="Cambria Math" panose="02040503050406030204" pitchFamily="18" charset="0"/>
                  </a:rPr>
                  <a:t>E(t)</a:t>
                </a:r>
              </a:p>
              <a:p>
                <a:pPr marL="0" indent="0">
                  <a:buNone/>
                </a:pPr>
                <a:endParaRPr lang="en-US" dirty="0" smtClean="0">
                  <a:ea typeface="Cambria Math" panose="02040503050406030204" pitchFamily="18" charset="0"/>
                </a:endParaRPr>
              </a:p>
              <a:p>
                <a:endParaRPr lang="ru-RU" dirty="0" smtClean="0">
                  <a:ea typeface="Cambria Math" panose="02040503050406030204" pitchFamily="18" charset="0"/>
                </a:endParaRPr>
              </a:p>
              <a:p>
                <a:endParaRPr lang="en-US" dirty="0">
                  <a:ea typeface="Cambria Math" panose="02040503050406030204" pitchFamily="18" charset="0"/>
                </a:endParaRPr>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1217"/>
                </a:stretch>
              </a:blipFill>
            </p:spPr>
            <p:txBody>
              <a:bodyPr/>
              <a:lstStyle/>
              <a:p>
                <a:r>
                  <a:rPr lang="ru-RU">
                    <a:noFill/>
                  </a:rPr>
                  <a:t> </a:t>
                </a:r>
              </a:p>
            </p:txBody>
          </p:sp>
        </mc:Fallback>
      </mc:AlternateContent>
      <p:pic>
        <p:nvPicPr>
          <p:cNvPr id="4" name="Рисунок 3"/>
          <p:cNvPicPr>
            <a:picLocks noChangeAspect="1"/>
          </p:cNvPicPr>
          <p:nvPr/>
        </p:nvPicPr>
        <p:blipFill>
          <a:blip r:embed="rId3"/>
          <a:stretch>
            <a:fillRect/>
          </a:stretch>
        </p:blipFill>
        <p:spPr>
          <a:xfrm>
            <a:off x="1050965" y="1944274"/>
            <a:ext cx="1674421" cy="1582851"/>
          </a:xfrm>
          <a:prstGeom prst="rect">
            <a:avLst/>
          </a:prstGeom>
        </p:spPr>
      </p:pic>
    </p:spTree>
    <p:extLst>
      <p:ext uri="{BB962C8B-B14F-4D97-AF65-F5344CB8AC3E}">
        <p14:creationId xmlns:p14="http://schemas.microsoft.com/office/powerpoint/2010/main" val="15576188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Примеры. Простейшие цепи. </a:t>
            </a:r>
            <a:r>
              <a:rPr lang="en-US" dirty="0" smtClean="0"/>
              <a:t>RL </a:t>
            </a:r>
            <a:r>
              <a:rPr lang="ru-RU" dirty="0" smtClean="0"/>
              <a:t>цепь </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a:bodyPr>
              <a:lstStyle/>
              <a:p>
                <a:pPr marL="0" indent="0">
                  <a:buNone/>
                </a:pPr>
                <a:r>
                  <a:rPr lang="ru-RU" b="1" i="1" dirty="0" smtClean="0">
                    <a:ea typeface="Cambria Math" panose="02040503050406030204" pitchFamily="18" charset="0"/>
                  </a:rPr>
                  <a:t>		</a:t>
                </a:r>
                <a:r>
                  <a:rPr lang="en-US" b="1" i="1" dirty="0" smtClean="0">
                    <a:ea typeface="Cambria Math" panose="02040503050406030204" pitchFamily="18" charset="0"/>
                  </a:rPr>
                  <a:t>	E(t) – </a:t>
                </a:r>
                <a:r>
                  <a:rPr lang="ru-RU" b="1" i="1" dirty="0" smtClean="0">
                    <a:ea typeface="Cambria Math" panose="02040503050406030204" pitchFamily="18" charset="0"/>
                  </a:rPr>
                  <a:t>источник постоянного напряжения Е</a:t>
                </a:r>
                <a:endParaRPr lang="en-US" b="1" i="1" dirty="0" smtClean="0">
                  <a:ea typeface="Cambria Math" panose="02040503050406030204" pitchFamily="18" charset="0"/>
                </a:endParaRPr>
              </a:p>
              <a:p>
                <a:pPr marL="0" indent="0">
                  <a:buNone/>
                </a:pPr>
                <a:r>
                  <a:rPr lang="en-US" b="1" i="1" dirty="0">
                    <a:ea typeface="Cambria Math" panose="02040503050406030204" pitchFamily="18" charset="0"/>
                  </a:rPr>
                  <a:t>	</a:t>
                </a:r>
                <a:r>
                  <a:rPr lang="en-US" b="1" i="1" dirty="0" smtClean="0">
                    <a:ea typeface="Cambria Math" panose="02040503050406030204" pitchFamily="18" charset="0"/>
                  </a:rPr>
                  <a:t>		t=0 </a:t>
                </a:r>
                <a:r>
                  <a:rPr lang="ru-RU" b="1" i="1" dirty="0" smtClean="0">
                    <a:ea typeface="Cambria Math" panose="02040503050406030204" pitchFamily="18" charset="0"/>
                  </a:rPr>
                  <a:t>замыкание ключа</a:t>
                </a:r>
                <a:endParaRPr lang="en-US" b="1" i="1" dirty="0" smtClean="0">
                  <a:ea typeface="Cambria Math" panose="02040503050406030204" pitchFamily="18" charset="0"/>
                </a:endParaRPr>
              </a:p>
              <a:p>
                <a:pPr marL="0" indent="0">
                  <a:buNone/>
                </a:pPr>
                <a:r>
                  <a:rPr lang="en-US" b="1" i="1" dirty="0">
                    <a:ea typeface="Cambria Math" panose="02040503050406030204" pitchFamily="18" charset="0"/>
                  </a:rPr>
                  <a:t>	</a:t>
                </a:r>
                <a:r>
                  <a:rPr lang="en-US" b="1" i="1" dirty="0" smtClean="0">
                    <a:ea typeface="Cambria Math" panose="02040503050406030204" pitchFamily="18" charset="0"/>
                  </a:rPr>
                  <a:t>	</a:t>
                </a:r>
                <a:r>
                  <a:rPr lang="ru-RU" b="1" i="1" dirty="0" smtClean="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𝑖</m:t>
                        </m:r>
                      </m:e>
                      <m:sub>
                        <m:r>
                          <a:rPr lang="ru-RU" b="0" i="1" smtClean="0">
                            <a:latin typeface="Cambria Math" panose="02040503050406030204" pitchFamily="18" charset="0"/>
                            <a:ea typeface="Cambria Math" panose="02040503050406030204" pitchFamily="18" charset="0"/>
                          </a:rPr>
                          <m:t>пр</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𝑡</m:t>
                        </m:r>
                      </m:e>
                    </m:d>
                    <m:r>
                      <a:rPr lang="en-US" i="1">
                        <a:latin typeface="Cambria Math" panose="02040503050406030204" pitchFamily="18" charset="0"/>
                        <a:ea typeface="Cambria Math" panose="02040503050406030204" pitchFamily="18" charset="0"/>
                      </a:rPr>
                      <m:t>=</m:t>
                    </m:r>
                    <m:f>
                      <m:fPr>
                        <m:ctrlPr>
                          <a:rPr lang="en-US"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𝐸</m:t>
                        </m:r>
                      </m:num>
                      <m:den>
                        <m:r>
                          <a:rPr lang="en-US" b="0" i="1" smtClean="0">
                            <a:latin typeface="Cambria Math" panose="02040503050406030204" pitchFamily="18" charset="0"/>
                            <a:ea typeface="Cambria Math" panose="02040503050406030204" pitchFamily="18" charset="0"/>
                          </a:rPr>
                          <m:t>𝑅</m:t>
                        </m:r>
                      </m:den>
                    </m:f>
                  </m:oMath>
                </a14:m>
                <a:endParaRPr lang="en-US" b="1" i="1" dirty="0" smtClean="0">
                  <a:ea typeface="Cambria Math" panose="02040503050406030204" pitchFamily="18" charset="0"/>
                </a:endParaRPr>
              </a:p>
              <a:p>
                <a:pPr marL="0" indent="0">
                  <a:buNone/>
                </a:pPr>
                <a:r>
                  <a:rPr lang="en-US" b="1" i="1" dirty="0">
                    <a:ea typeface="Cambria Math" panose="02040503050406030204" pitchFamily="18" charset="0"/>
                  </a:rPr>
                  <a:t>	</a:t>
                </a:r>
                <a:r>
                  <a:rPr lang="en-US" b="1" i="1" dirty="0" smtClean="0">
                    <a:ea typeface="Cambria Math" panose="02040503050406030204" pitchFamily="18" charset="0"/>
                  </a:rPr>
                  <a:t>		</a:t>
                </a:r>
                <a14:m>
                  <m:oMath xmlns:m="http://schemas.openxmlformats.org/officeDocument/2006/math">
                    <m:r>
                      <a:rPr lang="en-US" b="0" i="1" smtClean="0">
                        <a:latin typeface="Cambria Math" panose="02040503050406030204" pitchFamily="18" charset="0"/>
                        <a:ea typeface="Cambria Math" panose="02040503050406030204" pitchFamily="18" charset="0"/>
                      </a:rPr>
                      <m:t>𝑖</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𝑡</m:t>
                        </m:r>
                      </m:e>
                    </m:d>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𝐸</m:t>
                        </m:r>
                      </m:num>
                      <m:den>
                        <m:r>
                          <a:rPr lang="en-US" i="1">
                            <a:latin typeface="Cambria Math" panose="02040503050406030204" pitchFamily="18" charset="0"/>
                            <a:ea typeface="Cambria Math" panose="02040503050406030204" pitchFamily="18" charset="0"/>
                          </a:rPr>
                          <m:t>𝑅</m:t>
                        </m:r>
                      </m:den>
                    </m:f>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𝐴</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𝑅</m:t>
                            </m:r>
                          </m:num>
                          <m:den>
                            <m:r>
                              <a:rPr lang="en-US" i="1">
                                <a:latin typeface="Cambria Math" panose="02040503050406030204" pitchFamily="18" charset="0"/>
                                <a:ea typeface="Cambria Math" panose="02040503050406030204" pitchFamily="18" charset="0"/>
                              </a:rPr>
                              <m:t>𝐿</m:t>
                            </m:r>
                          </m:den>
                        </m:f>
                        <m:r>
                          <a:rPr lang="en-US" i="1">
                            <a:latin typeface="Cambria Math" panose="02040503050406030204" pitchFamily="18" charset="0"/>
                            <a:ea typeface="Cambria Math" panose="02040503050406030204" pitchFamily="18" charset="0"/>
                          </a:rPr>
                          <m:t>𝑡</m:t>
                        </m:r>
                      </m:sup>
                    </m:sSup>
                  </m:oMath>
                </a14:m>
                <a:endParaRPr lang="ru-RU" b="1" i="1" dirty="0" smtClean="0">
                  <a:ea typeface="Cambria Math" panose="02040503050406030204" pitchFamily="18" charset="0"/>
                </a:endParaRPr>
              </a:p>
              <a:p>
                <a:pPr marL="0" indent="0">
                  <a:buNone/>
                </a:pPr>
                <a:r>
                  <a:rPr lang="en-US" dirty="0" smtClean="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𝑖</m:t>
                    </m:r>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𝐸</m:t>
                        </m:r>
                      </m:num>
                      <m:den>
                        <m:r>
                          <a:rPr lang="en-US" i="1">
                            <a:latin typeface="Cambria Math" panose="02040503050406030204" pitchFamily="18" charset="0"/>
                            <a:ea typeface="Cambria Math" panose="02040503050406030204" pitchFamily="18" charset="0"/>
                          </a:rPr>
                          <m:t>𝑅</m:t>
                        </m:r>
                      </m:den>
                    </m:f>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𝐸</m:t>
                        </m:r>
                      </m:num>
                      <m:den>
                        <m:r>
                          <a:rPr lang="en-US" i="1">
                            <a:latin typeface="Cambria Math" panose="02040503050406030204" pitchFamily="18" charset="0"/>
                            <a:ea typeface="Cambria Math" panose="02040503050406030204" pitchFamily="18" charset="0"/>
                          </a:rPr>
                          <m:t>𝑅</m:t>
                        </m:r>
                      </m:den>
                    </m:f>
                  </m:oMath>
                </a14:m>
                <a:endParaRPr lang="en-US" dirty="0" smtClean="0">
                  <a:ea typeface="Cambria Math" panose="02040503050406030204" pitchFamily="18" charset="0"/>
                </a:endParaRPr>
              </a:p>
              <a:p>
                <a:pPr marL="0" indent="0">
                  <a:buNone/>
                </a:pPr>
                <a:r>
                  <a:rPr lang="en-US" dirty="0" smtClean="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𝑖</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𝑡</m:t>
                        </m:r>
                      </m:e>
                    </m:d>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𝐸</m:t>
                        </m:r>
                      </m:num>
                      <m:den>
                        <m:r>
                          <a:rPr lang="en-US" i="1">
                            <a:latin typeface="Cambria Math" panose="02040503050406030204" pitchFamily="18" charset="0"/>
                            <a:ea typeface="Cambria Math" panose="02040503050406030204" pitchFamily="18" charset="0"/>
                          </a:rPr>
                          <m:t>𝑅</m:t>
                        </m:r>
                      </m:den>
                    </m:f>
                    <m:r>
                      <a:rPr lang="en-US" b="0" i="1" smtClean="0">
                        <a:latin typeface="Cambria Math" panose="02040503050406030204" pitchFamily="18" charset="0"/>
                        <a:ea typeface="Cambria Math" panose="02040503050406030204" pitchFamily="18" charset="0"/>
                      </a:rPr>
                      <m:t>(1−</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𝑅</m:t>
                            </m:r>
                          </m:num>
                          <m:den>
                            <m:r>
                              <a:rPr lang="en-US" i="1">
                                <a:latin typeface="Cambria Math" panose="02040503050406030204" pitchFamily="18" charset="0"/>
                                <a:ea typeface="Cambria Math" panose="02040503050406030204" pitchFamily="18" charset="0"/>
                              </a:rPr>
                              <m:t>𝐿</m:t>
                            </m:r>
                          </m:den>
                        </m:f>
                        <m:r>
                          <a:rPr lang="en-US" i="1">
                            <a:latin typeface="Cambria Math" panose="02040503050406030204" pitchFamily="18" charset="0"/>
                            <a:ea typeface="Cambria Math" panose="02040503050406030204" pitchFamily="18" charset="0"/>
                          </a:rPr>
                          <m:t>𝑡</m:t>
                        </m:r>
                      </m:sup>
                    </m:sSup>
                    <m:r>
                      <a:rPr lang="en-US" b="0" i="1" smtClean="0">
                        <a:latin typeface="Cambria Math" panose="02040503050406030204" pitchFamily="18" charset="0"/>
                        <a:ea typeface="Cambria Math" panose="02040503050406030204" pitchFamily="18" charset="0"/>
                      </a:rPr>
                      <m:t>)</m:t>
                    </m:r>
                  </m:oMath>
                </a14:m>
                <a:endParaRPr lang="ru-RU" dirty="0" smtClean="0">
                  <a:ea typeface="Cambria Math" panose="02040503050406030204" pitchFamily="18" charset="0"/>
                </a:endParaRPr>
              </a:p>
              <a:p>
                <a:endParaRPr lang="en-US" dirty="0">
                  <a:ea typeface="Cambria Math" panose="02040503050406030204" pitchFamily="18" charset="0"/>
                </a:endParaRPr>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t="-2241"/>
                </a:stretch>
              </a:blipFill>
            </p:spPr>
            <p:txBody>
              <a:bodyPr/>
              <a:lstStyle/>
              <a:p>
                <a:r>
                  <a:rPr lang="ru-RU">
                    <a:noFill/>
                  </a:rPr>
                  <a:t> </a:t>
                </a:r>
              </a:p>
            </p:txBody>
          </p:sp>
        </mc:Fallback>
      </mc:AlternateContent>
      <p:pic>
        <p:nvPicPr>
          <p:cNvPr id="4" name="Рисунок 3"/>
          <p:cNvPicPr>
            <a:picLocks noChangeAspect="1"/>
          </p:cNvPicPr>
          <p:nvPr/>
        </p:nvPicPr>
        <p:blipFill>
          <a:blip r:embed="rId3"/>
          <a:stretch>
            <a:fillRect/>
          </a:stretch>
        </p:blipFill>
        <p:spPr>
          <a:xfrm>
            <a:off x="1050965" y="1944274"/>
            <a:ext cx="1674421" cy="1582851"/>
          </a:xfrm>
          <a:prstGeom prst="rect">
            <a:avLst/>
          </a:prstGeom>
        </p:spPr>
      </p:pic>
      <p:pic>
        <p:nvPicPr>
          <p:cNvPr id="5" name="Рисунок 4"/>
          <p:cNvPicPr>
            <a:picLocks noChangeAspect="1"/>
          </p:cNvPicPr>
          <p:nvPr/>
        </p:nvPicPr>
        <p:blipFill>
          <a:blip r:embed="rId4"/>
          <a:stretch>
            <a:fillRect/>
          </a:stretch>
        </p:blipFill>
        <p:spPr>
          <a:xfrm>
            <a:off x="7817798" y="2912733"/>
            <a:ext cx="2838450" cy="2505075"/>
          </a:xfrm>
          <a:prstGeom prst="rect">
            <a:avLst/>
          </a:prstGeom>
        </p:spPr>
      </p:pic>
    </p:spTree>
    <p:extLst>
      <p:ext uri="{BB962C8B-B14F-4D97-AF65-F5344CB8AC3E}">
        <p14:creationId xmlns:p14="http://schemas.microsoft.com/office/powerpoint/2010/main" val="18933785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Примеры. Простейшие цепи. </a:t>
            </a:r>
            <a:r>
              <a:rPr lang="en-US" dirty="0" smtClean="0"/>
              <a:t>RL </a:t>
            </a:r>
            <a:r>
              <a:rPr lang="ru-RU" dirty="0" smtClean="0"/>
              <a:t>цепь </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a:bodyPr>
              <a:lstStyle/>
              <a:p>
                <a:pPr marL="0" indent="0">
                  <a:buNone/>
                </a:pPr>
                <a:r>
                  <a:rPr lang="ru-RU" b="1" i="1" dirty="0" smtClean="0">
                    <a:ea typeface="Cambria Math" panose="02040503050406030204" pitchFamily="18" charset="0"/>
                  </a:rPr>
                  <a:t>		</a:t>
                </a:r>
                <a:r>
                  <a:rPr lang="en-US" b="1" i="1" dirty="0" smtClean="0">
                    <a:ea typeface="Cambria Math" panose="02040503050406030204" pitchFamily="18" charset="0"/>
                  </a:rPr>
                  <a:t>	E(t) – </a:t>
                </a:r>
                <a:r>
                  <a:rPr lang="ru-RU" b="1" i="1" dirty="0" smtClean="0">
                    <a:ea typeface="Cambria Math" panose="02040503050406030204" pitchFamily="18" charset="0"/>
                  </a:rPr>
                  <a:t>источник постоянного напряжения Е</a:t>
                </a:r>
                <a:endParaRPr lang="en-US" b="1" i="1" dirty="0" smtClean="0">
                  <a:ea typeface="Cambria Math" panose="02040503050406030204" pitchFamily="18" charset="0"/>
                </a:endParaRPr>
              </a:p>
              <a:p>
                <a:pPr marL="0" indent="0">
                  <a:buNone/>
                </a:pPr>
                <a:r>
                  <a:rPr lang="en-US" b="1" i="1" dirty="0">
                    <a:ea typeface="Cambria Math" panose="02040503050406030204" pitchFamily="18" charset="0"/>
                  </a:rPr>
                  <a:t>	</a:t>
                </a:r>
                <a:r>
                  <a:rPr lang="en-US" b="1" i="1" dirty="0" smtClean="0">
                    <a:ea typeface="Cambria Math" panose="02040503050406030204" pitchFamily="18" charset="0"/>
                  </a:rPr>
                  <a:t>		t=</a:t>
                </a:r>
                <a:r>
                  <a:rPr lang="ru-RU" b="1" i="1" dirty="0" smtClean="0">
                    <a:ea typeface="Cambria Math" panose="02040503050406030204" pitchFamily="18" charset="0"/>
                  </a:rPr>
                  <a:t>+</a:t>
                </a:r>
                <a:r>
                  <a:rPr lang="en-US" b="1" i="1" dirty="0" smtClean="0">
                    <a:ea typeface="Cambria Math" panose="02040503050406030204" pitchFamily="18" charset="0"/>
                  </a:rPr>
                  <a:t>0 </a:t>
                </a:r>
                <a:r>
                  <a:rPr lang="ru-RU" b="1" i="1" dirty="0" smtClean="0">
                    <a:ea typeface="Cambria Math" panose="02040503050406030204" pitchFamily="18" charset="0"/>
                  </a:rPr>
                  <a:t>Выключение источника(</a:t>
                </a:r>
                <a:r>
                  <a:rPr lang="en-US" b="1" i="1" dirty="0" smtClean="0">
                    <a:ea typeface="Cambria Math" panose="02040503050406030204" pitchFamily="18" charset="0"/>
                  </a:rPr>
                  <a:t>E(0+)=0</a:t>
                </a:r>
                <a:r>
                  <a:rPr lang="ru-RU" b="1" i="1" dirty="0" smtClean="0">
                    <a:ea typeface="Cambria Math" panose="02040503050406030204" pitchFamily="18" charset="0"/>
                  </a:rPr>
                  <a:t>)</a:t>
                </a:r>
                <a:endParaRPr lang="en-US" b="1" i="1" dirty="0" smtClean="0">
                  <a:ea typeface="Cambria Math" panose="02040503050406030204" pitchFamily="18" charset="0"/>
                </a:endParaRPr>
              </a:p>
              <a:p>
                <a:pPr marL="0" indent="0">
                  <a:buNone/>
                </a:pPr>
                <a:r>
                  <a:rPr lang="en-US" b="1" i="1" dirty="0">
                    <a:ea typeface="Cambria Math" panose="02040503050406030204" pitchFamily="18" charset="0"/>
                  </a:rPr>
                  <a:t>	</a:t>
                </a:r>
                <a:r>
                  <a:rPr lang="en-US" b="1" i="1" dirty="0" smtClean="0">
                    <a:ea typeface="Cambria Math" panose="02040503050406030204" pitchFamily="18" charset="0"/>
                  </a:rPr>
                  <a:t>	</a:t>
                </a:r>
                <a:r>
                  <a:rPr lang="ru-RU" b="1" i="1" dirty="0" smtClean="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𝑖</m:t>
                        </m:r>
                      </m:e>
                      <m:sub>
                        <m:r>
                          <a:rPr lang="ru-RU" b="0" i="1" smtClean="0">
                            <a:latin typeface="Cambria Math" panose="02040503050406030204" pitchFamily="18" charset="0"/>
                            <a:ea typeface="Cambria Math" panose="02040503050406030204" pitchFamily="18" charset="0"/>
                          </a:rPr>
                          <m:t>пр</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𝑡</m:t>
                        </m:r>
                      </m:e>
                    </m:d>
                    <m:r>
                      <a:rPr lang="en-US" i="1">
                        <a:latin typeface="Cambria Math" panose="02040503050406030204" pitchFamily="18" charset="0"/>
                        <a:ea typeface="Cambria Math" panose="02040503050406030204" pitchFamily="18" charset="0"/>
                      </a:rPr>
                      <m:t>=</m:t>
                    </m:r>
                    <m:r>
                      <a:rPr lang="ru-RU" i="1" smtClean="0">
                        <a:latin typeface="Cambria Math" panose="02040503050406030204" pitchFamily="18" charset="0"/>
                        <a:ea typeface="Cambria Math" panose="02040503050406030204" pitchFamily="18" charset="0"/>
                      </a:rPr>
                      <m:t>0</m:t>
                    </m:r>
                  </m:oMath>
                </a14:m>
                <a:endParaRPr lang="en-US" b="1" i="1" dirty="0" smtClean="0">
                  <a:ea typeface="Cambria Math" panose="02040503050406030204" pitchFamily="18" charset="0"/>
                </a:endParaRPr>
              </a:p>
              <a:p>
                <a:pPr marL="0" indent="0">
                  <a:buNone/>
                </a:pPr>
                <a:r>
                  <a:rPr lang="en-US" b="1" i="1" dirty="0">
                    <a:ea typeface="Cambria Math" panose="02040503050406030204" pitchFamily="18" charset="0"/>
                  </a:rPr>
                  <a:t>	</a:t>
                </a:r>
                <a:r>
                  <a:rPr lang="en-US" b="1" i="1" dirty="0" smtClean="0">
                    <a:ea typeface="Cambria Math" panose="02040503050406030204" pitchFamily="18" charset="0"/>
                  </a:rPr>
                  <a:t>		</a:t>
                </a:r>
                <a14:m>
                  <m:oMath xmlns:m="http://schemas.openxmlformats.org/officeDocument/2006/math">
                    <m:r>
                      <a:rPr lang="en-US" b="0" i="1" smtClean="0">
                        <a:latin typeface="Cambria Math" panose="02040503050406030204" pitchFamily="18" charset="0"/>
                        <a:ea typeface="Cambria Math" panose="02040503050406030204" pitchFamily="18" charset="0"/>
                      </a:rPr>
                      <m:t>𝑖</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𝑡</m:t>
                        </m:r>
                      </m:e>
                    </m:d>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𝐴</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𝑅</m:t>
                            </m:r>
                          </m:num>
                          <m:den>
                            <m:r>
                              <a:rPr lang="en-US" i="1">
                                <a:latin typeface="Cambria Math" panose="02040503050406030204" pitchFamily="18" charset="0"/>
                                <a:ea typeface="Cambria Math" panose="02040503050406030204" pitchFamily="18" charset="0"/>
                              </a:rPr>
                              <m:t>𝐿</m:t>
                            </m:r>
                          </m:den>
                        </m:f>
                        <m:r>
                          <a:rPr lang="en-US" i="1">
                            <a:latin typeface="Cambria Math" panose="02040503050406030204" pitchFamily="18" charset="0"/>
                            <a:ea typeface="Cambria Math" panose="02040503050406030204" pitchFamily="18" charset="0"/>
                          </a:rPr>
                          <m:t>𝑡</m:t>
                        </m:r>
                      </m:sup>
                    </m:sSup>
                  </m:oMath>
                </a14:m>
                <a:endParaRPr lang="ru-RU" b="1" i="1" dirty="0" smtClean="0">
                  <a:ea typeface="Cambria Math" panose="02040503050406030204" pitchFamily="18" charset="0"/>
                </a:endParaRPr>
              </a:p>
              <a:p>
                <a:pPr marL="0" indent="0">
                  <a:buNone/>
                </a:pPr>
                <a:r>
                  <a:rPr lang="en-US" dirty="0" smtClean="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𝑖</m:t>
                    </m:r>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m:t>
                        </m:r>
                      </m:e>
                    </m:d>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𝐸</m:t>
                        </m:r>
                      </m:num>
                      <m:den>
                        <m:r>
                          <a:rPr lang="en-US" i="1">
                            <a:latin typeface="Cambria Math" panose="02040503050406030204" pitchFamily="18" charset="0"/>
                            <a:ea typeface="Cambria Math" panose="02040503050406030204" pitchFamily="18" charset="0"/>
                          </a:rPr>
                          <m:t>𝑅</m:t>
                        </m:r>
                      </m:den>
                    </m:f>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𝐸</m:t>
                        </m:r>
                      </m:num>
                      <m:den>
                        <m:r>
                          <a:rPr lang="en-US" i="1">
                            <a:latin typeface="Cambria Math" panose="02040503050406030204" pitchFamily="18" charset="0"/>
                            <a:ea typeface="Cambria Math" panose="02040503050406030204" pitchFamily="18" charset="0"/>
                          </a:rPr>
                          <m:t>𝑅</m:t>
                        </m:r>
                      </m:den>
                    </m:f>
                  </m:oMath>
                </a14:m>
                <a:endParaRPr lang="en-US" dirty="0" smtClean="0">
                  <a:ea typeface="Cambria Math" panose="02040503050406030204" pitchFamily="18" charset="0"/>
                </a:endParaRPr>
              </a:p>
              <a:p>
                <a:pPr marL="0" indent="0">
                  <a:buNone/>
                </a:pPr>
                <a:r>
                  <a:rPr lang="en-US" dirty="0" smtClean="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𝑖</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𝑡</m:t>
                        </m:r>
                      </m:e>
                    </m:d>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𝐸</m:t>
                        </m:r>
                      </m:num>
                      <m:den>
                        <m:r>
                          <a:rPr lang="en-US" i="1">
                            <a:latin typeface="Cambria Math" panose="02040503050406030204" pitchFamily="18" charset="0"/>
                            <a:ea typeface="Cambria Math" panose="02040503050406030204" pitchFamily="18" charset="0"/>
                          </a:rPr>
                          <m:t>𝑅</m:t>
                        </m:r>
                      </m:den>
                    </m:f>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𝑅</m:t>
                            </m:r>
                          </m:num>
                          <m:den>
                            <m:r>
                              <a:rPr lang="en-US" i="1">
                                <a:latin typeface="Cambria Math" panose="02040503050406030204" pitchFamily="18" charset="0"/>
                                <a:ea typeface="Cambria Math" panose="02040503050406030204" pitchFamily="18" charset="0"/>
                              </a:rPr>
                              <m:t>𝐿</m:t>
                            </m:r>
                          </m:den>
                        </m:f>
                        <m:r>
                          <a:rPr lang="en-US" i="1">
                            <a:latin typeface="Cambria Math" panose="02040503050406030204" pitchFamily="18" charset="0"/>
                            <a:ea typeface="Cambria Math" panose="02040503050406030204" pitchFamily="18" charset="0"/>
                          </a:rPr>
                          <m:t>𝑡</m:t>
                        </m:r>
                      </m:sup>
                    </m:sSup>
                  </m:oMath>
                </a14:m>
                <a:endParaRPr lang="ru-RU" dirty="0" smtClean="0">
                  <a:ea typeface="Cambria Math" panose="02040503050406030204" pitchFamily="18" charset="0"/>
                </a:endParaRPr>
              </a:p>
              <a:p>
                <a:endParaRPr lang="en-US" dirty="0">
                  <a:ea typeface="Cambria Math" panose="02040503050406030204" pitchFamily="18" charset="0"/>
                </a:endParaRPr>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t="-2241"/>
                </a:stretch>
              </a:blipFill>
            </p:spPr>
            <p:txBody>
              <a:bodyPr/>
              <a:lstStyle/>
              <a:p>
                <a:r>
                  <a:rPr lang="ru-RU">
                    <a:noFill/>
                  </a:rPr>
                  <a:t> </a:t>
                </a:r>
              </a:p>
            </p:txBody>
          </p:sp>
        </mc:Fallback>
      </mc:AlternateContent>
      <p:pic>
        <p:nvPicPr>
          <p:cNvPr id="5" name="Рисунок 4"/>
          <p:cNvPicPr>
            <a:picLocks noChangeAspect="1"/>
          </p:cNvPicPr>
          <p:nvPr/>
        </p:nvPicPr>
        <p:blipFill>
          <a:blip r:embed="rId3"/>
          <a:stretch>
            <a:fillRect/>
          </a:stretch>
        </p:blipFill>
        <p:spPr>
          <a:xfrm>
            <a:off x="7342785" y="3365973"/>
            <a:ext cx="2838450" cy="1895475"/>
          </a:xfrm>
          <a:prstGeom prst="rect">
            <a:avLst/>
          </a:prstGeom>
        </p:spPr>
      </p:pic>
      <p:pic>
        <p:nvPicPr>
          <p:cNvPr id="6" name="Рисунок 5"/>
          <p:cNvPicPr>
            <a:picLocks noChangeAspect="1"/>
          </p:cNvPicPr>
          <p:nvPr/>
        </p:nvPicPr>
        <p:blipFill>
          <a:blip r:embed="rId4"/>
          <a:stretch>
            <a:fillRect/>
          </a:stretch>
        </p:blipFill>
        <p:spPr>
          <a:xfrm>
            <a:off x="991589" y="1825625"/>
            <a:ext cx="1811829" cy="1641970"/>
          </a:xfrm>
          <a:prstGeom prst="rect">
            <a:avLst/>
          </a:prstGeom>
        </p:spPr>
      </p:pic>
    </p:spTree>
    <p:extLst>
      <p:ext uri="{BB962C8B-B14F-4D97-AF65-F5344CB8AC3E}">
        <p14:creationId xmlns:p14="http://schemas.microsoft.com/office/powerpoint/2010/main" val="38881311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Примеры. Простейшие цепи. </a:t>
            </a:r>
            <a:r>
              <a:rPr lang="en-US" dirty="0" smtClean="0"/>
              <a:t>RL </a:t>
            </a:r>
            <a:r>
              <a:rPr lang="ru-RU" dirty="0" smtClean="0"/>
              <a:t>цепь </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fontScale="92500" lnSpcReduction="10000"/>
              </a:bodyPr>
              <a:lstStyle/>
              <a:p>
                <a:pPr marL="0" indent="0">
                  <a:buNone/>
                </a:pPr>
                <a:r>
                  <a:rPr lang="ru-RU" b="1" i="1" dirty="0" smtClean="0">
                    <a:ea typeface="Cambria Math" panose="02040503050406030204" pitchFamily="18" charset="0"/>
                  </a:rPr>
                  <a:t>		</a:t>
                </a:r>
                <a:r>
                  <a:rPr lang="en-US" b="1" i="1" dirty="0" smtClean="0">
                    <a:ea typeface="Cambria Math" panose="02040503050406030204" pitchFamily="18" charset="0"/>
                  </a:rPr>
                  <a:t>	E(t) – </a:t>
                </a:r>
                <a:r>
                  <a:rPr lang="ru-RU" b="1" i="1" dirty="0" smtClean="0">
                    <a:ea typeface="Cambria Math" panose="02040503050406030204" pitchFamily="18" charset="0"/>
                  </a:rPr>
                  <a:t>источник переменного напряжения </a:t>
                </a:r>
                <a:r>
                  <a:rPr lang="en-US" b="1" i="1" dirty="0" smtClean="0">
                    <a:ea typeface="Cambria Math" panose="02040503050406030204" pitchFamily="18" charset="0"/>
                  </a:rPr>
                  <a:t>				</a:t>
                </a:r>
                <a14:m>
                  <m:oMath xmlns:m="http://schemas.openxmlformats.org/officeDocument/2006/math">
                    <m:r>
                      <a:rPr lang="ru-RU" b="1" i="1" smtClean="0">
                        <a:latin typeface="Cambria Math" panose="02040503050406030204" pitchFamily="18" charset="0"/>
                        <a:ea typeface="Cambria Math" panose="02040503050406030204" pitchFamily="18" charset="0"/>
                      </a:rPr>
                      <m:t>	</m:t>
                    </m:r>
                    <m:sSub>
                      <m:sSubPr>
                        <m:ctrlPr>
                          <a:rPr lang="en-US" b="1" i="1" smtClean="0">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𝑬</m:t>
                        </m:r>
                      </m:e>
                      <m:sub>
                        <m:r>
                          <a:rPr lang="en-US" b="1" i="1" smtClean="0">
                            <a:latin typeface="Cambria Math" panose="02040503050406030204" pitchFamily="18" charset="0"/>
                            <a:ea typeface="Cambria Math" panose="02040503050406030204" pitchFamily="18" charset="0"/>
                          </a:rPr>
                          <m:t>𝒎</m:t>
                        </m:r>
                      </m:sub>
                    </m:sSub>
                    <m:r>
                      <a:rPr lang="en-US" b="1" i="1" smtClean="0">
                        <a:latin typeface="Cambria Math" panose="02040503050406030204" pitchFamily="18" charset="0"/>
                        <a:ea typeface="Cambria Math" panose="02040503050406030204" pitchFamily="18" charset="0"/>
                      </a:rPr>
                      <m:t>𝒔𝒊𝒏</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𝝎</m:t>
                    </m:r>
                    <m:r>
                      <a:rPr lang="en-US" b="1" i="1" smtClean="0">
                        <a:latin typeface="Cambria Math" panose="02040503050406030204" pitchFamily="18" charset="0"/>
                        <a:ea typeface="Cambria Math" panose="02040503050406030204" pitchFamily="18" charset="0"/>
                      </a:rPr>
                      <m:t>𝒕</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𝝋</m:t>
                    </m:r>
                    <m:r>
                      <a:rPr lang="en-US" b="1" i="1" smtClean="0">
                        <a:latin typeface="Cambria Math" panose="02040503050406030204" pitchFamily="18" charset="0"/>
                        <a:ea typeface="Cambria Math" panose="02040503050406030204" pitchFamily="18" charset="0"/>
                      </a:rPr>
                      <m:t>)</m:t>
                    </m:r>
                  </m:oMath>
                </a14:m>
                <a:endParaRPr lang="en-US" b="1" i="1" dirty="0" smtClean="0">
                  <a:ea typeface="Cambria Math" panose="02040503050406030204" pitchFamily="18" charset="0"/>
                </a:endParaRPr>
              </a:p>
              <a:p>
                <a:pPr marL="0" indent="0">
                  <a:buNone/>
                </a:pPr>
                <a:r>
                  <a:rPr lang="en-US" b="1" i="1" dirty="0">
                    <a:ea typeface="Cambria Math" panose="02040503050406030204" pitchFamily="18" charset="0"/>
                  </a:rPr>
                  <a:t>	</a:t>
                </a:r>
                <a:r>
                  <a:rPr lang="en-US" b="1" i="1" dirty="0" smtClean="0">
                    <a:ea typeface="Cambria Math" panose="02040503050406030204" pitchFamily="18" charset="0"/>
                  </a:rPr>
                  <a:t>		t=0 </a:t>
                </a:r>
                <a:r>
                  <a:rPr lang="ru-RU" b="1" i="1" dirty="0" smtClean="0">
                    <a:ea typeface="Cambria Math" panose="02040503050406030204" pitchFamily="18" charset="0"/>
                  </a:rPr>
                  <a:t>замыкание ключа </a:t>
                </a:r>
              </a:p>
              <a:p>
                <a:pPr marL="0" indent="0">
                  <a:buNone/>
                </a:pPr>
                <a:r>
                  <a:rPr lang="en-US" b="1" i="1" dirty="0">
                    <a:ea typeface="Cambria Math" panose="02040503050406030204" pitchFamily="18" charset="0"/>
                  </a:rPr>
                  <a:t>	</a:t>
                </a:r>
                <a:r>
                  <a:rPr lang="en-US" b="1" i="1" dirty="0" smtClean="0">
                    <a:ea typeface="Cambria Math" panose="02040503050406030204" pitchFamily="18" charset="0"/>
                  </a:rPr>
                  <a:t>	</a:t>
                </a:r>
                <a:r>
                  <a:rPr lang="ru-RU" b="1" i="1" dirty="0" smtClean="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𝑖</m:t>
                        </m:r>
                      </m:e>
                      <m:sub>
                        <m:r>
                          <a:rPr lang="ru-RU" b="0" i="1" smtClean="0">
                            <a:latin typeface="Cambria Math" panose="02040503050406030204" pitchFamily="18" charset="0"/>
                            <a:ea typeface="Cambria Math" panose="02040503050406030204" pitchFamily="18" charset="0"/>
                          </a:rPr>
                          <m:t>пр</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𝑡</m:t>
                        </m:r>
                      </m:e>
                    </m:d>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𝐼</m:t>
                        </m:r>
                      </m:e>
                      <m:sub>
                        <m:r>
                          <a:rPr lang="en-US" b="0" i="1" smtClean="0">
                            <a:latin typeface="Cambria Math" panose="02040503050406030204" pitchFamily="18" charset="0"/>
                            <a:ea typeface="Cambria Math" panose="02040503050406030204" pitchFamily="18" charset="0"/>
                          </a:rPr>
                          <m:t>𝑚</m:t>
                        </m:r>
                      </m:sub>
                    </m:sSub>
                    <m:r>
                      <a:rPr lang="en-US" b="0" i="1">
                        <a:latin typeface="Cambria Math" panose="02040503050406030204" pitchFamily="18" charset="0"/>
                        <a:ea typeface="Cambria Math" panose="02040503050406030204" pitchFamily="18" charset="0"/>
                      </a:rPr>
                      <m:t>𝑠𝑖𝑛</m:t>
                    </m:r>
                    <m:r>
                      <a:rPr lang="en-US" b="0" i="1">
                        <a:latin typeface="Cambria Math" panose="02040503050406030204" pitchFamily="18" charset="0"/>
                        <a:ea typeface="Cambria Math" panose="02040503050406030204" pitchFamily="18" charset="0"/>
                      </a:rPr>
                      <m:t>(</m:t>
                    </m:r>
                    <m:r>
                      <a:rPr lang="en-US" b="0" i="1">
                        <a:latin typeface="Cambria Math" panose="02040503050406030204" pitchFamily="18" charset="0"/>
                        <a:ea typeface="Cambria Math" panose="02040503050406030204" pitchFamily="18" charset="0"/>
                      </a:rPr>
                      <m:t>𝜔</m:t>
                    </m:r>
                    <m:r>
                      <a:rPr lang="en-US" b="0" i="1">
                        <a:latin typeface="Cambria Math" panose="02040503050406030204" pitchFamily="18" charset="0"/>
                        <a:ea typeface="Cambria Math" panose="02040503050406030204" pitchFamily="18" charset="0"/>
                      </a:rPr>
                      <m:t>𝑡</m:t>
                    </m:r>
                    <m:r>
                      <a:rPr lang="en-US" b="0" i="1">
                        <a:latin typeface="Cambria Math" panose="02040503050406030204" pitchFamily="18" charset="0"/>
                        <a:ea typeface="Cambria Math" panose="02040503050406030204" pitchFamily="18" charset="0"/>
                      </a:rPr>
                      <m:t>+</m:t>
                    </m:r>
                    <m:r>
                      <a:rPr lang="en-US" b="0" i="1">
                        <a:latin typeface="Cambria Math" panose="02040503050406030204" pitchFamily="18" charset="0"/>
                        <a:ea typeface="Cambria Math" panose="02040503050406030204" pitchFamily="18" charset="0"/>
                      </a:rPr>
                      <m:t>𝜑</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𝜓</m:t>
                    </m:r>
                    <m:r>
                      <a:rPr lang="en-US" b="0" i="1">
                        <a:latin typeface="Cambria Math" panose="02040503050406030204" pitchFamily="18" charset="0"/>
                        <a:ea typeface="Cambria Math" panose="02040503050406030204" pitchFamily="18" charset="0"/>
                      </a:rPr>
                      <m:t>)</m:t>
                    </m:r>
                  </m:oMath>
                </a14:m>
                <a:r>
                  <a:rPr lang="en-US" i="1" dirty="0" smtClean="0">
                    <a:ea typeface="Cambria Math" panose="02040503050406030204" pitchFamily="18" charset="0"/>
                  </a:rPr>
                  <a:t>; </a:t>
                </a:r>
              </a:p>
              <a:p>
                <a:pPr marL="0" indent="0">
                  <a:buNone/>
                </a:pPr>
                <a:r>
                  <a:rPr lang="en-US" i="1" dirty="0">
                    <a:ea typeface="Cambria Math" panose="02040503050406030204" pitchFamily="18" charset="0"/>
                  </a:rPr>
                  <a:t>	</a:t>
                </a:r>
                <a:r>
                  <a:rPr lang="en-US" i="1" dirty="0" smtClean="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𝐼</m:t>
                        </m:r>
                      </m:e>
                      <m:sub>
                        <m:r>
                          <a:rPr lang="en-US" i="1">
                            <a:latin typeface="Cambria Math" panose="02040503050406030204" pitchFamily="18" charset="0"/>
                            <a:ea typeface="Cambria Math" panose="02040503050406030204" pitchFamily="18" charset="0"/>
                          </a:rPr>
                          <m:t>𝑚</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𝐸</m:t>
                            </m:r>
                          </m:e>
                          <m:sub>
                            <m:r>
                              <a:rPr lang="en-US" b="0" i="1" smtClean="0">
                                <a:latin typeface="Cambria Math" panose="02040503050406030204" pitchFamily="18" charset="0"/>
                                <a:ea typeface="Cambria Math" panose="02040503050406030204" pitchFamily="18" charset="0"/>
                              </a:rPr>
                              <m:t>𝑚</m:t>
                            </m:r>
                          </m:sub>
                        </m:sSub>
                      </m:num>
                      <m:den>
                        <m:rad>
                          <m:radPr>
                            <m:degHide m:val="on"/>
                            <m:ctrlPr>
                              <a:rPr lang="en-US" b="0" i="1" smtClean="0">
                                <a:latin typeface="Cambria Math" panose="02040503050406030204" pitchFamily="18" charset="0"/>
                                <a:ea typeface="Cambria Math" panose="02040503050406030204" pitchFamily="18" charset="0"/>
                              </a:rPr>
                            </m:ctrlPr>
                          </m:radPr>
                          <m:deg/>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𝑅</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𝐿</m:t>
                                </m:r>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2</m:t>
                                </m:r>
                              </m:sup>
                            </m:sSup>
                          </m:e>
                        </m:rad>
                      </m:den>
                    </m:f>
                  </m:oMath>
                </a14:m>
                <a:r>
                  <a:rPr lang="en-US" i="1" dirty="0" smtClean="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𝜓</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𝑎𝑟𝑐𝑡𝑔</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𝐿</m:t>
                        </m:r>
                      </m:num>
                      <m:den>
                        <m:r>
                          <a:rPr lang="en-US" b="0" i="1" smtClean="0">
                            <a:latin typeface="Cambria Math" panose="02040503050406030204" pitchFamily="18" charset="0"/>
                            <a:ea typeface="Cambria Math" panose="02040503050406030204" pitchFamily="18" charset="0"/>
                          </a:rPr>
                          <m:t>𝑅</m:t>
                        </m:r>
                      </m:den>
                    </m:f>
                  </m:oMath>
                </a14:m>
                <a:endParaRPr lang="en-US" i="1" dirty="0">
                  <a:ea typeface="Cambria Math" panose="02040503050406030204" pitchFamily="18" charset="0"/>
                </a:endParaRPr>
              </a:p>
              <a:p>
                <a:pPr marL="0" indent="0">
                  <a:buNone/>
                </a:pPr>
                <a:r>
                  <a:rPr lang="en-US" b="1" i="1" dirty="0">
                    <a:ea typeface="Cambria Math" panose="02040503050406030204" pitchFamily="18" charset="0"/>
                  </a:rPr>
                  <a:t>	</a:t>
                </a:r>
                <a:r>
                  <a:rPr lang="en-US" b="1" i="1" dirty="0" smtClean="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𝑖</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𝑡</m:t>
                        </m:r>
                      </m:e>
                    </m:d>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𝐼</m:t>
                        </m:r>
                      </m:e>
                      <m:sub>
                        <m:r>
                          <a:rPr lang="en-US" i="1">
                            <a:latin typeface="Cambria Math" panose="02040503050406030204" pitchFamily="18" charset="0"/>
                            <a:ea typeface="Cambria Math" panose="02040503050406030204" pitchFamily="18" charset="0"/>
                          </a:rPr>
                          <m:t>𝑚</m:t>
                        </m:r>
                      </m:sub>
                    </m:sSub>
                    <m:r>
                      <a:rPr lang="en-US" i="1">
                        <a:latin typeface="Cambria Math" panose="02040503050406030204" pitchFamily="18" charset="0"/>
                        <a:ea typeface="Cambria Math" panose="02040503050406030204" pitchFamily="18" charset="0"/>
                      </a:rPr>
                      <m:t>𝑠𝑖𝑛</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𝜔</m:t>
                    </m:r>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𝜑</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𝜓</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𝐴</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𝑅</m:t>
                            </m:r>
                          </m:num>
                          <m:den>
                            <m:r>
                              <a:rPr lang="en-US" i="1">
                                <a:latin typeface="Cambria Math" panose="02040503050406030204" pitchFamily="18" charset="0"/>
                                <a:ea typeface="Cambria Math" panose="02040503050406030204" pitchFamily="18" charset="0"/>
                              </a:rPr>
                              <m:t>𝐿</m:t>
                            </m:r>
                          </m:den>
                        </m:f>
                        <m:r>
                          <a:rPr lang="en-US" i="1">
                            <a:latin typeface="Cambria Math" panose="02040503050406030204" pitchFamily="18" charset="0"/>
                            <a:ea typeface="Cambria Math" panose="02040503050406030204" pitchFamily="18" charset="0"/>
                          </a:rPr>
                          <m:t>𝑡</m:t>
                        </m:r>
                      </m:sup>
                    </m:sSup>
                  </m:oMath>
                </a14:m>
                <a:endParaRPr lang="ru-RU" b="1" i="1" dirty="0" smtClean="0">
                  <a:ea typeface="Cambria Math" panose="02040503050406030204" pitchFamily="18" charset="0"/>
                </a:endParaRPr>
              </a:p>
              <a:p>
                <a:pPr marL="0" indent="0">
                  <a:buNone/>
                </a:pPr>
                <a:r>
                  <a:rPr lang="en-US" dirty="0" smtClean="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𝑖</m:t>
                    </m:r>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𝐼</m:t>
                        </m:r>
                      </m:e>
                      <m:sub>
                        <m:r>
                          <a:rPr lang="en-US" i="1">
                            <a:latin typeface="Cambria Math" panose="02040503050406030204" pitchFamily="18" charset="0"/>
                            <a:ea typeface="Cambria Math" panose="02040503050406030204" pitchFamily="18" charset="0"/>
                          </a:rPr>
                          <m:t>𝑚</m:t>
                        </m:r>
                      </m:sub>
                    </m:sSub>
                    <m:r>
                      <a:rPr lang="en-US" i="1">
                        <a:latin typeface="Cambria Math" panose="02040503050406030204" pitchFamily="18" charset="0"/>
                        <a:ea typeface="Cambria Math" panose="02040503050406030204" pitchFamily="18" charset="0"/>
                      </a:rPr>
                      <m:t>𝑠𝑖𝑛</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𝜑</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𝜓</m:t>
                    </m:r>
                    <m:r>
                      <a:rPr lang="en-US" i="1">
                        <a:latin typeface="Cambria Math" panose="02040503050406030204" pitchFamily="18" charset="0"/>
                        <a:ea typeface="Cambria Math" panose="02040503050406030204" pitchFamily="18" charset="0"/>
                      </a:rPr>
                      <m:t>)</m:t>
                    </m:r>
                  </m:oMath>
                </a14:m>
                <a:endParaRPr lang="en-US" dirty="0" smtClean="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𝑖</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𝑡</m:t>
                          </m:r>
                        </m:e>
                      </m:d>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𝐼</m:t>
                          </m:r>
                        </m:e>
                        <m:sub>
                          <m:r>
                            <a:rPr lang="en-US" i="1">
                              <a:latin typeface="Cambria Math" panose="02040503050406030204" pitchFamily="18" charset="0"/>
                              <a:ea typeface="Cambria Math" panose="02040503050406030204" pitchFamily="18" charset="0"/>
                            </a:rPr>
                            <m:t>𝑚</m:t>
                          </m:r>
                        </m:sub>
                      </m:sSub>
                      <m:d>
                        <m:dPr>
                          <m:begChr m:val="["/>
                          <m:endChr m:val="]"/>
                          <m:ctrlPr>
                            <a:rPr lang="en-US" b="0"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𝑠𝑖𝑛</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𝜔</m:t>
                              </m:r>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𝜑</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𝜓</m:t>
                              </m:r>
                            </m:e>
                          </m:d>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𝑠𝑖𝑛</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𝜑</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𝜓</m:t>
                              </m:r>
                            </m:e>
                          </m:d>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𝑅</m:t>
                                  </m:r>
                                </m:num>
                                <m:den>
                                  <m:r>
                                    <a:rPr lang="en-US" i="1">
                                      <a:latin typeface="Cambria Math" panose="02040503050406030204" pitchFamily="18" charset="0"/>
                                      <a:ea typeface="Cambria Math" panose="02040503050406030204" pitchFamily="18" charset="0"/>
                                    </a:rPr>
                                    <m:t>𝐿</m:t>
                                  </m:r>
                                </m:den>
                              </m:f>
                              <m:r>
                                <a:rPr lang="en-US" i="1">
                                  <a:latin typeface="Cambria Math" panose="02040503050406030204" pitchFamily="18" charset="0"/>
                                  <a:ea typeface="Cambria Math" panose="02040503050406030204" pitchFamily="18" charset="0"/>
                                </a:rPr>
                                <m:t>𝑡</m:t>
                              </m:r>
                            </m:sup>
                          </m:sSup>
                        </m:e>
                      </m:d>
                    </m:oMath>
                  </m:oMathPara>
                </a14:m>
                <a:endParaRPr lang="ru-RU" b="0" dirty="0" smtClean="0">
                  <a:ea typeface="Cambria Math" panose="02040503050406030204" pitchFamily="18" charset="0"/>
                </a:endParaRPr>
              </a:p>
              <a:p>
                <a:pPr marL="0" indent="0">
                  <a:buNone/>
                </a:pPr>
                <a:r>
                  <a:rPr lang="ru-RU" dirty="0" smtClean="0">
                    <a:ea typeface="Cambria Math" panose="02040503050406030204" pitchFamily="18" charset="0"/>
                  </a:rPr>
                  <a:t>В случае </a:t>
                </a:r>
                <a14:m>
                  <m:oMath xmlns:m="http://schemas.openxmlformats.org/officeDocument/2006/math">
                    <m:r>
                      <a:rPr lang="en-US" i="1">
                        <a:latin typeface="Cambria Math" panose="02040503050406030204" pitchFamily="18" charset="0"/>
                        <a:ea typeface="Cambria Math" panose="02040503050406030204" pitchFamily="18" charset="0"/>
                      </a:rPr>
                      <m:t>𝜑</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𝜓</m:t>
                    </m:r>
                    <m:r>
                      <a:rPr lang="ru-RU" b="0" i="1" smtClean="0">
                        <a:latin typeface="Cambria Math" panose="02040503050406030204" pitchFamily="18" charset="0"/>
                        <a:ea typeface="Cambria Math" panose="02040503050406030204" pitchFamily="18" charset="0"/>
                      </a:rPr>
                      <m:t>=0</m:t>
                    </m:r>
                    <m:r>
                      <a:rPr lang="ru-RU" b="0" i="0"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𝑖</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𝑡</m:t>
                        </m:r>
                      </m:e>
                    </m:d>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𝐼</m:t>
                        </m:r>
                      </m:e>
                      <m:sub>
                        <m:r>
                          <a:rPr lang="en-US" i="1">
                            <a:latin typeface="Cambria Math" panose="02040503050406030204" pitchFamily="18" charset="0"/>
                            <a:ea typeface="Cambria Math" panose="02040503050406030204" pitchFamily="18" charset="0"/>
                          </a:rPr>
                          <m:t>𝑚</m:t>
                        </m:r>
                      </m:sub>
                    </m:sSub>
                    <m:r>
                      <a:rPr lang="en-US" i="1">
                        <a:latin typeface="Cambria Math" panose="02040503050406030204" pitchFamily="18" charset="0"/>
                        <a:ea typeface="Cambria Math" panose="02040503050406030204" pitchFamily="18" charset="0"/>
                      </a:rPr>
                      <m:t>𝑠𝑖𝑛</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𝜔</m:t>
                        </m:r>
                        <m:r>
                          <a:rPr lang="en-US" i="1">
                            <a:latin typeface="Cambria Math" panose="02040503050406030204" pitchFamily="18" charset="0"/>
                            <a:ea typeface="Cambria Math" panose="02040503050406030204" pitchFamily="18" charset="0"/>
                          </a:rPr>
                          <m:t>𝑡</m:t>
                        </m:r>
                      </m:e>
                    </m:d>
                    <m:r>
                      <a:rPr lang="en-US" b="0" i="0" smtClean="0">
                        <a:latin typeface="Cambria Math" panose="02040503050406030204" pitchFamily="18" charset="0"/>
                        <a:ea typeface="Cambria Math" panose="02040503050406030204" pitchFamily="18" charset="0"/>
                      </a:rPr>
                      <m:t> −</m:t>
                    </m:r>
                    <m:r>
                      <a:rPr lang="ru-RU" b="0" i="0" smtClean="0">
                        <a:latin typeface="Cambria Math" panose="02040503050406030204" pitchFamily="18" charset="0"/>
                        <a:ea typeface="Cambria Math" panose="02040503050406030204" pitchFamily="18" charset="0"/>
                      </a:rPr>
                      <m:t>переходного процесса нет</m:t>
                    </m:r>
                  </m:oMath>
                </a14:m>
                <a:endParaRPr lang="ru-RU" b="0" dirty="0" smtClean="0">
                  <a:ea typeface="Cambria Math" panose="02040503050406030204" pitchFamily="18" charset="0"/>
                </a:endParaRPr>
              </a:p>
              <a:p>
                <a:pPr marL="0" indent="0">
                  <a:buNone/>
                </a:pPr>
                <a:endParaRPr lang="ru-RU" dirty="0" smtClean="0">
                  <a:ea typeface="Cambria Math" panose="02040503050406030204" pitchFamily="18" charset="0"/>
                </a:endParaRPr>
              </a:p>
              <a:p>
                <a:endParaRPr lang="en-US" dirty="0">
                  <a:ea typeface="Cambria Math" panose="02040503050406030204" pitchFamily="18" charset="0"/>
                </a:endParaRPr>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1043" t="-2801" b="-2101"/>
                </a:stretch>
              </a:blipFill>
            </p:spPr>
            <p:txBody>
              <a:bodyPr/>
              <a:lstStyle/>
              <a:p>
                <a:r>
                  <a:rPr lang="ru-RU">
                    <a:noFill/>
                  </a:rPr>
                  <a:t> </a:t>
                </a:r>
              </a:p>
            </p:txBody>
          </p:sp>
        </mc:Fallback>
      </mc:AlternateContent>
      <p:pic>
        <p:nvPicPr>
          <p:cNvPr id="4" name="Рисунок 3"/>
          <p:cNvPicPr>
            <a:picLocks noChangeAspect="1"/>
          </p:cNvPicPr>
          <p:nvPr/>
        </p:nvPicPr>
        <p:blipFill>
          <a:blip r:embed="rId3"/>
          <a:stretch>
            <a:fillRect/>
          </a:stretch>
        </p:blipFill>
        <p:spPr>
          <a:xfrm>
            <a:off x="1050965" y="1944274"/>
            <a:ext cx="1674421" cy="1582851"/>
          </a:xfrm>
          <a:prstGeom prst="rect">
            <a:avLst/>
          </a:prstGeom>
        </p:spPr>
      </p:pic>
      <p:pic>
        <p:nvPicPr>
          <p:cNvPr id="7" name="Рисунок 6"/>
          <p:cNvPicPr>
            <a:picLocks noChangeAspect="1"/>
          </p:cNvPicPr>
          <p:nvPr/>
        </p:nvPicPr>
        <p:blipFill>
          <a:blip r:embed="rId4"/>
          <a:stretch>
            <a:fillRect/>
          </a:stretch>
        </p:blipFill>
        <p:spPr>
          <a:xfrm>
            <a:off x="9139237" y="2417462"/>
            <a:ext cx="2847975" cy="2505075"/>
          </a:xfrm>
          <a:prstGeom prst="rect">
            <a:avLst/>
          </a:prstGeom>
        </p:spPr>
      </p:pic>
    </p:spTree>
    <p:extLst>
      <p:ext uri="{BB962C8B-B14F-4D97-AF65-F5344CB8AC3E}">
        <p14:creationId xmlns:p14="http://schemas.microsoft.com/office/powerpoint/2010/main" val="38435975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Примеры. Простейшие цепи. </a:t>
            </a:r>
            <a:r>
              <a:rPr lang="en-US" dirty="0" smtClean="0"/>
              <a:t>R</a:t>
            </a:r>
            <a:r>
              <a:rPr lang="ru-RU" dirty="0" smtClean="0"/>
              <a:t>С</a:t>
            </a:r>
            <a:r>
              <a:rPr lang="en-US" dirty="0" smtClean="0"/>
              <a:t> </a:t>
            </a:r>
            <a:r>
              <a:rPr lang="ru-RU" dirty="0" smtClean="0"/>
              <a:t>цепь </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fontScale="70000" lnSpcReduction="20000"/>
              </a:bodyPr>
              <a:lstStyle/>
              <a:p>
                <a:pPr marL="0" indent="0">
                  <a:buNone/>
                </a:pPr>
                <a:r>
                  <a:rPr lang="ru-RU" b="1" i="1" dirty="0" smtClean="0">
                    <a:ea typeface="Cambria Math" panose="02040503050406030204" pitchFamily="18" charset="0"/>
                  </a:rPr>
                  <a:t>		</a:t>
                </a:r>
                <a:r>
                  <a:rPr lang="en-US" b="1" i="1" dirty="0" smtClean="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𝑅</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𝑑𝑖</m:t>
                        </m:r>
                      </m:num>
                      <m:den>
                        <m:r>
                          <a:rPr lang="en-US" i="1">
                            <a:latin typeface="Cambria Math" panose="02040503050406030204" pitchFamily="18" charset="0"/>
                            <a:ea typeface="Cambria Math" panose="02040503050406030204" pitchFamily="18" charset="0"/>
                          </a:rPr>
                          <m:t>𝑑𝑡</m:t>
                        </m:r>
                      </m:den>
                    </m:f>
                    <m:r>
                      <a:rPr lang="en-US" i="1">
                        <a:latin typeface="Cambria Math" panose="02040503050406030204" pitchFamily="18" charset="0"/>
                        <a:ea typeface="Cambria Math" panose="02040503050406030204" pitchFamily="18" charset="0"/>
                      </a:rPr>
                      <m:t>+</m:t>
                    </m:r>
                    <m:f>
                      <m:fPr>
                        <m:ctrlPr>
                          <a:rPr lang="en-US"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𝑖</m:t>
                        </m:r>
                      </m:num>
                      <m:den>
                        <m:r>
                          <a:rPr lang="en-US" b="0" i="1" smtClean="0">
                            <a:latin typeface="Cambria Math" panose="02040503050406030204" pitchFamily="18" charset="0"/>
                            <a:ea typeface="Cambria Math" panose="02040503050406030204" pitchFamily="18" charset="0"/>
                          </a:rPr>
                          <m:t>𝐶</m:t>
                        </m:r>
                      </m:den>
                    </m:f>
                    <m:r>
                      <a:rPr lang="ru-RU" i="1">
                        <a:latin typeface="Cambria Math" panose="02040503050406030204" pitchFamily="18" charset="0"/>
                        <a:ea typeface="Cambria Math" panose="02040503050406030204" pitchFamily="18" charset="0"/>
                      </a:rPr>
                      <m:t>=</m:t>
                    </m:r>
                    <m:f>
                      <m:fPr>
                        <m:ctrlPr>
                          <a:rPr lang="ru-RU"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𝑑</m:t>
                        </m:r>
                      </m:num>
                      <m:den>
                        <m:r>
                          <a:rPr lang="en-US" b="0" i="1" smtClean="0">
                            <a:latin typeface="Cambria Math" panose="02040503050406030204" pitchFamily="18" charset="0"/>
                            <a:ea typeface="Cambria Math" panose="02040503050406030204" pitchFamily="18" charset="0"/>
                          </a:rPr>
                          <m:t>𝑑𝑡</m:t>
                        </m:r>
                      </m:den>
                    </m:f>
                    <m:r>
                      <a:rPr lang="en-US" i="1">
                        <a:latin typeface="Cambria Math" panose="02040503050406030204" pitchFamily="18" charset="0"/>
                        <a:ea typeface="Cambria Math" panose="02040503050406030204" pitchFamily="18" charset="0"/>
                      </a:rPr>
                      <m:t>𝐸</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oMath>
                </a14:m>
                <a:endParaRPr lang="ru-RU" b="1" i="1" dirty="0">
                  <a:ea typeface="Cambria Math" panose="02040503050406030204" pitchFamily="18" charset="0"/>
                </a:endParaRPr>
              </a:p>
              <a:p>
                <a:pPr marL="0" indent="0">
                  <a:buNone/>
                </a:pPr>
                <a:r>
                  <a:rPr lang="ru-RU" b="1" i="1" dirty="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𝑖</m:t>
                        </m:r>
                      </m:e>
                      <m:sub>
                        <m:r>
                          <a:rPr lang="ru-RU" i="1">
                            <a:latin typeface="Cambria Math" panose="02040503050406030204" pitchFamily="18" charset="0"/>
                            <a:ea typeface="Cambria Math" panose="02040503050406030204" pitchFamily="18" charset="0"/>
                          </a:rPr>
                          <m:t>своб</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𝑡</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𝐴</m:t>
                    </m:r>
                    <m:sSup>
                      <m:sSupPr>
                        <m:ctrlPr>
                          <a:rPr lang="en-US"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𝑡</m:t>
                            </m:r>
                          </m:num>
                          <m:den>
                            <m:r>
                              <a:rPr lang="en-US" b="0" i="1" smtClean="0">
                                <a:latin typeface="Cambria Math" panose="02040503050406030204" pitchFamily="18" charset="0"/>
                                <a:ea typeface="Cambria Math" panose="02040503050406030204" pitchFamily="18" charset="0"/>
                              </a:rPr>
                              <m:t>𝑅𝐶</m:t>
                            </m:r>
                          </m:den>
                        </m:f>
                      </m:sup>
                    </m:sSup>
                  </m:oMath>
                </a14:m>
                <a:endParaRPr lang="en-US" b="1" i="1" dirty="0">
                  <a:ea typeface="Cambria Math" panose="02040503050406030204" pitchFamily="18" charset="0"/>
                </a:endParaRPr>
              </a:p>
              <a:p>
                <a:pPr marL="0" indent="0">
                  <a:buNone/>
                </a:pPr>
                <a:r>
                  <a:rPr lang="en-US" b="1" i="1"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𝑖</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𝑡</m:t>
                        </m:r>
                      </m:e>
                    </m:d>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𝑖</m:t>
                        </m:r>
                      </m:e>
                      <m:sub>
                        <m:r>
                          <a:rPr lang="ru-RU" i="1">
                            <a:latin typeface="Cambria Math" panose="02040503050406030204" pitchFamily="18" charset="0"/>
                            <a:ea typeface="Cambria Math" panose="02040503050406030204" pitchFamily="18" charset="0"/>
                          </a:rPr>
                          <m:t>пр</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𝑡</m:t>
                        </m:r>
                      </m:e>
                    </m:d>
                    <m:r>
                      <a:rPr lang="ru-RU"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𝐴</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𝑡</m:t>
                            </m:r>
                          </m:num>
                          <m:den>
                            <m:r>
                              <a:rPr lang="en-US" i="1">
                                <a:latin typeface="Cambria Math" panose="02040503050406030204" pitchFamily="18" charset="0"/>
                                <a:ea typeface="Cambria Math" panose="02040503050406030204" pitchFamily="18" charset="0"/>
                              </a:rPr>
                              <m:t>𝑅𝐶</m:t>
                            </m:r>
                          </m:den>
                        </m:f>
                      </m:sup>
                    </m:sSup>
                  </m:oMath>
                </a14:m>
                <a:endParaRPr lang="ru-RU" b="1" i="1" dirty="0" smtClean="0">
                  <a:ea typeface="Cambria Math" panose="02040503050406030204" pitchFamily="18" charset="0"/>
                </a:endParaRPr>
              </a:p>
              <a:p>
                <a:pPr marL="0" indent="0">
                  <a:buNone/>
                </a:pPr>
                <a:r>
                  <a:rPr lang="ru-RU" b="1" i="1" dirty="0">
                    <a:ea typeface="Cambria Math" panose="02040503050406030204" pitchFamily="18" charset="0"/>
                  </a:rPr>
                  <a:t>	</a:t>
                </a:r>
                <a:r>
                  <a:rPr lang="ru-RU" b="1" i="1" dirty="0" smtClean="0">
                    <a:ea typeface="Cambria Math" panose="02040503050406030204" pitchFamily="18" charset="0"/>
                  </a:rPr>
                  <a:t>		</a:t>
                </a:r>
                <a:r>
                  <a:rPr lang="en-US" b="1" i="1" dirty="0" smtClean="0">
                    <a:ea typeface="Cambria Math" panose="02040503050406030204" pitchFamily="18" charset="0"/>
                  </a:rPr>
                  <a:t>E(t) – </a:t>
                </a:r>
                <a:r>
                  <a:rPr lang="ru-RU" b="1" i="1" dirty="0" smtClean="0">
                    <a:ea typeface="Cambria Math" panose="02040503050406030204" pitchFamily="18" charset="0"/>
                  </a:rPr>
                  <a:t>источник постоянного напряжения Е</a:t>
                </a:r>
                <a:endParaRPr lang="en-US" b="1" i="1" dirty="0" smtClean="0">
                  <a:ea typeface="Cambria Math" panose="02040503050406030204" pitchFamily="18" charset="0"/>
                </a:endParaRPr>
              </a:p>
              <a:p>
                <a:pPr marL="0" indent="0">
                  <a:buNone/>
                </a:pPr>
                <a:r>
                  <a:rPr lang="en-US" b="1" i="1" dirty="0">
                    <a:ea typeface="Cambria Math" panose="02040503050406030204" pitchFamily="18" charset="0"/>
                  </a:rPr>
                  <a:t>	</a:t>
                </a:r>
                <a:r>
                  <a:rPr lang="en-US" b="1" i="1" dirty="0" smtClean="0">
                    <a:ea typeface="Cambria Math" panose="02040503050406030204" pitchFamily="18" charset="0"/>
                  </a:rPr>
                  <a:t>		t=0 </a:t>
                </a:r>
                <a:r>
                  <a:rPr lang="ru-RU" b="1" i="1" dirty="0" smtClean="0">
                    <a:ea typeface="Cambria Math" panose="02040503050406030204" pitchFamily="18" charset="0"/>
                  </a:rPr>
                  <a:t>замыкание ключа</a:t>
                </a:r>
                <a:endParaRPr lang="en-US" b="1" i="1" dirty="0" smtClean="0">
                  <a:ea typeface="Cambria Math" panose="02040503050406030204" pitchFamily="18" charset="0"/>
                </a:endParaRPr>
              </a:p>
              <a:p>
                <a:pPr marL="0" indent="0">
                  <a:buNone/>
                </a:pPr>
                <a:r>
                  <a:rPr lang="en-US" b="1" i="1" dirty="0">
                    <a:ea typeface="Cambria Math" panose="02040503050406030204" pitchFamily="18" charset="0"/>
                  </a:rPr>
                  <a:t>	</a:t>
                </a:r>
                <a:r>
                  <a:rPr lang="en-US" b="1" i="1" dirty="0" smtClean="0">
                    <a:ea typeface="Cambria Math" panose="02040503050406030204" pitchFamily="18" charset="0"/>
                  </a:rPr>
                  <a:t>	</a:t>
                </a:r>
                <a:r>
                  <a:rPr lang="ru-RU" b="1" i="1" dirty="0" smtClean="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𝑖</m:t>
                        </m:r>
                      </m:e>
                      <m:sub>
                        <m:r>
                          <a:rPr lang="ru-RU" b="0" i="1" smtClean="0">
                            <a:latin typeface="Cambria Math" panose="02040503050406030204" pitchFamily="18" charset="0"/>
                            <a:ea typeface="Cambria Math" panose="02040503050406030204" pitchFamily="18" charset="0"/>
                          </a:rPr>
                          <m:t>пр</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𝑡</m:t>
                        </m:r>
                      </m:e>
                    </m:d>
                    <m:r>
                      <a:rPr lang="en-US" i="1">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0</m:t>
                    </m:r>
                  </m:oMath>
                </a14:m>
                <a:endParaRPr lang="en-US" b="1" i="1" dirty="0" smtClean="0">
                  <a:ea typeface="Cambria Math" panose="02040503050406030204" pitchFamily="18" charset="0"/>
                </a:endParaRPr>
              </a:p>
              <a:p>
                <a:pPr marL="0" indent="0">
                  <a:buNone/>
                </a:pPr>
                <a:r>
                  <a:rPr lang="en-US" b="1" i="1" dirty="0">
                    <a:ea typeface="Cambria Math" panose="02040503050406030204" pitchFamily="18" charset="0"/>
                  </a:rPr>
                  <a:t>	</a:t>
                </a:r>
                <a:r>
                  <a:rPr lang="en-US" b="1" i="1" dirty="0" smtClean="0">
                    <a:ea typeface="Cambria Math" panose="02040503050406030204" pitchFamily="18" charset="0"/>
                  </a:rPr>
                  <a:t>		</a:t>
                </a:r>
                <a14:m>
                  <m:oMath xmlns:m="http://schemas.openxmlformats.org/officeDocument/2006/math">
                    <m:r>
                      <a:rPr lang="en-US" b="0" i="1" smtClean="0">
                        <a:latin typeface="Cambria Math" panose="02040503050406030204" pitchFamily="18" charset="0"/>
                        <a:ea typeface="Cambria Math" panose="02040503050406030204" pitchFamily="18" charset="0"/>
                      </a:rPr>
                      <m:t>𝑖</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𝑡</m:t>
                        </m:r>
                      </m:e>
                    </m:d>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𝐴</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𝑡</m:t>
                            </m:r>
                          </m:num>
                          <m:den>
                            <m:r>
                              <a:rPr lang="en-US" i="1">
                                <a:latin typeface="Cambria Math" panose="02040503050406030204" pitchFamily="18" charset="0"/>
                                <a:ea typeface="Cambria Math" panose="02040503050406030204" pitchFamily="18" charset="0"/>
                              </a:rPr>
                              <m:t>𝑅𝐶</m:t>
                            </m:r>
                          </m:den>
                        </m:f>
                      </m:sup>
                    </m:sSup>
                  </m:oMath>
                </a14:m>
                <a:endParaRPr lang="ru-RU" b="1" i="1" dirty="0" smtClean="0">
                  <a:ea typeface="Cambria Math" panose="02040503050406030204" pitchFamily="18" charset="0"/>
                </a:endParaRPr>
              </a:p>
              <a:p>
                <a:pPr marL="0" indent="0">
                  <a:buNone/>
                </a:pPr>
                <a:r>
                  <a:rPr lang="en-US" dirty="0" smtClean="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𝑖</m:t>
                    </m:r>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m:t>
                        </m:r>
                      </m:e>
                    </m:d>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𝐸</m:t>
                        </m:r>
                      </m:num>
                      <m:den>
                        <m:r>
                          <a:rPr lang="en-US" i="1">
                            <a:latin typeface="Cambria Math" panose="02040503050406030204" pitchFamily="18" charset="0"/>
                            <a:ea typeface="Cambria Math" panose="02040503050406030204" pitchFamily="18" charset="0"/>
                          </a:rPr>
                          <m:t>𝑅</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𝐸</m:t>
                        </m:r>
                      </m:num>
                      <m:den>
                        <m:r>
                          <a:rPr lang="en-US" i="1">
                            <a:latin typeface="Cambria Math" panose="02040503050406030204" pitchFamily="18" charset="0"/>
                            <a:ea typeface="Cambria Math" panose="02040503050406030204" pitchFamily="18" charset="0"/>
                          </a:rPr>
                          <m:t>𝑅</m:t>
                        </m:r>
                      </m:den>
                    </m:f>
                  </m:oMath>
                </a14:m>
                <a:endParaRPr lang="en-US" dirty="0" smtClean="0">
                  <a:ea typeface="Cambria Math" panose="02040503050406030204" pitchFamily="18" charset="0"/>
                </a:endParaRPr>
              </a:p>
              <a:p>
                <a:pPr marL="0" indent="0">
                  <a:buNone/>
                </a:pPr>
                <a:r>
                  <a:rPr lang="en-US" dirty="0" smtClean="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𝑖</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𝑡</m:t>
                        </m:r>
                      </m:e>
                    </m:d>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𝐸</m:t>
                        </m:r>
                      </m:num>
                      <m:den>
                        <m:r>
                          <a:rPr lang="en-US" i="1">
                            <a:latin typeface="Cambria Math" panose="02040503050406030204" pitchFamily="18" charset="0"/>
                            <a:ea typeface="Cambria Math" panose="02040503050406030204" pitchFamily="18" charset="0"/>
                          </a:rPr>
                          <m:t>𝑅</m:t>
                        </m:r>
                      </m:den>
                    </m:f>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𝑡</m:t>
                            </m:r>
                          </m:num>
                          <m:den>
                            <m:r>
                              <a:rPr lang="en-US" i="1">
                                <a:latin typeface="Cambria Math" panose="02040503050406030204" pitchFamily="18" charset="0"/>
                                <a:ea typeface="Cambria Math" panose="02040503050406030204" pitchFamily="18" charset="0"/>
                              </a:rPr>
                              <m:t>𝑅𝐶</m:t>
                            </m:r>
                          </m:den>
                        </m:f>
                      </m:sup>
                    </m:sSup>
                  </m:oMath>
                </a14:m>
                <a:endParaRPr lang="en-US" dirty="0" smtClean="0">
                  <a:ea typeface="Cambria Math" panose="02040503050406030204" pitchFamily="18" charset="0"/>
                </a:endParaRPr>
              </a:p>
              <a:p>
                <a:pPr marL="0" indent="0">
                  <a:buNone/>
                </a:pPr>
                <a:r>
                  <a:rPr lang="en-US" dirty="0">
                    <a:ea typeface="Cambria Math" panose="02040503050406030204" pitchFamily="18" charset="0"/>
                  </a:rPr>
                  <a:t> </a:t>
                </a:r>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𝑈</m:t>
                        </m:r>
                      </m:e>
                      <m:sub>
                        <m:r>
                          <a:rPr lang="en-US" b="0" i="1" smtClean="0">
                            <a:latin typeface="Cambria Math" panose="02040503050406030204" pitchFamily="18" charset="0"/>
                            <a:ea typeface="Cambria Math" panose="02040503050406030204" pitchFamily="18" charset="0"/>
                          </a:rPr>
                          <m:t>𝑐</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𝑡</m:t>
                        </m:r>
                      </m:e>
                    </m:d>
                    <m:r>
                      <a:rPr lang="en-US" i="1">
                        <a:latin typeface="Cambria Math" panose="02040503050406030204" pitchFamily="18" charset="0"/>
                        <a:ea typeface="Cambria Math" panose="02040503050406030204" pitchFamily="18" charset="0"/>
                      </a:rPr>
                      <m:t>=</m:t>
                    </m:r>
                    <m:f>
                      <m:fPr>
                        <m:ctrlPr>
                          <a:rPr lang="en-US"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𝐶</m:t>
                        </m:r>
                      </m:den>
                    </m:f>
                    <m:nary>
                      <m:naryPr>
                        <m:ctrlPr>
                          <a:rPr lang="en-US"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𝑡</m:t>
                        </m:r>
                      </m:sup>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𝐸</m:t>
                            </m:r>
                          </m:num>
                          <m:den>
                            <m:r>
                              <a:rPr lang="en-US" i="1">
                                <a:latin typeface="Cambria Math" panose="02040503050406030204" pitchFamily="18" charset="0"/>
                                <a:ea typeface="Cambria Math" panose="02040503050406030204" pitchFamily="18" charset="0"/>
                              </a:rPr>
                              <m:t>𝑅</m:t>
                            </m:r>
                          </m:den>
                        </m:f>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𝜏</m:t>
                                </m:r>
                              </m:num>
                              <m:den>
                                <m:r>
                                  <a:rPr lang="en-US" i="1">
                                    <a:latin typeface="Cambria Math" panose="02040503050406030204" pitchFamily="18" charset="0"/>
                                    <a:ea typeface="Cambria Math" panose="02040503050406030204" pitchFamily="18" charset="0"/>
                                  </a:rPr>
                                  <m:t>𝑅𝐶</m:t>
                                </m:r>
                              </m:den>
                            </m:f>
                          </m:sup>
                        </m:sSup>
                      </m:e>
                    </m:nary>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𝐸</m:t>
                    </m:r>
                    <m:r>
                      <a:rPr lang="en-US" b="0" i="1" smtClean="0">
                        <a:latin typeface="Cambria Math" panose="02040503050406030204" pitchFamily="18" charset="0"/>
                        <a:ea typeface="Cambria Math" panose="02040503050406030204" pitchFamily="18" charset="0"/>
                      </a:rPr>
                      <m:t>(1−</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𝑡</m:t>
                            </m:r>
                          </m:num>
                          <m:den>
                            <m:r>
                              <a:rPr lang="en-US" i="1">
                                <a:latin typeface="Cambria Math" panose="02040503050406030204" pitchFamily="18" charset="0"/>
                                <a:ea typeface="Cambria Math" panose="02040503050406030204" pitchFamily="18" charset="0"/>
                              </a:rPr>
                              <m:t>𝑅𝐶</m:t>
                            </m:r>
                          </m:den>
                        </m:f>
                      </m:sup>
                    </m:sSup>
                    <m:r>
                      <a:rPr lang="en-US" b="0" i="1" smtClean="0">
                        <a:latin typeface="Cambria Math" panose="02040503050406030204" pitchFamily="18" charset="0"/>
                        <a:ea typeface="Cambria Math" panose="02040503050406030204" pitchFamily="18" charset="0"/>
                      </a:rPr>
                      <m:t>)</m:t>
                    </m:r>
                  </m:oMath>
                </a14:m>
                <a:endParaRPr lang="en-US" dirty="0" smtClean="0">
                  <a:ea typeface="Cambria Math" panose="02040503050406030204" pitchFamily="18" charset="0"/>
                </a:endParaRPr>
              </a:p>
              <a:p>
                <a:pPr marL="0" indent="0">
                  <a:buNone/>
                </a:pPr>
                <a:endParaRPr lang="en-US" dirty="0">
                  <a:ea typeface="Cambria Math" panose="02040503050406030204" pitchFamily="18" charset="0"/>
                </a:endParaRPr>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t="-560"/>
                </a:stretch>
              </a:blipFill>
            </p:spPr>
            <p:txBody>
              <a:bodyPr/>
              <a:lstStyle/>
              <a:p>
                <a:r>
                  <a:rPr lang="ru-RU">
                    <a:noFill/>
                  </a:rPr>
                  <a:t> </a:t>
                </a:r>
              </a:p>
            </p:txBody>
          </p:sp>
        </mc:Fallback>
      </mc:AlternateContent>
      <p:pic>
        <p:nvPicPr>
          <p:cNvPr id="6" name="Рисунок 5"/>
          <p:cNvPicPr>
            <a:picLocks noChangeAspect="1"/>
          </p:cNvPicPr>
          <p:nvPr/>
        </p:nvPicPr>
        <p:blipFill>
          <a:blip r:embed="rId3"/>
          <a:stretch>
            <a:fillRect/>
          </a:stretch>
        </p:blipFill>
        <p:spPr>
          <a:xfrm>
            <a:off x="1100137" y="1825625"/>
            <a:ext cx="1859632" cy="1717675"/>
          </a:xfrm>
          <a:prstGeom prst="rect">
            <a:avLst/>
          </a:prstGeom>
        </p:spPr>
      </p:pic>
      <p:pic>
        <p:nvPicPr>
          <p:cNvPr id="7" name="Рисунок 6"/>
          <p:cNvPicPr>
            <a:picLocks noChangeAspect="1"/>
          </p:cNvPicPr>
          <p:nvPr/>
        </p:nvPicPr>
        <p:blipFill>
          <a:blip r:embed="rId4"/>
          <a:stretch>
            <a:fillRect/>
          </a:stretch>
        </p:blipFill>
        <p:spPr>
          <a:xfrm>
            <a:off x="7428510" y="4137498"/>
            <a:ext cx="2838450" cy="1895475"/>
          </a:xfrm>
          <a:prstGeom prst="rect">
            <a:avLst/>
          </a:prstGeom>
        </p:spPr>
      </p:pic>
    </p:spTree>
    <p:extLst>
      <p:ext uri="{BB962C8B-B14F-4D97-AF65-F5344CB8AC3E}">
        <p14:creationId xmlns:p14="http://schemas.microsoft.com/office/powerpoint/2010/main" val="811377298"/>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4341</TotalTime>
  <Words>1069</Words>
  <Application>Microsoft Office PowerPoint</Application>
  <PresentationFormat>Широкоэкранный</PresentationFormat>
  <Paragraphs>174</Paragraphs>
  <Slides>29</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29</vt:i4>
      </vt:variant>
    </vt:vector>
  </HeadingPairs>
  <TitlesOfParts>
    <vt:vector size="34" baseType="lpstr">
      <vt:lpstr>Arial</vt:lpstr>
      <vt:lpstr>Calibri</vt:lpstr>
      <vt:lpstr>Calibri Light</vt:lpstr>
      <vt:lpstr>Cambria Math</vt:lpstr>
      <vt:lpstr>Тема Office</vt:lpstr>
      <vt:lpstr>Лекция 7</vt:lpstr>
      <vt:lpstr>Типы процессов, происходящих в электрических цепях</vt:lpstr>
      <vt:lpstr>Стационарный процесс</vt:lpstr>
      <vt:lpstr>Нестационарный процесс</vt:lpstr>
      <vt:lpstr>Нестационарный процесс</vt:lpstr>
      <vt:lpstr>Переходной процесс</vt:lpstr>
      <vt:lpstr>Переходной процесс</vt:lpstr>
      <vt:lpstr>Переходной процесс</vt:lpstr>
      <vt:lpstr>Начальные условия</vt:lpstr>
      <vt:lpstr>Законы коммутации</vt:lpstr>
      <vt:lpstr>Законы коммутации</vt:lpstr>
      <vt:lpstr>Законы коммутации</vt:lpstr>
      <vt:lpstr>Законы коммутации</vt:lpstr>
      <vt:lpstr>Законы коммутации</vt:lpstr>
      <vt:lpstr>Законы коммутации</vt:lpstr>
      <vt:lpstr>Законы коммутации. Пример </vt:lpstr>
      <vt:lpstr>Законы коммутации. Пример </vt:lpstr>
      <vt:lpstr>Законы коммутации. Пример </vt:lpstr>
      <vt:lpstr>Принужденный и свободный режимы</vt:lpstr>
      <vt:lpstr>Принужденный и свободный режимы</vt:lpstr>
      <vt:lpstr>Принужденный и свободный режимы</vt:lpstr>
      <vt:lpstr>Принужденный и свободный режимы</vt:lpstr>
      <vt:lpstr>Принужденный и свободный режимы. </vt:lpstr>
      <vt:lpstr>Принужденный и свободный режимы. </vt:lpstr>
      <vt:lpstr>Примеры. Простейшие цепи. RL цепь </vt:lpstr>
      <vt:lpstr>Примеры. Простейшие цепи. RL цепь </vt:lpstr>
      <vt:lpstr>Примеры. Простейшие цепи. RL цепь </vt:lpstr>
      <vt:lpstr>Примеры. Простейшие цепи. RL цепь </vt:lpstr>
      <vt:lpstr>Примеры. Простейшие цепи. RС цепь </vt:lpstr>
    </vt:vector>
  </TitlesOfParts>
  <Company>BINP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Радиоэлектроника</dc:title>
  <dc:creator>BINP User</dc:creator>
  <cp:lastModifiedBy>BINP User</cp:lastModifiedBy>
  <cp:revision>281</cp:revision>
  <dcterms:created xsi:type="dcterms:W3CDTF">2020-09-02T13:49:40Z</dcterms:created>
  <dcterms:modified xsi:type="dcterms:W3CDTF">2021-09-09T12:30:57Z</dcterms:modified>
</cp:coreProperties>
</file>