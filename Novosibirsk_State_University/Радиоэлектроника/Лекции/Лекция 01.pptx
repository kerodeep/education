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59" r:id="rId6"/>
    <p:sldId id="271" r:id="rId7"/>
    <p:sldId id="260" r:id="rId8"/>
    <p:sldId id="263" r:id="rId9"/>
    <p:sldId id="262" r:id="rId10"/>
    <p:sldId id="261" r:id="rId11"/>
    <p:sldId id="283" r:id="rId12"/>
    <p:sldId id="284" r:id="rId13"/>
    <p:sldId id="285" r:id="rId14"/>
    <p:sldId id="273" r:id="rId15"/>
    <p:sldId id="274" r:id="rId16"/>
    <p:sldId id="275" r:id="rId17"/>
    <p:sldId id="276" r:id="rId18"/>
    <p:sldId id="280" r:id="rId19"/>
    <p:sldId id="281" r:id="rId20"/>
    <p:sldId id="277" r:id="rId21"/>
    <p:sldId id="278" r:id="rId22"/>
    <p:sldId id="279" r:id="rId23"/>
    <p:sldId id="282" r:id="rId24"/>
    <p:sldId id="265" r:id="rId25"/>
    <p:sldId id="266" r:id="rId26"/>
    <p:sldId id="264" r:id="rId27"/>
    <p:sldId id="267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t>01.09.2021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Радиоэлектроника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3-4 семестр</a:t>
            </a:r>
          </a:p>
          <a:p>
            <a:r>
              <a:rPr lang="ru-RU" dirty="0" smtClean="0"/>
              <a:t>Сеньков Дмитрий Валентинович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66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9280"/>
          </a:xfrm>
        </p:spPr>
        <p:txBody>
          <a:bodyPr/>
          <a:lstStyle/>
          <a:p>
            <a:pPr algn="ctr"/>
            <a:r>
              <a:rPr lang="ru-RU" dirty="0" smtClean="0"/>
              <a:t>Программа </a:t>
            </a:r>
            <a:r>
              <a:rPr lang="ru-RU" dirty="0" smtClean="0"/>
              <a:t>курса лекций </a:t>
            </a:r>
            <a:r>
              <a:rPr lang="ru-RU" dirty="0" smtClean="0"/>
              <a:t>(3 семестр)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61546"/>
            <a:ext cx="10515600" cy="5157067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Основные понятия теории электрических цепей</a:t>
            </a:r>
          </a:p>
          <a:p>
            <a:r>
              <a:rPr lang="ru-RU" dirty="0" smtClean="0"/>
              <a:t>Методы расчёта линейных электрических цепей постоянного тока</a:t>
            </a:r>
          </a:p>
          <a:p>
            <a:r>
              <a:rPr lang="ru-RU" dirty="0" smtClean="0"/>
              <a:t>Электрические цепи переменного тока</a:t>
            </a:r>
          </a:p>
          <a:p>
            <a:r>
              <a:rPr lang="ru-RU" dirty="0" smtClean="0"/>
              <a:t>Понятие резонанса. Резонансные процессы в электрических цепях</a:t>
            </a:r>
          </a:p>
          <a:p>
            <a:r>
              <a:rPr lang="ru-RU" dirty="0" smtClean="0"/>
              <a:t>Электрические цепи с распределенными параметрами</a:t>
            </a:r>
          </a:p>
          <a:p>
            <a:r>
              <a:rPr lang="ru-RU" dirty="0" smtClean="0"/>
              <a:t>Переходные процессы в линейных электрических цепях</a:t>
            </a:r>
          </a:p>
          <a:p>
            <a:r>
              <a:rPr lang="ru-RU" dirty="0" smtClean="0"/>
              <a:t>Операторный метод расчёта электрических цепей</a:t>
            </a:r>
          </a:p>
          <a:p>
            <a:r>
              <a:rPr lang="ru-RU" dirty="0" smtClean="0"/>
              <a:t>Нелинейные и параметрические электрические цепи</a:t>
            </a:r>
          </a:p>
          <a:p>
            <a:r>
              <a:rPr lang="ru-RU" dirty="0" smtClean="0"/>
              <a:t>Модуляция сигналов</a:t>
            </a:r>
          </a:p>
          <a:p>
            <a:r>
              <a:rPr lang="ru-RU" dirty="0" smtClean="0"/>
              <a:t>Трансформаторы</a:t>
            </a:r>
          </a:p>
          <a:p>
            <a:r>
              <a:rPr lang="ru-RU" dirty="0" smtClean="0"/>
              <a:t>Электровакуумные приборы</a:t>
            </a:r>
          </a:p>
          <a:p>
            <a:r>
              <a:rPr lang="ru-RU" dirty="0"/>
              <a:t>Г</a:t>
            </a:r>
            <a:r>
              <a:rPr lang="ru-RU" dirty="0" smtClean="0"/>
              <a:t>азоразрядные приборы</a:t>
            </a:r>
          </a:p>
          <a:p>
            <a:r>
              <a:rPr lang="ru-RU" dirty="0" smtClean="0"/>
              <a:t>Полупроводники и  их свойства</a:t>
            </a:r>
          </a:p>
          <a:p>
            <a:r>
              <a:rPr lang="en-US" dirty="0" smtClean="0"/>
              <a:t>p-n (</a:t>
            </a:r>
            <a:r>
              <a:rPr lang="ru-RU" dirty="0" smtClean="0"/>
              <a:t>электронно-дырочный</a:t>
            </a:r>
            <a:r>
              <a:rPr lang="en-US" dirty="0" smtClean="0"/>
              <a:t>)</a:t>
            </a:r>
            <a:r>
              <a:rPr lang="ru-RU" dirty="0" smtClean="0"/>
              <a:t> переход и его основные свойства</a:t>
            </a:r>
          </a:p>
          <a:p>
            <a:r>
              <a:rPr lang="ru-RU" dirty="0" smtClean="0"/>
              <a:t>Виды полупроводниковых приборов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410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9280"/>
          </a:xfrm>
        </p:spPr>
        <p:txBody>
          <a:bodyPr/>
          <a:lstStyle/>
          <a:p>
            <a:pPr algn="ctr"/>
            <a:r>
              <a:rPr lang="ru-RU" dirty="0" smtClean="0"/>
              <a:t>Программа </a:t>
            </a:r>
            <a:r>
              <a:rPr lang="ru-RU" dirty="0" smtClean="0"/>
              <a:t>курса лекций (4 </a:t>
            </a:r>
            <a:r>
              <a:rPr lang="ru-RU" dirty="0" smtClean="0"/>
              <a:t>семестр)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61546"/>
            <a:ext cx="10515600" cy="5157067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Расчёт схем на биполярных транзисторах</a:t>
            </a:r>
          </a:p>
          <a:p>
            <a:r>
              <a:rPr lang="ru-RU" dirty="0" smtClean="0"/>
              <a:t>Расчёт схем на полевых транзисторах</a:t>
            </a:r>
          </a:p>
          <a:p>
            <a:r>
              <a:rPr lang="ru-RU" dirty="0" smtClean="0"/>
              <a:t>Схемы с отрицательной обратной связью. Операционные усилители</a:t>
            </a:r>
          </a:p>
          <a:p>
            <a:r>
              <a:rPr lang="ru-RU" dirty="0" smtClean="0"/>
              <a:t>Генераторы гармонических сигналов и сигналов специальной формы</a:t>
            </a:r>
          </a:p>
          <a:p>
            <a:r>
              <a:rPr lang="ru-RU" dirty="0" smtClean="0"/>
              <a:t>Основы цифровой техники. </a:t>
            </a:r>
            <a:r>
              <a:rPr lang="ru-RU" dirty="0" smtClean="0"/>
              <a:t>Типы логических элементов. Комбинационные логические схемы. Триггеры. Регистры и счетчики.</a:t>
            </a:r>
          </a:p>
          <a:p>
            <a:r>
              <a:rPr lang="ru-RU" dirty="0" smtClean="0"/>
              <a:t>Элементы машинной памяти. Программируемые логические массивы. Устройство микропроцессорного элемента.</a:t>
            </a:r>
          </a:p>
          <a:p>
            <a:r>
              <a:rPr lang="ru-RU" dirty="0" smtClean="0"/>
              <a:t>Цифроаналоговые и аналогово цифровые преобразователи.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 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399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9280"/>
          </a:xfrm>
        </p:spPr>
        <p:txBody>
          <a:bodyPr/>
          <a:lstStyle/>
          <a:p>
            <a:pPr algn="ctr"/>
            <a:r>
              <a:rPr lang="ru-RU" dirty="0" smtClean="0"/>
              <a:t>Элементы курса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61546"/>
            <a:ext cx="10515600" cy="5157067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Лекции (3 и 4 семестр)</a:t>
            </a:r>
          </a:p>
          <a:p>
            <a:r>
              <a:rPr lang="ru-RU" dirty="0" smtClean="0"/>
              <a:t>Семинары (3 семестр)</a:t>
            </a:r>
          </a:p>
          <a:p>
            <a:r>
              <a:rPr lang="ru-RU" dirty="0" smtClean="0"/>
              <a:t>Лабораторные работы (4 семестр)</a:t>
            </a:r>
          </a:p>
          <a:p>
            <a:pPr marL="0" indent="0">
              <a:buNone/>
            </a:pPr>
            <a:r>
              <a:rPr lang="ru-RU" dirty="0" smtClean="0"/>
              <a:t>  		Контроль знаний:</a:t>
            </a:r>
          </a:p>
          <a:p>
            <a:r>
              <a:rPr lang="ru-RU" dirty="0" smtClean="0"/>
              <a:t>Контрольные работы:</a:t>
            </a:r>
          </a:p>
          <a:p>
            <a:pPr lvl="1"/>
            <a:r>
              <a:rPr lang="ru-RU" dirty="0" smtClean="0"/>
              <a:t>Постоянные и переменные линейные электрические цепи</a:t>
            </a:r>
          </a:p>
          <a:p>
            <a:pPr lvl="1"/>
            <a:r>
              <a:rPr lang="ru-RU" dirty="0" smtClean="0"/>
              <a:t>Резонансные цепи, переходные процессы (операторный метод)</a:t>
            </a:r>
            <a:endParaRPr lang="ru-RU" dirty="0"/>
          </a:p>
          <a:p>
            <a:r>
              <a:rPr lang="ru-RU" dirty="0" smtClean="0"/>
              <a:t>Зачет (3 </a:t>
            </a:r>
            <a:r>
              <a:rPr lang="ru-RU" dirty="0" smtClean="0"/>
              <a:t>семестр семинары): </a:t>
            </a:r>
            <a:r>
              <a:rPr lang="ru-RU" dirty="0" smtClean="0"/>
              <a:t>75% контрольных задач </a:t>
            </a:r>
          </a:p>
          <a:p>
            <a:r>
              <a:rPr lang="ru-RU" dirty="0" smtClean="0"/>
              <a:t>Экзамен (4 семестр): зачет + лабораторные работы</a:t>
            </a:r>
          </a:p>
          <a:p>
            <a:r>
              <a:rPr lang="ru-RU" dirty="0" smtClean="0"/>
              <a:t>«Автомат»: 2 контрольные на отлично + </a:t>
            </a:r>
            <a:r>
              <a:rPr lang="ru-RU" dirty="0" smtClean="0"/>
              <a:t>рекомендация семинариста</a:t>
            </a:r>
            <a:r>
              <a:rPr lang="ru-RU" dirty="0" smtClean="0"/>
              <a:t> </a:t>
            </a:r>
            <a:r>
              <a:rPr lang="ru-RU" dirty="0" smtClean="0"/>
              <a:t>+ </a:t>
            </a:r>
            <a:r>
              <a:rPr lang="ru-RU" dirty="0" smtClean="0"/>
              <a:t>отлично за </a:t>
            </a:r>
            <a:r>
              <a:rPr lang="ru-RU" dirty="0" smtClean="0"/>
              <a:t>лабораторные</a:t>
            </a:r>
            <a:endParaRPr lang="ru-RU" dirty="0" smtClean="0"/>
          </a:p>
          <a:p>
            <a:pPr marL="457200" lvl="1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05529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1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 smtClean="0"/>
              <a:t>Основные понятия </a:t>
            </a:r>
          </a:p>
          <a:p>
            <a:pPr marL="0" indent="0" algn="ctr">
              <a:buNone/>
            </a:pPr>
            <a:r>
              <a:rPr lang="ru-RU" b="1" i="1" dirty="0" smtClean="0"/>
              <a:t>теории электрических цепей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понятия теории электрических цепей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Общее описание физических процессов связанных с движением заряженных частиц – </a:t>
            </a:r>
            <a:r>
              <a:rPr lang="ru-RU" b="1" i="1" dirty="0" smtClean="0"/>
              <a:t>теория электромагнитного поля </a:t>
            </a:r>
          </a:p>
          <a:p>
            <a:pPr marL="0" indent="0">
              <a:buNone/>
            </a:pPr>
            <a:r>
              <a:rPr lang="ru-RU" dirty="0" smtClean="0"/>
              <a:t>(1820 – Эрстед</a:t>
            </a:r>
            <a:r>
              <a:rPr lang="en-US" dirty="0" smtClean="0"/>
              <a:t>, </a:t>
            </a:r>
            <a:r>
              <a:rPr lang="ru-RU" dirty="0" smtClean="0"/>
              <a:t>1823 –Андре-Мари Ампер</a:t>
            </a:r>
            <a:r>
              <a:rPr lang="en-US" dirty="0" smtClean="0"/>
              <a:t>, 1873 - </a:t>
            </a:r>
            <a:r>
              <a:rPr lang="ru-RU" dirty="0" smtClean="0"/>
              <a:t>Максвелл)</a:t>
            </a: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Приближенное (упрощенное) описание процессов в электрических устройствах и самих электрических устройств, путем замены их реальных элементов идеализированными, а самого устройства - его эквивалентной схемой : </a:t>
            </a:r>
            <a:r>
              <a:rPr lang="ru-RU" b="1" i="1" dirty="0" smtClean="0"/>
              <a:t>Теория электрических цепей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390140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понятия теории электрических цепей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8472055" cy="4351338"/>
          </a:xfrm>
        </p:spPr>
        <p:txBody>
          <a:bodyPr>
            <a:normAutofit fontScale="92500" lnSpcReduction="10000"/>
          </a:bodyPr>
          <a:lstStyle/>
          <a:p>
            <a:r>
              <a:rPr lang="ru-RU" b="1" i="1" dirty="0" smtClean="0"/>
              <a:t>Электрическая схема </a:t>
            </a:r>
            <a:r>
              <a:rPr lang="ru-RU" dirty="0" smtClean="0"/>
              <a:t>— изображение электрической цепи с помощью условных знаков</a:t>
            </a:r>
          </a:p>
          <a:p>
            <a:r>
              <a:rPr lang="ru-RU" b="1" i="1" dirty="0" smtClean="0"/>
              <a:t>Ветвь</a:t>
            </a:r>
            <a:r>
              <a:rPr lang="ru-RU" dirty="0" smtClean="0"/>
              <a:t> — участок цепи, образованный последовательно соединенными элементами (через которые течёт одинаковый ток)</a:t>
            </a:r>
          </a:p>
          <a:p>
            <a:r>
              <a:rPr lang="ru-RU" b="1" i="1" dirty="0" smtClean="0"/>
              <a:t>Узел </a:t>
            </a:r>
            <a:r>
              <a:rPr lang="ru-RU" dirty="0" smtClean="0"/>
              <a:t>—</a:t>
            </a:r>
            <a:r>
              <a:rPr lang="ru-RU" b="1" i="1" dirty="0" smtClean="0"/>
              <a:t> </a:t>
            </a:r>
            <a:r>
              <a:rPr lang="ru-RU" dirty="0" smtClean="0"/>
              <a:t>точка цепи, в которой сходятся не менее трёх ветвей</a:t>
            </a:r>
          </a:p>
          <a:p>
            <a:r>
              <a:rPr lang="ru-RU" b="1" i="1" dirty="0" smtClean="0"/>
              <a:t>Вырожденный (устранимый) узел </a:t>
            </a:r>
            <a:r>
              <a:rPr lang="ru-RU" dirty="0" smtClean="0"/>
              <a:t>—</a:t>
            </a:r>
            <a:r>
              <a:rPr lang="ru-RU" b="1" i="1" dirty="0" smtClean="0"/>
              <a:t> </a:t>
            </a:r>
            <a:r>
              <a:rPr lang="ru-RU" dirty="0" smtClean="0"/>
              <a:t>узел, в котором сходятся две ветви, одна из которых является продолжением другой</a:t>
            </a:r>
          </a:p>
          <a:p>
            <a:r>
              <a:rPr lang="ru-RU" b="1" i="1" dirty="0" smtClean="0"/>
              <a:t>Контур</a:t>
            </a:r>
            <a:r>
              <a:rPr lang="ru-RU" dirty="0" smtClean="0"/>
              <a:t>— замкнутый путь, проходящий по ветвям цепи</a:t>
            </a:r>
            <a:endParaRPr lang="ru-RU" b="1" i="1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471" y="2202729"/>
            <a:ext cx="2876550" cy="4286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471" y="3502999"/>
            <a:ext cx="2114550" cy="13430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121" y="4987636"/>
            <a:ext cx="2267575" cy="132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понятия теории электрических цепей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i="1" dirty="0" smtClean="0"/>
              <a:t>Электрическая цепь </a:t>
            </a:r>
            <a:r>
              <a:rPr lang="ru-RU" dirty="0" smtClean="0"/>
              <a:t>— совокупность устройств, элементов, предназначенных для протекания электрического тока, электромагнитные процессы в которых могут быть описаны с помощью понятий </a:t>
            </a:r>
            <a:r>
              <a:rPr lang="ru-RU" b="1" dirty="0" smtClean="0"/>
              <a:t>Сила тока </a:t>
            </a:r>
            <a:r>
              <a:rPr lang="ru-RU" dirty="0" smtClean="0"/>
              <a:t>и </a:t>
            </a:r>
            <a:r>
              <a:rPr lang="ru-RU" b="1" dirty="0" smtClean="0"/>
              <a:t>Напряжение</a:t>
            </a:r>
          </a:p>
          <a:p>
            <a:r>
              <a:rPr lang="ru-RU" b="1" i="1" dirty="0" smtClean="0"/>
              <a:t>Сила тока – </a:t>
            </a:r>
            <a:r>
              <a:rPr lang="ru-RU" dirty="0" smtClean="0"/>
              <a:t>физическая величина </a:t>
            </a:r>
            <a:r>
              <a:rPr lang="en-US" b="1" i="1" dirty="0" smtClean="0"/>
              <a:t>I</a:t>
            </a:r>
            <a:r>
              <a:rPr lang="en-US" dirty="0" smtClean="0"/>
              <a:t>, </a:t>
            </a:r>
            <a:r>
              <a:rPr lang="ru-RU" dirty="0" smtClean="0"/>
              <a:t>равная отношению количества заряда </a:t>
            </a:r>
            <a:r>
              <a:rPr lang="el-GR" dirty="0" smtClean="0"/>
              <a:t>Δ </a:t>
            </a:r>
            <a:r>
              <a:rPr lang="en-US" dirty="0" smtClean="0"/>
              <a:t>Q </a:t>
            </a:r>
            <a:r>
              <a:rPr lang="ru-RU" dirty="0" smtClean="0"/>
              <a:t>прошедшего через некоторую поверхность за некоторое время </a:t>
            </a:r>
            <a:r>
              <a:rPr lang="el-GR" dirty="0" smtClean="0"/>
              <a:t>Δ </a:t>
            </a:r>
            <a:r>
              <a:rPr lang="en-US" dirty="0" smtClean="0"/>
              <a:t>t </a:t>
            </a:r>
            <a:r>
              <a:rPr lang="ru-RU" dirty="0" smtClean="0"/>
              <a:t>к величине этого промежутка времени (скорость прохождения заряда).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ru-RU" dirty="0" smtClean="0"/>
              <a:t>1А (Ампер) – 1Кл</a:t>
            </a:r>
            <a:r>
              <a:rPr lang="en-US" dirty="0" smtClean="0"/>
              <a:t>/1</a:t>
            </a:r>
            <a:r>
              <a:rPr lang="ru-RU" dirty="0" smtClean="0"/>
              <a:t>сек</a:t>
            </a:r>
            <a:r>
              <a:rPr lang="en-US" dirty="0" smtClean="0"/>
              <a:t> [1A]</a:t>
            </a:r>
            <a:endParaRPr lang="ru-RU" dirty="0" smtClean="0"/>
          </a:p>
          <a:p>
            <a:r>
              <a:rPr lang="ru-RU" b="1" i="1" dirty="0" smtClean="0"/>
              <a:t>Ток – </a:t>
            </a:r>
            <a:r>
              <a:rPr lang="ru-RU" dirty="0" smtClean="0"/>
              <a:t>то же самое </a:t>
            </a:r>
          </a:p>
          <a:p>
            <a:r>
              <a:rPr lang="ru-RU" b="1" i="1" dirty="0" smtClean="0"/>
              <a:t>Напряжение – </a:t>
            </a:r>
            <a:r>
              <a:rPr lang="ru-RU" dirty="0" smtClean="0"/>
              <a:t>(между точками А и В) значение равное работе эффективного электрического поля (включающего сторонние поля), совершаемой при переносе единичного пробного электрического заряда из точки A в точку B.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 smtClean="0"/>
              <a:t>1В (1Вольт) </a:t>
            </a:r>
            <a:r>
              <a:rPr lang="en-US" dirty="0" smtClean="0"/>
              <a:t>[</a:t>
            </a:r>
            <a:r>
              <a:rPr lang="ru-RU" dirty="0" smtClean="0"/>
              <a:t>1</a:t>
            </a:r>
            <a:r>
              <a:rPr lang="en-US" dirty="0" smtClean="0"/>
              <a:t>V]</a:t>
            </a:r>
            <a:r>
              <a:rPr lang="ru-RU" dirty="0" smtClean="0"/>
              <a:t> разность потенциалов совершающая работу 1 Дж при переносе заряда 1 Кл</a:t>
            </a:r>
          </a:p>
          <a:p>
            <a:r>
              <a:rPr lang="ru-RU" b="1" i="1" dirty="0" smtClean="0"/>
              <a:t>Электрическое сопротивление </a:t>
            </a:r>
            <a:r>
              <a:rPr lang="ru-RU" dirty="0" smtClean="0"/>
              <a:t>— физическая величина, характеризующая свойство проводника препятствовать прохождению электрического тока и равная отношению напряжения на концах проводника к силе тока, протекающего по нему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 smtClean="0"/>
              <a:t>1 Ом </a:t>
            </a:r>
            <a:r>
              <a:rPr lang="en-US" dirty="0" smtClean="0"/>
              <a:t>[1Ohm]</a:t>
            </a:r>
            <a:r>
              <a:rPr lang="ru-RU" dirty="0" smtClean="0"/>
              <a:t> </a:t>
            </a:r>
          </a:p>
          <a:p>
            <a:pPr marL="0" indent="0">
              <a:buNone/>
            </a:pPr>
            <a:endParaRPr lang="ru-RU" dirty="0" smtClean="0"/>
          </a:p>
          <a:p>
            <a:endParaRPr lang="ru-RU" b="1" i="1" dirty="0" smtClean="0"/>
          </a:p>
        </p:txBody>
      </p:sp>
    </p:spTree>
    <p:extLst>
      <p:ext uri="{BB962C8B-B14F-4D97-AF65-F5344CB8AC3E}">
        <p14:creationId xmlns:p14="http://schemas.microsoft.com/office/powerpoint/2010/main" val="371053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понятия теории электрических цепей (Элементы цепей)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dirty="0" smtClean="0"/>
              <a:t>Активные (источники)</a:t>
            </a:r>
            <a:endParaRPr lang="en-US" b="1" i="1" dirty="0" smtClean="0"/>
          </a:p>
          <a:p>
            <a:pPr lvl="1"/>
            <a:r>
              <a:rPr lang="ru-RU" b="1" i="1" dirty="0" smtClean="0"/>
              <a:t>Источники напряжения</a:t>
            </a:r>
          </a:p>
          <a:p>
            <a:pPr lvl="1"/>
            <a:r>
              <a:rPr lang="ru-RU" b="1" i="1" dirty="0" smtClean="0"/>
              <a:t>Источники тока</a:t>
            </a:r>
          </a:p>
          <a:p>
            <a:r>
              <a:rPr lang="ru-RU" b="1" i="1" dirty="0" smtClean="0"/>
              <a:t>Пассивные (нагрузки)</a:t>
            </a:r>
          </a:p>
          <a:p>
            <a:pPr lvl="1"/>
            <a:r>
              <a:rPr lang="ru-RU" b="1" i="1" dirty="0" smtClean="0"/>
              <a:t>Сопротивления</a:t>
            </a:r>
          </a:p>
          <a:p>
            <a:pPr lvl="1"/>
            <a:r>
              <a:rPr lang="ru-RU" b="1" i="1" dirty="0" smtClean="0"/>
              <a:t>Индуктивности</a:t>
            </a:r>
          </a:p>
          <a:p>
            <a:pPr lvl="1"/>
            <a:r>
              <a:rPr lang="ru-RU" b="1" i="1" dirty="0" smtClean="0"/>
              <a:t>Емкости (Конденсаторы)         Реактивные элементы </a:t>
            </a:r>
            <a:endParaRPr lang="ru-RU" dirty="0" smtClean="0"/>
          </a:p>
          <a:p>
            <a:endParaRPr lang="ru-RU" b="1" i="1" dirty="0" smtClean="0"/>
          </a:p>
        </p:txBody>
      </p:sp>
      <p:sp>
        <p:nvSpPr>
          <p:cNvPr id="4" name="Правая фигурная скобка 3"/>
          <p:cNvSpPr/>
          <p:nvPr/>
        </p:nvSpPr>
        <p:spPr>
          <a:xfrm>
            <a:off x="5112327" y="4061361"/>
            <a:ext cx="404830" cy="73033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24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Основные понятия теории электрических цепей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Электрическое сопротивление </a:t>
            </a:r>
            <a:r>
              <a:rPr lang="ru-RU" dirty="0" smtClean="0"/>
              <a:t>(Закон </a:t>
            </a:r>
            <a:r>
              <a:rPr lang="ru-RU" dirty="0" smtClean="0"/>
              <a:t>Ома для полной цепи)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dirty="0" smtClean="0"/>
                  <a:t>Закон Ома –  эмпирический физический закон, определяющий связь электродвижущей силы источника (или электрического напряжения) с силой тока, протекающего в проводнике, и сопротивлением проводника. Установлен Георгом Омом в 1826 году (опубликован в 1827 году) и назван в его честь.</a:t>
                </a:r>
              </a:p>
              <a:p>
                <a:r>
                  <a:rPr lang="ru-RU" dirty="0" smtClean="0"/>
                  <a:t>В виде опубликованном Омом называется </a:t>
                </a:r>
                <a:r>
                  <a:rPr lang="ru-RU" b="1" i="1" dirty="0" smtClean="0"/>
                  <a:t>законом Ома для полной цепи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где</a:t>
                </a:r>
              </a:p>
              <a:p>
                <a:r>
                  <a:rPr lang="ru-RU" dirty="0" smtClean="0"/>
                  <a:t>ε – электродвижущая сила источника напряжения</a:t>
                </a:r>
              </a:p>
              <a:p>
                <a:r>
                  <a:rPr lang="en-US" dirty="0" smtClean="0"/>
                  <a:t>R – </a:t>
                </a:r>
                <a:r>
                  <a:rPr lang="ru-RU" dirty="0" smtClean="0"/>
                  <a:t>электрическое сопротивление внешней цепи</a:t>
                </a:r>
              </a:p>
              <a:p>
                <a:r>
                  <a:rPr lang="en-US" dirty="0" smtClean="0"/>
                  <a:t>r</a:t>
                </a:r>
                <a:r>
                  <a:rPr lang="ru-RU" dirty="0" smtClean="0"/>
                  <a:t> – внутреннее сопротивление источника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 smtClean="0"/>
                  <a:t>  Закон Ома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</m:oMath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3221" r="-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343" y="5171411"/>
            <a:ext cx="1437657" cy="135308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569" y="3707544"/>
            <a:ext cx="354330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42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Источники напряжения и источники тока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dirty="0"/>
              <a:t>Идеальный источник </a:t>
            </a:r>
            <a:r>
              <a:rPr lang="ru-RU" b="1" i="1" dirty="0" smtClean="0"/>
              <a:t>напряжения – </a:t>
            </a:r>
            <a:r>
              <a:rPr lang="ru-RU" dirty="0" smtClean="0"/>
              <a:t>двухполюсник</a:t>
            </a:r>
            <a:r>
              <a:rPr lang="ru-RU" dirty="0"/>
              <a:t>, напряжение на зажимах которого не зависит от тока, протекающего через источник и равно его ЭДС</a:t>
            </a:r>
            <a:endParaRPr lang="ru-RU" dirty="0" smtClean="0"/>
          </a:p>
          <a:p>
            <a:pPr marL="0" indent="0">
              <a:buNone/>
            </a:pPr>
            <a:r>
              <a:rPr lang="ru-RU" b="1" i="1" dirty="0"/>
              <a:t>	</a:t>
            </a:r>
            <a:r>
              <a:rPr lang="ru-RU" b="1" i="1" dirty="0" smtClean="0"/>
              <a:t>	     </a:t>
            </a:r>
            <a:r>
              <a:rPr lang="ru-RU" i="1" dirty="0" smtClean="0"/>
              <a:t>Изображение </a:t>
            </a:r>
          </a:p>
          <a:p>
            <a:pPr marL="0" indent="0">
              <a:buNone/>
            </a:pPr>
            <a:r>
              <a:rPr lang="ru-RU" i="1" dirty="0"/>
              <a:t>	</a:t>
            </a:r>
            <a:r>
              <a:rPr lang="ru-RU" i="1" dirty="0" smtClean="0"/>
              <a:t>	     источника напряжения на схеме</a:t>
            </a:r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r>
              <a:rPr lang="ru-RU" i="1" dirty="0" smtClean="0"/>
              <a:t>Реальный (неидеальный) источник напряжения – </a:t>
            </a:r>
          </a:p>
          <a:p>
            <a:pPr marL="0" indent="0">
              <a:buNone/>
            </a:pPr>
            <a:r>
              <a:rPr lang="ru-RU" i="1" dirty="0" smtClean="0"/>
              <a:t>источник ЭДС с внутренним сопротивлением</a:t>
            </a:r>
          </a:p>
          <a:p>
            <a:pPr marL="0" indent="0">
              <a:buNone/>
            </a:pPr>
            <a:endParaRPr lang="en-US" i="1" dirty="0" smtClean="0"/>
          </a:p>
          <a:p>
            <a:endParaRPr lang="ru-RU" b="1" i="1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30" y="2996332"/>
            <a:ext cx="1700015" cy="133157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501" y="4114799"/>
            <a:ext cx="1024157" cy="226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8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Источники напряжения и источники тока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dirty="0"/>
              <a:t>Идеальный источник </a:t>
            </a:r>
            <a:r>
              <a:rPr lang="ru-RU" b="1" i="1" dirty="0" smtClean="0"/>
              <a:t>тока – </a:t>
            </a:r>
            <a:r>
              <a:rPr lang="ru-RU" dirty="0" smtClean="0"/>
              <a:t>двухполюсник</a:t>
            </a:r>
            <a:r>
              <a:rPr lang="ru-RU" dirty="0"/>
              <a:t>, </a:t>
            </a:r>
            <a:r>
              <a:rPr lang="ru-RU" dirty="0" smtClean="0"/>
              <a:t>сила тока через </a:t>
            </a:r>
            <a:r>
              <a:rPr lang="ru-RU" dirty="0"/>
              <a:t>который не зависит от </a:t>
            </a:r>
            <a:r>
              <a:rPr lang="ru-RU" dirty="0" smtClean="0"/>
              <a:t>напряжения </a:t>
            </a:r>
            <a:r>
              <a:rPr lang="ru-RU" dirty="0"/>
              <a:t>на его зажимах</a:t>
            </a:r>
            <a:r>
              <a:rPr lang="ru-RU" b="1" i="1" dirty="0"/>
              <a:t>	</a:t>
            </a:r>
            <a:r>
              <a:rPr lang="ru-RU" b="1" i="1" dirty="0" smtClean="0"/>
              <a:t>	     			     </a:t>
            </a:r>
            <a:r>
              <a:rPr lang="ru-RU" i="1" dirty="0" smtClean="0"/>
              <a:t>Изображение </a:t>
            </a:r>
          </a:p>
          <a:p>
            <a:pPr marL="0" indent="0">
              <a:buNone/>
            </a:pPr>
            <a:r>
              <a:rPr lang="ru-RU" i="1" dirty="0"/>
              <a:t>	</a:t>
            </a:r>
            <a:r>
              <a:rPr lang="ru-RU" i="1" dirty="0" smtClean="0"/>
              <a:t>	     источника тока на схеме</a:t>
            </a:r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r>
              <a:rPr lang="ru-RU" i="1" dirty="0" smtClean="0"/>
              <a:t>Реальный (неидеальный) источник тока – </a:t>
            </a:r>
          </a:p>
          <a:p>
            <a:pPr marL="0" indent="0">
              <a:buNone/>
            </a:pPr>
            <a:r>
              <a:rPr lang="ru-RU" i="1" dirty="0" smtClean="0"/>
              <a:t>Источник тока с параллельно </a:t>
            </a:r>
          </a:p>
          <a:p>
            <a:pPr marL="0" indent="0">
              <a:buNone/>
            </a:pPr>
            <a:r>
              <a:rPr lang="ru-RU" i="1" dirty="0" smtClean="0"/>
              <a:t>включённым сопротивлением</a:t>
            </a:r>
          </a:p>
          <a:p>
            <a:pPr marL="0" indent="0">
              <a:buNone/>
            </a:pPr>
            <a:endParaRPr lang="en-US" i="1" dirty="0" smtClean="0"/>
          </a:p>
          <a:p>
            <a:endParaRPr lang="ru-RU" b="1" i="1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21329"/>
            <a:ext cx="2025176" cy="149347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617" y="4509175"/>
            <a:ext cx="1950770" cy="126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2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Теорема </a:t>
            </a:r>
            <a:r>
              <a:rPr lang="ru-RU" dirty="0" err="1" smtClean="0"/>
              <a:t>Тевенена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 smtClean="0"/>
              <a:t>Теорема </a:t>
            </a:r>
            <a:r>
              <a:rPr lang="ru-RU" b="1" i="1" dirty="0" err="1" smtClean="0"/>
              <a:t>Тевенена</a:t>
            </a:r>
            <a:r>
              <a:rPr lang="ru-RU" b="1" i="1" dirty="0" smtClean="0"/>
              <a:t> </a:t>
            </a:r>
            <a:r>
              <a:rPr lang="ru-RU" b="1" i="1" dirty="0" smtClean="0"/>
              <a:t>– </a:t>
            </a:r>
            <a:r>
              <a:rPr lang="ru-RU" dirty="0" smtClean="0"/>
              <a:t>любая электрическая цепь, имеющая </a:t>
            </a:r>
            <a:r>
              <a:rPr lang="ru-RU" dirty="0"/>
              <a:t>два вывода и состоящая из произвольной комбинации источников напряжения, источников тока и резисторов (сопротивлений), электрически для этих двух выводов эквивалентна цепи с одним идеальным источником напряжения с ЭДС </a:t>
            </a:r>
            <a:r>
              <a:rPr lang="en-US" b="1" dirty="0" smtClean="0"/>
              <a:t>E</a:t>
            </a:r>
            <a:r>
              <a:rPr lang="ru-RU" dirty="0" smtClean="0"/>
              <a:t> и </a:t>
            </a:r>
            <a:r>
              <a:rPr lang="ru-RU" dirty="0"/>
              <a:t>одним резистором </a:t>
            </a:r>
            <a:r>
              <a:rPr lang="en-US" b="1" dirty="0" smtClean="0"/>
              <a:t>r</a:t>
            </a:r>
            <a:r>
              <a:rPr lang="ru-RU" dirty="0" smtClean="0"/>
              <a:t>, </a:t>
            </a:r>
            <a:r>
              <a:rPr lang="ru-RU" dirty="0"/>
              <a:t>соединёнными последовательно с этим источником напряжения. </a:t>
            </a:r>
            <a:r>
              <a:rPr lang="ru-RU" b="1" i="1" dirty="0"/>
              <a:t>	</a:t>
            </a:r>
            <a:r>
              <a:rPr lang="ru-RU" b="1" i="1" dirty="0" smtClean="0"/>
              <a:t>	     			</a:t>
            </a:r>
            <a:endParaRPr lang="ru-RU" i="1" dirty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endParaRPr lang="ru-RU" b="1" i="1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830" y="4287984"/>
            <a:ext cx="1024157" cy="226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6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Электрическая емкость (Конденсатор)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dirty="0" smtClean="0"/>
              <a:t>Устройство, которое запасает энергию в виде энергии электрического поля называется электрическая емкость или конденсатор.</a:t>
            </a:r>
          </a:p>
          <a:p>
            <a:pPr marL="0" indent="0">
              <a:buNone/>
            </a:pPr>
            <a:r>
              <a:rPr lang="ru-RU" dirty="0" smtClean="0"/>
              <a:t>Первый конденсатор – </a:t>
            </a:r>
            <a:r>
              <a:rPr lang="ru-RU" b="1" i="1" dirty="0" smtClean="0"/>
              <a:t>Лейденская банка (1745)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875" y="3598149"/>
            <a:ext cx="2755212" cy="278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0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Электрический конденсатор (Конденсатор)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dirty="0" smtClean="0"/>
              <a:t>Конденсатор состоит из двух проводящих полюсов (обкладок) разделенных непроводящим материалом – диэлектриком.</a:t>
            </a:r>
          </a:p>
          <a:p>
            <a:pPr marL="0" indent="0">
              <a:buNone/>
            </a:pPr>
            <a:endParaRPr lang="ru-RU" b="1" i="1" dirty="0"/>
          </a:p>
          <a:p>
            <a:pPr marL="0" indent="0">
              <a:buNone/>
            </a:pPr>
            <a:endParaRPr lang="ru-RU" b="1" i="1" dirty="0" smtClean="0"/>
          </a:p>
          <a:p>
            <a:pPr marL="0" indent="0">
              <a:buNone/>
            </a:pPr>
            <a:endParaRPr lang="ru-RU" b="1" i="1" dirty="0"/>
          </a:p>
          <a:p>
            <a:pPr marL="0" indent="0" algn="just">
              <a:buNone/>
            </a:pP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При протекании электрического тока в конденсаторе на обкладках накапливается заряд, создающий внутри конденсатора электрическое поле.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322" y="2864737"/>
            <a:ext cx="4391644" cy="163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96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Электрическая емкость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b="1" i="1" dirty="0" smtClean="0"/>
                  <a:t>Электрическая емкость – характеристика показывающая способность накапливать заряд.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num>
                        <m:den>
                          <m:r>
                            <a:rPr lang="ru-R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𝝋</m:t>
                          </m:r>
                        </m:den>
                      </m:f>
                    </m:oMath>
                  </m:oMathPara>
                </a14:m>
                <a:endParaRPr lang="ru-RU" b="1" i="1" dirty="0" smtClean="0"/>
              </a:p>
              <a:p>
                <a:pPr marL="0" indent="0">
                  <a:buNone/>
                </a:pPr>
                <a:r>
                  <a:rPr lang="ru-RU" b="1" i="1" dirty="0" smtClean="0"/>
                  <a:t>И равна отношению накопленного конденсатором заряда на разность потенциалов между обкладками. </a:t>
                </a:r>
              </a:p>
              <a:p>
                <a:pPr marL="0" indent="0">
                  <a:buNone/>
                </a:pPr>
                <a:r>
                  <a:rPr lang="ru-RU" b="1" i="1" dirty="0" smtClean="0"/>
                  <a:t>Единица измерения в СИ Фарады (Ф) </a:t>
                </a:r>
                <a:r>
                  <a:rPr lang="en-US" b="1" i="1" dirty="0" smtClean="0"/>
                  <a:t>[F]</a:t>
                </a:r>
                <a:r>
                  <a:rPr lang="ru-RU" b="1" i="1" dirty="0"/>
                  <a:t> </a:t>
                </a:r>
                <a:r>
                  <a:rPr lang="ru-RU" b="1" i="1" dirty="0" smtClean="0"/>
                  <a:t>. Обозначение С.</a:t>
                </a:r>
                <a:endParaRPr lang="ru-RU" b="1" i="1" dirty="0"/>
              </a:p>
              <a:p>
                <a:pPr marL="0" indent="0" algn="just">
                  <a:buNone/>
                </a:pPr>
                <a:r>
                  <a:rPr lang="ru-RU" dirty="0" smtClean="0"/>
                  <a:t>Для плоского конденсатора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,</a:t>
                </a:r>
              </a:p>
              <a:p>
                <a:pPr marL="0" indent="0" algn="just">
                  <a:buNone/>
                </a:pPr>
                <a:r>
                  <a:rPr lang="ru-RU" dirty="0" smtClean="0"/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.854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−12</m:t>
                            </m:r>
                          </m:sup>
                        </m:sSup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Ф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м</m:t>
                        </m:r>
                      </m:den>
                    </m:f>
                  </m:oMath>
                </a14:m>
                <a:endParaRPr lang="ru-R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относительная диэлектрическая проницаемость</m:t>
                      </m:r>
                    </m:oMath>
                  </m:oMathPara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67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Электрическая емкость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i="1" dirty="0" smtClean="0"/>
                  <a:t>Связь между напряжением  на конденсаторе и силой тока через него: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ru-RU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num>
                      <m:den>
                        <m:r>
                          <a:rPr lang="ru-R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𝝋</m:t>
                        </m:r>
                      </m:den>
                    </m:f>
                    <m:r>
                      <a:rPr lang="ru-RU" b="1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ru-RU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ru-R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lang="en-US" b="1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den>
                    </m:f>
                    <m:nary>
                      <m:nary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</m:nary>
                  </m:oMath>
                </a14:m>
                <a:r>
                  <a:rPr lang="ru-RU" b="1" i="1" dirty="0" smtClean="0"/>
                  <a:t> </a:t>
                </a:r>
              </a:p>
              <a:p>
                <a:pPr marL="0" indent="0">
                  <a:buNone/>
                </a:pPr>
                <a:r>
                  <a:rPr lang="ru-RU" dirty="0" smtClean="0"/>
                  <a:t>При протекании через конденсатор постоянного (положительного) тока напряжение на нем будет линейно возрастать.</a:t>
                </a:r>
              </a:p>
              <a:p>
                <a:pPr marL="0" indent="0" algn="ctr">
                  <a:buNone/>
                </a:pPr>
                <a:r>
                  <a:rPr lang="ru-RU" b="1" dirty="0" smtClean="0"/>
                  <a:t>Энергия запасенная в конденсаторе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𝑪</m:t>
                    </m:r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dirty="0" smtClean="0"/>
              </a:p>
              <a:p>
                <a:pPr marL="0" indent="0" algn="ctr">
                  <a:buNone/>
                </a:pPr>
                <a:r>
                  <a:rPr lang="ru-RU" dirty="0" smtClean="0"/>
                  <a:t>Изображение конденсатора на электрических схемах</a:t>
                </a:r>
              </a:p>
              <a:p>
                <a:pPr marL="0" indent="0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18" y="4841970"/>
            <a:ext cx="2709677" cy="126635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7300267" y="5118264"/>
            <a:ext cx="1978161" cy="71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7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Электрическая емкость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 smtClean="0"/>
              <a:t>На малых временах </a:t>
            </a:r>
            <a:r>
              <a:rPr lang="ru-RU" b="1" i="1" dirty="0" smtClean="0"/>
              <a:t>электрический конденсатор можно рассматривать как идеальный источник напряжения</a:t>
            </a:r>
            <a:r>
              <a:rPr lang="ru-RU" b="1" i="1" dirty="0" smtClean="0"/>
              <a:t>.</a:t>
            </a:r>
            <a:endParaRPr lang="ru-RU" b="1" i="1" dirty="0" smtClean="0"/>
          </a:p>
          <a:p>
            <a:pPr algn="just"/>
            <a:endParaRPr lang="ru-RU" dirty="0" smtClean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626" y="2932031"/>
            <a:ext cx="3244932" cy="324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Индуктивность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ru-RU" b="1" i="1" dirty="0" smtClean="0"/>
                  <a:t>Протекающий электрический ток создает вокруг проводника магнитное поле</a:t>
                </a:r>
              </a:p>
              <a:p>
                <a:pPr marL="0" indent="0" algn="just">
                  <a:buNone/>
                </a:pPr>
                <a:endParaRPr lang="ru-RU" b="1" i="1" dirty="0" smtClean="0"/>
              </a:p>
              <a:p>
                <a:pPr marL="0" indent="0" algn="just">
                  <a:buNone/>
                </a:pPr>
                <a:endParaRPr lang="ru-RU" b="1" i="1" dirty="0" smtClean="0"/>
              </a:p>
              <a:p>
                <a:pPr marL="0" indent="0" algn="just">
                  <a:buNone/>
                </a:pPr>
                <a:endParaRPr lang="ru-RU" b="1" i="1" dirty="0"/>
              </a:p>
              <a:p>
                <a:pPr marL="0" indent="0" algn="just">
                  <a:buNone/>
                </a:pPr>
                <a:endParaRPr lang="ru-RU" b="1" i="1" dirty="0"/>
              </a:p>
              <a:p>
                <a:pPr algn="just"/>
                <a:r>
                  <a:rPr lang="ru-RU" b="1" i="1" dirty="0" smtClean="0"/>
                  <a:t>Потоком магнитного поля </a:t>
                </a:r>
                <a:r>
                  <a:rPr lang="ru-RU" b="1" i="1" dirty="0" smtClean="0"/>
                  <a:t>Ф через площадь </a:t>
                </a:r>
                <a:r>
                  <a:rPr lang="en-US" b="1" i="1" dirty="0" smtClean="0"/>
                  <a:t>S </a:t>
                </a:r>
                <a:r>
                  <a:rPr lang="ru-RU" b="1" i="1" dirty="0" smtClean="0"/>
                  <a:t>называют скалярную величину 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</a:rPr>
                      <m:t>Ф=</m:t>
                    </m:r>
                    <m:nary>
                      <m:naryPr>
                        <m:chr m:val="∬"/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  <m:sup>
                        <m:r>
                          <a:rPr lang="ru-RU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nary>
                    <m:r>
                      <a:rPr lang="en-US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 smtClean="0"/>
                  <a:t> (</a:t>
                </a:r>
                <a:r>
                  <a:rPr lang="ru-RU" dirty="0" smtClean="0"/>
                  <a:t>поток вектора магнитного поля через поверхность </a:t>
                </a:r>
                <a:r>
                  <a:rPr lang="en-US" dirty="0" smtClean="0"/>
                  <a:t>S</a:t>
                </a:r>
                <a:endParaRPr lang="ru-RU" dirty="0" smtClean="0"/>
              </a:p>
              <a:p>
                <a:pPr algn="just"/>
                <a:r>
                  <a:rPr lang="ru-RU" b="1" i="1" dirty="0" smtClean="0"/>
                  <a:t>В случае однородного магнитного поля </a:t>
                </a:r>
                <a:r>
                  <a:rPr lang="en-US" dirty="0" smtClean="0"/>
                  <a:t>	</a:t>
                </a:r>
                <a:r>
                  <a:rPr lang="ru-RU" dirty="0" smtClean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Ф=</m:t>
                    </m:r>
                    <m:d>
                      <m:dPr>
                        <m:begChr m:val="|"/>
                        <m:endChr m:val="|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	</a:t>
                </a: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8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678" y="2581160"/>
            <a:ext cx="2819337" cy="168515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685" y="2581160"/>
            <a:ext cx="2410202" cy="179838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4645" y="5198905"/>
            <a:ext cx="1631371" cy="135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6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Индуктивность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ru-RU" b="1" i="1" dirty="0" smtClean="0"/>
                  <a:t>Индуктивность</a:t>
                </a:r>
                <a:r>
                  <a:rPr lang="ru-RU" b="1" i="1" dirty="0"/>
                  <a:t> </a:t>
                </a:r>
                <a:r>
                  <a:rPr lang="ru-RU" b="1" i="1" dirty="0" smtClean="0"/>
                  <a:t>–</a:t>
                </a:r>
                <a:r>
                  <a:rPr lang="en-US" b="1" i="1" dirty="0" smtClean="0"/>
                  <a:t> </a:t>
                </a:r>
                <a:r>
                  <a:rPr lang="ru-RU" b="1" i="1" dirty="0" smtClean="0"/>
                  <a:t>коэффициент пропорциональности между электрическим током, протекающим в замкнутом контуре и полным магнитным потоком, пронизывающим этот контур.</a:t>
                </a:r>
                <a:endParaRPr lang="en-US" b="1" i="1" dirty="0" smtClean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:r>
                  <a:rPr lang="ru-RU" b="1" dirty="0" smtClean="0"/>
                  <a:t>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</a:rPr>
                      <m:t>Ф=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dirty="0"/>
                  <a:t>	</a:t>
                </a:r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r>
                  <a:rPr lang="ru-RU" dirty="0" smtClean="0"/>
                  <a:t>Индуктивность </a:t>
                </a:r>
                <a:r>
                  <a:rPr lang="ru-RU" dirty="0" smtClean="0"/>
                  <a:t>показывает способность схемы сопротивляться изменению силы тока в ней.</a:t>
                </a:r>
              </a:p>
              <a:p>
                <a:pPr marL="0" indent="0">
                  <a:buNone/>
                </a:pPr>
                <a:r>
                  <a:rPr lang="ru-RU" dirty="0" smtClean="0"/>
                  <a:t>Поэтому индуктивность также определяют как ЭДС самоиндукции возникающую на концах схемы при изменении силы </a:t>
                </a:r>
                <a:r>
                  <a:rPr lang="ru-RU" dirty="0" smtClean="0"/>
                  <a:t>тока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ru-RU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f>
                      <m:f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𝒅𝑰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ru-RU" dirty="0" smtClean="0"/>
              </a:p>
              <a:p>
                <a:pPr marL="0" indent="0">
                  <a:buNone/>
                </a:pPr>
                <a:r>
                  <a:rPr lang="ru-RU" b="1" i="1" dirty="0" smtClean="0"/>
                  <a:t>Единица измерения СИ – Гн </a:t>
                </a:r>
                <a:r>
                  <a:rPr lang="en-US" b="1" i="1" dirty="0" smtClean="0"/>
                  <a:t>[H]</a:t>
                </a:r>
                <a:r>
                  <a:rPr lang="ru-RU" b="1" i="1" dirty="0" smtClean="0"/>
                  <a:t>.  Обозначение </a:t>
                </a:r>
                <a:r>
                  <a:rPr lang="en-US" b="1" i="1" dirty="0" smtClean="0"/>
                  <a:t>L. </a:t>
                </a:r>
              </a:p>
              <a:p>
                <a:pPr marL="0" indent="0">
                  <a:buNone/>
                </a:pPr>
                <a:r>
                  <a:rPr lang="ru-RU" dirty="0" smtClean="0"/>
                  <a:t>1Гн – индуктивность при которой ЭДС самоиндукции равна 1 В при изменении тока на 1 А в секунду.  </a:t>
                </a:r>
                <a:r>
                  <a:rPr lang="en-US" dirty="0" smtClean="0"/>
                  <a:t>				</a:t>
                </a:r>
              </a:p>
              <a:p>
                <a:pPr marL="0" indent="0">
                  <a:buNone/>
                </a:pPr>
                <a:endParaRPr lang="ru-RU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 r="-986" b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573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Катушка индуктивности (Дроссель, Реактор)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ru-RU" b="1" i="1" dirty="0" smtClean="0"/>
                  <a:t>Катушка индуктивности – винтовая, спиральная или </a:t>
                </a:r>
                <a:r>
                  <a:rPr lang="ru-RU" b="1" i="1" dirty="0" err="1" smtClean="0"/>
                  <a:t>винто</a:t>
                </a:r>
                <a:r>
                  <a:rPr lang="ru-RU" b="1" i="1" dirty="0" smtClean="0"/>
                  <a:t>-спиральная катушка из изолированного проводника обладающая значительной величиной индуктивности при малом электрическом сопротивлении.</a:t>
                </a:r>
              </a:p>
              <a:p>
                <a:pPr marL="0" indent="0" algn="just">
                  <a:buNone/>
                </a:pPr>
                <a:r>
                  <a:rPr lang="en-US" dirty="0" smtClean="0"/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endParaRPr lang="ru-RU" dirty="0" smtClean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 smtClean="0"/>
              </a:p>
              <a:p>
                <a:pPr marL="0" indent="0">
                  <a:buNone/>
                </a:pPr>
                <a:r>
                  <a:rPr lang="en-US" dirty="0" smtClean="0"/>
                  <a:t>			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1,25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Гн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м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ru-RU" dirty="0" smtClean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35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188" y="3033927"/>
            <a:ext cx="3644900" cy="193473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609" y="3337848"/>
            <a:ext cx="1250341" cy="132689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8039" y="4920993"/>
            <a:ext cx="1599290" cy="155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6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Индуктивность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b="1" i="1" dirty="0" smtClean="0"/>
                  <a:t>Связь между напряжением на индуктивности и силой тока через него: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)=−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𝑳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ru-RU" b="1" i="1" dirty="0" smtClean="0"/>
                  <a:t>.</a:t>
                </a:r>
                <a:endParaRPr lang="en-US" b="1" i="1" dirty="0" smtClean="0"/>
              </a:p>
              <a:p>
                <a:pPr marL="0" indent="0" algn="just">
                  <a:buNone/>
                </a:pPr>
                <a:r>
                  <a:rPr lang="ru-RU" dirty="0" smtClean="0"/>
                  <a:t>При подаче на катушку индуктивности постоянного напряжения, ток в ней будет линейно возрастать.</a:t>
                </a:r>
              </a:p>
              <a:p>
                <a:pPr marL="0" indent="0" algn="ctr">
                  <a:buNone/>
                </a:pPr>
                <a:r>
                  <a:rPr lang="ru-RU" b="1" dirty="0" smtClean="0"/>
                  <a:t>Энергия, запасенная в индуктивности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ru-RU" b="1" dirty="0" smtClean="0"/>
              </a:p>
              <a:p>
                <a:pPr marL="0" indent="0" algn="ctr">
                  <a:buNone/>
                </a:pPr>
                <a:r>
                  <a:rPr lang="ru-RU" dirty="0" smtClean="0"/>
                  <a:t>    Изображение катушки индуктивности (дросселя) на электрических схемах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375" y="5379533"/>
            <a:ext cx="3397250" cy="106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7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Индуктивность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 smtClean="0"/>
              <a:t>На малых временах катушку индуктивности можно рассматривать как идеальный источник тока.</a:t>
            </a:r>
          </a:p>
          <a:p>
            <a:pPr algn="just"/>
            <a:endParaRPr lang="ru-RU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605" y="2652713"/>
            <a:ext cx="3333750" cy="33337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091" y="2938462"/>
            <a:ext cx="4160069" cy="337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2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Законы Кирхгоффа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b="1" i="1" dirty="0" smtClean="0"/>
                  <a:t>Первый закон Кирхгоффа (Правило токов Кирхгоффа):</a:t>
                </a:r>
              </a:p>
              <a:p>
                <a:pPr marL="0" indent="0">
                  <a:buNone/>
                </a:pPr>
                <a:r>
                  <a:rPr lang="ru-RU" dirty="0" smtClean="0"/>
                  <a:t>Алгебраическая сумма токов ветвей, сходящихся в каждом узле любой цепи, равна нулю. При этом направленный к узлу ток принято считать положительным, а направленный от узла — отрицательным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785" y="4521200"/>
            <a:ext cx="200977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1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Законы Кирхгоффа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b="1" i="1" dirty="0" smtClean="0"/>
                  <a:t>Второй закон Кирхгоффа (Правило напряжений Кирхгоффа):</a:t>
                </a:r>
              </a:p>
              <a:p>
                <a:pPr marL="0" indent="0">
                  <a:buNone/>
                </a:pPr>
                <a:r>
                  <a:rPr lang="ru-RU" dirty="0" smtClean="0"/>
                  <a:t>Алгебраическая сумма напряжений на резистивных элементах замкнутого контура равна алгебраической сумме ЭДС, входящих в этот контур. Если в контуре нет источников ЭДС (идеализированных генераторов напряжения), то суммарное падение напряжений равно нулю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u-RU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	</a:t>
                </a:r>
                <a:r>
                  <a:rPr lang="en-US" dirty="0" smtClean="0"/>
                  <a:t>			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32" y="4512689"/>
            <a:ext cx="3060123" cy="200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9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Параллельное и последовательное соединение нагрузки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b="1" i="1" dirty="0" smtClean="0"/>
                  <a:t>Последовательное соединение сопротивлений</a:t>
                </a:r>
              </a:p>
              <a:p>
                <a:r>
                  <a:rPr lang="ru-RU" b="1" i="1" dirty="0"/>
                  <a:t> </a:t>
                </a:r>
                <a:r>
                  <a:rPr lang="ru-RU" b="1" i="1" dirty="0" smtClean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i="1" dirty="0" smtClean="0"/>
                  <a:t> </a:t>
                </a:r>
              </a:p>
              <a:p>
                <a:r>
                  <a:rPr lang="en-US" b="1" i="1" dirty="0" smtClean="0"/>
                  <a:t>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b="1" i="1" dirty="0" smtClean="0"/>
              </a:p>
              <a:p>
                <a:r>
                  <a:rPr lang="en-US" b="1" i="1" dirty="0"/>
                  <a:t> </a:t>
                </a:r>
                <a:r>
                  <a:rPr lang="en-US" b="1" i="1" dirty="0" smtClean="0"/>
                  <a:t>            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𝑰𝑹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i="1" dirty="0" smtClean="0"/>
              </a:p>
              <a:p>
                <a:r>
                  <a:rPr lang="en-US" b="1" i="1" dirty="0" smtClean="0"/>
                  <a:t>             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i="1" dirty="0" smtClean="0"/>
                  <a:t> </a:t>
                </a:r>
              </a:p>
              <a:p>
                <a:endParaRPr lang="ru-RU" b="1" i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07264"/>
            <a:ext cx="1364308" cy="198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Параллельное и последовательное соединение нагрузки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b="1" i="1" dirty="0" smtClean="0"/>
                  <a:t>Параллельное соединение сопротивлений</a:t>
                </a:r>
              </a:p>
              <a:p>
                <a:r>
                  <a:rPr lang="ru-RU" b="1" i="1" dirty="0"/>
                  <a:t> </a:t>
                </a:r>
                <a:r>
                  <a:rPr lang="ru-RU" b="1" i="1" dirty="0" smtClean="0"/>
                  <a:t>              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b="1" i="1" dirty="0" smtClean="0"/>
                  <a:t> </a:t>
                </a:r>
              </a:p>
              <a:p>
                <a:r>
                  <a:rPr lang="en-US" b="1" i="1" dirty="0" smtClean="0"/>
                  <a:t>                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</a:rPr>
                      <m:t>                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             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b="1" i="1" dirty="0" smtClean="0"/>
              </a:p>
              <a:p>
                <a:r>
                  <a:rPr lang="en-US" b="1" i="1" dirty="0"/>
                  <a:t> </a:t>
                </a:r>
                <a:r>
                  <a:rPr lang="en-US" b="1" i="1" dirty="0" smtClean="0"/>
                  <a:t>               </a:t>
                </a:r>
                <a:r>
                  <a:rPr lang="ru-RU" b="1" i="1" dirty="0" smtClean="0"/>
                  <a:t>             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i="1" dirty="0" smtClean="0"/>
              </a:p>
              <a:p>
                <a:r>
                  <a:rPr lang="en-US" b="1" i="1" dirty="0" smtClean="0"/>
                  <a:t>               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</a:rPr>
                      <m:t>               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ru-R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endParaRPr lang="en-US" b="1" i="1" dirty="0" smtClean="0"/>
              </a:p>
              <a:p>
                <a:endParaRPr lang="ru-RU" b="1" i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63" y="2495478"/>
            <a:ext cx="2870994" cy="170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23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889</Words>
  <Application>Microsoft Office PowerPoint</Application>
  <PresentationFormat>Широкоэкранный</PresentationFormat>
  <Paragraphs>176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Тема Office</vt:lpstr>
      <vt:lpstr>Радиоэлектроника</vt:lpstr>
      <vt:lpstr>Программа курса лекций (3 семестр)</vt:lpstr>
      <vt:lpstr>Программа курса лекций (4 семестр)</vt:lpstr>
      <vt:lpstr>Элементы курса</vt:lpstr>
      <vt:lpstr>Лекция 1</vt:lpstr>
      <vt:lpstr>Основные понятия теории электрических цепей</vt:lpstr>
      <vt:lpstr>Основные понятия теории электрических цепей</vt:lpstr>
      <vt:lpstr>Основные понятия теории электрических цепей</vt:lpstr>
      <vt:lpstr>Основные понятия теории электрических цепей (Элементы цепей)</vt:lpstr>
      <vt:lpstr>Основные понятия теории электрических цепей  Электрическое сопротивление (Закон Ома для полной цепи)</vt:lpstr>
      <vt:lpstr>Источники напряжения и источники тока</vt:lpstr>
      <vt:lpstr>Источники напряжения и источники тока</vt:lpstr>
      <vt:lpstr>Теорема Тевенена</vt:lpstr>
      <vt:lpstr>Электрическая емкость (Конденсатор)</vt:lpstr>
      <vt:lpstr>Электрический конденсатор (Конденсатор)</vt:lpstr>
      <vt:lpstr>Электрическая емкость</vt:lpstr>
      <vt:lpstr>Электрическая емкость</vt:lpstr>
      <vt:lpstr>Электрическая емкость</vt:lpstr>
      <vt:lpstr>Индуктивность</vt:lpstr>
      <vt:lpstr>Индуктивность</vt:lpstr>
      <vt:lpstr>Катушка индуктивности (Дроссель, Реактор)</vt:lpstr>
      <vt:lpstr>Индуктивность</vt:lpstr>
      <vt:lpstr>Индуктивность</vt:lpstr>
      <vt:lpstr>Законы Кирхгоффа</vt:lpstr>
      <vt:lpstr>Законы Кирхгоффа</vt:lpstr>
      <vt:lpstr>Параллельное и последовательное соединение нагрузки</vt:lpstr>
      <vt:lpstr>Параллельное и последовательное соединение нагрузки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48</cp:revision>
  <dcterms:created xsi:type="dcterms:W3CDTF">2020-09-02T13:49:40Z</dcterms:created>
  <dcterms:modified xsi:type="dcterms:W3CDTF">2021-09-01T14:17:12Z</dcterms:modified>
</cp:coreProperties>
</file>