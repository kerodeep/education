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88" r:id="rId3"/>
    <p:sldId id="312" r:id="rId4"/>
    <p:sldId id="306" r:id="rId5"/>
    <p:sldId id="313" r:id="rId6"/>
    <p:sldId id="308" r:id="rId7"/>
    <p:sldId id="307" r:id="rId8"/>
    <p:sldId id="290" r:id="rId9"/>
    <p:sldId id="309" r:id="rId10"/>
    <p:sldId id="338" r:id="rId11"/>
    <p:sldId id="340" r:id="rId12"/>
    <p:sldId id="341" r:id="rId13"/>
    <p:sldId id="310" r:id="rId14"/>
    <p:sldId id="342" r:id="rId15"/>
    <p:sldId id="339" r:id="rId16"/>
    <p:sldId id="311" r:id="rId17"/>
    <p:sldId id="297" r:id="rId18"/>
    <p:sldId id="314" r:id="rId19"/>
    <p:sldId id="320" r:id="rId20"/>
    <p:sldId id="315" r:id="rId21"/>
    <p:sldId id="316" r:id="rId22"/>
    <p:sldId id="317" r:id="rId23"/>
    <p:sldId id="318" r:id="rId24"/>
    <p:sldId id="319" r:id="rId25"/>
    <p:sldId id="346" r:id="rId26"/>
    <p:sldId id="347" r:id="rId27"/>
    <p:sldId id="348" r:id="rId28"/>
    <p:sldId id="350" r:id="rId29"/>
    <p:sldId id="321" r:id="rId30"/>
    <p:sldId id="337" r:id="rId31"/>
    <p:sldId id="322" r:id="rId32"/>
    <p:sldId id="323" r:id="rId33"/>
    <p:sldId id="324" r:id="rId34"/>
    <p:sldId id="325" r:id="rId35"/>
    <p:sldId id="326" r:id="rId36"/>
    <p:sldId id="344" r:id="rId37"/>
    <p:sldId id="343" r:id="rId38"/>
    <p:sldId id="345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pPr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dirty="0" smtClean="0"/>
              <a:t>16,17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Полупроводниковые </a:t>
            </a:r>
            <a:r>
              <a:rPr lang="ru-RU" b="1" i="1" dirty="0"/>
              <a:t>переключающие элементы. </a:t>
            </a:r>
            <a:r>
              <a:rPr lang="ru-RU" b="1" i="1" dirty="0" smtClean="0"/>
              <a:t>Комбинированные</a:t>
            </a:r>
            <a:r>
              <a:rPr lang="en-US" b="1" i="1" dirty="0" smtClean="0"/>
              <a:t> </a:t>
            </a:r>
            <a:r>
              <a:rPr lang="ru-RU" b="1" i="1" dirty="0" smtClean="0"/>
              <a:t>полупроводниковые </a:t>
            </a:r>
            <a:r>
              <a:rPr lang="ru-RU" b="1" i="1" dirty="0"/>
              <a:t>приборы.</a:t>
            </a:r>
            <a:endParaRPr lang="ru-RU" b="1" i="1" dirty="0" smtClean="0"/>
          </a:p>
          <a:p>
            <a:pPr marL="0" indent="0" algn="ctr">
              <a:buNone/>
            </a:pPr>
            <a:r>
              <a:rPr lang="ru-RU" b="1" i="1" dirty="0" smtClean="0"/>
              <a:t>Расчет схем с полупроводниковыми приборами:</a:t>
            </a:r>
          </a:p>
          <a:p>
            <a:pPr marL="0" indent="0" algn="ctr">
              <a:buNone/>
            </a:pPr>
            <a:r>
              <a:rPr lang="ru-RU" b="1" i="1" dirty="0" smtClean="0"/>
              <a:t>Выпрямитель, </a:t>
            </a:r>
          </a:p>
          <a:p>
            <a:pPr marL="0" indent="0" algn="ctr">
              <a:buNone/>
            </a:pPr>
            <a:r>
              <a:rPr lang="ru-RU" b="1" i="1" smtClean="0"/>
              <a:t>Транзисторны</a:t>
            </a:r>
            <a:r>
              <a:rPr lang="ru-RU" b="1" i="1" smtClean="0"/>
              <a:t>е</a:t>
            </a:r>
            <a:r>
              <a:rPr lang="ru-RU" b="1" i="1" smtClean="0"/>
              <a:t> </a:t>
            </a:r>
            <a:r>
              <a:rPr lang="ru-RU" b="1" i="1" dirty="0" smtClean="0"/>
              <a:t>каскады.</a:t>
            </a: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Полупроводниковые переключающие элементы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Тиристор. (</a:t>
            </a:r>
            <a:r>
              <a:rPr lang="en-US" dirty="0" smtClean="0"/>
              <a:t>SCR – silicon controlled rectifier</a:t>
            </a:r>
            <a:r>
              <a:rPr lang="ru-RU" dirty="0" smtClean="0"/>
              <a:t>)</a:t>
            </a:r>
          </a:p>
          <a:p>
            <a:pPr marL="0" indent="0" algn="just">
              <a:buNone/>
            </a:pPr>
            <a:r>
              <a:rPr lang="ru-RU" dirty="0" smtClean="0"/>
              <a:t>Полупроводниковый прибор состоящий из четырех слоев полупроводника </a:t>
            </a:r>
            <a:r>
              <a:rPr lang="en-US" dirty="0" smtClean="0"/>
              <a:t>p-n-p-n</a:t>
            </a:r>
            <a:r>
              <a:rPr lang="ru-RU" dirty="0" smtClean="0"/>
              <a:t>, соединённых последовательно</a:t>
            </a:r>
            <a:r>
              <a:rPr lang="en-US" dirty="0" smtClean="0"/>
              <a:t>. </a:t>
            </a:r>
            <a:r>
              <a:rPr lang="ru-RU" dirty="0" smtClean="0"/>
              <a:t>Внешний слой </a:t>
            </a:r>
            <a:r>
              <a:rPr lang="en-US" dirty="0" smtClean="0"/>
              <a:t>p </a:t>
            </a:r>
            <a:r>
              <a:rPr lang="ru-RU" dirty="0" smtClean="0"/>
              <a:t>называется Анодом, внешний слой </a:t>
            </a:r>
            <a:r>
              <a:rPr lang="en-US" dirty="0" smtClean="0"/>
              <a:t>n</a:t>
            </a:r>
            <a:r>
              <a:rPr lang="ru-RU" dirty="0" smtClean="0"/>
              <a:t> – Катодом.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97" y="3562762"/>
            <a:ext cx="4720236" cy="28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3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Полупроводниковые переключающие элементы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Тиристор. </a:t>
            </a:r>
          </a:p>
          <a:p>
            <a:pPr marL="0" indent="0" algn="just">
              <a:buNone/>
            </a:pPr>
            <a:r>
              <a:rPr lang="ru-RU" dirty="0" smtClean="0"/>
              <a:t>В режиме прямого смещения на анод подается положительное относительно катода напряжение. При этом 2 крайних перехода смещены в прямом направлении, а средний в обратном. Т.е. непроводящий только средний переход. При этом через открытые переходы есть некоторая инжекция неосновных носителей в область закрытого перехода, которая увеличивает его проводимость. Начиная с некоторого анодного напряжения процесс увеличения проводимости закрытого перехода приобретает лавинный характер и тиристор открывается.</a:t>
            </a:r>
          </a:p>
          <a:p>
            <a:pPr marL="0" indent="0" algn="just">
              <a:buNone/>
            </a:pPr>
            <a:r>
              <a:rPr lang="ru-RU" dirty="0" smtClean="0"/>
              <a:t>При протекании тока через тиристор средний переход находится в состоянии, обогащенном неосновными носителями и это поддерживает его в открытом состоянии.</a:t>
            </a:r>
          </a:p>
          <a:p>
            <a:pPr marL="0" indent="0" algn="just">
              <a:buNone/>
            </a:pPr>
            <a:r>
              <a:rPr lang="ru-RU" dirty="0" smtClean="0"/>
              <a:t>Таким образом, чтобы открыть тиристор требуется подать на анод относительно катода положительный потенциал выше </a:t>
            </a:r>
            <a:r>
              <a:rPr lang="ru-RU" b="1" dirty="0" smtClean="0"/>
              <a:t>напряжения открывания</a:t>
            </a:r>
            <a:r>
              <a:rPr lang="ru-RU" dirty="0" smtClean="0"/>
              <a:t>. При этом ток в управляющий электрод существенно понижает это напряжение открывания. После того, как тиристор открылся, он будет пребывать в проводящем состоянии до тех пор, пока через него протекает ток выше </a:t>
            </a:r>
            <a:r>
              <a:rPr lang="ru-RU" b="1" dirty="0" smtClean="0"/>
              <a:t>тока удержания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619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Полупроводниковые переключающие элементы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ВАХ тиристора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530" y="2322902"/>
            <a:ext cx="5217846" cy="428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Полупроводниковые переключающие элементы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err="1" smtClean="0"/>
              <a:t>Симистор</a:t>
            </a:r>
            <a:r>
              <a:rPr lang="ru-RU" dirty="0" smtClean="0"/>
              <a:t>. (</a:t>
            </a:r>
            <a:r>
              <a:rPr lang="en-US" dirty="0"/>
              <a:t>TRIAC -  </a:t>
            </a:r>
            <a:r>
              <a:rPr lang="en-US" dirty="0" smtClean="0"/>
              <a:t>Triode </a:t>
            </a:r>
            <a:r>
              <a:rPr lang="en-US" dirty="0"/>
              <a:t>for </a:t>
            </a:r>
            <a:r>
              <a:rPr lang="en-US" dirty="0" smtClean="0"/>
              <a:t>Alternating </a:t>
            </a:r>
            <a:r>
              <a:rPr lang="en-US" dirty="0"/>
              <a:t>current</a:t>
            </a:r>
            <a:r>
              <a:rPr lang="ru-RU" dirty="0" smtClean="0"/>
              <a:t>)</a:t>
            </a:r>
          </a:p>
          <a:p>
            <a:pPr marL="0" indent="0" algn="just">
              <a:buNone/>
            </a:pPr>
            <a:r>
              <a:rPr lang="ru-RU" dirty="0" smtClean="0"/>
              <a:t>Прибор с симметричной вольт-амперной характеристикой, который можно представить, как встречно-параллельное соединение двух тиристоров.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33" y="3792819"/>
            <a:ext cx="2778828" cy="191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6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Полупроводниковые переключающие элементы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err="1" smtClean="0"/>
              <a:t>Симистор</a:t>
            </a:r>
            <a:r>
              <a:rPr lang="ru-RU" dirty="0" smtClean="0"/>
              <a:t> имеет пятислойную структуру, показанную на рисунке.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953613"/>
            <a:ext cx="4268808" cy="223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1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Полупроводниковые переключающие элементы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ВАХ </a:t>
            </a:r>
            <a:r>
              <a:rPr lang="ru-RU" dirty="0" err="1" smtClean="0"/>
              <a:t>симистора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532" y="2522466"/>
            <a:ext cx="5189827" cy="43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Диоды: выпрямитель.</a:t>
            </a:r>
          </a:p>
          <a:p>
            <a:pPr marL="0" indent="0" algn="just">
              <a:buNone/>
            </a:pPr>
            <a:r>
              <a:rPr lang="ru-RU" dirty="0" smtClean="0"/>
              <a:t>Вспомним вольтамперную характеристику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29" y="3019116"/>
            <a:ext cx="3108305" cy="2409809"/>
          </a:xfrm>
          <a:prstGeom prst="rect">
            <a:avLst/>
          </a:prstGeom>
        </p:spPr>
      </p:pic>
      <p:sp>
        <p:nvSpPr>
          <p:cNvPr id="6" name="Стрелка вправо 5"/>
          <p:cNvSpPr/>
          <p:nvPr/>
        </p:nvSpPr>
        <p:spPr>
          <a:xfrm>
            <a:off x="5403273" y="4435434"/>
            <a:ext cx="692727" cy="46313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75" y="3371955"/>
            <a:ext cx="2945081" cy="259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8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Однополупериодный выпрямитель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Схема однополупериодного выпрямителя содержит диод и емкость, подключенные к источнику переменного напряжения. На выход схемы параллельно емкости подключается сопротивление нагрузки. Схему рассчитывают в линейном приближении.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+0,6 В⇒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−0,6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+0,6 В⇒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−0,6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н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н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dirty="0" smtClean="0"/>
                  <a:t> , </a:t>
                </a:r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период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38" y="4317546"/>
            <a:ext cx="2164807" cy="12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7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Однополупериодный выпрямитель</a:t>
                </a: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Из закона сохранения заряда следует, что интеграл входного тока равен интегралу выходного тока. Имеем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н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nary>
                          <m:nary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0.95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н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𝟏𝟗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1" y="2796815"/>
            <a:ext cx="2164807" cy="12044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929" y="2847836"/>
            <a:ext cx="2560089" cy="1502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14407" y="2425536"/>
                <a:ext cx="379405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Считаем ток треугольным</m:t>
                      </m:r>
                    </m:oMath>
                  </m:oMathPara>
                </a14:m>
                <a:endParaRPr lang="ru-RU" b="0" dirty="0" smtClean="0"/>
              </a:p>
              <a:p>
                <a:r>
                  <a:rPr lang="ru-RU" dirty="0" smtClean="0"/>
                  <a:t>И найдем действующее значение тока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07" y="2425536"/>
                <a:ext cx="3794052" cy="553998"/>
              </a:xfrm>
              <a:prstGeom prst="rect">
                <a:avLst/>
              </a:prstGeom>
              <a:blipFill rotWithShape="0">
                <a:blip r:embed="rId5"/>
                <a:stretch>
                  <a:fillRect l="-3692" r="-3050" b="-24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078682" y="3114471"/>
                <a:ext cx="3292375" cy="793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пусть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такие, что 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=10%, </m:t>
                      </m:r>
                    </m:oMath>
                  </m:oMathPara>
                </a14:m>
                <a:endParaRPr lang="ru-R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тогда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∗0.1=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682" y="3114471"/>
                <a:ext cx="3292375" cy="793743"/>
              </a:xfrm>
              <a:prstGeom prst="rect">
                <a:avLst/>
              </a:prstGeom>
              <a:blipFill rotWithShape="0">
                <a:blip r:embed="rId6"/>
                <a:stretch>
                  <a:fillRect l="-1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61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Однополупериодный выпрямитель</a:t>
                </a: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Из закона сохранения заряда следует, что интеграл входного тока равен интегралу выходного тока. Имеем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н</m:t>
                                </m:r>
                              </m:sub>
                            </m:sSub>
                          </m:den>
                        </m:f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nary>
                          <m:nary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0.95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н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𝟏𝟗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1" y="2425536"/>
            <a:ext cx="2164807" cy="12044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929" y="2425536"/>
            <a:ext cx="2560089" cy="1502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14407" y="2425536"/>
                <a:ext cx="379405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Считаем ток треугольным</m:t>
                      </m:r>
                    </m:oMath>
                  </m:oMathPara>
                </a14:m>
                <a:endParaRPr lang="ru-RU" b="0" dirty="0" smtClean="0"/>
              </a:p>
              <a:p>
                <a:r>
                  <a:rPr lang="ru-RU" dirty="0" smtClean="0"/>
                  <a:t>И найдем действующее значение тока</a:t>
                </a:r>
                <a:endParaRPr lang="ru-R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07" y="2425536"/>
                <a:ext cx="3794052" cy="553998"/>
              </a:xfrm>
              <a:prstGeom prst="rect">
                <a:avLst/>
              </a:prstGeom>
              <a:blipFill rotWithShape="0">
                <a:blip r:embed="rId5"/>
                <a:stretch>
                  <a:fillRect l="-3692" r="-3050" b="-24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078682" y="3114471"/>
                <a:ext cx="3292375" cy="7937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пусть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такие, что 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=10%, </m:t>
                      </m:r>
                    </m:oMath>
                  </m:oMathPara>
                </a14:m>
                <a:endParaRPr lang="ru-R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тогда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∗0.1=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682" y="3114471"/>
                <a:ext cx="3292375" cy="793743"/>
              </a:xfrm>
              <a:prstGeom prst="rect">
                <a:avLst/>
              </a:prstGeom>
              <a:blipFill rotWithShape="0">
                <a:blip r:embed="rId6"/>
                <a:stretch>
                  <a:fillRect l="-1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46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Действующее значение входного тока выпрямителя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вх</m:t>
                              </m:r>
                            </m:sub>
                          </m:sSub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вх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вх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 smtClean="0"/>
              </a:p>
              <a:p>
                <a:pPr marL="0" indent="0" algn="just">
                  <a:buNone/>
                </a:pPr>
                <a:r>
                  <a:rPr lang="ru-RU" b="1" dirty="0" smtClean="0"/>
                  <a:t>Т.е. действующий входной ток получается в 2.5 раза больше выходного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вх</m:t>
                          </m:r>
                        </m:sub>
                      </m:sSub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𝟓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𝟕𝟑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ВА</m:t>
                      </m:r>
                    </m:oMath>
                  </m:oMathPara>
                </a14:m>
                <a:endParaRPr lang="ru-RU" b="1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в</m:t>
                          </m:r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ы</m:t>
                          </m:r>
                          <m:r>
                            <a:rPr lang="ru-RU" b="1" i="1">
                              <a:latin typeface="Cambria Math" panose="02040503050406030204" pitchFamily="18" charset="0"/>
                            </a:rPr>
                            <m:t>х</m:t>
                          </m:r>
                        </m:sub>
                      </m:sSub>
                      <m:r>
                        <a:rPr lang="ru-RU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𝟗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ru-RU" b="1" i="1"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</m:den>
                      </m:f>
                      <m:r>
                        <a:rPr lang="en-US" b="1" i="1">
                          <a:latin typeface="Cambria Math" panose="02040503050406030204" pitchFamily="18" charset="0"/>
                        </a:rPr>
                        <m:t>В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т</m:t>
                      </m:r>
                    </m:oMath>
                  </m:oMathPara>
                </a14:m>
                <a:endParaRPr lang="ru-RU" b="1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ru-RU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ru-RU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𝟓𝟐</m:t>
                      </m:r>
                    </m:oMath>
                  </m:oMathPara>
                </a14:m>
                <a:endParaRPr lang="ru-RU" b="1" dirty="0"/>
              </a:p>
              <a:p>
                <a:pPr marL="0" indent="0" algn="just">
                  <a:buNone/>
                </a:pPr>
                <a:endParaRPr lang="ru-RU" b="1" dirty="0" smtClean="0"/>
              </a:p>
              <a:p>
                <a:pPr marL="0" indent="0" algn="just">
                  <a:buNone/>
                </a:pPr>
                <a:endParaRPr lang="en-US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6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57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Двухполупериодный выпрямитель</a:t>
                </a:r>
              </a:p>
              <a:p>
                <a:pPr marL="0" indent="0" algn="just">
                  <a:buNone/>
                </a:pPr>
                <a:r>
                  <a:rPr lang="ru-RU" dirty="0"/>
                  <a:t>		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+0,6 В⇒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−0,6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r>
                  <a:rPr lang="ru-RU" dirty="0"/>
                  <a:t>			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+0,6 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−0,6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6" y="2402768"/>
            <a:ext cx="3346646" cy="159852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291" y="2894858"/>
            <a:ext cx="2719883" cy="126816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291" y="4855475"/>
            <a:ext cx="2834244" cy="13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6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Двухполупериодный выпрямитель</a:t>
                </a:r>
              </a:p>
              <a:p>
                <a:pPr marL="0" indent="0" algn="just">
                  <a:buNone/>
                </a:pPr>
                <a:r>
                  <a:rPr lang="ru-RU" dirty="0"/>
                  <a:t>			</a:t>
                </a: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н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dirty="0"/>
                  <a:t> ,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период</m:t>
                    </m:r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6" y="2402768"/>
            <a:ext cx="3346646" cy="159852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256" y="2402768"/>
            <a:ext cx="2722976" cy="179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3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Пределы использования линейного приближения для оценки пульсаций выпрямленного напряжения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99" y="2861403"/>
            <a:ext cx="5539467" cy="298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0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Расчёт схем с полупроводниковыми элементами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Трехфазный выпрямитель</a:t>
                </a: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≤14%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~0,85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Звезда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.7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 smtClean="0"/>
                  <a:t>   </a:t>
                </a:r>
                <a:r>
                  <a:rPr lang="ru-RU" dirty="0" smtClean="0"/>
                  <a:t>Т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реугольник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09" y="2373301"/>
            <a:ext cx="4122716" cy="20180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334" y="1903721"/>
            <a:ext cx="6219048" cy="3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Устройство биполярного транзистора.</a:t>
            </a:r>
          </a:p>
          <a:p>
            <a:pPr marL="0" indent="0" algn="just">
              <a:buNone/>
            </a:pPr>
            <a:r>
              <a:rPr lang="ru-RU" dirty="0"/>
              <a:t>	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587" y="2557462"/>
            <a:ext cx="4314825" cy="17430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09" y="4567900"/>
            <a:ext cx="2037068" cy="92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Вольт-амперные характеристики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481" y="2290362"/>
            <a:ext cx="8301037" cy="402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4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Биполярный транзистор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Рабочие зоны:</a:t>
            </a:r>
          </a:p>
          <a:p>
            <a:pPr marL="0" indent="0" algn="just">
              <a:buNone/>
            </a:pPr>
            <a:r>
              <a:rPr lang="ru-RU" dirty="0" smtClean="0"/>
              <a:t>1) Область насыщения – </a:t>
            </a:r>
            <a:r>
              <a:rPr lang="ru-RU" b="1" dirty="0" smtClean="0"/>
              <a:t>ключевой режим</a:t>
            </a:r>
            <a:r>
              <a:rPr lang="ru-RU" dirty="0" smtClean="0"/>
              <a:t>. На выход из ключевого режима требуется время – на дрейф неосновных носителей из базовой области. Характерное время определяется из характеристик, но обычно оно 100 – 500нсек для обычных неплохих транзисторов.</a:t>
            </a:r>
          </a:p>
          <a:p>
            <a:pPr marL="0" indent="0" algn="just">
              <a:buNone/>
            </a:pPr>
            <a:r>
              <a:rPr lang="ru-RU" dirty="0" smtClean="0"/>
              <a:t>2) Область линейной работы.</a:t>
            </a:r>
          </a:p>
          <a:p>
            <a:pPr marL="0" indent="0" algn="just">
              <a:buNone/>
            </a:pPr>
            <a:r>
              <a:rPr lang="ru-RU" dirty="0" smtClean="0"/>
              <a:t>3) Область отсечки.</a:t>
            </a:r>
          </a:p>
          <a:p>
            <a:pPr marL="0" indent="0" algn="just">
              <a:buNone/>
            </a:pP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608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Общий эмиттер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=0,6В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" y="2828925"/>
            <a:ext cx="4891916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Общий эмиттер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=0,6В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−0,6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2=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вых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6" y="2354921"/>
            <a:ext cx="6348412" cy="25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6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Общий эмиттер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=0,6В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−0,6В</m:t>
                    </m:r>
                  </m:oMath>
                </a14:m>
                <a:endParaRPr lang="en-US" b="0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2;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b="0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47" y="2482633"/>
            <a:ext cx="4845194" cy="285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2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Общий коллектор </a:t>
                </a:r>
                <a:r>
                  <a:rPr lang="ru-RU" dirty="0"/>
                  <a:t>	</a:t>
                </a:r>
                <a:r>
                  <a:rPr lang="ru-RU" dirty="0" smtClean="0"/>
                  <a:t>				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=0,6В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−0,6В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				</a:t>
                </a: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ru-RU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вых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427" y="2312759"/>
            <a:ext cx="4628942" cy="273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3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Общая база</a:t>
                </a:r>
                <a:r>
                  <a:rPr lang="en-US" dirty="0" smtClean="0"/>
                  <a:t> </a:t>
                </a:r>
                <a:r>
                  <a:rPr lang="ru-RU" dirty="0"/>
                  <a:t>	</a:t>
                </a:r>
                <a:r>
                  <a:rPr lang="ru-RU" dirty="0" smtClean="0"/>
                  <a:t>									</a:t>
                </a:r>
                <a:r>
                  <a:rPr lang="en-US" dirty="0" smtClean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=0,6В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−0,6В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э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2;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299" y="2260875"/>
            <a:ext cx="2974769" cy="291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4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токовое зеркало. В такой схеме существенное влияние на работу оказывает эквивалентное сопротивление эмиттерного перехода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э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 smtClean="0"/>
                  <a:t>. Модель транзистора с учетом наличия этого сопротивления называется </a:t>
                </a:r>
                <a:r>
                  <a:rPr lang="ru-RU" b="1" dirty="0" smtClean="0"/>
                  <a:t>моделью </a:t>
                </a:r>
                <a:r>
                  <a:rPr lang="ru-RU" b="1" dirty="0" err="1" smtClean="0"/>
                  <a:t>Эберса-Молла</a:t>
                </a:r>
                <a:r>
                  <a:rPr lang="ru-RU" b="1" dirty="0" smtClean="0"/>
                  <a:t>. </a:t>
                </a:r>
                <a:r>
                  <a:rPr lang="ru-RU" dirty="0" smtClean="0"/>
                  <a:t>Выразим </a:t>
                </a:r>
                <a:r>
                  <a:rPr lang="en-US" dirty="0" smtClean="0"/>
                  <a:t>V</a:t>
                </a:r>
                <a:r>
                  <a:rPr lang="ru-RU" dirty="0" smtClean="0"/>
                  <a:t>бэ для обоих </a:t>
                </a:r>
                <a:r>
                  <a:rPr lang="ru-RU" dirty="0" err="1" smtClean="0"/>
                  <a:t>плечей</a:t>
                </a:r>
                <a:r>
                  <a:rPr lang="ru-RU" dirty="0" smtClean="0"/>
                  <a:t>:</a:t>
                </a: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=0,6+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i="1" dirty="0" smtClean="0">
                    <a:latin typeface="Cambria Math" panose="02040503050406030204" pitchFamily="18" charset="0"/>
                  </a:rPr>
                  <a:t> Отсюда найдем ток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dirty="0" smtClean="0"/>
                  <a:t>						</a:t>
                </a:r>
                <a:r>
                  <a:rPr lang="en-US" dirty="0" smtClean="0"/>
                  <a:t>				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бэ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−0,6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					</a:t>
                </a:r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; </a:t>
                </a:r>
              </a:p>
              <a:p>
                <a:pPr marL="0" indent="0" algn="just">
                  <a:buNone/>
                </a:pPr>
                <a:r>
                  <a:rPr lang="en-US" b="0" dirty="0"/>
                  <a:t>	</a:t>
                </a:r>
                <a:r>
                  <a:rPr lang="en-US" b="0" dirty="0" smtClean="0"/>
                  <a:t>					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при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 smtClean="0"/>
                  <a:t>=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 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имеем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ru-RU" dirty="0" smtClean="0"/>
                  <a:t> , т.е. ток во втором </a:t>
                </a:r>
                <a:r>
                  <a:rPr lang="en-US" dirty="0" smtClean="0"/>
                  <a:t>						</a:t>
                </a:r>
                <a:r>
                  <a:rPr lang="ru-RU" dirty="0" smtClean="0"/>
                  <a:t>плече программируется током </a:t>
                </a:r>
                <a:r>
                  <a:rPr lang="en-US" dirty="0" smtClean="0"/>
                  <a:t>I</a:t>
                </a:r>
                <a:r>
                  <a:rPr lang="en-US" dirty="0"/>
                  <a:t>							</a:t>
                </a:r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7143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26" y="2560150"/>
            <a:ext cx="4733925" cy="336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8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Схемы включения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Схема включения: дифференциальный каскад. 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Используем модель </a:t>
                </a:r>
                <a:r>
                  <a:rPr lang="ru-RU" dirty="0" err="1" smtClean="0"/>
                  <a:t>Эберса-Молла</a:t>
                </a: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  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=0,6В+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</m:sSub>
                  </m:oMath>
                </a14:m>
                <a:r>
                  <a:rPr lang="ru-RU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э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э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							</a:t>
                </a:r>
                <a:r>
                  <a:rPr lang="en-US" dirty="0" smtClean="0"/>
                  <a:t>	</a:t>
                </a:r>
                <a:r>
                  <a:rPr lang="ru-RU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−0,6 −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−0,6 −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endParaRPr lang="en-US" dirty="0" smtClean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э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−1,2−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 b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670" y="2344263"/>
            <a:ext cx="3837462" cy="25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0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включения: дифференциальный каскад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э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−1,2−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э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−1,2−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−1,2−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вх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0,6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вых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вх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вх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559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включения: дифференциальный каскад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:r>
                  <a:rPr lang="ru-RU" dirty="0" smtClean="0"/>
                  <a:t>Теперь учтем то обстоятельство, что </a:t>
                </a:r>
                <a:r>
                  <a:rPr lang="en-US" dirty="0" smtClean="0"/>
                  <a:t>r&lt;&lt;R1</a:t>
                </a:r>
                <a:r>
                  <a:rPr lang="ru-RU" dirty="0" smtClean="0"/>
                  <a:t>. С учетом этого выражение упростится: </a:t>
                </a:r>
                <a:r>
                  <a:rPr lang="ru-RU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вых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0,6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</a:t>
                </a:r>
                <a:r>
                  <a:rPr lang="ru-RU" dirty="0" smtClean="0"/>
                  <a:t>									</a:t>
                </a:r>
                <a:r>
                  <a:rPr lang="en-US" dirty="0" smtClean="0"/>
                  <a:t>		</a:t>
                </a:r>
                <a:r>
                  <a:rPr lang="ru-RU" dirty="0"/>
                  <a:t> </a:t>
                </a:r>
                <a:r>
                  <a:rPr lang="ru-RU" dirty="0" smtClean="0"/>
                  <a:t>В выражении есть 2 компоненты: 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вх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ru-RU" dirty="0" smtClean="0"/>
                  <a:t> - </a:t>
                </a:r>
                <a:r>
                  <a:rPr lang="ru-RU" b="1" i="1" dirty="0" smtClean="0"/>
                  <a:t>дифференциальная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вх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ru-RU" dirty="0" smtClean="0"/>
                  <a:t> - </a:t>
                </a:r>
                <a:r>
                  <a:rPr lang="ru-RU" b="1" i="1" dirty="0" smtClean="0"/>
                  <a:t>синфазная</a:t>
                </a:r>
                <a:r>
                  <a:rPr lang="ru-RU" dirty="0" smtClean="0"/>
                  <a:t>, при этом для </a:t>
                </a:r>
                <a:r>
                  <a:rPr lang="en-US" dirty="0" smtClean="0"/>
                  <a:t>						</a:t>
                </a:r>
                <a:r>
                  <a:rPr lang="ru-RU" dirty="0" smtClean="0"/>
                  <a:t>дифференциальной компоненты 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k=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 smtClean="0"/>
                  <a:t> &gt;&gt;1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24" y="2973656"/>
            <a:ext cx="3837462" cy="25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9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 каскадов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Каскады с ОЭ, ОК, ОБ имеют разные области применения. Типовые области для каждого из них:</a:t>
            </a:r>
          </a:p>
          <a:p>
            <a:pPr marL="0" indent="0" algn="just">
              <a:buNone/>
            </a:pPr>
            <a:r>
              <a:rPr lang="ru-RU" dirty="0" smtClean="0"/>
              <a:t>ОЭ) Усиление сигнала по току и напряжению</a:t>
            </a:r>
          </a:p>
          <a:p>
            <a:pPr marL="0" indent="0" algn="just">
              <a:buNone/>
            </a:pPr>
            <a:r>
              <a:rPr lang="ru-RU" dirty="0" smtClean="0"/>
              <a:t>ОК) Усиление тока, согласование источника в высоким выходным сопротивлением.</a:t>
            </a:r>
          </a:p>
          <a:p>
            <a:pPr marL="0" indent="0" algn="just">
              <a:buNone/>
            </a:pPr>
            <a:r>
              <a:rPr lang="ru-RU" dirty="0" smtClean="0"/>
              <a:t>ОБ) Согласование источника с заданным входным сопротивлением, согласование мощности.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23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Режимы работы усилительных каскадов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Линейный режим работы усилительного каскада называется режимом класса А. Главный его недостаток – низкий КПД.</a:t>
            </a:r>
          </a:p>
          <a:p>
            <a:pPr marL="0" indent="0" algn="just">
              <a:buNone/>
            </a:pPr>
            <a:r>
              <a:rPr lang="ru-RU" dirty="0" smtClean="0"/>
              <a:t>Существуют режимы с нелинейным усилением – по степени внесения нелинейности их подразделяют на режимы А</a:t>
            </a:r>
            <a:r>
              <a:rPr lang="en-US" dirty="0"/>
              <a:t>B</a:t>
            </a:r>
            <a:r>
              <a:rPr lang="ru-RU" dirty="0" smtClean="0"/>
              <a:t>, </a:t>
            </a:r>
            <a:r>
              <a:rPr lang="en-US" dirty="0"/>
              <a:t>B</a:t>
            </a:r>
            <a:r>
              <a:rPr lang="ru-RU" dirty="0" smtClean="0"/>
              <a:t>, С.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42" y="3725002"/>
            <a:ext cx="9715813" cy="208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7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Малосигнальные</a:t>
            </a:r>
            <a:r>
              <a:rPr lang="ru-RU" dirty="0" smtClean="0"/>
              <a:t> цепи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Типовой транзистор </a:t>
            </a:r>
          </a:p>
          <a:p>
            <a:pPr marL="0" indent="0" algn="just">
              <a:buNone/>
            </a:pPr>
            <a:r>
              <a:rPr lang="en-US" dirty="0" smtClean="0"/>
              <a:t>BC847, </a:t>
            </a:r>
            <a:r>
              <a:rPr lang="ru-RU" dirty="0" smtClean="0"/>
              <a:t>КТ</a:t>
            </a:r>
            <a:r>
              <a:rPr lang="en-US" dirty="0" smtClean="0"/>
              <a:t>3102 – </a:t>
            </a:r>
            <a:r>
              <a:rPr lang="en-US" dirty="0" err="1" smtClean="0"/>
              <a:t>npn</a:t>
            </a:r>
            <a:r>
              <a:rPr lang="en-US" dirty="0" smtClean="0"/>
              <a:t> </a:t>
            </a:r>
            <a:endParaRPr lang="ru-RU" dirty="0" smtClean="0"/>
          </a:p>
          <a:p>
            <a:pPr marL="0" indent="0" algn="just">
              <a:buNone/>
            </a:pPr>
            <a:r>
              <a:rPr lang="en-US" dirty="0" smtClean="0"/>
              <a:t>BC857, </a:t>
            </a:r>
            <a:r>
              <a:rPr lang="ru-RU" dirty="0" smtClean="0"/>
              <a:t>КТ3107</a:t>
            </a:r>
            <a:r>
              <a:rPr lang="en-US" dirty="0" smtClean="0"/>
              <a:t> – </a:t>
            </a:r>
            <a:r>
              <a:rPr lang="en-US" dirty="0" err="1" smtClean="0"/>
              <a:t>pnp</a:t>
            </a:r>
            <a:r>
              <a:rPr lang="en-US" dirty="0" smtClean="0"/>
              <a:t> </a:t>
            </a: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8" y="1736477"/>
            <a:ext cx="4260158" cy="485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0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Управляющие цепи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Типовой транзистор </a:t>
            </a:r>
          </a:p>
          <a:p>
            <a:pPr marL="0" indent="0" algn="just">
              <a:buNone/>
            </a:pPr>
            <a:r>
              <a:rPr lang="en-US" dirty="0" smtClean="0"/>
              <a:t>BD875, </a:t>
            </a:r>
            <a:r>
              <a:rPr lang="ru-RU" dirty="0" smtClean="0"/>
              <a:t>КТ</a:t>
            </a:r>
            <a:r>
              <a:rPr lang="en-US" dirty="0" smtClean="0"/>
              <a:t>972 – </a:t>
            </a:r>
            <a:r>
              <a:rPr lang="en-US" dirty="0" err="1" smtClean="0"/>
              <a:t>npn</a:t>
            </a:r>
            <a:r>
              <a:rPr lang="en-US" dirty="0" smtClean="0"/>
              <a:t> </a:t>
            </a:r>
            <a:endParaRPr lang="ru-RU" dirty="0" smtClean="0"/>
          </a:p>
          <a:p>
            <a:pPr marL="0" indent="0" algn="just">
              <a:buNone/>
            </a:pPr>
            <a:r>
              <a:rPr lang="en-US" dirty="0" smtClean="0"/>
              <a:t>BC876, </a:t>
            </a:r>
            <a:r>
              <a:rPr lang="ru-RU" dirty="0" smtClean="0"/>
              <a:t>КТ</a:t>
            </a:r>
            <a:r>
              <a:rPr lang="en-US" dirty="0" smtClean="0"/>
              <a:t>973 – </a:t>
            </a:r>
            <a:r>
              <a:rPr lang="en-US" dirty="0" err="1" smtClean="0"/>
              <a:t>pnp</a:t>
            </a:r>
            <a:r>
              <a:rPr lang="en-US" dirty="0" smtClean="0"/>
              <a:t> </a:t>
            </a:r>
            <a:endParaRPr lang="ru-RU" dirty="0" smtClean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						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32" y="1573579"/>
            <a:ext cx="4364182" cy="440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0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Каскадное включение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Использование каскадов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ru-RU" dirty="0" smtClean="0"/>
              <a:t>						</a:t>
            </a:r>
            <a:endParaRPr lang="en-US" dirty="0" smtClean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753" y="2894548"/>
            <a:ext cx="6614548" cy="208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Освещенность фотодиода -</a:t>
            </a:r>
            <a:r>
              <a:rPr lang="en-US" dirty="0" smtClean="0"/>
              <a:t>&gt; </a:t>
            </a:r>
            <a:r>
              <a:rPr lang="ru-RU" dirty="0" smtClean="0"/>
              <a:t>исполнительное реле</a:t>
            </a:r>
          </a:p>
          <a:p>
            <a:pPr marL="0" indent="0" algn="just">
              <a:buNone/>
            </a:pPr>
            <a:r>
              <a:rPr lang="ru-RU" dirty="0" smtClean="0"/>
              <a:t>Фотодиод </a:t>
            </a:r>
            <a:r>
              <a:rPr lang="en-US" dirty="0" smtClean="0"/>
              <a:t>BPW34</a:t>
            </a:r>
          </a:p>
          <a:p>
            <a:pPr lvl="1" algn="just"/>
            <a:r>
              <a:rPr lang="ru-RU" dirty="0" err="1"/>
              <a:t>Темновой</a:t>
            </a:r>
            <a:r>
              <a:rPr lang="ru-RU" dirty="0"/>
              <a:t> ток 1-15нА (</a:t>
            </a:r>
            <a:r>
              <a:rPr lang="en-US" dirty="0" err="1"/>
              <a:t>Vr</a:t>
            </a:r>
            <a:r>
              <a:rPr lang="en-US" dirty="0"/>
              <a:t>=5V</a:t>
            </a:r>
            <a:r>
              <a:rPr lang="ru-RU" dirty="0"/>
              <a:t>)</a:t>
            </a:r>
            <a:endParaRPr lang="en-US" dirty="0"/>
          </a:p>
          <a:p>
            <a:pPr lvl="1" algn="just"/>
            <a:r>
              <a:rPr lang="ru-RU" dirty="0" err="1"/>
              <a:t>Фоточуствительность</a:t>
            </a:r>
            <a:r>
              <a:rPr lang="ru-RU" dirty="0"/>
              <a:t> 80нА</a:t>
            </a:r>
            <a:r>
              <a:rPr lang="en-US" dirty="0"/>
              <a:t>/lx</a:t>
            </a:r>
          </a:p>
          <a:p>
            <a:pPr marL="0" indent="0" algn="just">
              <a:buNone/>
            </a:pPr>
            <a:r>
              <a:rPr lang="ru-RU" dirty="0" smtClean="0"/>
              <a:t>Реле </a:t>
            </a:r>
            <a:r>
              <a:rPr lang="en-US" b="1" dirty="0"/>
              <a:t>NRP05</a:t>
            </a:r>
          </a:p>
          <a:p>
            <a:pPr marL="0" indent="0" algn="just">
              <a:buNone/>
            </a:pPr>
            <a:r>
              <a:rPr lang="ru-RU" dirty="0" smtClean="0"/>
              <a:t>Обмотка 55 Ом, рабочее напряжение 5В</a:t>
            </a:r>
            <a:endParaRPr lang="en-US" dirty="0"/>
          </a:p>
          <a:p>
            <a:pPr marL="0" indent="0" algn="just">
              <a:buNone/>
            </a:pPr>
            <a:r>
              <a:rPr lang="ru-RU" dirty="0" smtClean="0"/>
              <a:t>Освещенность 100</a:t>
            </a:r>
            <a:r>
              <a:rPr lang="en-US" dirty="0" smtClean="0"/>
              <a:t>lx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Схема имеет пороговый режим работы: освещенность 100</a:t>
            </a:r>
            <a:r>
              <a:rPr lang="en-US" dirty="0" smtClean="0"/>
              <a:t>lx </a:t>
            </a:r>
            <a:r>
              <a:rPr lang="ru-RU" dirty="0" smtClean="0"/>
              <a:t>должна вызывать достаточный ток для срабатывания реле – критерием этого будем считать достижение падения 5В на нем. В реальности ток срабатывания немного ниже – при желании это можно учитывать, но в данном расчете применим номинальное значение. Питание схемы выберем в 5В – это значит что транзистор управляющий реле должен будет входить в насыщение.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26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ОК – ОЭ						</a:t>
                </a: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≪250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ru-RU" dirty="0"/>
                  <a:t>							</a:t>
                </a:r>
                <a:r>
                  <a:rPr lang="ru-RU" dirty="0" smtClean="0"/>
                  <a:t>		</a:t>
                </a: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ы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вх</m:t>
                            </m:r>
                          </m:sub>
                        </m:sSub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=1.25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к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бэ(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847)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=0,5В</m:t>
                    </m:r>
                  </m:oMath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875)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В</m:t>
                    </m:r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80∗100∗250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−(1+0.5)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/1.25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80∗100∗250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−(1+0.5)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/1.25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𝑅𝑟𝑒𝑙𝑒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80∗100∗250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−1.5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1.25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∗55=22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транзистор в насыщении. </m:t>
                      </m:r>
                    </m:oMath>
                  </m:oMathPara>
                </a14:m>
                <a:endParaRPr lang="ru-RU" b="0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Освещенность при которой выключится реле: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𝑅𝑟𝑒𝑙𝑒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80∗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𝑙𝑥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∗250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𝑢𝑉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−1.5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∗55=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𝑙𝑥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037" y="1546266"/>
            <a:ext cx="4920405" cy="256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1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r>
              <a:rPr lang="en-US" dirty="0"/>
              <a:t> </a:t>
            </a:r>
            <a:r>
              <a:rPr lang="en-US" dirty="0" smtClean="0"/>
              <a:t>2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Усилитель звуковой частоты. 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Входное напряжение 0,5 В, выходная мощность 10 Вт на нагрузку 4 Ом. Слабая зависимость коэффициента усиления от частоты в диапазоне 20 Гц – 20 кГц.</a:t>
                </a:r>
                <a:endParaRPr lang="ru-RU" dirty="0"/>
              </a:p>
              <a:p>
                <a:pPr marL="0" indent="0" algn="just">
                  <a:buNone/>
                </a:pPr>
                <a:r>
                  <a:rPr lang="ru-RU" dirty="0" smtClean="0"/>
                  <a:t>Требуется усилить входное напряжение до, примерно, 10 В (20 раз) и обеспечить малое выходное сопротивление (минимум 4 Ом, а лучше существенно меньше)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Малое выходное сопротивление вместе с требованием слабой зависимости выходного напряжения от частоты подразумевает отсутствие емкостной развязки на выходе: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вых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: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sub>
                      </m:sSub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20Гц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120С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≪4⇒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≫33 000 мкФ −слишком больша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я емкость требуется.</m:t>
                      </m:r>
                    </m:oMath>
                  </m:oMathPara>
                </a14:m>
                <a:endParaRPr lang="ru-RU" dirty="0" smtClean="0"/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17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r>
              <a:rPr lang="en-US" dirty="0"/>
              <a:t> </a:t>
            </a:r>
            <a:r>
              <a:rPr lang="en-US" dirty="0" smtClean="0"/>
              <a:t>2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ОЭ – О</a:t>
                </a:r>
                <a:r>
                  <a:rPr lang="en-US" dirty="0" smtClean="0"/>
                  <a:t>K</a:t>
                </a:r>
                <a:r>
                  <a:rPr lang="ru-RU" dirty="0"/>
                  <a:t> – О</a:t>
                </a:r>
                <a:r>
                  <a:rPr lang="en-US" dirty="0"/>
                  <a:t>K </a:t>
                </a:r>
                <a:r>
                  <a:rPr lang="ru-RU" dirty="0" smtClean="0"/>
                  <a:t>						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	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:r>
                  <a:rPr lang="ru-RU" dirty="0" smtClean="0"/>
                  <a:t>Подберем режим первого каскада по 									постоянному току: нам нужно, чтобы 									в покое на коллекторе </a:t>
                </a:r>
                <a:r>
                  <a:rPr lang="en-US" dirty="0" smtClean="0"/>
                  <a:t>VT1 </a:t>
                </a:r>
                <a:r>
                  <a:rPr lang="ru-RU" dirty="0" smtClean="0"/>
                  <a:t>было примерно 0 В.</a:t>
                </a:r>
                <a:r>
                  <a:rPr lang="ru-RU" dirty="0"/>
                  <a:t>						</a:t>
                </a:r>
                <a:r>
                  <a:rPr lang="ru-RU" dirty="0" smtClean="0"/>
                  <a:t>		</a:t>
                </a: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в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х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&gt;10 кОм :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200÷400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4&gt;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Ом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Возьмем </a:t>
                </a:r>
                <a:r>
                  <a:rPr lang="en-US" dirty="0" smtClean="0"/>
                  <a:t>R4=</a:t>
                </a:r>
                <a:r>
                  <a:rPr lang="ru-RU" dirty="0" smtClean="0"/>
                  <a:t>2</a:t>
                </a:r>
                <a:r>
                  <a:rPr lang="en-US" dirty="0" smtClean="0"/>
                  <a:t>00 </a:t>
                </a:r>
                <a:r>
                  <a:rPr lang="ru-RU" dirty="0" smtClean="0"/>
                  <a:t>Ом</a:t>
                </a:r>
                <a:r>
                  <a:rPr lang="en-US" dirty="0" smtClean="0"/>
                  <a:t>, R3 </a:t>
                </a:r>
                <a:r>
                  <a:rPr lang="ru-RU" dirty="0" smtClean="0"/>
                  <a:t>отсюда равен 4 кОм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=24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В⇒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мА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=−24+1.2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э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22.8В⇒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б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=−22.8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+0.6=−22.2 В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ru-RU" dirty="0" smtClean="0"/>
                  <a:t>							Отсюда получаем соотношение на </a:t>
                </a:r>
                <a:r>
                  <a:rPr lang="en-US" dirty="0" smtClean="0"/>
                  <a:t>R1 </a:t>
                </a:r>
                <a:r>
                  <a:rPr lang="ru-RU" dirty="0" smtClean="0"/>
                  <a:t> и </a:t>
                </a:r>
                <a:r>
                  <a:rPr lang="en-US" dirty="0" smtClean="0"/>
                  <a:t>R2</a:t>
                </a:r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1=25,7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тогда </a:t>
                </a:r>
                <a:r>
                  <a:rPr lang="en-US" dirty="0" smtClean="0"/>
                  <a:t>R2=10 </a:t>
                </a:r>
                <a:r>
                  <a:rPr lang="ru-RU" dirty="0" smtClean="0"/>
                  <a:t>кОм </a:t>
                </a:r>
                <a:r>
                  <a:rPr lang="en-US" dirty="0" smtClean="0"/>
                  <a:t>R1=260 </a:t>
                </a:r>
                <a:r>
                  <a:rPr lang="ru-RU" dirty="0" smtClean="0"/>
                  <a:t>кОм</a:t>
                </a:r>
                <a:r>
                  <a:rPr lang="en-US" dirty="0" smtClean="0"/>
                  <a:t> ;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	</a:t>
                </a:r>
                <a:r>
                  <a:rPr lang="en-US" dirty="0" smtClean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мкА 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270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=170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мкА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6" t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20" y="2229935"/>
            <a:ext cx="6013676" cy="369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r>
              <a:rPr lang="en-US" dirty="0"/>
              <a:t> </a:t>
            </a:r>
            <a:r>
              <a:rPr lang="en-US" dirty="0" smtClean="0"/>
              <a:t>2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0" indent="0" algn="just">
                  <a:buNone/>
                </a:pPr>
                <a:r>
                  <a:rPr lang="ru-RU" dirty="0" smtClean="0"/>
                  <a:t>ОЭ – О</a:t>
                </a:r>
                <a:r>
                  <a:rPr lang="en-US" dirty="0" smtClean="0"/>
                  <a:t>K</a:t>
                </a:r>
                <a:r>
                  <a:rPr lang="ru-RU" dirty="0"/>
                  <a:t> – О</a:t>
                </a:r>
                <a:r>
                  <a:rPr lang="en-US" dirty="0"/>
                  <a:t>K </a:t>
                </a:r>
                <a:r>
                  <a:rPr lang="ru-RU" dirty="0" smtClean="0"/>
                  <a:t>						</a:t>
                </a:r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К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акие нужны С1 и С2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≪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20Гц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120С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 :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20Гц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120С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≫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0.8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мкФ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≫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мкФ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;</m:t>
                    </m:r>
                  </m:oMath>
                </a14:m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b="0" dirty="0" smtClean="0"/>
                  <a:t>							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𝐂𝟏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𝐂𝟐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ru-RU" b="1" dirty="0"/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мкФ</m:t>
                    </m:r>
                  </m:oMath>
                </a14:m>
                <a:endParaRPr lang="en-US" b="1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:r>
                  <a:rPr lang="ru-RU" dirty="0" smtClean="0"/>
                  <a:t>Для </a:t>
                </a:r>
                <a:r>
                  <a:rPr lang="en-US" dirty="0" smtClean="0"/>
                  <a:t>R5 </a:t>
                </a:r>
                <a:r>
                  <a:rPr lang="ru-RU" dirty="0" smtClean="0"/>
                  <a:t>и </a:t>
                </a:r>
                <a:r>
                  <a:rPr lang="en-US" dirty="0" smtClean="0"/>
                  <a:t>R6, </a:t>
                </a:r>
                <a:r>
                  <a:rPr lang="ru-RU" dirty="0" smtClean="0"/>
                  <a:t>(аналогично </a:t>
                </a:r>
                <a:r>
                  <a:rPr lang="en-US" dirty="0" smtClean="0"/>
                  <a:t>R7 </a:t>
                </a:r>
                <a:r>
                  <a:rPr lang="ru-RU" dirty="0" smtClean="0"/>
                  <a:t>и </a:t>
                </a:r>
                <a:r>
                  <a:rPr lang="en-US" dirty="0" smtClean="0"/>
                  <a:t>R8, R9 </a:t>
                </a:r>
                <a:r>
                  <a:rPr lang="ru-RU" dirty="0"/>
                  <a:t>и </a:t>
                </a:r>
                <a:r>
                  <a:rPr lang="en-US" dirty="0" smtClean="0"/>
                  <a:t>R10, R11 </a:t>
                </a:r>
                <a:r>
                  <a:rPr lang="ru-RU" dirty="0"/>
                  <a:t>и </a:t>
                </a:r>
                <a:r>
                  <a:rPr lang="en-US" dirty="0" smtClean="0"/>
                  <a:t>R12</a:t>
                </a:r>
                <a:r>
                  <a:rPr lang="ru-RU" dirty="0" smtClean="0"/>
                  <a:t>)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:r>
                  <a:rPr lang="ru-RU" dirty="0" smtClean="0"/>
                  <a:t>должно выполняться соотношение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ru-RU" dirty="0" smtClean="0"/>
                  <a:t> </a:t>
                </a:r>
                <a:r>
                  <a:rPr lang="en-US" dirty="0" smtClean="0"/>
                  <a:t> =&gt; </a:t>
                </a:r>
                <a:r>
                  <a:rPr lang="en-US" b="1" dirty="0" smtClean="0"/>
                  <a:t>R6=39R7</a:t>
                </a:r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(тогда мы будем иметь минимальный ток покоя)</a:t>
                </a: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		</a:t>
                </a:r>
                <a:r>
                  <a:rPr lang="ru-RU" dirty="0" smtClean="0"/>
                  <a:t>второе условие – сопротивление </a:t>
                </a:r>
                <a:r>
                  <a:rPr lang="en-US" dirty="0" smtClean="0"/>
                  <a:t>R7, R8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 smtClean="0"/>
                  <a:t>							</a:t>
                </a:r>
                <a:r>
                  <a:rPr lang="ru-RU" dirty="0"/>
                  <a:t>сопротивление </a:t>
                </a:r>
                <a:r>
                  <a:rPr lang="en-US" dirty="0" smtClean="0"/>
                  <a:t>R</a:t>
                </a:r>
                <a:r>
                  <a:rPr lang="ru-RU" dirty="0" smtClean="0"/>
                  <a:t>10</a:t>
                </a:r>
                <a:r>
                  <a:rPr lang="en-US" dirty="0" smtClean="0"/>
                  <a:t>, R</a:t>
                </a:r>
                <a:r>
                  <a:rPr lang="ru-RU" dirty="0" smtClean="0"/>
                  <a:t>11</a:t>
                </a:r>
                <a:r>
                  <a:rPr lang="en-US" dirty="0" smtClean="0"/>
                  <a:t>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вх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VT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VT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=(400÷800)</m:t>
                    </m:r>
                  </m:oMath>
                </a14:m>
                <a:endParaRPr lang="ru-RU" dirty="0" smtClean="0"/>
              </a:p>
              <a:p>
                <a:pPr marL="0" indent="0" algn="just">
                  <a:buNone/>
                </a:pPr>
                <a:r>
                  <a:rPr lang="ru-RU" dirty="0"/>
                  <a:t>	</a:t>
                </a:r>
                <a:r>
                  <a:rPr lang="ru-RU" dirty="0" smtClean="0"/>
                  <a:t>						</a:t>
                </a:r>
                <a:r>
                  <a:rPr lang="en-US" dirty="0"/>
                  <a:t> </a:t>
                </a:r>
                <a:r>
                  <a:rPr lang="en-US" b="1" dirty="0"/>
                  <a:t>R</a:t>
                </a:r>
                <a:r>
                  <a:rPr lang="ru-RU" b="1" dirty="0"/>
                  <a:t>10</a:t>
                </a:r>
                <a:r>
                  <a:rPr lang="en-US" b="1" dirty="0"/>
                  <a:t>, R</a:t>
                </a:r>
                <a:r>
                  <a:rPr lang="ru-RU" b="1" dirty="0"/>
                  <a:t>11</a:t>
                </a:r>
                <a:r>
                  <a:rPr lang="en-US" b="1" dirty="0"/>
                  <a:t> </a:t>
                </a:r>
                <a:r>
                  <a:rPr lang="ru-RU" b="1" dirty="0" smtClean="0"/>
                  <a:t>=</a:t>
                </a:r>
                <a:r>
                  <a:rPr lang="en-US" b="1" dirty="0" smtClean="0"/>
                  <a:t>25</a:t>
                </a:r>
                <a:r>
                  <a:rPr lang="en-US" dirty="0" smtClean="0"/>
                  <a:t>; R7</a:t>
                </a:r>
                <a:r>
                  <a:rPr lang="en-US" dirty="0"/>
                  <a:t>, R8 </a:t>
                </a:r>
                <a:r>
                  <a:rPr lang="en-US" dirty="0" smtClean="0"/>
                  <a:t>&lt;</a:t>
                </a: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; </a:t>
                </a:r>
                <a:r>
                  <a:rPr lang="en-US" b="1" dirty="0" smtClean="0"/>
                  <a:t>R7, R8 </a:t>
                </a:r>
                <a:r>
                  <a:rPr lang="ru-RU" b="1" dirty="0" smtClean="0"/>
                  <a:t>=</a:t>
                </a:r>
                <a:r>
                  <a:rPr lang="en-US" b="1" dirty="0" smtClean="0"/>
                  <a:t>260</a:t>
                </a:r>
              </a:p>
              <a:p>
                <a:pPr marL="0" indent="0" algn="just">
                  <a:buNone/>
                </a:pPr>
                <a:r>
                  <a:rPr lang="en-US" b="1" dirty="0" smtClean="0"/>
                  <a:t>							</a:t>
                </a:r>
                <a:r>
                  <a:rPr lang="en-US" b="1" dirty="0"/>
                  <a:t> </a:t>
                </a:r>
                <a:r>
                  <a:rPr lang="en-US" b="1" dirty="0" smtClean="0"/>
                  <a:t>R9, </a:t>
                </a:r>
                <a:r>
                  <a:rPr lang="en-US" b="1" dirty="0"/>
                  <a:t>R</a:t>
                </a:r>
                <a:r>
                  <a:rPr lang="ru-RU" b="1" dirty="0" smtClean="0"/>
                  <a:t>1</a:t>
                </a:r>
                <a:r>
                  <a:rPr lang="en-US" b="1" dirty="0" smtClean="0"/>
                  <a:t>2 </a:t>
                </a:r>
                <a:r>
                  <a:rPr lang="ru-RU" b="1" dirty="0" smtClean="0"/>
                  <a:t>=</a:t>
                </a:r>
                <a:r>
                  <a:rPr lang="en-US" b="1" dirty="0" smtClean="0"/>
                  <a:t>1 </a:t>
                </a:r>
                <a:r>
                  <a:rPr lang="ru-RU" b="1" dirty="0" smtClean="0"/>
                  <a:t>кОм </a:t>
                </a:r>
                <a:r>
                  <a:rPr lang="en-US" b="1" dirty="0" smtClean="0"/>
                  <a:t>; R</a:t>
                </a:r>
                <a:r>
                  <a:rPr lang="ru-RU" b="1" dirty="0" smtClean="0"/>
                  <a:t>6</a:t>
                </a:r>
                <a:r>
                  <a:rPr lang="en-US" b="1" dirty="0" smtClean="0"/>
                  <a:t>, R</a:t>
                </a:r>
                <a:r>
                  <a:rPr lang="ru-RU" b="1" dirty="0" smtClean="0"/>
                  <a:t>8=</a:t>
                </a:r>
                <a:r>
                  <a:rPr lang="en-US" b="1" dirty="0" smtClean="0"/>
                  <a:t>1</a:t>
                </a:r>
                <a:r>
                  <a:rPr lang="ru-RU" b="1" dirty="0" smtClean="0"/>
                  <a:t>0</a:t>
                </a:r>
                <a:r>
                  <a:rPr lang="en-US" b="1" dirty="0" smtClean="0"/>
                  <a:t> </a:t>
                </a:r>
                <a:r>
                  <a:rPr lang="ru-RU" b="1" dirty="0"/>
                  <a:t>кОм </a:t>
                </a:r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ru-RU" b="1" dirty="0"/>
                  <a:t>	</a:t>
                </a:r>
                <a:r>
                  <a:rPr lang="ru-RU" b="1" dirty="0" smtClean="0"/>
                  <a:t>						Теперь можем найти реальное значение </a:t>
                </a:r>
                <a:r>
                  <a:rPr lang="en-US" b="1" dirty="0" smtClean="0"/>
                  <a:t>R3</a:t>
                </a:r>
              </a:p>
              <a:p>
                <a:pPr marL="0" indent="0" algn="just">
                  <a:buNone/>
                </a:pPr>
                <a:r>
                  <a:rPr lang="en-US" dirty="0" smtClean="0"/>
                  <a:t>							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4000=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3 5130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3+5130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=18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кОм</m:t>
                    </m:r>
                  </m:oMath>
                </a14:m>
                <a:endParaRPr lang="en-US" dirty="0" smtClean="0"/>
              </a:p>
              <a:p>
                <a:pPr marL="0" indent="0" algn="just">
                  <a:buNone/>
                </a:pPr>
                <a:endParaRPr lang="en-US" dirty="0" smtClean="0"/>
              </a:p>
              <a:p>
                <a:pPr marL="0" indent="0" algn="just">
                  <a:buNone/>
                </a:pPr>
                <a:r>
                  <a:rPr lang="en-US" dirty="0" smtClean="0"/>
                  <a:t> </a:t>
                </a:r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1" y="2226623"/>
            <a:ext cx="6028414" cy="37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1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20435</TotalTime>
  <Words>952</Words>
  <Application>Microsoft Office PowerPoint</Application>
  <PresentationFormat>Широкоэкранный</PresentationFormat>
  <Paragraphs>272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Тема Office</vt:lpstr>
      <vt:lpstr>Лекция 16,17</vt:lpstr>
      <vt:lpstr>Полупроводниковые переключающие элементы</vt:lpstr>
      <vt:lpstr>Полупроводниковые переключающие элементы</vt:lpstr>
      <vt:lpstr>Полупроводниковые переключающие элементы</vt:lpstr>
      <vt:lpstr>Полупроводниковые переключающие элементы</vt:lpstr>
      <vt:lpstr>Полупроводниковые переключающие элементы</vt:lpstr>
      <vt:lpstr>Полупроводниковые переключающие элементы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Расчёт схем с полупроводниковыми элементами </vt:lpstr>
      <vt:lpstr>Биполярный транзистор</vt:lpstr>
      <vt:lpstr>Биполярный транзистор</vt:lpstr>
      <vt:lpstr>Биполярный транзистор</vt:lpstr>
      <vt:lpstr>Схемы включения</vt:lpstr>
      <vt:lpstr>Схемы включения</vt:lpstr>
      <vt:lpstr>Схемы включения</vt:lpstr>
      <vt:lpstr>Схемы включения</vt:lpstr>
      <vt:lpstr>Схемы включения</vt:lpstr>
      <vt:lpstr>Схемы включения</vt:lpstr>
      <vt:lpstr>Схемы включения</vt:lpstr>
      <vt:lpstr>Схема включения: дифференциальный каскад</vt:lpstr>
      <vt:lpstr>Схема включения: дифференциальный каскад</vt:lpstr>
      <vt:lpstr>Назначение каскадов</vt:lpstr>
      <vt:lpstr>Режимы работы усилительных каскадов</vt:lpstr>
      <vt:lpstr>Малосигнальные цепи</vt:lpstr>
      <vt:lpstr>Управляющие цепи</vt:lpstr>
      <vt:lpstr>Каскадное включение</vt:lpstr>
      <vt:lpstr>Пример</vt:lpstr>
      <vt:lpstr>Пример</vt:lpstr>
      <vt:lpstr>Пример 2</vt:lpstr>
      <vt:lpstr>Пример 2</vt:lpstr>
      <vt:lpstr>Пример 2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631</cp:revision>
  <dcterms:created xsi:type="dcterms:W3CDTF">2020-09-02T13:49:40Z</dcterms:created>
  <dcterms:modified xsi:type="dcterms:W3CDTF">2021-09-09T12:50:50Z</dcterms:modified>
</cp:coreProperties>
</file>