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80" r:id="rId3"/>
    <p:sldId id="282" r:id="rId4"/>
    <p:sldId id="283" r:id="rId5"/>
    <p:sldId id="285" r:id="rId6"/>
    <p:sldId id="286" r:id="rId7"/>
    <p:sldId id="287" r:id="rId8"/>
    <p:sldId id="288" r:id="rId9"/>
    <p:sldId id="289" r:id="rId10"/>
    <p:sldId id="290" r:id="rId11"/>
    <p:sldId id="292" r:id="rId12"/>
    <p:sldId id="293" r:id="rId13"/>
    <p:sldId id="295" r:id="rId14"/>
    <p:sldId id="296" r:id="rId15"/>
    <p:sldId id="297" r:id="rId16"/>
    <p:sldId id="294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22" r:id="rId29"/>
    <p:sldId id="323" r:id="rId30"/>
    <p:sldId id="312" r:id="rId31"/>
    <p:sldId id="313" r:id="rId32"/>
    <p:sldId id="314" r:id="rId33"/>
    <p:sldId id="315" r:id="rId34"/>
    <p:sldId id="316" r:id="rId35"/>
    <p:sldId id="324" r:id="rId36"/>
    <p:sldId id="317" r:id="rId37"/>
    <p:sldId id="318" r:id="rId38"/>
    <p:sldId id="319" r:id="rId39"/>
    <p:sldId id="320" r:id="rId40"/>
    <p:sldId id="321" r:id="rId4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 autoAdjust="0"/>
  </p:normalViewPr>
  <p:slideViewPr>
    <p:cSldViewPr snapToGrid="0">
      <p:cViewPr varScale="1">
        <p:scale>
          <a:sx n="114" d="100"/>
          <a:sy n="114" d="100"/>
        </p:scale>
        <p:origin x="35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5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7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2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6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1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1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04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8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98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1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</a:t>
            </a:r>
            <a:r>
              <a:rPr lang="en-US" b="1" i="1" smtClean="0"/>
              <a:t>8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i="1" dirty="0"/>
              <a:t>Операторные методы расчета электрических цепей</a:t>
            </a:r>
            <a:r>
              <a:rPr lang="ru-RU" b="1" i="1" dirty="0" smtClean="0"/>
              <a:t>.</a:t>
            </a:r>
            <a:r>
              <a:rPr lang="ru-RU" i="1" dirty="0" smtClean="0"/>
              <a:t> </a:t>
            </a:r>
            <a:endParaRPr lang="en-US" i="1" dirty="0" smtClean="0"/>
          </a:p>
          <a:p>
            <a:pPr marL="0" indent="0" algn="ctr">
              <a:buNone/>
            </a:pPr>
            <a:r>
              <a:rPr lang="ru-RU" i="1" dirty="0" smtClean="0"/>
              <a:t>Метод Фурье.</a:t>
            </a:r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</p:txBody>
      </p:sp>
    </p:spTree>
    <p:extLst>
      <p:ext uri="{BB962C8B-B14F-4D97-AF65-F5344CB8AC3E}">
        <p14:creationId xmlns:p14="http://schemas.microsoft.com/office/powerpoint/2010/main" val="27955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Напоминание: нестационарный процесс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smtClean="0"/>
              <a:t>Процесс в электрической цепи в ходе которого происходит изменение ее параметров во времени называется </a:t>
            </a:r>
            <a:r>
              <a:rPr lang="ru-RU" b="1" dirty="0" smtClean="0"/>
              <a:t>нестационарным процессом в электрической цепи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При этом может изменяться:</a:t>
            </a:r>
          </a:p>
          <a:p>
            <a:pPr lvl="1"/>
            <a:r>
              <a:rPr lang="ru-RU" dirty="0" smtClean="0"/>
              <a:t>Напряжение или ток источников ЭДС</a:t>
            </a:r>
          </a:p>
          <a:p>
            <a:pPr lvl="1"/>
            <a:r>
              <a:rPr lang="ru-RU" dirty="0" smtClean="0"/>
              <a:t>Конфигурация цепи</a:t>
            </a:r>
          </a:p>
          <a:p>
            <a:pPr lvl="1"/>
            <a:r>
              <a:rPr lang="ru-RU" dirty="0" smtClean="0"/>
              <a:t>Параметры элементов цепи.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9698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Нестационарный процесс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ru-RU" dirty="0" smtClean="0"/>
              <a:t>Процесс изменения параметров может быть мгновенным или длительным, заданным некоторым временным правилом.</a:t>
            </a:r>
          </a:p>
          <a:p>
            <a:pPr algn="just"/>
            <a:r>
              <a:rPr lang="ru-RU" b="1" dirty="0" smtClean="0"/>
              <a:t>Мгновенное изменение параметров </a:t>
            </a:r>
            <a:r>
              <a:rPr lang="ru-RU" dirty="0" smtClean="0"/>
              <a:t>называется </a:t>
            </a:r>
            <a:r>
              <a:rPr lang="ru-RU" b="1" dirty="0" smtClean="0"/>
              <a:t>коммутацией</a:t>
            </a:r>
            <a:r>
              <a:rPr lang="ru-RU" dirty="0" smtClean="0"/>
              <a:t>. А переход схемы от одного исходного состояния к другому, установившемуся называется </a:t>
            </a:r>
            <a:r>
              <a:rPr lang="ru-RU" b="1" dirty="0" smtClean="0"/>
              <a:t>переходным процессом. </a:t>
            </a:r>
            <a:r>
              <a:rPr lang="ru-RU" dirty="0" smtClean="0"/>
              <a:t>Под исходным и установившимся состоянием понимается совокупность токов и напряжений до момента коммутации (исходное) и после того как закончится изменение во времени токов и напряжений  к их новым установившимся значениям.</a:t>
            </a:r>
          </a:p>
          <a:p>
            <a:pPr algn="just"/>
            <a:r>
              <a:rPr lang="ru-RU" dirty="0" smtClean="0"/>
              <a:t>В случае </a:t>
            </a:r>
            <a:r>
              <a:rPr lang="ru-RU" b="1" dirty="0" smtClean="0"/>
              <a:t>растянутого во времени </a:t>
            </a:r>
            <a:r>
              <a:rPr lang="ru-RU" dirty="0" smtClean="0"/>
              <a:t>процесса изменения параметров говорить о коммутации и нельзя, в этом случае меняться могут параметры источников ЭДС или параметры элементов схемы. Понятие переходного процесса как перехода системы от одного установившегося состояния к другому остается. Если есть эти начальное и конечное установившиеся состояния.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4855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Операторные методы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 smtClean="0"/>
              <a:t>Для рассмотрения нестационарных процессов в электрических цепях применяют </a:t>
            </a:r>
            <a:r>
              <a:rPr lang="ru-RU" b="1" dirty="0" smtClean="0"/>
              <a:t>операторные методы</a:t>
            </a:r>
            <a:r>
              <a:rPr lang="ru-RU" dirty="0" smtClean="0"/>
              <a:t>. </a:t>
            </a:r>
          </a:p>
          <a:p>
            <a:pPr marL="0" indent="0" algn="just">
              <a:buNone/>
            </a:pPr>
            <a:r>
              <a:rPr lang="ru-RU" dirty="0" smtClean="0"/>
              <a:t>Что такое операторные методы:</a:t>
            </a:r>
          </a:p>
          <a:p>
            <a:pPr marL="0" indent="0" algn="just">
              <a:buNone/>
            </a:pPr>
            <a:r>
              <a:rPr lang="ru-RU" dirty="0" smtClean="0"/>
              <a:t>Суть их в том, что вместо описывающей электрическую схему математической модели выраженной через систему уравнений содержащих функции времени рассматривается линейное отображение этой модели в некоторое другое пространство. При этом целью такого отображения является избавиться в этой модели-отображении от интегрально-дифференциальных уравнений.   После того как поведение системы будет рассчитано в пространстве-отображении можно сделать обратный переход и получить поведение системы в пространстве функций времени.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3327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Операторные методы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 smtClean="0"/>
              <a:t>Чтобы двигаться дальше требуется вернуться немного назад, и рассмотреть некоторые допущения, которые важны для применения операторных методов.</a:t>
            </a:r>
          </a:p>
          <a:p>
            <a:pPr marL="514350" indent="-514350" algn="just">
              <a:buAutoNum type="arabicParenR"/>
            </a:pPr>
            <a:r>
              <a:rPr lang="ru-RU" b="1" dirty="0" smtClean="0"/>
              <a:t>Линейная электрическая схема как четырехполюсник. </a:t>
            </a:r>
          </a:p>
          <a:p>
            <a:pPr marL="0" indent="0" algn="just">
              <a:buNone/>
            </a:pPr>
            <a:r>
              <a:rPr lang="ru-RU" dirty="0" smtClean="0"/>
              <a:t>Любую схему можно представить в виде четырехполюсника, т.е. некоторого блока у которого есть </a:t>
            </a:r>
          </a:p>
          <a:p>
            <a:pPr marL="0" indent="0" algn="just">
              <a:buNone/>
            </a:pPr>
            <a:r>
              <a:rPr lang="ru-RU" b="1" dirty="0" smtClean="0"/>
              <a:t>входные зажимы</a:t>
            </a:r>
            <a:r>
              <a:rPr lang="ru-RU" dirty="0" smtClean="0"/>
              <a:t>, на которые подается входное напряжение или входной ток и </a:t>
            </a:r>
          </a:p>
          <a:p>
            <a:pPr marL="0" indent="0" algn="just">
              <a:buNone/>
            </a:pPr>
            <a:r>
              <a:rPr lang="ru-RU" b="1" dirty="0" smtClean="0"/>
              <a:t>выходные</a:t>
            </a:r>
            <a:r>
              <a:rPr lang="ru-RU" dirty="0" smtClean="0"/>
              <a:t> </a:t>
            </a:r>
            <a:r>
              <a:rPr lang="ru-RU" b="1" dirty="0" smtClean="0"/>
              <a:t>зажимы, </a:t>
            </a:r>
            <a:r>
              <a:rPr lang="ru-RU" dirty="0" smtClean="0"/>
              <a:t>с которых снимается выходной сигнал (ток или напряжение)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924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Операторные методы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 smtClean="0"/>
              <a:t>Четырехполюсник. 1</a:t>
            </a:r>
            <a:r>
              <a:rPr lang="en-US" dirty="0" smtClean="0"/>
              <a:t>,2 </a:t>
            </a:r>
            <a:r>
              <a:rPr lang="ru-RU" dirty="0" smtClean="0"/>
              <a:t>входные зажимы, 3,4 выходные зажимы.</a:t>
            </a:r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Бывают </a:t>
            </a:r>
            <a:r>
              <a:rPr lang="ru-RU" b="1" dirty="0" smtClean="0"/>
              <a:t>линейные</a:t>
            </a:r>
            <a:r>
              <a:rPr lang="ru-RU" dirty="0" smtClean="0"/>
              <a:t> и </a:t>
            </a:r>
            <a:r>
              <a:rPr lang="ru-RU" b="1" dirty="0" smtClean="0"/>
              <a:t>нелинейные</a:t>
            </a:r>
            <a:r>
              <a:rPr lang="ru-RU" dirty="0" smtClean="0"/>
              <a:t> четырехполюсники. Далее в данной теме будут рассматриваться только </a:t>
            </a:r>
            <a:r>
              <a:rPr lang="ru-RU" b="1" dirty="0" smtClean="0"/>
              <a:t>линейные</a:t>
            </a:r>
            <a:r>
              <a:rPr lang="ru-RU" dirty="0" smtClean="0"/>
              <a:t> четырехполюсники.</a:t>
            </a:r>
            <a:endParaRPr lang="ru-RU" dirty="0"/>
          </a:p>
          <a:p>
            <a:pPr marL="0" indent="0" algn="just">
              <a:buNone/>
            </a:pPr>
            <a:r>
              <a:rPr lang="ru-RU" dirty="0" smtClean="0"/>
              <a:t>Четырехполюсник называется </a:t>
            </a:r>
            <a:r>
              <a:rPr lang="ru-RU" b="1" dirty="0" smtClean="0"/>
              <a:t>активным</a:t>
            </a:r>
            <a:r>
              <a:rPr lang="ru-RU" dirty="0" smtClean="0"/>
              <a:t>, если внутри него содержатся источники ЭДС, если источников ЭДС внутри нет то четырехполюсник называется </a:t>
            </a:r>
            <a:r>
              <a:rPr lang="ru-RU" b="1" dirty="0" smtClean="0"/>
              <a:t>пассивным</a:t>
            </a:r>
            <a:r>
              <a:rPr lang="ru-RU" dirty="0" smtClean="0"/>
              <a:t>.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926" y="2428504"/>
            <a:ext cx="4087495" cy="142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22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Четырехполюсники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Немного теории четырехполюсников.</a:t>
            </a:r>
          </a:p>
          <a:p>
            <a:pPr algn="just"/>
            <a:r>
              <a:rPr lang="ru-RU" dirty="0" smtClean="0"/>
              <a:t>Четырехполюсник называется </a:t>
            </a:r>
            <a:r>
              <a:rPr lang="ru-RU" b="1" dirty="0" smtClean="0"/>
              <a:t>обратимым</a:t>
            </a:r>
            <a:r>
              <a:rPr lang="ru-RU" dirty="0" smtClean="0"/>
              <a:t>, если отношение </a:t>
            </a:r>
            <a:r>
              <a:rPr lang="ru-RU" b="1" dirty="0" smtClean="0"/>
              <a:t>напряжения на входе к току короткого замыкания на выходе </a:t>
            </a:r>
            <a:r>
              <a:rPr lang="ru-RU" dirty="0" smtClean="0"/>
              <a:t>не зависит от того, какая из пар зажимов взята за вход а какая за выход.</a:t>
            </a:r>
          </a:p>
          <a:p>
            <a:pPr algn="just"/>
            <a:r>
              <a:rPr lang="ru-RU" dirty="0" smtClean="0"/>
              <a:t>Любой пассивный линейный четырехполюсник обратим – это следствие теоремы обратимости.</a:t>
            </a:r>
          </a:p>
          <a:p>
            <a:pPr algn="just"/>
            <a:r>
              <a:rPr lang="ru-RU" dirty="0" smtClean="0"/>
              <a:t>Обратимы </a:t>
            </a:r>
            <a:r>
              <a:rPr lang="ru-RU" b="1" dirty="0" smtClean="0"/>
              <a:t>симметричные четырехполюсники </a:t>
            </a:r>
            <a:r>
              <a:rPr lang="ru-RU" dirty="0" smtClean="0"/>
              <a:t>– т.е. такие  у которых обе пары зажимов эквивалентны.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053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Четырехполюсники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Найдем связь между входными и выходными токами и напряжениями для стационарной системы. (Вместо </a:t>
                </a:r>
                <a:r>
                  <a:rPr lang="en-US" dirty="0" smtClean="0"/>
                  <a:t>R </a:t>
                </a:r>
                <a:r>
                  <a:rPr lang="ru-RU" dirty="0" smtClean="0"/>
                  <a:t>нагрузки поставим источник ЭДС – теорема о компенсации) </a:t>
                </a:r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Запишем уравнения получившейся цепи: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80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947" y="2873829"/>
            <a:ext cx="3354111" cy="129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8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Четырехполюсники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Перепишем через эти уравнения через входную, выходную и взаимную проводимость четырехполюсника: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b="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 smtClean="0"/>
              </a:p>
              <a:p>
                <a:pPr marL="0" indent="0" algn="just">
                  <a:buNone/>
                </a:pPr>
                <a:endParaRPr lang="en-US" b="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Здесь </a:t>
                </a:r>
                <a:r>
                  <a:rPr lang="en-US" dirty="0" smtClean="0"/>
                  <a:t>Y – </a:t>
                </a:r>
                <a:r>
                  <a:rPr lang="ru-RU" dirty="0" smtClean="0"/>
                  <a:t>матрица проводимостей четырехполюсника.</a:t>
                </a:r>
              </a:p>
              <a:p>
                <a:pPr marL="0" indent="0" algn="just">
                  <a:buNone/>
                </a:pPr>
                <a:r>
                  <a:rPr lang="ru-RU" b="0" dirty="0" smtClean="0"/>
                  <a:t>(Если четырехполюсник обратим – 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ru-RU" b="0" dirty="0" smtClean="0"/>
                  <a:t>)</a:t>
                </a:r>
                <a:endParaRPr lang="en-US" b="0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6553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Четырехполюсники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Параллельное включение четырехполюсника</a:t>
                </a:r>
                <a:endParaRPr lang="en-US" dirty="0" smtClean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ru-RU" dirty="0" smtClean="0"/>
              </a:p>
              <a:p>
                <a:pPr marL="0" indent="0" algn="just">
                  <a:buNone/>
                </a:pPr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ru-RU" b="0" dirty="0" smtClean="0"/>
                  <a:t>Последовательное (каскадное) включение четырехполюсников</a:t>
                </a:r>
                <a:endParaRPr lang="en-US" b="0" dirty="0" smtClean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321" y="2227365"/>
            <a:ext cx="1924050" cy="17145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802" y="4851812"/>
            <a:ext cx="27908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73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Четырехполюсники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Теперь мы можем перейти к нестационарным системам: используем тот же подход: всю схему представляем неким черным ящиком – передающей (искажающей) системой</a:t>
            </a:r>
            <a:r>
              <a:rPr lang="en-US" dirty="0" smtClean="0"/>
              <a:t> </a:t>
            </a:r>
            <a:r>
              <a:rPr lang="en-US" b="1" i="1" dirty="0" smtClean="0"/>
              <a:t>Q{}</a:t>
            </a:r>
            <a:r>
              <a:rPr lang="ru-RU" dirty="0" smtClean="0"/>
              <a:t>, на вход которой подается воздействие (входной сигнал)</a:t>
            </a:r>
            <a:r>
              <a:rPr lang="en-US" dirty="0" smtClean="0"/>
              <a:t> </a:t>
            </a:r>
            <a:r>
              <a:rPr lang="en-US" b="1" i="1" dirty="0" smtClean="0"/>
              <a:t>A(t)</a:t>
            </a:r>
            <a:r>
              <a:rPr lang="ru-RU" dirty="0" smtClean="0"/>
              <a:t>, а с выхода снимается результат (выходной сигнал) </a:t>
            </a:r>
            <a:r>
              <a:rPr lang="en-US" b="1" i="1" dirty="0" smtClean="0"/>
              <a:t>B(t)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b="1" i="1" dirty="0"/>
          </a:p>
          <a:p>
            <a:pPr marL="0" indent="0" algn="just">
              <a:buNone/>
            </a:pPr>
            <a:endParaRPr lang="en-US" b="1" i="1" dirty="0" smtClean="0"/>
          </a:p>
          <a:p>
            <a:pPr marL="0" indent="0" algn="just">
              <a:buNone/>
            </a:pPr>
            <a:endParaRPr lang="en-US" b="1" i="1" dirty="0"/>
          </a:p>
          <a:p>
            <a:pPr marL="0" indent="0" algn="just">
              <a:buNone/>
            </a:pPr>
            <a:r>
              <a:rPr lang="ru-RU" dirty="0" smtClean="0"/>
              <a:t>Можно записать тогда </a:t>
            </a:r>
            <a:r>
              <a:rPr lang="en-US" b="1" i="1" dirty="0" smtClean="0"/>
              <a:t>B(t)=Q{A(t)}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001" y="3869748"/>
            <a:ext cx="2970439" cy="15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077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Линейные преобразования сигналов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Описанное выше множество линейных преобразований </a:t>
                </a:r>
                <a:r>
                  <a:rPr lang="en-US" dirty="0" smtClean="0"/>
                  <a:t>B=Q(A) </a:t>
                </a:r>
                <a:r>
                  <a:rPr lang="ru-RU" dirty="0" smtClean="0"/>
                  <a:t>может быть разделено на основные группы:</a:t>
                </a:r>
              </a:p>
              <a:p>
                <a:pPr marL="0" indent="0" algn="just">
                  <a:buNone/>
                </a:pPr>
                <a:r>
                  <a:rPr lang="ru-RU" b="1" i="1" dirty="0" smtClean="0"/>
                  <a:t>Первая группа – преобразование сигналов с целью представления их в должном виде. Такое линейное преобразование называется представлением. </a:t>
                </a:r>
                <a:r>
                  <a:rPr lang="ru-RU" i="1" dirty="0" smtClean="0"/>
                  <a:t>При этом область определения входного воздействия и выходного сигнала в общем то различны</a:t>
                </a:r>
                <a:r>
                  <a:rPr lang="en-US" i="1" dirty="0" smtClean="0"/>
                  <a:t>  </a:t>
                </a:r>
                <a:r>
                  <a:rPr lang="ru-RU" i="1" dirty="0" smtClean="0"/>
                  <a:t>и представление реализует операцию взаимно-однозначного отображения </a:t>
                </a:r>
                <a:r>
                  <a:rPr lang="en-US" i="1" dirty="0" smtClean="0"/>
                  <a:t>X </a:t>
                </a:r>
                <a:r>
                  <a:rPr lang="ru-RU" i="1" dirty="0" smtClean="0"/>
                  <a:t>в </a:t>
                </a:r>
                <a:r>
                  <a:rPr lang="en-US" i="1" dirty="0" smtClean="0"/>
                  <a:t>Y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groupChr>
                      <m:groupChrPr>
                        <m:chr m:val="↔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endParaRPr lang="en-US" b="0" i="1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){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i="1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074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Линейные преобразования сигналов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i="1" dirty="0" smtClean="0"/>
              <a:t>Вторая группа – реализует операцию выделения из входного воздействия какого-либо необходимого параметра. </a:t>
            </a:r>
            <a:r>
              <a:rPr lang="ru-RU" i="1" dirty="0" smtClean="0"/>
              <a:t>Если при этом области определения входного воздействия и выходного сигнала идентичны, такая преобразующая система называется </a:t>
            </a:r>
            <a:r>
              <a:rPr lang="ru-RU" b="1" i="1" dirty="0" smtClean="0"/>
              <a:t>линейным оператором. И в </a:t>
            </a:r>
            <a:r>
              <a:rPr lang="ru-RU" b="1" i="1" dirty="0"/>
              <a:t>этом случае преобразование </a:t>
            </a:r>
            <a:r>
              <a:rPr lang="en-US" b="1" i="1" dirty="0" smtClean="0"/>
              <a:t>Q{…}</a:t>
            </a:r>
            <a:r>
              <a:rPr lang="ru-RU" b="1" i="1" dirty="0" smtClean="0"/>
              <a:t> </a:t>
            </a:r>
            <a:r>
              <a:rPr lang="ru-RU" b="1" i="1" dirty="0"/>
              <a:t>есть указание связи входа с выходом для системы или цепи, представляемой в виде </a:t>
            </a:r>
            <a:r>
              <a:rPr lang="ru-RU" b="1" i="1" dirty="0" smtClean="0"/>
              <a:t>блока</a:t>
            </a:r>
            <a:r>
              <a:rPr lang="en-US" b="1" i="1" dirty="0" smtClean="0"/>
              <a:t>.</a:t>
            </a:r>
          </a:p>
          <a:p>
            <a:pPr marL="0" indent="0" algn="just">
              <a:buNone/>
            </a:pPr>
            <a:r>
              <a:rPr lang="ru-RU" i="1" dirty="0" smtClean="0"/>
              <a:t>Так как это линейный оператор, то для него заведомо определены операции сложения и умножения на скаляр, схемные аналоги которых можно описать следующим образом: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7414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Линейные преобразования сигналов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b="1" i="1" dirty="0" smtClean="0"/>
                  <a:t>Сложение:</a:t>
                </a:r>
              </a:p>
              <a:p>
                <a:pPr marL="0" indent="0" algn="just">
                  <a:buNone/>
                </a:pPr>
                <a:r>
                  <a:rPr lang="ru-RU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 smtClean="0"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i="1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ru-RU" b="1" i="1" dirty="0" smtClean="0"/>
              </a:p>
              <a:p>
                <a:pPr marL="0" indent="0" algn="just">
                  <a:buNone/>
                </a:pPr>
                <a:endParaRPr lang="ru-RU" b="1" i="1" dirty="0"/>
              </a:p>
              <a:p>
                <a:pPr marL="0" indent="0" algn="just">
                  <a:buNone/>
                </a:pPr>
                <a:endParaRPr lang="ru-RU" b="1" i="1" dirty="0" smtClean="0"/>
              </a:p>
              <a:p>
                <a:pPr marL="0" indent="0" algn="just">
                  <a:buNone/>
                </a:pPr>
                <a:r>
                  <a:rPr lang="ru-RU" b="1" i="1" dirty="0" smtClean="0"/>
                  <a:t>Умножение на скаляр:</a:t>
                </a:r>
                <a:endParaRPr lang="ru-RU" b="1" i="1" dirty="0"/>
              </a:p>
              <a:p>
                <a:pPr marL="0" indent="0" algn="just">
                  <a:buNone/>
                </a:pPr>
                <a:r>
                  <a:rPr lang="en-US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i="1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ru-RU" b="1" i="1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446" y="1825625"/>
            <a:ext cx="2669289" cy="240368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933" y="4659456"/>
            <a:ext cx="2813398" cy="108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24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Линейные преобразования сигналов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 algn="just">
                  <a:buNone/>
                </a:pPr>
                <a:r>
                  <a:rPr lang="ru-RU" b="1" i="1" dirty="0" smtClean="0"/>
                  <a:t>Умножение удобно ввести как каскадное соединение блоков:</a:t>
                </a:r>
              </a:p>
              <a:p>
                <a:pPr marL="0" indent="0" algn="just">
                  <a:buNone/>
                </a:pPr>
                <a:r>
                  <a:rPr lang="ru-RU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}=</m:t>
                    </m:r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 smtClean="0"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𝑄𝐺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b="1" i="1" dirty="0" smtClean="0"/>
              </a:p>
              <a:p>
                <a:pPr marL="0" indent="0" algn="just">
                  <a:buNone/>
                </a:pPr>
                <a:endParaRPr lang="ru-RU" b="1" i="1" dirty="0" smtClean="0"/>
              </a:p>
              <a:p>
                <a:pPr marL="0" indent="0" algn="just">
                  <a:buNone/>
                </a:pPr>
                <a:r>
                  <a:rPr lang="en-US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b="1" i="1" dirty="0" smtClean="0"/>
                  <a:t> 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ru-RU" b="1" i="1" dirty="0" smtClean="0"/>
              </a:p>
              <a:p>
                <a:pPr marL="0" indent="0" algn="just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Такой оператор называется единичным. Для него работает коммутативность. Но! Алгебра операторов в общем случае не коммутативна.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80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300" y="2432832"/>
            <a:ext cx="4235796" cy="132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637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Требования к передающей системе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Основное требование для нашего линейного оператора (исключая линейность, которая подразумевается) – это казуальность. Т.е. система должна подчиняться принципу причинности: </a:t>
            </a:r>
            <a:r>
              <a:rPr lang="en-US" dirty="0" smtClean="0"/>
              <a:t>B(</a:t>
            </a:r>
            <a:r>
              <a:rPr lang="el-GR" dirty="0" smtClean="0"/>
              <a:t>τ</a:t>
            </a:r>
            <a:r>
              <a:rPr lang="en-US" dirty="0" smtClean="0"/>
              <a:t>)</a:t>
            </a:r>
            <a:r>
              <a:rPr lang="ru-RU" dirty="0" smtClean="0"/>
              <a:t> должна зависеть только от значений </a:t>
            </a:r>
            <a:r>
              <a:rPr lang="en-US" dirty="0" smtClean="0"/>
              <a:t>A(t: t≤</a:t>
            </a:r>
            <a:r>
              <a:rPr lang="el-GR" dirty="0" smtClean="0"/>
              <a:t> </a:t>
            </a:r>
            <a:r>
              <a:rPr lang="el-GR" dirty="0"/>
              <a:t>τ</a:t>
            </a:r>
            <a:r>
              <a:rPr lang="en-US" dirty="0" smtClean="0"/>
              <a:t>)</a:t>
            </a:r>
            <a:r>
              <a:rPr lang="ru-RU" dirty="0" smtClean="0"/>
              <a:t> – это соответствует физически реализуемой системе.</a:t>
            </a:r>
          </a:p>
          <a:p>
            <a:pPr marL="0" indent="0" algn="just">
              <a:buNone/>
            </a:pPr>
            <a:r>
              <a:rPr lang="ru-RU" dirty="0" smtClean="0"/>
              <a:t>Какова должна быть форма записи оператора, для того чтобы казуальность обеспечивалась?</a:t>
            </a:r>
          </a:p>
          <a:p>
            <a:pPr marL="0" indent="0" algn="just">
              <a:buNone/>
            </a:pPr>
            <a:r>
              <a:rPr lang="ru-RU" dirty="0" smtClean="0"/>
              <a:t>Тут есть несколько подходов. Рассмотрим два нам подходящих:</a:t>
            </a:r>
          </a:p>
          <a:p>
            <a:pPr marL="0" indent="0" algn="just">
              <a:buNone/>
            </a:pPr>
            <a:r>
              <a:rPr lang="ru-RU" dirty="0" smtClean="0"/>
              <a:t>  </a:t>
            </a:r>
            <a:endParaRPr lang="en-US" b="1" i="1" dirty="0" smtClean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250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Требования к передающей системе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Первый подход: ограничение на импульсный отклик системы.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Из математической теории линейных пространств есть следующее следствие: в нашем пространстве физически реализуемых функций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существует скалярное произведение, и любой оператор отображения этого пространства может быть представлен как </a:t>
                </a:r>
                <a:r>
                  <a:rPr lang="ru-RU" b="1" dirty="0" smtClean="0"/>
                  <a:t>скалярное произведение </a:t>
                </a:r>
                <a:r>
                  <a:rPr lang="ru-RU" dirty="0" smtClean="0"/>
                  <a:t>сущности, называемой ядро отображения на входное воздействие. Это касается не только линейных операторов – любого отображения (функционалов, представлений, операторов) и, более того, этот оператор</a:t>
                </a:r>
                <a:r>
                  <a:rPr lang="en-US" dirty="0" smtClean="0"/>
                  <a:t> </a:t>
                </a:r>
                <a:r>
                  <a:rPr lang="ru-RU" dirty="0" smtClean="0"/>
                  <a:t>отображения может быть представлен в следующем виде</a:t>
                </a:r>
                <a:r>
                  <a:rPr lang="en-US" dirty="0"/>
                  <a:t>: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US" b="1" i="1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30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582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Требования к передающей системе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Для линейного оператора это же можно записать как</a:t>
                </a:r>
                <a:r>
                  <a:rPr lang="en-US" dirty="0" smtClean="0"/>
                  <a:t>:</a:t>
                </a:r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 smtClean="0"/>
                  <a:t>H(t,</a:t>
                </a:r>
                <a:r>
                  <a:rPr lang="el-GR" dirty="0" smtClean="0"/>
                  <a:t>τ</a:t>
                </a:r>
                <a:r>
                  <a:rPr lang="en-US" dirty="0" smtClean="0"/>
                  <a:t>) – </a:t>
                </a:r>
                <a:r>
                  <a:rPr lang="ru-RU" dirty="0" smtClean="0"/>
                  <a:t>ядро оператора и называется </a:t>
                </a:r>
                <a:r>
                  <a:rPr lang="ru-RU" b="1" dirty="0" smtClean="0"/>
                  <a:t>импульсным откликом</a:t>
                </a:r>
                <a:r>
                  <a:rPr lang="ru-RU" dirty="0" smtClean="0"/>
                  <a:t>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Очевидно что он полностью описывает нашу передающую систему. И требования казуальности дают условие на импульсный отклик: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ru-R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для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5248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Требования к передающей системе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Второй подход предполагает наложение ограничений на входной сигнал: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И уже этот сигнал подается на вход преобразующей системы как входное воздействие.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единичная ступенька</m:t>
                      </m:r>
                      <m:d>
                        <m:dPr>
                          <m:begChr m:val="{"/>
                          <m:endChr m:val=""/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 :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=1: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2524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Свойства линейных операторов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Несмотря на то, что мы работаем в пространстве физически реализуемых функций мы можем использовать (ну или сталкиваться) с сингулярными операторами. Сингулярными могут быть и импульсные отклики и входные воздействия. Важно лишь, чтобы продолжали соблюдаться условие интегрируемости. Самый часто встречающийся сингулярный оператор это дельта-функция </a:t>
                </a:r>
                <a:r>
                  <a:rPr lang="el-GR" dirty="0" smtClean="0"/>
                  <a:t>δ</a:t>
                </a:r>
                <a:r>
                  <a:rPr lang="ru-RU" dirty="0" smtClean="0"/>
                  <a:t>(</a:t>
                </a:r>
                <a:r>
                  <a:rPr lang="en-US" dirty="0" smtClean="0"/>
                  <a:t>t</a:t>
                </a:r>
                <a:r>
                  <a:rPr lang="ru-RU" dirty="0" smtClean="0"/>
                  <a:t>):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По самому простому описанию – это такой оператор который равен нулю во всех точках кроме точки </a:t>
                </a:r>
                <a:r>
                  <a:rPr lang="en-US" dirty="0" smtClean="0"/>
                  <a:t>t=0</a:t>
                </a:r>
                <a:r>
                  <a:rPr lang="ru-RU" dirty="0" smtClean="0"/>
                  <a:t>. В это точке он равен бесконечности. И интеграл от нее по всей области определения равен единице. Но это не вся правда. Другие определения дельта функции описывают ее как: </a:t>
                </a:r>
                <a:endParaRPr lang="en-US" dirty="0" smtClean="0"/>
              </a:p>
              <a:p>
                <a:pPr marL="514350" indent="-514350" algn="just">
                  <a:buAutoNum type="arabicParenR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func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как предел гауссова импульса (иногда берут прямоугольник)</a:t>
                </a:r>
                <a:endParaRPr lang="en-US" dirty="0" smtClean="0"/>
              </a:p>
              <a:p>
                <a:pPr marL="514350" indent="-514350" algn="just">
                  <a:buAutoNum type="arabicParenR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nary>
                  </m:oMath>
                </a14:m>
                <a:r>
                  <a:rPr lang="ru-RU" dirty="0" smtClean="0"/>
                  <a:t> - интегральное определение дельта функции Дирака. </a:t>
                </a:r>
                <a:endParaRPr lang="ru-RU" dirty="0"/>
              </a:p>
              <a:p>
                <a:pPr marL="0" indent="0" algn="just">
                  <a:buNone/>
                </a:pPr>
                <a:r>
                  <a:rPr lang="ru-RU" dirty="0" smtClean="0"/>
                  <a:t> Второй часто встречающийся сингулярный оператор – уже выше упомянутая ступенька.</a:t>
                </a:r>
                <a:endParaRPr lang="en-US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54" t="-2801" r="-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3441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Свойства линейных операторов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Дельта функция может работать стробирующим оператором – получать значение входного сигнала в определенный момент времени: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Если подать дельта-функцию на вход линейного оператора на выходе вы получим в чистом виде импульсный отклик (именно поэтому, кстати, ядро оператора так называется)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9901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Свойства линейных операторов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b="1" dirty="0" smtClean="0"/>
                  <a:t>Инвариантный во времени оператор</a:t>
                </a:r>
                <a:r>
                  <a:rPr lang="ru-RU" dirty="0" smtClean="0"/>
                  <a:t>. Так называют операторы, результат действия которых не зависит от выбора начала отсчета времени. Такой оператор должен быть инвариантен по отношению к временным сдвигам: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ru-RU" dirty="0" smtClean="0">
                    <a:ea typeface="Cambria Math" panose="02040503050406030204" pitchFamily="18" charset="0"/>
                  </a:rPr>
                  <a:t>. Если переписать это в интегральной форме то получим:</a:t>
                </a:r>
              </a:p>
              <a:p>
                <a:pPr marL="0" indent="0" algn="just">
                  <a:buNone/>
                </a:pPr>
                <a:r>
                  <a:rPr lang="ru-RU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ru-RU" dirty="0" smtClean="0">
                    <a:ea typeface="Cambria Math" panose="02040503050406030204" pitchFamily="18" charset="0"/>
                  </a:rPr>
                  <a:t> при этом ядро не должно зависеть от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 smtClean="0">
                    <a:ea typeface="Cambria Math" panose="02040503050406030204" pitchFamily="18" charset="0"/>
                  </a:rPr>
                  <a:t> , а такое возможно только если ядро имеет вид 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e>
                    </m:d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ru-RU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e>
                    </m:d>
                  </m:oMath>
                </a14:m>
                <a:endParaRPr lang="ru-RU" b="1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ru-RU" b="1" dirty="0" smtClean="0">
                    <a:ea typeface="Cambria Math" panose="02040503050406030204" pitchFamily="18" charset="0"/>
                  </a:rPr>
                  <a:t>  - </a:t>
                </a:r>
                <a:r>
                  <a:rPr lang="ru-RU" dirty="0" smtClean="0">
                    <a:ea typeface="Cambria Math" panose="02040503050406030204" pitchFamily="18" charset="0"/>
                  </a:rPr>
                  <a:t>для инвариантной во времени системы выходной сигнал есть результат свертки входного воздействия с импульсным откликом</a:t>
                </a:r>
              </a:p>
              <a:p>
                <a:pPr marL="0" indent="0" algn="just">
                  <a:buNone/>
                </a:pPr>
                <a:endParaRPr lang="en-US" b="1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3081" r="-1159" b="-8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206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Представления сигналов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dirty="0" smtClean="0"/>
              <a:t>Теперь вернемся от линейных операторов к другой группе – которая преобразует входной сигнал с целью его более удобного представления.</a:t>
            </a:r>
          </a:p>
          <a:p>
            <a:pPr marL="0" indent="0" algn="just">
              <a:buNone/>
            </a:pPr>
            <a:r>
              <a:rPr lang="ru-RU" dirty="0" smtClean="0">
                <a:ea typeface="Cambria Math" panose="02040503050406030204" pitchFamily="18" charset="0"/>
              </a:rPr>
              <a:t>Такое представление тоже можно изобразить как некий черный ящик, однако оно уже не соответствует какой-либо реальной схеме. Это вообще-то преобразование к другой области определения. </a:t>
            </a:r>
            <a:endParaRPr lang="en-US" b="1" dirty="0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dirty="0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132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Представления сигналов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>
                <a:ea typeface="Cambria Math" panose="02040503050406030204" pitchFamily="18" charset="0"/>
              </a:rPr>
              <a:t>Однако за счет того, что представление сигнала и системы «более удобно» может возникнуть примерно такая связь с реальной электрической цепью</a:t>
            </a:r>
            <a:r>
              <a:rPr lang="ru-RU" dirty="0" smtClean="0">
                <a:ea typeface="Cambria Math" panose="02040503050406030204" pitchFamily="18" charset="0"/>
              </a:rPr>
              <a:t>:</a:t>
            </a:r>
          </a:p>
          <a:p>
            <a:pPr marL="0" indent="0" algn="just">
              <a:buNone/>
            </a:pPr>
            <a:endParaRPr lang="ru-RU" dirty="0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dirty="0" smtClean="0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dirty="0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dirty="0" smtClean="0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dirty="0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ea typeface="Cambria Math" panose="02040503050406030204" pitchFamily="18" charset="0"/>
              </a:rPr>
              <a:t>Переход к представлению входного воздействия , воздействие на изображение системы и обратный переход результата от изображения</a:t>
            </a:r>
            <a:endParaRPr lang="en-US" dirty="0">
              <a:ea typeface="Cambria Math" panose="0204050305040603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985" y="2579543"/>
            <a:ext cx="2255565" cy="249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69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Представления сигналов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>
                <a:ea typeface="Cambria Math" panose="02040503050406030204" pitchFamily="18" charset="0"/>
              </a:rPr>
              <a:t>Понятно, что чтобы таким заниматься, должно быть реально удобно проводить анализ в пространстве изображения.</a:t>
            </a:r>
          </a:p>
          <a:p>
            <a:pPr marL="0" indent="0" algn="just">
              <a:buNone/>
            </a:pPr>
            <a:r>
              <a:rPr lang="ru-RU" dirty="0" smtClean="0">
                <a:ea typeface="Cambria Math" panose="02040503050406030204" pitchFamily="18" charset="0"/>
              </a:rPr>
              <a:t>И самая распространенное такое представление, с несомненными плюсами анализа изображений во многих случаях это </a:t>
            </a:r>
            <a:r>
              <a:rPr lang="ru-RU" b="1" dirty="0" smtClean="0">
                <a:ea typeface="Cambria Math" panose="02040503050406030204" pitchFamily="18" charset="0"/>
              </a:rPr>
              <a:t>Интегральное преобразование Фурье.</a:t>
            </a:r>
          </a:p>
          <a:p>
            <a:pPr marL="0" indent="0" algn="just">
              <a:buNone/>
            </a:pPr>
            <a:r>
              <a:rPr lang="ru-RU" b="1" dirty="0" smtClean="0">
                <a:ea typeface="Cambria Math" panose="02040503050406030204" pitchFamily="18" charset="0"/>
              </a:rPr>
              <a:t>Оно ставит в соответствии временной функции ее спектральную плотность: некоторую непрерывную (с оговорками – возможны и сингулярности) комплексную функцию характеризующую скорость изменения исходной функции и временные сдвиги в ней.</a:t>
            </a:r>
            <a:endParaRPr lang="en-US" b="1" dirty="0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685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Интегральное преобразование Фурье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ctrlP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𝒆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l-G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𝝎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𝒕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</m:nary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𝝅</m:t>
                                  </m:r>
                                </m:den>
                              </m:f>
                              <m:nary>
                                <m:naryPr>
                                  <m:ctrlP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𝒆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l-G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𝝎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𝒕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𝒅𝒕</m:t>
                                  </m:r>
                                </m:e>
                              </m:nary>
                            </m:e>
                          </m:eqArr>
                        </m:e>
                      </m:d>
                    </m:oMath>
                  </m:oMathPara>
                </a14:m>
                <a:endParaRPr lang="en-US"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2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130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Интегральное преобразование Фурье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 algn="just">
                  <a:buNone/>
                </a:pPr>
                <a:r>
                  <a:rPr lang="ru-RU" b="1" dirty="0" smtClean="0">
                    <a:ea typeface="Cambria Math" panose="02040503050406030204" pitchFamily="18" charset="0"/>
                  </a:rPr>
                  <a:t>Выражение для прямого и обратного преобразования Фурье записываются следующим образом:</a:t>
                </a:r>
              </a:p>
              <a:p>
                <a:pPr marL="0" indent="0" algn="just">
                  <a:buNone/>
                </a:pPr>
                <a:endParaRPr lang="ru-RU" b="1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ctrlP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𝒆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l-G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𝝎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𝒕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</m:nary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𝝅</m:t>
                                  </m:r>
                                </m:den>
                              </m:f>
                              <m:nary>
                                <m:naryPr>
                                  <m:ctrlP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𝒆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l-G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𝝎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𝒕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𝒅𝒕</m:t>
                                  </m:r>
                                </m:e>
                              </m:nary>
                            </m:e>
                          </m:eqArr>
                        </m:e>
                      </m:d>
                    </m:oMath>
                  </m:oMathPara>
                </a14:m>
                <a:endParaRPr lang="ru-RU" b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/>
                  <a:t>Сходимость интегралов </a:t>
                </a:r>
                <a:r>
                  <a:rPr lang="ru-RU" dirty="0" smtClean="0"/>
                  <a:t>этих, </a:t>
                </a:r>
                <a:r>
                  <a:rPr lang="ru-RU" dirty="0"/>
                  <a:t>которые называются в математике комплексными Интегралами Фурье существует для функций удовлетворяющих двум условиям:</a:t>
                </a:r>
              </a:p>
              <a:p>
                <a:pPr marL="0" indent="0">
                  <a:buNone/>
                </a:pPr>
                <a:r>
                  <a:rPr lang="ru-RU" b="1" dirty="0"/>
                  <a:t>монотонных и непрерывных </a:t>
                </a:r>
                <a:r>
                  <a:rPr lang="ru-RU" dirty="0"/>
                  <a:t>(удовлетворяющих условиям Дирихле) </a:t>
                </a:r>
                <a:r>
                  <a:rPr lang="ru-RU" b="1" dirty="0"/>
                  <a:t>интегрируемых</a:t>
                </a:r>
                <a:r>
                  <a:rPr lang="ru-RU" dirty="0"/>
                  <a:t> функций (для которых существует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)|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𝒅𝒕</m:t>
                        </m:r>
                      </m:e>
                    </m:nary>
                  </m:oMath>
                </a14:m>
                <a:r>
                  <a:rPr lang="ru-RU" dirty="0"/>
                  <a:t>)</a:t>
                </a:r>
                <a:r>
                  <a:rPr lang="en-US" dirty="0"/>
                  <a:t>. 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Так же интеграл Фурье существует и для ряда сингулярных функций, например Дельта-функции, единичной ступеньки, комплексной экспоненты. </a:t>
                </a:r>
              </a:p>
              <a:p>
                <a:pPr marL="0" indent="0">
                  <a:buNone/>
                </a:pPr>
                <a:r>
                  <a:rPr lang="ru-RU" dirty="0" smtClean="0"/>
                  <a:t>Для нас важно, </a:t>
                </a:r>
                <a:r>
                  <a:rPr lang="ru-RU" dirty="0"/>
                  <a:t>что он </a:t>
                </a:r>
                <a:r>
                  <a:rPr lang="ru-RU" b="1" dirty="0"/>
                  <a:t>заведомо существует </a:t>
                </a:r>
                <a:r>
                  <a:rPr lang="ru-RU" dirty="0"/>
                  <a:t>для функций принадлежащих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latin typeface="Cambria Math" panose="02040503050406030204" pitchFamily="18" charset="0"/>
                          </a:rPr>
                          <m:t>пространству 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1" dirty="0"/>
                  <a:t> </a:t>
                </a:r>
                <a:r>
                  <a:rPr lang="ru-RU" dirty="0"/>
                  <a:t>– т.е. физически реализуемых функций интегрируемых с </a:t>
                </a:r>
                <a:r>
                  <a:rPr lang="ru-RU" dirty="0" smtClean="0"/>
                  <a:t>квадратом – именно такие функции описывают электрические цепи и возможные входные воздействия.</a:t>
                </a:r>
                <a:endParaRPr lang="en-US"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22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0932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Интегральное преобразование Фурье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Множество </a:t>
                </a:r>
                <a:r>
                  <a:rPr lang="ru-RU" dirty="0"/>
                  <a:t>функций может быть и от нескольких переменных, тогда будет иметь место многомерное преобразование Фурье. Например ниже записаны выражения для двумерного преобразования Фурье</a:t>
                </a:r>
                <a:r>
                  <a:rPr lang="en-US" dirty="0"/>
                  <a:t>:</a:t>
                </a:r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nary>
                                <m:nary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𝜶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𝒆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𝝅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𝜶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𝒚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𝜶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nary>
                            </m:e>
                          </m:nary>
                        </m:e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nary>
                                <m:nary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𝒆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𝝅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𝜶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𝒚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𝒅𝒙𝒅𝒚</m:t>
                                  </m:r>
                                </m:e>
                              </m:nary>
                            </m:e>
                          </m:nary>
                        </m:e>
                      </m:eqArr>
                    </m:oMath>
                  </m:oMathPara>
                </a14:m>
                <a:endParaRPr lang="ru-RU" b="1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ru-RU" dirty="0"/>
                  <a:t>Все свойства, справедливые для одномерного представления, справедливы и для многомерных. Есть и несколько дополнительных: </a:t>
                </a:r>
              </a:p>
              <a:p>
                <a:pPr marL="0" indent="0" algn="just">
                  <a:buNone/>
                </a:pPr>
                <a:r>
                  <a:rPr lang="ru-RU" dirty="0"/>
                  <a:t>Во-первых, если функция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ru-RU" dirty="0"/>
                  <a:t> допускает разделение переменных, то ее спектральная плотность может быть представлена, как произведение Фурье образов функций, ее составляющих: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ru-RU" dirty="0"/>
                  <a:t>=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dirty="0"/>
                  <a:t>;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;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groupChr>
                      <m:groupChrPr>
                        <m:chr m:val="⇒"/>
                        <m:vertJc m:val="bot"/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 algn="just">
                  <a:buNone/>
                </a:pPr>
                <a:r>
                  <a:rPr lang="ru-RU" dirty="0"/>
                  <a:t>Во-вторых, если функция обладает радиальной симметрией то ее Фурье образ может быть записан с помощью преобразования </a:t>
                </a:r>
                <a:r>
                  <a:rPr lang="ru-RU" b="1" dirty="0" err="1"/>
                  <a:t>Гангеля</a:t>
                </a:r>
                <a:r>
                  <a:rPr lang="ru-RU" dirty="0"/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nary>
                            <m:nary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𝝑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𝝑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𝑱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𝝅𝝑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𝝑</m:t>
                              </m:r>
                            </m:e>
                          </m:nary>
                        </m:e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𝑭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𝝑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nary>
                            <m:nary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𝑱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𝝅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𝝑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𝒅𝒓</m:t>
                              </m:r>
                            </m:e>
                          </m:nary>
                        </m:e>
                      </m:eqAr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ru-RU" dirty="0"/>
                  <a:t> - Функция Бесселя нулевого порядка,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32" t="-1541" r="-1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3042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Интегральное преобразование Фурье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/>
                  <a:t>Несмотря на то, что пространство функций и пространство отображений обладают одинаковыми свойствами, между ними есть одно отличие, про которое не стоит забывать: математически и функции и их изображения расположены над комплексным полем, т.е. могут принимать </a:t>
                </a:r>
                <a:r>
                  <a:rPr lang="ru-RU" b="1" dirty="0"/>
                  <a:t>комплексные значения</a:t>
                </a:r>
                <a:r>
                  <a:rPr lang="ru-RU" dirty="0"/>
                  <a:t>. На практике же сигнал мы всегда принимаем </a:t>
                </a:r>
                <a:r>
                  <a:rPr lang="ru-RU" b="1" dirty="0"/>
                  <a:t>вещественным</a:t>
                </a:r>
                <a:r>
                  <a:rPr lang="ru-RU" dirty="0"/>
                  <a:t>, а вот его изображение уже является комплексным – ему деваться некуда.</a:t>
                </a:r>
              </a:p>
              <a:p>
                <a:pPr marL="0" indent="0" algn="just">
                  <a:buNone/>
                </a:pPr>
                <a:r>
                  <a:rPr lang="ru-RU" dirty="0"/>
                  <a:t>При этом комплексное значение спектральной плотности обычно представляется в виде двух вещественных: модуль Фурье-образа называется </a:t>
                </a:r>
                <a:r>
                  <a:rPr lang="ru-RU" b="1" dirty="0"/>
                  <a:t>Амплитудно-частотной характеристикой </a:t>
                </a:r>
                <a:r>
                  <a:rPr lang="en-US" b="1" dirty="0"/>
                  <a:t>(</a:t>
                </a:r>
                <a:r>
                  <a:rPr lang="ru-RU" b="1" dirty="0"/>
                  <a:t>АЧХ)</a:t>
                </a:r>
                <a:r>
                  <a:rPr lang="ru-RU" dirty="0"/>
                  <a:t> </a:t>
                </a:r>
                <a:endParaRPr lang="en-US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ru-RU" dirty="0"/>
                  <a:t>, </a:t>
                </a:r>
                <a:endParaRPr lang="en-US" dirty="0"/>
              </a:p>
              <a:p>
                <a:pPr marL="0" indent="0" algn="just">
                  <a:buNone/>
                </a:pPr>
                <a:r>
                  <a:rPr lang="ru-RU" dirty="0"/>
                  <a:t>а угол</a:t>
                </a:r>
                <a:r>
                  <a:rPr lang="en-US" dirty="0"/>
                  <a:t> </a:t>
                </a:r>
                <a:r>
                  <a:rPr lang="ru-RU" dirty="0"/>
                  <a:t>на комплексной плоскости </a:t>
                </a:r>
                <a:r>
                  <a:rPr lang="ru-RU" b="1" dirty="0" err="1"/>
                  <a:t>Фазо</a:t>
                </a:r>
                <a:r>
                  <a:rPr lang="ru-RU" b="1" dirty="0"/>
                  <a:t>-частотной характеристикой (ФЧХ)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𝑎𝑟𝑐𝑡𝑔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𝐼𝑚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  </a:t>
                </a:r>
              </a:p>
              <a:p>
                <a:pPr marL="0" indent="0" algn="just">
                  <a:buNone/>
                </a:pPr>
                <a:r>
                  <a:rPr lang="ru-RU" dirty="0"/>
                  <a:t>АЧХ характеризует содержание в сигнале разных частот, а ФЧХ показывает их взаимное смещение – сдвиг по </a:t>
                </a:r>
                <a:r>
                  <a:rPr lang="ru-RU" dirty="0" smtClean="0"/>
                  <a:t>фазе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54" t="-2801" r="-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5687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10463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Свойства интегрального </a:t>
            </a:r>
            <a:r>
              <a:rPr lang="ru-RU" dirty="0"/>
              <a:t>преобразования Фурье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237796"/>
            <a:ext cx="11185567" cy="5091753"/>
          </a:xfrm>
        </p:spPr>
        <p:txBody>
          <a:bodyPr>
            <a:normAutofit/>
          </a:bodyPr>
          <a:lstStyle/>
          <a:p>
            <a:pPr marL="457200" indent="-457200">
              <a:buAutoNum type="arabicParenR"/>
            </a:pPr>
            <a:r>
              <a:rPr lang="ru-RU" sz="2400" dirty="0" smtClean="0"/>
              <a:t>Свойства симметрии.</a:t>
            </a:r>
          </a:p>
          <a:p>
            <a:pPr marL="0" indent="0">
              <a:buNone/>
            </a:pPr>
            <a:r>
              <a:rPr lang="ru-RU" sz="2400" dirty="0" smtClean="0"/>
              <a:t>Возможны три варианта формы сигнала: </a:t>
            </a:r>
          </a:p>
          <a:p>
            <a:pPr marL="0" indent="0">
              <a:buNone/>
            </a:pPr>
            <a:r>
              <a:rPr lang="ru-RU" sz="2400" dirty="0"/>
              <a:t>	</a:t>
            </a:r>
            <a:r>
              <a:rPr lang="ru-RU" sz="2400" dirty="0" smtClean="0"/>
              <a:t>сигнал четен (симметричен) относительно нуля времени</a:t>
            </a:r>
          </a:p>
          <a:p>
            <a:pPr marL="0" indent="0">
              <a:buNone/>
            </a:pPr>
            <a:r>
              <a:rPr lang="ru-RU" sz="2400" dirty="0"/>
              <a:t>	</a:t>
            </a:r>
            <a:r>
              <a:rPr lang="ru-RU" sz="2400" dirty="0" smtClean="0"/>
              <a:t>сигнал нечетен (антисимметричен) относительно нуля времени</a:t>
            </a:r>
          </a:p>
          <a:p>
            <a:pPr marL="0" indent="0">
              <a:buNone/>
            </a:pPr>
            <a:r>
              <a:rPr lang="ru-RU" sz="2400" dirty="0"/>
              <a:t>	</a:t>
            </a:r>
            <a:r>
              <a:rPr lang="ru-RU" sz="2400" dirty="0" smtClean="0"/>
              <a:t>у сигнала отсутствует симметрия относительно нуля времени. </a:t>
            </a:r>
          </a:p>
          <a:p>
            <a:pPr marL="0" indent="0">
              <a:buNone/>
            </a:pPr>
            <a:r>
              <a:rPr lang="ru-RU" sz="2400" dirty="0" smtClean="0"/>
              <a:t>Свойства спектральной плотности для каждого случая приведены в таблице</a:t>
            </a:r>
          </a:p>
          <a:p>
            <a:pPr marL="0" indent="0">
              <a:buNone/>
            </a:pPr>
            <a:r>
              <a:rPr lang="ru-RU" sz="2400" dirty="0" smtClean="0"/>
              <a:t> </a:t>
            </a:r>
          </a:p>
          <a:p>
            <a:pPr marL="0" indent="0">
              <a:buNone/>
            </a:pPr>
            <a:endParaRPr lang="ru-RU" sz="2400" dirty="0" smtClean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1758867" y="4110071"/>
          <a:ext cx="8128000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Функция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Спектральная плотность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Вещественная и четная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Вещественная и четная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Вещественная и нечетная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Чисто мнимая и нечетная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Вещественная и несимметричная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Комплексная </a:t>
                      </a:r>
                    </a:p>
                    <a:p>
                      <a:pPr algn="ctr"/>
                      <a:r>
                        <a:rPr lang="ru-RU" dirty="0" smtClean="0"/>
                        <a:t>с четной реальной</a:t>
                      </a:r>
                      <a:r>
                        <a:rPr lang="ru-RU" baseline="0" dirty="0" smtClean="0"/>
                        <a:t> частью </a:t>
                      </a:r>
                    </a:p>
                    <a:p>
                      <a:pPr algn="ctr"/>
                      <a:r>
                        <a:rPr lang="ru-RU" baseline="0" dirty="0" smtClean="0"/>
                        <a:t>и нечетной мнимой частью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5634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10463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Свойства интегрального </a:t>
            </a:r>
            <a:r>
              <a:rPr lang="ru-RU" dirty="0"/>
              <a:t>преобразования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</p:spPr>
            <p:txBody>
              <a:bodyPr>
                <a:normAutofit fontScale="92500" lnSpcReduction="10000"/>
              </a:bodyPr>
              <a:lstStyle/>
              <a:p>
                <a:pPr marL="457200" indent="-457200">
                  <a:buFont typeface="+mj-lt"/>
                  <a:buAutoNum type="arabicParenR" startAt="2"/>
                </a:pPr>
                <a:r>
                  <a:rPr lang="ru-RU" sz="2400" b="1" dirty="0" smtClean="0"/>
                  <a:t>Дуальность времени и частоты</a:t>
                </a:r>
                <a:r>
                  <a:rPr lang="ru-RU" sz="2400" dirty="0" smtClean="0"/>
                  <a:t>.</a:t>
                </a:r>
              </a:p>
              <a:p>
                <a:pPr marL="0" indent="0">
                  <a:buNone/>
                </a:pPr>
                <a:r>
                  <a:rPr lang="ru-RU" sz="2400" dirty="0" smtClean="0"/>
                  <a:t>Ввиду симметричной природы интегрального преобразования Фурье возможна формальная замена в уравнениях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ru-RU" sz="2400" dirty="0" smtClean="0"/>
                  <a:t>При этом </a:t>
                </a:r>
                <a:r>
                  <a:rPr lang="ru-RU" sz="2400" b="1" dirty="0" smtClean="0"/>
                  <a:t>Спектральная плотность </a:t>
                </a:r>
                <a:r>
                  <a:rPr lang="ru-RU" sz="2400" dirty="0" smtClean="0"/>
                  <a:t>превращается в </a:t>
                </a:r>
                <a:r>
                  <a:rPr lang="ru-RU" sz="2400" b="1" dirty="0" smtClean="0"/>
                  <a:t>Исходный сигнал</a:t>
                </a:r>
                <a:r>
                  <a:rPr lang="ru-RU" sz="2400" dirty="0" smtClean="0"/>
                  <a:t>, который, в свою очередь, станет спектральной плотностью. В соответствии с предыдущим свойством, полная </a:t>
                </a:r>
                <a:r>
                  <a:rPr lang="ru-RU" sz="2400" dirty="0" err="1" smtClean="0"/>
                  <a:t>дуальность</a:t>
                </a:r>
                <a:r>
                  <a:rPr lang="ru-RU" sz="2400" dirty="0" smtClean="0"/>
                  <a:t> возможна только для четных вещественных сигналов. </a:t>
                </a:r>
                <a:endParaRPr lang="ru-RU" sz="2400" dirty="0"/>
              </a:p>
              <a:p>
                <a:pPr marL="0" indent="0">
                  <a:buNone/>
                </a:pPr>
                <a:r>
                  <a:rPr lang="ru-RU" sz="2400" dirty="0" smtClean="0"/>
                  <a:t>3) </a:t>
                </a:r>
                <a:r>
                  <a:rPr lang="ru-RU" sz="2400" b="1" dirty="0" smtClean="0"/>
                  <a:t>Изменение начала отсчета значений</a:t>
                </a:r>
                <a:r>
                  <a:rPr lang="ru-RU" sz="2400" dirty="0" smtClean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b="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Спектральная плотность на изменяется, кроме точки нулевой частоты, в которой возникает сингулярность в виде дельта-функции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Ввиду </a:t>
                </a:r>
                <a:r>
                  <a:rPr lang="ru-RU" sz="2400" dirty="0" err="1" smtClean="0"/>
                  <a:t>дуальности</a:t>
                </a:r>
                <a:r>
                  <a:rPr lang="ru-RU" sz="2400" dirty="0" smtClean="0"/>
                  <a:t> справедливо и обратное: добавка к функции сингулярности в виде дельта-функции приводит к добавлению постоянного смещения в спектре</a:t>
                </a:r>
                <a:r>
                  <a:rPr lang="en-US" sz="2400" dirty="0"/>
                  <a:t>:</a:t>
                </a:r>
                <a:endParaRPr lang="ru-RU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0" dirty="0" smtClean="0"/>
              </a:p>
              <a:p>
                <a:pPr marL="0" indent="0">
                  <a:buNone/>
                </a:pPr>
                <a:endParaRPr lang="ru-RU" sz="240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  <a:blipFill rotWithShape="0">
                <a:blip r:embed="rId2"/>
                <a:stretch>
                  <a:fillRect l="-708" t="-2156" r="-9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9880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10463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Свойства интегрального </a:t>
            </a:r>
            <a:r>
              <a:rPr lang="ru-RU" dirty="0"/>
              <a:t>преобразования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arenR" startAt="4"/>
                </a:pPr>
                <a:r>
                  <a:rPr lang="ru-RU" sz="2400" b="1" dirty="0" smtClean="0"/>
                  <a:t>Сдвиг во времени</a:t>
                </a:r>
                <a:r>
                  <a:rPr lang="ru-RU" sz="2400" dirty="0" smtClean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К спектральной плотности добавляется комплексная экспонента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ru-RU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Дуальное соотношение (т.е. сдвиг спектральной плотности) приводит к перемножению функции на комплексную экспоненту. Если смещение спектра осуществляется гармонической функцией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func>
                  </m:oMath>
                </a14:m>
                <a:r>
                  <a:rPr lang="ru-RU" sz="2400" dirty="0" smtClean="0"/>
                  <a:t>, то происходит не просто смещение, но и расщепление спектра:</a:t>
                </a:r>
              </a:p>
              <a:p>
                <a:pPr marL="0" indent="0" algn="ctr">
                  <a:buNone/>
                </a:pPr>
                <a:r>
                  <a:rPr lang="ru-RU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ru-R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p>
                    </m:sSup>
                  </m:oMath>
                </a14:m>
                <a:r>
                  <a:rPr lang="ru-RU" sz="24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p>
                    </m:sSup>
                  </m:oMath>
                </a14:m>
                <a:endParaRPr lang="ru-RU" sz="2400" dirty="0" smtClean="0"/>
              </a:p>
              <a:p>
                <a:pPr marL="0" indent="0" algn="just">
                  <a:buNone/>
                </a:pPr>
                <a:r>
                  <a:rPr lang="ru-RU" sz="2400" dirty="0" smtClean="0"/>
                  <a:t>Смещение спектра сигнала в область высоких частот называется </a:t>
                </a:r>
                <a:r>
                  <a:rPr lang="ru-RU" sz="2400" b="1" dirty="0" smtClean="0"/>
                  <a:t>модуляцией</a:t>
                </a:r>
                <a:r>
                  <a:rPr lang="ru-RU" sz="2400" dirty="0" smtClean="0"/>
                  <a:t> сигнала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0" dirty="0" smtClean="0"/>
              </a:p>
              <a:p>
                <a:pPr marL="0" indent="0">
                  <a:buNone/>
                </a:pPr>
                <a:endParaRPr lang="ru-RU" sz="240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  <a:blipFill rotWithShape="0">
                <a:blip r:embed="rId2"/>
                <a:stretch>
                  <a:fillRect l="-817" t="-1796" r="-8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19645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10463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Свойства интегрального </a:t>
            </a:r>
            <a:r>
              <a:rPr lang="ru-RU" dirty="0"/>
              <a:t>преобразования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arenR" startAt="5"/>
                </a:pPr>
                <a:r>
                  <a:rPr lang="ru-RU" sz="2400" b="1" dirty="0" smtClean="0"/>
                  <a:t>Изменение масштаба времени</a:t>
                </a:r>
                <a:r>
                  <a:rPr lang="ru-RU" sz="2400" dirty="0" smtClean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При сжатии функции в </a:t>
                </a:r>
                <a:r>
                  <a:rPr lang="en-US" sz="2400" b="1" i="1" dirty="0" smtClean="0"/>
                  <a:t>p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раз по временной оси во столько же раз расширяется ее спектральная плотность. Величина ее при это уменьшается в та же </a:t>
                </a:r>
                <a:r>
                  <a:rPr lang="en-US" sz="2400" b="1" i="1" dirty="0" smtClean="0"/>
                  <a:t>p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раз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ru-RU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Дуальное соотношение (т.е. сжатие спектральной плотности) приводит к аналогичному расширению функции по времени</a:t>
                </a:r>
                <a:r>
                  <a:rPr lang="en-US" sz="2400" dirty="0" smtClean="0"/>
                  <a:t>:</a:t>
                </a:r>
                <a:endParaRPr lang="ru-RU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0" dirty="0" smtClean="0"/>
              </a:p>
              <a:p>
                <a:pPr marL="0" indent="0">
                  <a:buNone/>
                </a:pPr>
                <a:endParaRPr lang="ru-RU" sz="240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  <a:blipFill rotWithShape="0">
                <a:blip r:embed="rId2"/>
                <a:stretch>
                  <a:fillRect l="-817" t="-17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4401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10463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Свойства интегрального </a:t>
            </a:r>
            <a:r>
              <a:rPr lang="ru-RU" dirty="0"/>
              <a:t>преобразования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arenR" startAt="5"/>
                </a:pPr>
                <a:r>
                  <a:rPr lang="ru-RU" sz="2400" b="1" dirty="0" smtClean="0"/>
                  <a:t>Спектральная плотность произведения функций</a:t>
                </a:r>
                <a:r>
                  <a:rPr lang="ru-RU" sz="2400" dirty="0" smtClean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Спектральная плотность произведения функций равна свертке спектральных плотностей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</m:oMath>
                  </m:oMathPara>
                </a14:m>
                <a:endParaRPr lang="ru-RU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Дуальное соотношение (т.е. произведение спектров) приводит к свертке</a:t>
                </a:r>
                <a:r>
                  <a:rPr lang="en-US" sz="2400" dirty="0" smtClean="0"/>
                  <a:t>:</a:t>
                </a:r>
                <a:endParaRPr lang="ru-RU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0" dirty="0" smtClean="0"/>
              </a:p>
              <a:p>
                <a:pPr marL="0" indent="0">
                  <a:buNone/>
                </a:pPr>
                <a:endParaRPr lang="ru-RU" sz="240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  <a:blipFill rotWithShape="0">
                <a:blip r:embed="rId2"/>
                <a:stretch>
                  <a:fillRect l="-817" t="-17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1455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10463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Свойства интегрального </a:t>
            </a:r>
            <a:r>
              <a:rPr lang="ru-RU" dirty="0"/>
              <a:t>преобразования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arenR" startAt="6"/>
                </a:pPr>
                <a:r>
                  <a:rPr lang="ru-RU" sz="2400" b="1" dirty="0" smtClean="0"/>
                  <a:t>Энергетические соотношения</a:t>
                </a:r>
                <a:r>
                  <a:rPr lang="ru-RU" sz="2400" dirty="0" smtClean="0"/>
                  <a:t>.</a:t>
                </a:r>
              </a:p>
              <a:p>
                <a:pPr marL="0" indent="0">
                  <a:buNone/>
                </a:pPr>
                <a:r>
                  <a:rPr lang="ru-RU" sz="2400" dirty="0" smtClean="0"/>
                  <a:t>Как мы помним энергия циркулирующая в электрической цепи и мощность на элементах выражается через среднеквадратичные значения тока, напряжения.</a:t>
                </a:r>
              </a:p>
              <a:p>
                <a:pPr marL="0" indent="0">
                  <a:buNone/>
                </a:pPr>
                <a:r>
                  <a:rPr lang="ru-RU" sz="2400" dirty="0" smtClean="0"/>
                  <a:t>Полная мощность, например равна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  <m:t>эфф</m:t>
                            </m:r>
                          </m:sub>
                          <m:sup>
                            <m: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</m:oMath>
                </a14:m>
                <a:endParaRPr lang="ru-RU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Активная мощность </a:t>
                </a:r>
                <a:r>
                  <a:rPr lang="en-US" sz="2400" b="1" i="1" dirty="0" smtClean="0"/>
                  <a:t>P = </a:t>
                </a:r>
                <a:r>
                  <a:rPr lang="en-US" sz="2400" b="1" i="1" dirty="0" smtClean="0">
                    <a:ea typeface="Cambria Math" panose="02040503050406030204" pitchFamily="18" charset="0"/>
                  </a:rPr>
                  <a:t>S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𝒄𝒐𝒔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2400" b="1" i="1" dirty="0">
                    <a:ea typeface="Cambria Math" panose="02040503050406030204" pitchFamily="18" charset="0"/>
                  </a:rPr>
                  <a:t> </a:t>
                </a:r>
                <a:endParaRPr lang="en-US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Поэтому очень важное значение имеет </a:t>
                </a:r>
                <a:r>
                  <a:rPr lang="ru-RU" sz="2400" b="1" dirty="0" smtClean="0"/>
                  <a:t>равенство Парсеваля</a:t>
                </a:r>
                <a:r>
                  <a:rPr lang="ru-RU" sz="2400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𝒅𝒕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l-G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𝜴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𝒅𝒕</m:t>
                      </m:r>
                    </m:oMath>
                  </m:oMathPara>
                </a14:m>
                <a:endParaRPr lang="en-US" sz="2400" b="1" dirty="0" smtClean="0"/>
              </a:p>
              <a:p>
                <a:pPr marL="0" indent="0">
                  <a:buNone/>
                </a:pPr>
                <a:r>
                  <a:rPr lang="ru-RU" sz="2400" b="1" dirty="0" smtClean="0"/>
                  <a:t>Которое значит, что энергия может быть выражена не только через ток или напряжение но и через спектральную плотность тока или напряжения</a:t>
                </a:r>
                <a:r>
                  <a:rPr lang="ru-RU" sz="2400" dirty="0" smtClean="0"/>
                  <a:t>.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0" dirty="0" smtClean="0"/>
              </a:p>
              <a:p>
                <a:pPr marL="0" indent="0">
                  <a:buNone/>
                </a:pPr>
                <a:endParaRPr lang="ru-RU" sz="240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  <a:blipFill rotWithShape="0">
                <a:blip r:embed="rId2"/>
                <a:stretch>
                  <a:fillRect l="-817" t="-17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2173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10463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Свойства интегрального </a:t>
            </a:r>
            <a:r>
              <a:rPr lang="ru-RU" dirty="0"/>
              <a:t>преобразования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arenR" startAt="7"/>
                </a:pPr>
                <a:r>
                  <a:rPr lang="ru-RU" sz="2400" b="1" dirty="0" smtClean="0"/>
                  <a:t>Спектральная плотность производной функции</a:t>
                </a:r>
                <a:r>
                  <a:rPr lang="ru-RU" sz="2400" dirty="0" smtClean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Спектральная плотность получается добавлением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ru-RU" sz="2400" dirty="0" smtClean="0"/>
                  <a:t>к исходной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 smtClean="0"/>
              </a:p>
              <a:p>
                <a:pPr marL="457200" indent="-457200">
                  <a:buFont typeface="+mj-lt"/>
                  <a:buAutoNum type="arabicParenR" startAt="8"/>
                </a:pPr>
                <a:r>
                  <a:rPr lang="ru-RU" sz="2400" b="1" dirty="0"/>
                  <a:t>Спектральная плотность </a:t>
                </a:r>
                <a:r>
                  <a:rPr lang="ru-RU" sz="2400" b="1" dirty="0" smtClean="0"/>
                  <a:t>интеграла функции</a:t>
                </a:r>
                <a:r>
                  <a:rPr lang="ru-RU" sz="2400" dirty="0" smtClean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nary>
                            <m:nary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nary>
                        </m:e>
                      </m:box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Спектральная плотность в общем случае становится сингулярной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ru-R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m:rPr>
                              <m:nor/>
                            </m:rPr>
                            <a:rPr lang="ru-RU" sz="2400" dirty="0"/>
                            <m:t> </m:t>
                          </m:r>
                        </m:den>
                      </m:f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Однако, если постоянная составляющая в исходном сигнале равна нулю, то выражение упрощается до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nor/>
                          </m:rPr>
                          <a:rPr lang="ru-RU" sz="2400" dirty="0"/>
                          <m:t> </m:t>
                        </m:r>
                      </m:den>
                    </m:f>
                  </m:oMath>
                </a14:m>
                <a:endParaRPr lang="ru-RU" sz="2400" dirty="0"/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0" dirty="0" smtClean="0"/>
              </a:p>
              <a:p>
                <a:pPr marL="0" indent="0">
                  <a:buNone/>
                </a:pPr>
                <a:endParaRPr lang="ru-RU" sz="240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  <a:blipFill rotWithShape="0">
                <a:blip r:embed="rId2"/>
                <a:stretch>
                  <a:fillRect l="-817" t="-17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0819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10463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Примеры спектральных плотностей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b="1" dirty="0" smtClean="0"/>
                  <a:t>Прямоугольный импульс длительностью </a:t>
                </a:r>
                <a:r>
                  <a:rPr lang="en-US" sz="2400" b="1" dirty="0" smtClean="0"/>
                  <a:t>τ</a:t>
                </a:r>
                <a:r>
                  <a:rPr lang="ru-RU" sz="2400" b="1" dirty="0" smtClean="0"/>
                  <a:t> и амплитудой А</a:t>
                </a:r>
                <a:endParaRPr lang="en-US" sz="2400" b="1" dirty="0" smtClean="0"/>
              </a:p>
              <a:p>
                <a:pPr marL="0" indent="0">
                  <a:buNone/>
                </a:pPr>
                <a:endParaRPr lang="ru-RU" sz="2400" dirty="0"/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ru-RU" sz="2400" dirty="0" smtClean="0"/>
                  <a:t>Спектральная плотность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box>
                          <m:box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𝜔𝜏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box>
                          <m:box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𝜔𝜏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</m:den>
                    </m:f>
                  </m:oMath>
                </a14:m>
                <a:endParaRPr lang="en-US" sz="2400" b="0" dirty="0" smtClean="0"/>
              </a:p>
              <a:p>
                <a:pPr marL="0" indent="0">
                  <a:buNone/>
                </a:pPr>
                <a:endParaRPr lang="ru-RU" sz="240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  <a:blipFill rotWithShape="0">
                <a:blip r:embed="rId2"/>
                <a:stretch>
                  <a:fillRect l="-817" t="-16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527" y="1617828"/>
            <a:ext cx="257175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827" y="4176961"/>
            <a:ext cx="245745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23468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10463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Примеры спектральных плотностей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sz="2400" dirty="0" smtClean="0"/>
                  <a:t>Дуальное соотношение к прямоугольному импульсу имеет довольно важную роль: Спектральная плотность прямоугольной формы описывает идеальный низкочастотный сигнал, т.е. такой сигнал, в котором до некоторой частоты </a:t>
                </a:r>
                <a:r>
                  <a:rPr lang="el-GR" sz="2400" dirty="0" smtClean="0"/>
                  <a:t>Ω</a:t>
                </a:r>
                <a:r>
                  <a:rPr lang="ru-RU" sz="2400" dirty="0" smtClean="0"/>
                  <a:t> равномерно присутствуют все компоненты, а после нее ничего нет. По свойству </a:t>
                </a:r>
                <a:r>
                  <a:rPr lang="ru-RU" sz="2400" dirty="0" err="1" smtClean="0"/>
                  <a:t>дуальности</a:t>
                </a:r>
                <a:r>
                  <a:rPr lang="ru-RU" sz="2400" dirty="0" smtClean="0"/>
                  <a:t> такой сигнал будет описываться уравнением  </a:t>
                </a:r>
                <a:endParaRPr lang="en-US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f>
                        <m:fPr>
                          <m:type m:val="li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box>
                            <m:box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box>
                            <m:box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sz="2400" b="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  <a:blipFill rotWithShape="0">
                <a:blip r:embed="rId2"/>
                <a:stretch>
                  <a:fillRect l="-817" t="-1677" r="-8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17997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10463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Примеры спектральных плотностей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b="1" dirty="0" smtClean="0"/>
                  <a:t>Треугольный импульс длительностью </a:t>
                </a:r>
                <a:r>
                  <a:rPr lang="en-US" sz="2400" b="1" dirty="0" smtClean="0"/>
                  <a:t>τ</a:t>
                </a:r>
                <a:r>
                  <a:rPr lang="ru-RU" sz="2400" b="1" dirty="0" smtClean="0"/>
                  <a:t> и амплитудой А</a:t>
                </a:r>
                <a:endParaRPr lang="en-US" sz="2400" b="1" dirty="0" smtClean="0"/>
              </a:p>
              <a:p>
                <a:pPr marL="0" indent="0">
                  <a:buNone/>
                </a:pPr>
                <a:endParaRPr lang="ru-RU" sz="2400" dirty="0"/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ru-RU" sz="2400" dirty="0" smtClean="0"/>
                  <a:t>Спектральная плотность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ru-RU" sz="2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box>
                          <m:box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𝜔𝜏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box>
                          <m:box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𝜔𝜏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</m:den>
                    </m:f>
                    <m:sSup>
                      <m:sSup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b="0" dirty="0" smtClean="0"/>
              </a:p>
              <a:p>
                <a:pPr marL="0" indent="0">
                  <a:buNone/>
                </a:pPr>
                <a:endParaRPr lang="ru-RU" sz="240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  <a:blipFill rotWithShape="0">
                <a:blip r:embed="rId2"/>
                <a:stretch>
                  <a:fillRect l="-817" t="-16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939" y="1607932"/>
            <a:ext cx="2573338" cy="204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827" y="4006046"/>
            <a:ext cx="245745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59943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10463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Примеры спектральных плотностей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b="1" dirty="0" smtClean="0"/>
                  <a:t>Колоколообразный импульс длительностью </a:t>
                </a:r>
                <a:r>
                  <a:rPr lang="en-US" sz="2400" b="1" dirty="0" smtClean="0"/>
                  <a:t>τ</a:t>
                </a:r>
                <a:r>
                  <a:rPr lang="ru-RU" sz="2400" b="1" dirty="0" smtClean="0"/>
                  <a:t> и амплитудой А</a:t>
                </a:r>
                <a:r>
                  <a:rPr lang="en-US" sz="2400" dirty="0"/>
                  <a:t>:</a:t>
                </a:r>
                <a:r>
                  <a:rPr lang="ru-RU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Под длительностью понимается спад импульса 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box>
                          <m:boxPr>
                            <m:ctrlPr>
                              <a:rPr lang="ru-RU" sz="2400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r>
                              <m:rPr>
                                <m:brk m:alnAt="6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ru-RU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 smtClean="0"/>
                  <a:t>раз</a:t>
                </a:r>
                <a:endParaRPr lang="en-US" sz="2400" dirty="0" smtClean="0"/>
              </a:p>
              <a:p>
                <a:pPr marL="0" indent="0">
                  <a:buNone/>
                </a:pPr>
                <a:endParaRPr lang="ru-RU" sz="2400" dirty="0"/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ru-RU" sz="2400" dirty="0" smtClean="0"/>
                  <a:t>Спектральная плотность 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имеет ту же форму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rad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ru-RU" sz="2400" b="0" dirty="0" smtClean="0"/>
                  <a:t> </a:t>
                </a:r>
              </a:p>
              <a:p>
                <a:pPr marL="0" indent="0">
                  <a:buNone/>
                </a:pPr>
                <a:r>
                  <a:rPr lang="ru-RU" sz="2400" dirty="0" smtClean="0"/>
                  <a:t>Ширина спектра при этом составляет 1/</a:t>
                </a:r>
                <a:r>
                  <a:rPr lang="en-US" sz="2400" dirty="0" smtClean="0"/>
                  <a:t>τ</a:t>
                </a:r>
              </a:p>
              <a:p>
                <a:pPr marL="0" indent="0">
                  <a:buNone/>
                </a:pPr>
                <a:endParaRPr lang="ru-RU" sz="240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37796"/>
                <a:ext cx="11185567" cy="5091753"/>
              </a:xfrm>
              <a:blipFill rotWithShape="0">
                <a:blip r:embed="rId2"/>
                <a:stretch>
                  <a:fillRect l="-8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004" y="2284825"/>
            <a:ext cx="257175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304" y="4838020"/>
            <a:ext cx="245745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1765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7645</TotalTime>
  <Words>1530</Words>
  <Application>Microsoft Office PowerPoint</Application>
  <PresentationFormat>Широкоэкранный</PresentationFormat>
  <Paragraphs>272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Тема Office</vt:lpstr>
      <vt:lpstr>Лекция 8</vt:lpstr>
      <vt:lpstr>Напоминание: нестационарный процесс</vt:lpstr>
      <vt:lpstr>Нестационарный процесс</vt:lpstr>
      <vt:lpstr>Операторные методы</vt:lpstr>
      <vt:lpstr>Операторные методы</vt:lpstr>
      <vt:lpstr>Операторные методы</vt:lpstr>
      <vt:lpstr>Четырехполюсники</vt:lpstr>
      <vt:lpstr>Четырехполюсники</vt:lpstr>
      <vt:lpstr>Четырехполюсники</vt:lpstr>
      <vt:lpstr>Четырехполюсники</vt:lpstr>
      <vt:lpstr>Четырехполюсники</vt:lpstr>
      <vt:lpstr>Линейные преобразования сигналов</vt:lpstr>
      <vt:lpstr>Линейные преобразования сигналов</vt:lpstr>
      <vt:lpstr>Линейные преобразования сигналов</vt:lpstr>
      <vt:lpstr>Линейные преобразования сигналов</vt:lpstr>
      <vt:lpstr>Требования к передающей системе</vt:lpstr>
      <vt:lpstr>Требования к передающей системе</vt:lpstr>
      <vt:lpstr>Требования к передающей системе</vt:lpstr>
      <vt:lpstr>Требования к передающей системе</vt:lpstr>
      <vt:lpstr>Свойства линейных операторов</vt:lpstr>
      <vt:lpstr>Свойства линейных операторов</vt:lpstr>
      <vt:lpstr>Свойства линейных операторов</vt:lpstr>
      <vt:lpstr>Представления сигналов</vt:lpstr>
      <vt:lpstr>Представления сигналов</vt:lpstr>
      <vt:lpstr>Представления сигналов</vt:lpstr>
      <vt:lpstr>Интегральное преобразование Фурье</vt:lpstr>
      <vt:lpstr>Интегральное преобразование Фурье</vt:lpstr>
      <vt:lpstr>Интегральное преобразование Фурье</vt:lpstr>
      <vt:lpstr>Интегральное преобразование Фурье</vt:lpstr>
      <vt:lpstr>Свойства интегрального преобразования Фурье</vt:lpstr>
      <vt:lpstr>Свойства интегрального преобразования Фурье</vt:lpstr>
      <vt:lpstr>Свойства интегрального преобразования Фурье</vt:lpstr>
      <vt:lpstr>Свойства интегрального преобразования Фурье</vt:lpstr>
      <vt:lpstr>Свойства интегрального преобразования Фурье</vt:lpstr>
      <vt:lpstr>Свойства интегрального преобразования Фурье</vt:lpstr>
      <vt:lpstr>Свойства интегрального преобразования Фурье</vt:lpstr>
      <vt:lpstr>Примеры спектральных плотностей</vt:lpstr>
      <vt:lpstr>Примеры спектральных плотностей</vt:lpstr>
      <vt:lpstr>Примеры спектральных плотностей</vt:lpstr>
      <vt:lpstr>Примеры спектральных плотностей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Радиоэлектроника</dc:title>
  <dc:creator>BINP User</dc:creator>
  <cp:lastModifiedBy>BINP User</cp:lastModifiedBy>
  <cp:revision>356</cp:revision>
  <dcterms:created xsi:type="dcterms:W3CDTF">2020-09-02T13:49:40Z</dcterms:created>
  <dcterms:modified xsi:type="dcterms:W3CDTF">2021-09-09T12:31:38Z</dcterms:modified>
</cp:coreProperties>
</file>