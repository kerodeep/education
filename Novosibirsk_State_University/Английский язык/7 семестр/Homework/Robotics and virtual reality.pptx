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D5A37-BE02-43DE-AB92-6EB2FFEF9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6A7B31-54C9-47BD-A139-D48BBD25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E3C8D5-73AB-49DE-A5D9-AA54D758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E8D7AD-4D6E-469C-A6E6-567E914B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62AFAD-B04B-47B1-80F1-B9E1D8DE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29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CE17A-5F9B-4DC6-BA4F-ACB4C358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8AC03-9B28-479E-82E7-E2CC650D1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6DEEB-2573-4F76-A9CE-EAD44D5B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1D1348-703A-445E-82AC-CDCB3678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24EFB-531A-4D26-9125-EFD3F967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43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8D0A-AF2F-4F32-9F82-A979F396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CD0307-6F25-448C-B7BF-0B163ECE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F8261E-175A-44D7-A44A-0433F01C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2EFB0-13B9-4566-949A-C4CB841B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9F9C9-BB87-4F74-B22A-C98A61C2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53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E6211-1A4C-4AF1-9A9F-C829D72F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BBB34-203C-4029-8627-DDF814E12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0F9525-88FE-4201-8C6D-335ECE9F7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A27478-5F05-44F3-BE06-8E860CAF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7D2DDD-12C0-4883-9203-D4E4730D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0DF3AE-51ED-4379-9E0C-188F07EB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65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E5960-890F-4586-BC0E-4E450F7E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3A9CFB-0758-4A0C-93B7-7E10C0A5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D2A663-70C2-41A3-82F2-762E65618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B7560B-3B45-48A8-85F3-64B6C2672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96E26B-3FA4-4214-A7D4-A07C810AE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27F7B1-D819-4862-93A3-3AC271D1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17EEFB-A9CC-4939-9321-12C96EAF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D606A45-7B91-4D70-9F61-4D61DDB0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46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086FE-54AD-4847-AE8A-56E265CD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E8B9D6-2DD7-4998-AE9A-DFF9B71F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AA87E8-8BF4-445F-9865-CE6889C2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9C9D42-E891-4F13-9293-9D133DC2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9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1DA5BA-918E-4F3B-9D83-E5B94E71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E269796-1F61-4A6E-A61C-54DFC5C0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8FB112-E143-4B80-A85F-44F46BE2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63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0DD31-4557-44F1-B642-8553F026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FA2CCE-E3D4-4378-94C7-16F654074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647E07-14DB-4303-AE6A-C0172A784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034384-C448-4E9F-968F-D9B4BB85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53C7FF-17D6-4D09-AA49-F05A1F9F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ECD795-D058-4184-AF96-DA7EA0E6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11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056B7-79A2-45C3-A1F7-5428713F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4327BB-A75B-46A1-BBFB-47797D5E5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81DCA5-7861-4D18-9CF3-4825017A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F5B38D-89F2-4E6B-AA9A-32FD273F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8B9FE0-B925-4EE3-9D40-1E1A4972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2595DB-1FE9-4551-9206-ADC7A60B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35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AC69B-593D-4EE4-A3B6-983891C2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31390E-249C-48D7-B39F-08A4BBFC1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7B77E4-001A-4E39-A6C1-A68346FC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B7DB11-D756-4661-882A-162D9778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B60A54-F08D-49F9-A228-C5060AE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4E0263-5F6F-46E5-A4EE-0913DA39CB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58639BA-B9CB-4768-9F84-A02E176A2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A573B-4E63-47D6-BB56-58CB52E9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1F292E-EDD8-49A7-9FD6-A74A28FE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47CE88-B920-446A-95F7-558963A6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21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F10BF-C23C-4B62-B1A0-1659C8A5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7BCF5E-9FEA-417B-8FFF-638BAC43D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604D7-6677-4824-A6FA-91C972498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02C4F-18F2-4AAB-9522-BBAA9FEC0C01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AA0585-670E-4524-8B34-FA203564E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657B07-65D6-40DB-ADC8-A1AF94F66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D8C05-116E-4396-95CA-EA6E1B167D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48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Цифровой матрица живые обои - Загрузить APK для Android | Aptoide">
            <a:extLst>
              <a:ext uri="{FF2B5EF4-FFF2-40B4-BE49-F238E27FC236}">
                <a16:creationId xmlns:a16="http://schemas.microsoft.com/office/drawing/2014/main" id="{34134FCF-5CB1-455F-B5DD-923486D88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/>
          <a:stretch/>
        </p:blipFill>
        <p:spPr bwMode="auto">
          <a:xfrm>
            <a:off x="0" y="1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Цифровой матрица живые обои - Загрузить APK для Android | Aptoide">
            <a:extLst>
              <a:ext uri="{FF2B5EF4-FFF2-40B4-BE49-F238E27FC236}">
                <a16:creationId xmlns:a16="http://schemas.microsoft.com/office/drawing/2014/main" id="{4B3D1791-6227-4B0C-998F-C8ED706D98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4"/>
          <a:stretch/>
        </p:blipFill>
        <p:spPr bwMode="auto">
          <a:xfrm>
            <a:off x="6096000" y="0"/>
            <a:ext cx="6096000" cy="684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13C29E0-71F5-4DA5-9922-314FCE7C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5322"/>
          </a:xfrm>
        </p:spPr>
        <p:txBody>
          <a:bodyPr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highlight>
                  <a:srgbClr val="000000"/>
                </a:highlight>
              </a:rPr>
              <a:t>Innovations: Robotics and Virtual Reality</a:t>
            </a:r>
            <a:endParaRPr lang="ru-RU" sz="66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3929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05866-E191-4AEB-86C1-D21A9B0F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Contents of the presentation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D76F1-4DFF-4C0C-91A4-259B2FA83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Robotics: parts, types, and applications</a:t>
            </a:r>
          </a:p>
          <a:p>
            <a:pPr>
              <a:lnSpc>
                <a:spcPct val="300000"/>
              </a:lnSpc>
            </a:pPr>
            <a:r>
              <a:rPr lang="en-US" dirty="0"/>
              <a:t>Virtual Reality: equipment and applications</a:t>
            </a:r>
          </a:p>
          <a:p>
            <a:pPr>
              <a:lnSpc>
                <a:spcPct val="300000"/>
              </a:lnSpc>
            </a:pPr>
            <a:r>
              <a:rPr lang="en-US" dirty="0"/>
              <a:t>Conclusion</a:t>
            </a:r>
            <a:r>
              <a:rPr lang="ru-RU" dirty="0"/>
              <a:t>: </a:t>
            </a:r>
            <a:r>
              <a:rPr lang="en-US" dirty="0"/>
              <a:t>impact on jobs, risks and opportunities</a:t>
            </a:r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777041-DA88-4085-950C-C130E10F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695" y="2868706"/>
            <a:ext cx="2666667" cy="18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C4A7E4-FB40-4A0A-8ABF-5951C96CF878}"/>
              </a:ext>
            </a:extLst>
          </p:cNvPr>
          <p:cNvSpPr txBox="1"/>
          <p:nvPr/>
        </p:nvSpPr>
        <p:spPr>
          <a:xfrm>
            <a:off x="8940463" y="4668706"/>
            <a:ext cx="272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Which pill will you choose?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47199-98B6-4BDA-B558-D4314CEA28CA}"/>
              </a:ext>
            </a:extLst>
          </p:cNvPr>
          <p:cNvSpPr txBox="1"/>
          <p:nvPr/>
        </p:nvSpPr>
        <p:spPr>
          <a:xfrm>
            <a:off x="8967695" y="2684040"/>
            <a:ext cx="98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Robotics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65047-B575-48AD-86A7-2D8C1187A938}"/>
              </a:ext>
            </a:extLst>
          </p:cNvPr>
          <p:cNvSpPr txBox="1"/>
          <p:nvPr/>
        </p:nvSpPr>
        <p:spPr>
          <a:xfrm>
            <a:off x="10818146" y="26840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VR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0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EC79B-8DB3-4ACE-B67C-472865F4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Robotics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1A1885-42AD-4F5F-9998-78168C81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Types and parts of robots</a:t>
            </a:r>
            <a:r>
              <a:rPr lang="ru-RU" sz="3600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Manipulators (hands)</a:t>
            </a:r>
          </a:p>
          <a:p>
            <a:pPr>
              <a:lnSpc>
                <a:spcPct val="200000"/>
              </a:lnSpc>
            </a:pPr>
            <a:r>
              <a:rPr lang="en-US" dirty="0"/>
              <a:t>Sensors (sense organs)</a:t>
            </a:r>
          </a:p>
          <a:p>
            <a:pPr>
              <a:lnSpc>
                <a:spcPct val="200000"/>
              </a:lnSpc>
            </a:pPr>
            <a:r>
              <a:rPr lang="en-US" dirty="0"/>
              <a:t>Controller (brain)</a:t>
            </a:r>
          </a:p>
          <a:p>
            <a:pPr>
              <a:lnSpc>
                <a:spcPct val="200000"/>
              </a:lnSpc>
            </a:pPr>
            <a:r>
              <a:rPr lang="en-US" dirty="0"/>
              <a:t>Drives (muscles)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C52FE6C-7782-47DE-AFE9-5E0FAACDBAF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Where are they used</a:t>
            </a:r>
            <a:r>
              <a:rPr lang="ru-RU" sz="3600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Industry</a:t>
            </a:r>
          </a:p>
          <a:p>
            <a:pPr>
              <a:lnSpc>
                <a:spcPct val="200000"/>
              </a:lnSpc>
            </a:pPr>
            <a:r>
              <a:rPr lang="en-US" dirty="0"/>
              <a:t>Medicine</a:t>
            </a:r>
            <a:endParaRPr lang="ru-RU" dirty="0"/>
          </a:p>
          <a:p>
            <a:pPr>
              <a:lnSpc>
                <a:spcPct val="200000"/>
              </a:lnSpc>
            </a:pPr>
            <a:r>
              <a:rPr lang="en-US" dirty="0"/>
              <a:t>Logistics</a:t>
            </a:r>
            <a:endParaRPr lang="ru-RU" dirty="0"/>
          </a:p>
          <a:p>
            <a:pPr>
              <a:lnSpc>
                <a:spcPct val="200000"/>
              </a:lnSpc>
            </a:pPr>
            <a:r>
              <a:rPr lang="en-US" dirty="0"/>
              <a:t>Life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38C264-312B-4FAF-ADEB-B51E643A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918" y="2157758"/>
            <a:ext cx="1620000" cy="1800000"/>
          </a:xfrm>
          <a:prstGeom prst="rect">
            <a:avLst/>
          </a:prstGeom>
        </p:spPr>
      </p:pic>
      <p:pic>
        <p:nvPicPr>
          <p:cNvPr id="1027" name="Picture 3" descr="Робот Deep Robotics X30 Basic">
            <a:extLst>
              <a:ext uri="{FF2B5EF4-FFF2-40B4-BE49-F238E27FC236}">
                <a16:creationId xmlns:a16="http://schemas.microsoft.com/office/drawing/2014/main" id="{4B6A6AA5-FE1B-4277-AC29-4443D581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226" y="-41843"/>
            <a:ext cx="192208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Роботы DEEP Robotics – купить | Цены в интернет-магазине VR оборудования и  аксессуаров Portal Shop">
            <a:extLst>
              <a:ext uri="{FF2B5EF4-FFF2-40B4-BE49-F238E27FC236}">
                <a16:creationId xmlns:a16="http://schemas.microsoft.com/office/drawing/2014/main" id="{6DEACFEA-5BE8-49FC-82C5-45F5B622E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347" y="4587688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Frosted glass robotic arm showcasing advanced design and technology in a  lab setting 52786403 PNG">
            <a:extLst>
              <a:ext uri="{FF2B5EF4-FFF2-40B4-BE49-F238E27FC236}">
                <a16:creationId xmlns:a16="http://schemas.microsoft.com/office/drawing/2014/main" id="{1E45E36E-ECED-4E8D-9A8B-F02EAAB2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918" y="127906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Industrial robotic arm with precision tool for automation tasks 58679906 PNG">
            <a:extLst>
              <a:ext uri="{FF2B5EF4-FFF2-40B4-BE49-F238E27FC236}">
                <a16:creationId xmlns:a16="http://schemas.microsoft.com/office/drawing/2014/main" id="{6F1B1CC1-7FE3-4063-A164-1BD0FA4B5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542" y="272022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Robotic arm with precision grip, used in industrial automation and  manufacturing 58679785 PNG">
            <a:extLst>
              <a:ext uri="{FF2B5EF4-FFF2-40B4-BE49-F238E27FC236}">
                <a16:creationId xmlns:a16="http://schemas.microsoft.com/office/drawing/2014/main" id="{C82B0C94-FEB2-4407-9CD2-A2DC2098C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08" y="25625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Робот-пылесос Smartmi VortexWave Robot Vacuum Cleaner">
            <a:extLst>
              <a:ext uri="{FF2B5EF4-FFF2-40B4-BE49-F238E27FC236}">
                <a16:creationId xmlns:a16="http://schemas.microsoft.com/office/drawing/2014/main" id="{69DC9960-5F07-4631-99CA-247D0EC86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106" y="4808725"/>
            <a:ext cx="195150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Shark RV851WV ION Robot Vacuum Cleaning System S87 with Wi-Fi - Bed Bath &amp;  Beyond - 23000390">
            <a:extLst>
              <a:ext uri="{FF2B5EF4-FFF2-40B4-BE49-F238E27FC236}">
                <a16:creationId xmlns:a16="http://schemas.microsoft.com/office/drawing/2014/main" id="{55E27899-2A50-4086-8B28-266AD9090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796" y="4587688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Robot Vacuum Cleaner VRR60314 | Beko UK">
            <a:extLst>
              <a:ext uri="{FF2B5EF4-FFF2-40B4-BE49-F238E27FC236}">
                <a16:creationId xmlns:a16="http://schemas.microsoft.com/office/drawing/2014/main" id="{DE4CF0C7-8025-41C6-9D7E-EBC2603C6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12" y="29921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53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EC79B-8DB3-4ACE-B67C-472865F4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Virtual Reality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1A1885-42AD-4F5F-9998-78168C81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Types of equipment</a:t>
            </a:r>
            <a:r>
              <a:rPr lang="ru-RU" sz="3600" dirty="0"/>
              <a:t>:</a:t>
            </a:r>
          </a:p>
          <a:p>
            <a:pPr>
              <a:lnSpc>
                <a:spcPct val="250000"/>
              </a:lnSpc>
            </a:pPr>
            <a:r>
              <a:rPr lang="en-US" dirty="0"/>
              <a:t>VR helmet</a:t>
            </a:r>
          </a:p>
          <a:p>
            <a:pPr>
              <a:lnSpc>
                <a:spcPct val="250000"/>
              </a:lnSpc>
            </a:pPr>
            <a:r>
              <a:rPr lang="en-US" dirty="0"/>
              <a:t>Joysticks and VR gloves</a:t>
            </a:r>
            <a:endParaRPr lang="ru-RU" dirty="0"/>
          </a:p>
          <a:p>
            <a:pPr>
              <a:lnSpc>
                <a:spcPct val="250000"/>
              </a:lnSpc>
            </a:pPr>
            <a:r>
              <a:rPr lang="en-US" dirty="0"/>
              <a:t>PC and consoles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C52FE6C-7782-47DE-AFE9-5E0FAACDBAF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Areas of use</a:t>
            </a:r>
            <a:r>
              <a:rPr lang="ru-RU" sz="3600" dirty="0"/>
              <a:t>:</a:t>
            </a:r>
          </a:p>
          <a:p>
            <a:pPr>
              <a:lnSpc>
                <a:spcPct val="250000"/>
              </a:lnSpc>
            </a:pPr>
            <a:r>
              <a:rPr lang="en-US" dirty="0"/>
              <a:t>Education</a:t>
            </a:r>
          </a:p>
          <a:p>
            <a:pPr>
              <a:lnSpc>
                <a:spcPct val="250000"/>
              </a:lnSpc>
            </a:pPr>
            <a:r>
              <a:rPr lang="en-US" dirty="0"/>
              <a:t>Design and architecture</a:t>
            </a:r>
            <a:endParaRPr lang="ru-RU" dirty="0"/>
          </a:p>
          <a:p>
            <a:pPr>
              <a:lnSpc>
                <a:spcPct val="250000"/>
              </a:lnSpc>
            </a:pPr>
            <a:r>
              <a:rPr lang="en-US" dirty="0"/>
              <a:t>Travel and entertainment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221BD7-C244-4843-89AF-B631BB94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41" y="1996095"/>
            <a:ext cx="2309391" cy="180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20D353-1335-4BEF-BBDA-F06340E6E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00" y="59718"/>
            <a:ext cx="2700000" cy="180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8A1600-6359-4AE8-AF1D-2014BBAB6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276" y="4915179"/>
            <a:ext cx="1634548" cy="18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839886-962E-4D5A-B73B-944D9F68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335" y="4511900"/>
            <a:ext cx="1800000" cy="180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FC4D99-86AD-4127-8725-0E0BE59B3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4276" y="2201294"/>
            <a:ext cx="1800000" cy="180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299C7D-A5E2-41E2-890A-2B136F224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806" y="387723"/>
            <a:ext cx="308134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5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44CDE-DB3E-4C7E-B87E-B06B3B98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325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Impact on our lives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2050" name="Picture 2" descr="VR для HR: как VR технологии помогают в работе | Статьи | Portal Shop">
            <a:extLst>
              <a:ext uri="{FF2B5EF4-FFF2-40B4-BE49-F238E27FC236}">
                <a16:creationId xmlns:a16="http://schemas.microsoft.com/office/drawing/2014/main" id="{C01C26CB-9C82-49D9-B6A3-9276E2CC27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5"/>
          <a:stretch/>
        </p:blipFill>
        <p:spPr bwMode="auto">
          <a:xfrm>
            <a:off x="0" y="-2239"/>
            <a:ext cx="3572472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пособы применения VR/AR-технологий в медицине | &quot;Виртуальные Очки&quot;">
            <a:extLst>
              <a:ext uri="{FF2B5EF4-FFF2-40B4-BE49-F238E27FC236}">
                <a16:creationId xmlns:a16="http://schemas.microsoft.com/office/drawing/2014/main" id="{52206D84-085F-4769-9185-13D10D5865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1"/>
          <a:stretch/>
        </p:blipFill>
        <p:spPr bwMode="auto">
          <a:xfrm>
            <a:off x="7776919" y="0"/>
            <a:ext cx="4415081" cy="305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E42C71-6AA0-44DC-A360-5BC1935A4C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61" r="10762"/>
          <a:stretch/>
        </p:blipFill>
        <p:spPr>
          <a:xfrm>
            <a:off x="4041017" y="3812241"/>
            <a:ext cx="3572472" cy="3045759"/>
          </a:xfrm>
          <a:prstGeom prst="rect">
            <a:avLst/>
          </a:prstGeom>
        </p:spPr>
      </p:pic>
      <p:pic>
        <p:nvPicPr>
          <p:cNvPr id="2054" name="Picture 6" descr="Как технологии создают новые реальности / Хабр">
            <a:extLst>
              <a:ext uri="{FF2B5EF4-FFF2-40B4-BE49-F238E27FC236}">
                <a16:creationId xmlns:a16="http://schemas.microsoft.com/office/drawing/2014/main" id="{4C248AA1-1DAA-4C01-96EE-2F8372469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6" r="4146"/>
          <a:stretch/>
        </p:blipFill>
        <p:spPr bwMode="auto">
          <a:xfrm>
            <a:off x="3572472" y="-2239"/>
            <a:ext cx="4204447" cy="304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hy VR Gaming Zones are the Perfect Destination for Fun? | The Game Palacio">
            <a:extLst>
              <a:ext uri="{FF2B5EF4-FFF2-40B4-BE49-F238E27FC236}">
                <a16:creationId xmlns:a16="http://schemas.microsoft.com/office/drawing/2014/main" id="{714336DF-D5CE-4995-ABEA-4CD6B67F6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489" y="3810001"/>
            <a:ext cx="4578511" cy="304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rtual reality headset and games hot sale">
            <a:extLst>
              <a:ext uri="{FF2B5EF4-FFF2-40B4-BE49-F238E27FC236}">
                <a16:creationId xmlns:a16="http://schemas.microsoft.com/office/drawing/2014/main" id="{0CE6D984-A12F-408C-AA76-3258A7865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79"/>
          <a:stretch/>
        </p:blipFill>
        <p:spPr bwMode="auto">
          <a:xfrm>
            <a:off x="0" y="3805521"/>
            <a:ext cx="4041017" cy="30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15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Цифровой матрица живые обои - Загрузить APK для Android | Aptoide">
            <a:extLst>
              <a:ext uri="{FF2B5EF4-FFF2-40B4-BE49-F238E27FC236}">
                <a16:creationId xmlns:a16="http://schemas.microsoft.com/office/drawing/2014/main" id="{9073F53B-678E-4124-AC35-677660200B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/>
          <a:stretch/>
        </p:blipFill>
        <p:spPr bwMode="auto">
          <a:xfrm>
            <a:off x="0" y="1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Цифровой матрица живые обои - Загрузить APK для Android | Aptoide">
            <a:extLst>
              <a:ext uri="{FF2B5EF4-FFF2-40B4-BE49-F238E27FC236}">
                <a16:creationId xmlns:a16="http://schemas.microsoft.com/office/drawing/2014/main" id="{C6C5E211-B0DE-4007-B075-9B4CA02CB5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4"/>
          <a:stretch/>
        </p:blipFill>
        <p:spPr bwMode="auto">
          <a:xfrm>
            <a:off x="6096000" y="0"/>
            <a:ext cx="6096000" cy="684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4D734C-C58F-4F40-BD9F-B5CE70A5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2569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</a:rPr>
              <a:t>Thank you for your attention</a:t>
            </a:r>
            <a:endParaRPr lang="ru-RU" sz="72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0383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109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Innovations: Robotics and Virtual Reality</vt:lpstr>
      <vt:lpstr>Contents of the presentation</vt:lpstr>
      <vt:lpstr>Robotics</vt:lpstr>
      <vt:lpstr>Virtual Reality</vt:lpstr>
      <vt:lpstr>Impact on our lives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Innovations: Robotics and Virtual Reality</dc:title>
  <dc:creator>Bogdan Klimov</dc:creator>
  <cp:lastModifiedBy>Bogdan Klimov</cp:lastModifiedBy>
  <cp:revision>15</cp:revision>
  <dcterms:created xsi:type="dcterms:W3CDTF">2025-10-23T17:53:36Z</dcterms:created>
  <dcterms:modified xsi:type="dcterms:W3CDTF">2025-10-23T19:04:17Z</dcterms:modified>
</cp:coreProperties>
</file>