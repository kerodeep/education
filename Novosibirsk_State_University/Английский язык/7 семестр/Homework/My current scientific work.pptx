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274" r:id="rId3"/>
    <p:sldId id="257" r:id="rId4"/>
    <p:sldId id="259" r:id="rId5"/>
    <p:sldId id="260" r:id="rId6"/>
    <p:sldId id="266" r:id="rId7"/>
    <p:sldId id="268" r:id="rId8"/>
    <p:sldId id="270" r:id="rId9"/>
    <p:sldId id="271" r:id="rId10"/>
    <p:sldId id="265" r:id="rId11"/>
    <p:sldId id="258" r:id="rId12"/>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gdan Klimov" initials="BK" lastIdx="1" clrIdx="0">
    <p:extLst>
      <p:ext uri="{19B8F6BF-5375-455C-9EA6-DF929625EA0E}">
        <p15:presenceInfo xmlns:p15="http://schemas.microsoft.com/office/powerpoint/2012/main" userId="f37532ac853aedf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Средний стиль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Средний стиль 2 — акцент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0DE38DD-B485-45BD-AF6B-246E9A8CD055}"/>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CD167421-9F64-45AA-8C55-07A96EB9B0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6FE1E794-82D3-471C-AC9B-3B17A5CCFEE6}"/>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5" name="Нижний колонтитул 4">
            <a:extLst>
              <a:ext uri="{FF2B5EF4-FFF2-40B4-BE49-F238E27FC236}">
                <a16:creationId xmlns:a16="http://schemas.microsoft.com/office/drawing/2014/main" id="{47E12BF7-A961-44FB-B9D3-D7EF8554DADA}"/>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59843FFC-C68B-47A1-8296-154DB3F428A3}"/>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841096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9107AFC-401A-4A4A-8221-5A00CB34956C}"/>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03318472-A46A-44F1-82C1-31C4BF74DAD9}"/>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A2766AFD-F623-46EF-98A4-5A9CFDD1B6A2}"/>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5" name="Нижний колонтитул 4">
            <a:extLst>
              <a:ext uri="{FF2B5EF4-FFF2-40B4-BE49-F238E27FC236}">
                <a16:creationId xmlns:a16="http://schemas.microsoft.com/office/drawing/2014/main" id="{F019AD00-8B3E-4B6F-BB4F-3174FE44D556}"/>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8121E5B9-35E2-4F96-97D8-604BD9E48791}"/>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152409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FD5BC43-6DF5-4C5D-A24E-EF639743E1E2}"/>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D8D774D7-C471-4BBE-90FA-855CF73584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BBCEDB28-0D5F-4BCF-BE20-5EEB327C845B}"/>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5" name="Нижний колонтитул 4">
            <a:extLst>
              <a:ext uri="{FF2B5EF4-FFF2-40B4-BE49-F238E27FC236}">
                <a16:creationId xmlns:a16="http://schemas.microsoft.com/office/drawing/2014/main" id="{D4F70DDC-AB2F-4866-85C9-D5620F3FA431}"/>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FC24C878-14F7-4529-8B25-8C2EA019888F}"/>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6391727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F81399-F7A5-40DB-A294-92531CBD074B}"/>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D89E02C6-88F1-4BE7-BF06-A8D83300831F}"/>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FA07C207-8664-4379-9EF3-A0A3931D4C70}"/>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A04CD243-837C-49D8-BEE1-91ACC672BA39}"/>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6" name="Нижний колонтитул 5">
            <a:extLst>
              <a:ext uri="{FF2B5EF4-FFF2-40B4-BE49-F238E27FC236}">
                <a16:creationId xmlns:a16="http://schemas.microsoft.com/office/drawing/2014/main" id="{2E419B6C-A51C-4429-95FC-3008D4FC5FC0}"/>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96789D59-1875-4ABA-A7A7-BAAF682F00D4}"/>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23874849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666D48-841C-4778-906E-64596CC00328}"/>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43A0A8E8-0420-43E7-A96A-47D647316C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E0C9AF56-3587-4EA5-B695-5E86E35A6E44}"/>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137CF366-3AC5-450C-AE6E-7ADB032B07C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0F42913D-480C-4A44-9256-ABAC9C69A7C1}"/>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7676AFBE-44D2-41D2-9537-60F8BBA81B11}"/>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8" name="Нижний колонтитул 7">
            <a:extLst>
              <a:ext uri="{FF2B5EF4-FFF2-40B4-BE49-F238E27FC236}">
                <a16:creationId xmlns:a16="http://schemas.microsoft.com/office/drawing/2014/main" id="{AAA6592E-F9C4-46A2-9F22-84DDD6F21D38}"/>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1E1ABB0B-5C75-4F8C-AC3B-A5A1547C42FD}"/>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2836742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A9DFEC-2AC6-4692-8BE2-B2AFC42581F2}"/>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8F09579B-BEC3-453C-B346-E67D49D172CE}"/>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4" name="Нижний колонтитул 3">
            <a:extLst>
              <a:ext uri="{FF2B5EF4-FFF2-40B4-BE49-F238E27FC236}">
                <a16:creationId xmlns:a16="http://schemas.microsoft.com/office/drawing/2014/main" id="{22E92755-A2AA-464F-B6C2-0D111F14E606}"/>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12FC87BA-2D11-4516-9F11-4C0431DAE8E5}"/>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802334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B232417D-4FA2-4894-A1F7-E88D99F055FE}"/>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3" name="Нижний колонтитул 2">
            <a:extLst>
              <a:ext uri="{FF2B5EF4-FFF2-40B4-BE49-F238E27FC236}">
                <a16:creationId xmlns:a16="http://schemas.microsoft.com/office/drawing/2014/main" id="{92E8C622-28A2-4BED-A697-0DFC0D2CD499}"/>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52F37DEE-7DAC-451E-9B0C-DAE304245A4E}"/>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185008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F394974-6247-4DB9-90BD-B89342DD5467}"/>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C47BC104-AD9B-4CF2-9296-AF3889DB202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AA4EB78F-E2DC-4488-A98D-E31E1DB3F5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210B1F81-C3EC-459A-8113-8B22D409675D}"/>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6" name="Нижний колонтитул 5">
            <a:extLst>
              <a:ext uri="{FF2B5EF4-FFF2-40B4-BE49-F238E27FC236}">
                <a16:creationId xmlns:a16="http://schemas.microsoft.com/office/drawing/2014/main" id="{BF45122B-4DE1-45AA-AE72-7D7D84C22CDC}"/>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9F4B014D-EA55-42F9-A940-E5B2D98A0AA8}"/>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7998238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D587A11-492C-40E0-B45B-383EBDEB53C7}"/>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7755B36E-E810-488D-B035-A1D652BEFE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88407065-BB5B-4F4A-A2A2-1A944BF09F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9AB5FC58-FE33-4FD6-8354-B2892222CED7}"/>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6" name="Нижний колонтитул 5">
            <a:extLst>
              <a:ext uri="{FF2B5EF4-FFF2-40B4-BE49-F238E27FC236}">
                <a16:creationId xmlns:a16="http://schemas.microsoft.com/office/drawing/2014/main" id="{A2994B10-D2D3-46B9-969E-672CE0B15AA1}"/>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7CA6B2BC-F0DA-4FE6-9C82-7EF74C8E845B}"/>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376796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F111489-965D-4D38-BACB-F21669E35A06}"/>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E8C8DD04-4E29-49DF-BB9A-478E90F1CCD4}"/>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BF598401-5981-4DF8-BE47-A32D16B36AE9}"/>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5" name="Нижний колонтитул 4">
            <a:extLst>
              <a:ext uri="{FF2B5EF4-FFF2-40B4-BE49-F238E27FC236}">
                <a16:creationId xmlns:a16="http://schemas.microsoft.com/office/drawing/2014/main" id="{E2798CEA-4BA9-4177-9079-DED39AEDB7A5}"/>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557268CB-1D5D-4CF8-AA80-A14F22B96A26}"/>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2732216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2E16E5E7-A4F2-4A1B-B4F9-AC20F555291C}"/>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7C447BDE-2EB5-426D-B8D1-E726EEC8E1A6}"/>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EC2647C0-57BC-478A-88F1-459C092DF692}"/>
              </a:ext>
            </a:extLst>
          </p:cNvPr>
          <p:cNvSpPr>
            <a:spLocks noGrp="1"/>
          </p:cNvSpPr>
          <p:nvPr>
            <p:ph type="dt" sz="half" idx="10"/>
          </p:nvPr>
        </p:nvSpPr>
        <p:spPr/>
        <p:txBody>
          <a:bodyPr/>
          <a:lstStyle/>
          <a:p>
            <a:fld id="{0EA0B553-31EF-4B1D-9EAB-410AD6CA89D0}" type="datetimeFigureOut">
              <a:rPr lang="ru-RU" smtClean="0"/>
              <a:t>19.12.2025</a:t>
            </a:fld>
            <a:endParaRPr lang="ru-RU"/>
          </a:p>
        </p:txBody>
      </p:sp>
      <p:sp>
        <p:nvSpPr>
          <p:cNvPr id="5" name="Нижний колонтитул 4">
            <a:extLst>
              <a:ext uri="{FF2B5EF4-FFF2-40B4-BE49-F238E27FC236}">
                <a16:creationId xmlns:a16="http://schemas.microsoft.com/office/drawing/2014/main" id="{EBD5A7C8-9514-46D5-A5B8-BDFA88F0B1CD}"/>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219E341C-FCBC-44D6-BD75-3C87199E1712}"/>
              </a:ext>
            </a:extLst>
          </p:cNvPr>
          <p:cNvSpPr>
            <a:spLocks noGrp="1"/>
          </p:cNvSpPr>
          <p:nvPr>
            <p:ph type="sldNum" sz="quarter" idx="12"/>
          </p:nvPr>
        </p:nvSpPr>
        <p:spPr/>
        <p:txBody>
          <a:bodyPr/>
          <a:lstStyle/>
          <a:p>
            <a:fld id="{76FEA683-26E4-4C1E-8F89-2E8F03744260}" type="slidenum">
              <a:rPr lang="ru-RU" smtClean="0"/>
              <a:t>‹#›</a:t>
            </a:fld>
            <a:endParaRPr lang="ru-RU"/>
          </a:p>
        </p:txBody>
      </p:sp>
    </p:spTree>
    <p:extLst>
      <p:ext uri="{BB962C8B-B14F-4D97-AF65-F5344CB8AC3E}">
        <p14:creationId xmlns:p14="http://schemas.microsoft.com/office/powerpoint/2010/main" val="3796373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0A0EE9F-DB49-496F-85E1-8D475E707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9F971459-0701-4F30-B8C9-22EE571ABB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4DD10163-FA5C-4AFC-94E4-3BD6BA709E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A0B553-31EF-4B1D-9EAB-410AD6CA89D0}" type="datetimeFigureOut">
              <a:rPr lang="ru-RU" smtClean="0"/>
              <a:t>19.12.2025</a:t>
            </a:fld>
            <a:endParaRPr lang="ru-RU"/>
          </a:p>
        </p:txBody>
      </p:sp>
      <p:sp>
        <p:nvSpPr>
          <p:cNvPr id="5" name="Нижний колонтитул 4">
            <a:extLst>
              <a:ext uri="{FF2B5EF4-FFF2-40B4-BE49-F238E27FC236}">
                <a16:creationId xmlns:a16="http://schemas.microsoft.com/office/drawing/2014/main" id="{F20F9B26-2864-4043-BE8C-C055582BBC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41ACAA84-8D25-4FE2-A9C2-B0A371C822E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FEA683-26E4-4C1E-8F89-2E8F03744260}" type="slidenum">
              <a:rPr lang="ru-RU" smtClean="0"/>
              <a:t>‹#›</a:t>
            </a:fld>
            <a:endParaRPr lang="ru-RU"/>
          </a:p>
        </p:txBody>
      </p:sp>
    </p:spTree>
    <p:extLst>
      <p:ext uri="{BB962C8B-B14F-4D97-AF65-F5344CB8AC3E}">
        <p14:creationId xmlns:p14="http://schemas.microsoft.com/office/powerpoint/2010/main" val="29115990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009E791-085C-4CDA-8F96-C54D1FA07C63}"/>
              </a:ext>
            </a:extLst>
          </p:cNvPr>
          <p:cNvSpPr>
            <a:spLocks noGrp="1"/>
          </p:cNvSpPr>
          <p:nvPr>
            <p:ph type="ctrTitle"/>
          </p:nvPr>
        </p:nvSpPr>
        <p:spPr>
          <a:xfrm>
            <a:off x="1524000" y="215153"/>
            <a:ext cx="9144000" cy="5755342"/>
          </a:xfrm>
        </p:spPr>
        <p:txBody>
          <a:bodyPr anchor="ctr">
            <a:normAutofit/>
          </a:bodyPr>
          <a:lstStyle/>
          <a:p>
            <a:r>
              <a:rPr lang="en-US" dirty="0">
                <a:latin typeface="Times New Roman" panose="02020603050405020304" pitchFamily="18" charset="0"/>
                <a:cs typeface="Times New Roman" panose="02020603050405020304" pitchFamily="18" charset="0"/>
              </a:rPr>
              <a:t>Software development for automated experiments on singlet oxygen generation mechanisms</a:t>
            </a:r>
            <a:endParaRPr lang="ru-RU" dirty="0">
              <a:latin typeface="Times New Roman" panose="02020603050405020304" pitchFamily="18" charset="0"/>
              <a:cs typeface="Times New Roman" panose="02020603050405020304" pitchFamily="18" charset="0"/>
            </a:endParaRPr>
          </a:p>
        </p:txBody>
      </p:sp>
      <p:sp>
        <p:nvSpPr>
          <p:cNvPr id="3" name="Подзаголовок 2">
            <a:extLst>
              <a:ext uri="{FF2B5EF4-FFF2-40B4-BE49-F238E27FC236}">
                <a16:creationId xmlns:a16="http://schemas.microsoft.com/office/drawing/2014/main" id="{6F8345CE-A702-49C0-BBBD-34AF53801BCF}"/>
              </a:ext>
            </a:extLst>
          </p:cNvPr>
          <p:cNvSpPr>
            <a:spLocks noGrp="1"/>
          </p:cNvSpPr>
          <p:nvPr>
            <p:ph type="subTitle" idx="1"/>
          </p:nvPr>
        </p:nvSpPr>
        <p:spPr>
          <a:xfrm>
            <a:off x="5396753" y="5970495"/>
            <a:ext cx="6795247" cy="887504"/>
          </a:xfrm>
        </p:spPr>
        <p:txBody>
          <a:bodyPr>
            <a:normAutofit/>
          </a:bodyPr>
          <a:lstStyle/>
          <a:p>
            <a:pPr algn="l">
              <a:spcBef>
                <a:spcPts val="0"/>
              </a:spcBef>
            </a:pPr>
            <a:r>
              <a:rPr lang="en-US" sz="1800" b="1" dirty="0">
                <a:latin typeface="Times New Roman" panose="02020603050405020304" pitchFamily="18" charset="0"/>
                <a:cs typeface="Times New Roman" panose="02020603050405020304" pitchFamily="18" charset="0"/>
              </a:rPr>
              <a:t>Student:</a:t>
            </a:r>
            <a:r>
              <a:rPr lang="en-US" sz="1800" dirty="0">
                <a:latin typeface="Times New Roman" panose="02020603050405020304" pitchFamily="18" charset="0"/>
                <a:cs typeface="Times New Roman" panose="02020603050405020304" pitchFamily="18" charset="0"/>
              </a:rPr>
              <a:t> Bogdan Klimov, group 22357</a:t>
            </a:r>
          </a:p>
          <a:p>
            <a:pPr algn="l">
              <a:spcBef>
                <a:spcPts val="0"/>
              </a:spcBef>
            </a:pPr>
            <a:r>
              <a:rPr lang="en-US" sz="1800" b="1" dirty="0">
                <a:latin typeface="Times New Roman" panose="02020603050405020304" pitchFamily="18" charset="0"/>
                <a:cs typeface="Times New Roman" panose="02020603050405020304" pitchFamily="18" charset="0"/>
              </a:rPr>
              <a:t>Supervisor:</a:t>
            </a:r>
            <a:r>
              <a:rPr lang="en-US" sz="1800" dirty="0">
                <a:latin typeface="Times New Roman" panose="02020603050405020304" pitchFamily="18" charset="0"/>
                <a:cs typeface="Times New Roman" panose="02020603050405020304" pitchFamily="18" charset="0"/>
              </a:rPr>
              <a:t> Kirill </a:t>
            </a:r>
            <a:r>
              <a:rPr lang="en-US" sz="1800" dirty="0" err="1">
                <a:latin typeface="Times New Roman" panose="02020603050405020304" pitchFamily="18" charset="0"/>
                <a:cs typeface="Times New Roman" panose="02020603050405020304" pitchFamily="18" charset="0"/>
              </a:rPr>
              <a:t>Yershov</a:t>
            </a:r>
            <a:r>
              <a:rPr lang="en-US" sz="1800" dirty="0">
                <a:latin typeface="Times New Roman" panose="02020603050405020304" pitchFamily="18" charset="0"/>
                <a:cs typeface="Times New Roman" panose="02020603050405020304" pitchFamily="18" charset="0"/>
              </a:rPr>
              <a:t>, PhD (Physics and Mathematics)</a:t>
            </a:r>
          </a:p>
          <a:p>
            <a:pPr algn="l">
              <a:spcBef>
                <a:spcPts val="0"/>
              </a:spcBef>
            </a:pPr>
            <a:r>
              <a:rPr lang="en-US" sz="1800" b="1" dirty="0">
                <a:latin typeface="Times New Roman" panose="02020603050405020304" pitchFamily="18" charset="0"/>
                <a:cs typeface="Times New Roman" panose="02020603050405020304" pitchFamily="18" charset="0"/>
              </a:rPr>
              <a:t>Location:</a:t>
            </a:r>
            <a:r>
              <a:rPr lang="en-US" sz="1800" dirty="0">
                <a:latin typeface="Times New Roman" panose="02020603050405020304" pitchFamily="18" charset="0"/>
                <a:cs typeface="Times New Roman" panose="02020603050405020304" pitchFamily="18" charset="0"/>
              </a:rPr>
              <a:t> Institute of Chemical Kinetics and Combustion SB RAS</a:t>
            </a:r>
          </a:p>
        </p:txBody>
      </p:sp>
    </p:spTree>
    <p:extLst>
      <p:ext uri="{BB962C8B-B14F-4D97-AF65-F5344CB8AC3E}">
        <p14:creationId xmlns:p14="http://schemas.microsoft.com/office/powerpoint/2010/main" val="33678335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Presentation plan</a:t>
            </a:r>
            <a:endParaRPr lang="ru-RU" dirty="0">
              <a:latin typeface="Times New Roman" panose="02020603050405020304" pitchFamily="18" charset="0"/>
              <a:cs typeface="Times New Roman" panose="02020603050405020304" pitchFamily="18" charset="0"/>
            </a:endParaRPr>
          </a:p>
        </p:txBody>
      </p:sp>
      <p:sp>
        <p:nvSpPr>
          <p:cNvPr id="6" name="Объект 2">
            <a:extLst>
              <a:ext uri="{FF2B5EF4-FFF2-40B4-BE49-F238E27FC236}">
                <a16:creationId xmlns:a16="http://schemas.microsoft.com/office/drawing/2014/main" id="{B387386C-08D6-4399-97AD-A74EF3112DB6}"/>
              </a:ext>
            </a:extLst>
          </p:cNvPr>
          <p:cNvSpPr>
            <a:spLocks noGrp="1"/>
          </p:cNvSpPr>
          <p:nvPr>
            <p:ph idx="1"/>
          </p:nvPr>
        </p:nvSpPr>
        <p:spPr>
          <a:xfrm>
            <a:off x="3227294" y="1586753"/>
            <a:ext cx="5737412" cy="4554071"/>
          </a:xfrm>
        </p:spPr>
        <p:txBody>
          <a:bodyPr>
            <a:normAutofit/>
          </a:bodyPr>
          <a:lstStyle/>
          <a:p>
            <a:pPr>
              <a:lnSpc>
                <a:spcPct val="120000"/>
              </a:lnSpc>
            </a:pPr>
            <a:r>
              <a:rPr lang="en-US" dirty="0">
                <a:latin typeface="Times New Roman" panose="02020603050405020304" pitchFamily="18" charset="0"/>
                <a:cs typeface="Times New Roman" panose="02020603050405020304" pitchFamily="18" charset="0"/>
              </a:rPr>
              <a:t>Research area</a:t>
            </a:r>
            <a:endParaRPr lang="ru-RU" dirty="0">
              <a:latin typeface="Times New Roman" panose="02020603050405020304" pitchFamily="18" charset="0"/>
              <a:cs typeface="Times New Roman" panose="02020603050405020304" pitchFamily="18" charset="0"/>
            </a:endParaRPr>
          </a:p>
          <a:p>
            <a:pPr>
              <a:lnSpc>
                <a:spcPct val="120000"/>
              </a:lnSpc>
            </a:pPr>
            <a:r>
              <a:rPr lang="en-US" dirty="0">
                <a:latin typeface="Times New Roman" panose="02020603050405020304" pitchFamily="18" charset="0"/>
                <a:cs typeface="Times New Roman" panose="02020603050405020304" pitchFamily="18" charset="0"/>
              </a:rPr>
              <a:t>Relevance</a:t>
            </a:r>
            <a:r>
              <a:rPr lang="ru-RU"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of work</a:t>
            </a:r>
            <a:endParaRPr lang="ru-RU" dirty="0">
              <a:latin typeface="Times New Roman" panose="02020603050405020304" pitchFamily="18" charset="0"/>
              <a:cs typeface="Times New Roman" panose="02020603050405020304" pitchFamily="18" charset="0"/>
            </a:endParaRPr>
          </a:p>
          <a:p>
            <a:pPr>
              <a:lnSpc>
                <a:spcPct val="120000"/>
              </a:lnSpc>
            </a:pPr>
            <a:r>
              <a:rPr lang="en-US" sz="2800" dirty="0">
                <a:latin typeface="Times New Roman" panose="02020603050405020304" pitchFamily="18" charset="0"/>
                <a:cs typeface="Times New Roman" panose="02020603050405020304" pitchFamily="18" charset="0"/>
              </a:rPr>
              <a:t>Target </a:t>
            </a:r>
            <a:r>
              <a:rPr lang="en-US" dirty="0">
                <a:latin typeface="Times New Roman" panose="02020603050405020304" pitchFamily="18" charset="0"/>
                <a:cs typeface="Times New Roman" panose="02020603050405020304" pitchFamily="18" charset="0"/>
              </a:rPr>
              <a:t>and tasks</a:t>
            </a:r>
            <a:endParaRPr lang="ru-RU" sz="2800" dirty="0">
              <a:latin typeface="Times New Roman" panose="02020603050405020304" pitchFamily="18" charset="0"/>
              <a:cs typeface="Times New Roman" panose="02020603050405020304" pitchFamily="18" charset="0"/>
            </a:endParaRPr>
          </a:p>
          <a:p>
            <a:pPr>
              <a:lnSpc>
                <a:spcPct val="120000"/>
              </a:lnSpc>
            </a:pPr>
            <a:r>
              <a:rPr lang="en-US" dirty="0">
                <a:latin typeface="Times New Roman" panose="02020603050405020304" pitchFamily="18" charset="0"/>
                <a:cs typeface="Times New Roman" panose="02020603050405020304" pitchFamily="18" charset="0"/>
              </a:rPr>
              <a:t>Work schedule</a:t>
            </a:r>
          </a:p>
          <a:p>
            <a:pPr>
              <a:lnSpc>
                <a:spcPct val="120000"/>
              </a:lnSpc>
            </a:pPr>
            <a:r>
              <a:rPr lang="en-US" dirty="0">
                <a:latin typeface="Times New Roman" panose="02020603050405020304" pitchFamily="18" charset="0"/>
                <a:cs typeface="Times New Roman" panose="02020603050405020304" pitchFamily="18" charset="0"/>
              </a:rPr>
              <a:t>Equipment and software architecture</a:t>
            </a:r>
          </a:p>
          <a:p>
            <a:pPr>
              <a:lnSpc>
                <a:spcPct val="120000"/>
              </a:lnSpc>
            </a:pPr>
            <a:r>
              <a:rPr lang="en-US" dirty="0">
                <a:latin typeface="Times New Roman" panose="02020603050405020304" pitchFamily="18" charset="0"/>
                <a:cs typeface="Times New Roman" panose="02020603050405020304" pitchFamily="18" charset="0"/>
              </a:rPr>
              <a:t>What has already been done</a:t>
            </a:r>
          </a:p>
          <a:p>
            <a:pPr>
              <a:lnSpc>
                <a:spcPct val="120000"/>
              </a:lnSpc>
            </a:pPr>
            <a:r>
              <a:rPr lang="en-US" dirty="0">
                <a:latin typeface="Times New Roman" panose="02020603050405020304" pitchFamily="18" charset="0"/>
                <a:cs typeface="Times New Roman" panose="02020603050405020304" pitchFamily="18" charset="0"/>
              </a:rPr>
              <a:t>Expected results</a:t>
            </a:r>
          </a:p>
        </p:txBody>
      </p:sp>
    </p:spTree>
    <p:extLst>
      <p:ext uri="{BB962C8B-B14F-4D97-AF65-F5344CB8AC3E}">
        <p14:creationId xmlns:p14="http://schemas.microsoft.com/office/powerpoint/2010/main" val="35469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Research area</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9F52EC69-9860-45E6-9E44-C311D1C19D5C}"/>
              </a:ext>
            </a:extLst>
          </p:cNvPr>
          <p:cNvSpPr>
            <a:spLocks noGrp="1"/>
          </p:cNvSpPr>
          <p:nvPr>
            <p:ph idx="1"/>
          </p:nvPr>
        </p:nvSpPr>
        <p:spPr>
          <a:xfrm>
            <a:off x="838200" y="932330"/>
            <a:ext cx="10515600" cy="5755340"/>
          </a:xfrm>
        </p:spPr>
        <p:txBody>
          <a:bodyPr anchor="t"/>
          <a:lstStyle/>
          <a:p>
            <a:pPr marL="0" indent="0">
              <a:buNone/>
            </a:pPr>
            <a:r>
              <a:rPr lang="en-US" dirty="0">
                <a:latin typeface="Times New Roman" panose="02020603050405020304" pitchFamily="18" charset="0"/>
                <a:cs typeface="Times New Roman" panose="02020603050405020304" pitchFamily="18" charset="0"/>
              </a:rPr>
              <a:t>The essence: automation of experimental research, including equipment control and real-time data processing.</a:t>
            </a:r>
          </a:p>
          <a:p>
            <a:pPr marL="0" indent="0">
              <a:buNone/>
            </a:pPr>
            <a:r>
              <a:rPr lang="en-US" dirty="0">
                <a:latin typeface="Times New Roman" panose="02020603050405020304" pitchFamily="18" charset="0"/>
                <a:cs typeface="Times New Roman" panose="02020603050405020304" pitchFamily="18" charset="0"/>
              </a:rPr>
              <a:t>The area: physical chemistry, photochemistry, molecular spectroscopy, automation</a:t>
            </a:r>
            <a:r>
              <a:rPr lang="ru-RU" dirty="0">
                <a:latin typeface="Times New Roman" panose="02020603050405020304" pitchFamily="18" charset="0"/>
                <a:cs typeface="Times New Roman" panose="02020603050405020304" pitchFamily="18" charset="0"/>
              </a:rPr>
              <a:t>.</a:t>
            </a:r>
          </a:p>
        </p:txBody>
      </p:sp>
      <p:pic>
        <p:nvPicPr>
          <p:cNvPr id="5" name="object 4">
            <a:extLst>
              <a:ext uri="{FF2B5EF4-FFF2-40B4-BE49-F238E27FC236}">
                <a16:creationId xmlns:a16="http://schemas.microsoft.com/office/drawing/2014/main" id="{D2D9FDAC-18E2-4473-B2A1-964535786EDD}"/>
              </a:ext>
            </a:extLst>
          </p:cNvPr>
          <p:cNvPicPr/>
          <p:nvPr/>
        </p:nvPicPr>
        <p:blipFill>
          <a:blip r:embed="rId2" cstate="print"/>
          <a:stretch>
            <a:fillRect/>
          </a:stretch>
        </p:blipFill>
        <p:spPr>
          <a:xfrm>
            <a:off x="7176000" y="4486642"/>
            <a:ext cx="2880000" cy="2160000"/>
          </a:xfrm>
          <a:prstGeom prst="rect">
            <a:avLst/>
          </a:prstGeom>
        </p:spPr>
      </p:pic>
      <p:pic>
        <p:nvPicPr>
          <p:cNvPr id="7" name="object 4">
            <a:extLst>
              <a:ext uri="{FF2B5EF4-FFF2-40B4-BE49-F238E27FC236}">
                <a16:creationId xmlns:a16="http://schemas.microsoft.com/office/drawing/2014/main" id="{809834D5-8FDB-4F2F-AB51-791D9E21C0EA}"/>
              </a:ext>
            </a:extLst>
          </p:cNvPr>
          <p:cNvPicPr/>
          <p:nvPr/>
        </p:nvPicPr>
        <p:blipFill>
          <a:blip r:embed="rId3" cstate="print"/>
          <a:stretch>
            <a:fillRect/>
          </a:stretch>
        </p:blipFill>
        <p:spPr>
          <a:xfrm>
            <a:off x="1056000" y="3631199"/>
            <a:ext cx="5040000" cy="2160000"/>
          </a:xfrm>
          <a:prstGeom prst="rect">
            <a:avLst/>
          </a:prstGeom>
        </p:spPr>
      </p:pic>
      <p:pic>
        <p:nvPicPr>
          <p:cNvPr id="8" name="object 5">
            <a:extLst>
              <a:ext uri="{FF2B5EF4-FFF2-40B4-BE49-F238E27FC236}">
                <a16:creationId xmlns:a16="http://schemas.microsoft.com/office/drawing/2014/main" id="{93925ED7-7E9C-4C09-99B0-06795F79790A}"/>
              </a:ext>
            </a:extLst>
          </p:cNvPr>
          <p:cNvPicPr/>
          <p:nvPr/>
        </p:nvPicPr>
        <p:blipFill>
          <a:blip r:embed="rId4" cstate="print"/>
          <a:stretch>
            <a:fillRect/>
          </a:stretch>
        </p:blipFill>
        <p:spPr>
          <a:xfrm>
            <a:off x="7176000" y="2326642"/>
            <a:ext cx="2880000" cy="2160000"/>
          </a:xfrm>
          <a:prstGeom prst="rect">
            <a:avLst/>
          </a:prstGeom>
        </p:spPr>
      </p:pic>
    </p:spTree>
    <p:extLst>
      <p:ext uri="{BB962C8B-B14F-4D97-AF65-F5344CB8AC3E}">
        <p14:creationId xmlns:p14="http://schemas.microsoft.com/office/powerpoint/2010/main" val="433210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Relevance</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9F52EC69-9860-45E6-9E44-C311D1C19D5C}"/>
              </a:ext>
            </a:extLst>
          </p:cNvPr>
          <p:cNvSpPr>
            <a:spLocks noGrp="1"/>
          </p:cNvSpPr>
          <p:nvPr>
            <p:ph idx="1"/>
          </p:nvPr>
        </p:nvSpPr>
        <p:spPr>
          <a:xfrm>
            <a:off x="838200" y="932330"/>
            <a:ext cx="10515600" cy="5755340"/>
          </a:xfrm>
        </p:spPr>
        <p:txBody>
          <a:bodyPr anchor="ctr"/>
          <a:lstStyle/>
          <a:p>
            <a:pPr marL="0" indent="0">
              <a:buNone/>
            </a:pPr>
            <a:r>
              <a:rPr lang="en-US" dirty="0">
                <a:latin typeface="Times New Roman" panose="02020603050405020304" pitchFamily="18" charset="0"/>
                <a:cs typeface="Times New Roman" panose="02020603050405020304" pitchFamily="18" charset="0"/>
              </a:rPr>
              <a:t>Conducting an experiment to record IR spectra and signals during singlet oxygen generation manually makes it difficult to study its generation mechanisms in highly active complexes. This is because reading and processing the data takes a lot of time and requires the researcher to be constantly present.</a:t>
            </a:r>
          </a:p>
          <a:p>
            <a:pPr marL="0" indent="0">
              <a:buNone/>
            </a:pPr>
            <a:r>
              <a:rPr lang="en-US" dirty="0">
                <a:latin typeface="Times New Roman" panose="02020603050405020304" pitchFamily="18" charset="0"/>
                <a:cs typeface="Times New Roman" panose="02020603050405020304" pitchFamily="18" charset="0"/>
              </a:rPr>
              <a:t>Also, speeding up the reading and processing is necessary when the photo-excited compound responsible for singlet oxygen generation is consumed quickly.</a:t>
            </a:r>
          </a:p>
          <a:p>
            <a:pPr marL="0" indent="0">
              <a:buNone/>
            </a:pPr>
            <a:r>
              <a:rPr lang="en-US" dirty="0">
                <a:latin typeface="Times New Roman" panose="02020603050405020304" pitchFamily="18" charset="0"/>
                <a:cs typeface="Times New Roman" panose="02020603050405020304" pitchFamily="18" charset="0"/>
              </a:rPr>
              <a:t>This work will help reduce experiment time, increase accuracy, and lower the risk of errors.</a:t>
            </a:r>
            <a:endParaRPr lang="ru-R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72500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Target</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9F52EC69-9860-45E6-9E44-C311D1C19D5C}"/>
              </a:ext>
            </a:extLst>
          </p:cNvPr>
          <p:cNvSpPr>
            <a:spLocks noGrp="1"/>
          </p:cNvSpPr>
          <p:nvPr>
            <p:ph idx="1"/>
          </p:nvPr>
        </p:nvSpPr>
        <p:spPr>
          <a:xfrm>
            <a:off x="838200" y="932330"/>
            <a:ext cx="10515600" cy="5755340"/>
          </a:xfrm>
        </p:spPr>
        <p:txBody>
          <a:bodyPr anchor="t">
            <a:normAutofit/>
          </a:bodyPr>
          <a:lstStyle/>
          <a:p>
            <a:pPr marL="0" indent="0">
              <a:buNone/>
            </a:pPr>
            <a:r>
              <a:rPr lang="en-US" dirty="0">
                <a:latin typeface="Times New Roman" panose="02020603050405020304" pitchFamily="18" charset="0"/>
                <a:cs typeface="Times New Roman" panose="02020603050405020304" pitchFamily="18" charset="0"/>
              </a:rPr>
              <a:t>Reduce the speed of the experiment to study the mechanisms of singlet oxygen generation and increase the accuracy of calculations.</a:t>
            </a:r>
            <a:endParaRPr lang="ru-RU" dirty="0">
              <a:latin typeface="Times New Roman" panose="02020603050405020304" pitchFamily="18" charset="0"/>
              <a:cs typeface="Times New Roman" panose="02020603050405020304" pitchFamily="18" charset="0"/>
            </a:endParaRPr>
          </a:p>
        </p:txBody>
      </p:sp>
      <p:pic>
        <p:nvPicPr>
          <p:cNvPr id="5" name="Рисунок 4">
            <a:extLst>
              <a:ext uri="{FF2B5EF4-FFF2-40B4-BE49-F238E27FC236}">
                <a16:creationId xmlns:a16="http://schemas.microsoft.com/office/drawing/2014/main" id="{374B9DE7-8152-488B-98B3-A6D3E04E02B8}"/>
              </a:ext>
            </a:extLst>
          </p:cNvPr>
          <p:cNvPicPr>
            <a:picLocks noChangeAspect="1"/>
          </p:cNvPicPr>
          <p:nvPr/>
        </p:nvPicPr>
        <p:blipFill>
          <a:blip r:embed="rId2"/>
          <a:stretch>
            <a:fillRect/>
          </a:stretch>
        </p:blipFill>
        <p:spPr>
          <a:xfrm>
            <a:off x="2856000" y="2367670"/>
            <a:ext cx="6475232" cy="4320000"/>
          </a:xfrm>
          <a:prstGeom prst="rect">
            <a:avLst/>
          </a:prstGeom>
        </p:spPr>
      </p:pic>
    </p:spTree>
    <p:extLst>
      <p:ext uri="{BB962C8B-B14F-4D97-AF65-F5344CB8AC3E}">
        <p14:creationId xmlns:p14="http://schemas.microsoft.com/office/powerpoint/2010/main" val="4576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Tasks</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9F52EC69-9860-45E6-9E44-C311D1C19D5C}"/>
              </a:ext>
            </a:extLst>
          </p:cNvPr>
          <p:cNvSpPr>
            <a:spLocks noGrp="1"/>
          </p:cNvSpPr>
          <p:nvPr>
            <p:ph idx="1"/>
          </p:nvPr>
        </p:nvSpPr>
        <p:spPr>
          <a:xfrm>
            <a:off x="838200" y="932330"/>
            <a:ext cx="10515600" cy="5755340"/>
          </a:xfrm>
        </p:spPr>
        <p:txBody>
          <a:bodyPr anchor="ctr">
            <a:normAutofit fontScale="70000" lnSpcReduction="20000"/>
          </a:bodyPr>
          <a:lstStyle/>
          <a:p>
            <a:pPr marL="0" indent="0">
              <a:buNone/>
            </a:pPr>
            <a:r>
              <a:rPr lang="en-US" dirty="0">
                <a:latin typeface="Times New Roman" panose="02020603050405020304" pitchFamily="18" charset="0"/>
                <a:cs typeface="Times New Roman" panose="02020603050405020304" pitchFamily="18" charset="0"/>
              </a:rPr>
              <a:t>1. Create software to control all components of the experiment. This includes:</a:t>
            </a:r>
          </a:p>
          <a:p>
            <a:pPr marL="540000" indent="-180000"/>
            <a:r>
              <a:rPr lang="en-US" dirty="0">
                <a:latin typeface="Times New Roman" panose="02020603050405020304" pitchFamily="18" charset="0"/>
                <a:cs typeface="Times New Roman" panose="02020603050405020304" pitchFamily="18" charset="0"/>
              </a:rPr>
              <a:t>Controlling the laser wavelength via the OPO.</a:t>
            </a:r>
          </a:p>
          <a:p>
            <a:pPr marL="540000" indent="-180000"/>
            <a:r>
              <a:rPr lang="en-US" sz="2900" dirty="0">
                <a:latin typeface="Times New Roman" panose="02020603050405020304" pitchFamily="18" charset="0"/>
                <a:cs typeface="Times New Roman" panose="02020603050405020304" pitchFamily="18" charset="0"/>
              </a:rPr>
              <a:t>Controlling the passband and step size for the monochromator.</a:t>
            </a:r>
          </a:p>
          <a:p>
            <a:pPr marL="540000" indent="-180000"/>
            <a:r>
              <a:rPr lang="en-US" sz="2900" dirty="0">
                <a:latin typeface="Times New Roman" panose="02020603050405020304" pitchFamily="18" charset="0"/>
                <a:cs typeface="Times New Roman" panose="02020603050405020304" pitchFamily="18" charset="0"/>
              </a:rPr>
              <a:t>Setting the number of wavelength scan repetitions.</a:t>
            </a:r>
          </a:p>
          <a:p>
            <a:pPr marL="0" indent="0">
              <a:buNone/>
            </a:pPr>
            <a:r>
              <a:rPr lang="en-US" dirty="0">
                <a:latin typeface="Times New Roman" panose="02020603050405020304" pitchFamily="18" charset="0"/>
                <a:cs typeface="Times New Roman" panose="02020603050405020304" pitchFamily="18" charset="0"/>
              </a:rPr>
              <a:t>2. The software must handle automatic data collection from equipment:</a:t>
            </a:r>
          </a:p>
          <a:p>
            <a:pPr marL="540000" indent="-180000"/>
            <a:r>
              <a:rPr lang="en-US" sz="2900" dirty="0">
                <a:latin typeface="Times New Roman" panose="02020603050405020304" pitchFamily="18" charset="0"/>
                <a:cs typeface="Times New Roman" panose="02020603050405020304" pitchFamily="18" charset="0"/>
              </a:rPr>
              <a:t>Reading the signal from the oscilloscope and the energy meter.</a:t>
            </a:r>
          </a:p>
          <a:p>
            <a:pPr marL="540000" indent="-180000"/>
            <a:r>
              <a:rPr lang="en-US" sz="2900" dirty="0">
                <a:latin typeface="Times New Roman" panose="02020603050405020304" pitchFamily="18" charset="0"/>
                <a:cs typeface="Times New Roman" panose="02020603050405020304" pitchFamily="18" charset="0"/>
              </a:rPr>
              <a:t>Based on the oscilloscope data, calculate the IR luminescence spectrum by integrating the signal. The integration boundaries will be set interactively. The obtained spectrum will then be approximated.</a:t>
            </a:r>
          </a:p>
          <a:p>
            <a:pPr marL="540000" indent="-180000"/>
            <a:r>
              <a:rPr lang="en-US" sz="2900" dirty="0">
                <a:latin typeface="Times New Roman" panose="02020603050405020304" pitchFamily="18" charset="0"/>
                <a:cs typeface="Times New Roman" panose="02020603050405020304" pitchFamily="18" charset="0"/>
              </a:rPr>
              <a:t>Data from the energy meter will be used to monitor laser pulse energy in real time. It will also help measure the dependence of the signal amplitude (from the oscilloscope) on the laser pulse energy. This is important for determining singlet oxygen generation mechanisms and for measuring the singlet oxygen quantum yield for new or poorly studied compounds.</a:t>
            </a:r>
          </a:p>
          <a:p>
            <a:pPr marL="0" indent="0">
              <a:buNone/>
            </a:pPr>
            <a:r>
              <a:rPr lang="en-US" dirty="0">
                <a:latin typeface="Times New Roman" panose="02020603050405020304" pitchFamily="18" charset="0"/>
                <a:cs typeface="Times New Roman" panose="02020603050405020304" pitchFamily="18" charset="0"/>
              </a:rPr>
              <a:t>3. Implement automatic calibration via the software using a known substance or an LED. This is crucial for accurately determining IR luminescence spectra of singlet oxygen during photoexcitation of poorly studied substances. This will allow the program to verify the correctness of the monochromator's wavelength.</a:t>
            </a:r>
          </a:p>
          <a:p>
            <a:pPr marL="0" indent="0">
              <a:buNone/>
            </a:pPr>
            <a:r>
              <a:rPr lang="en-US" dirty="0">
                <a:latin typeface="Times New Roman" panose="02020603050405020304" pitchFamily="18" charset="0"/>
                <a:cs typeface="Times New Roman" panose="02020603050405020304" pitchFamily="18" charset="0"/>
              </a:rPr>
              <a:t>4. Test the software under real experimental conditions. Evaluate its speed, accuracy, and ease of use compared to manual methods.</a:t>
            </a:r>
            <a:endParaRPr lang="ru-R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85456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Work schedule</a:t>
            </a:r>
            <a:endParaRPr lang="ru-RU" dirty="0">
              <a:latin typeface="Times New Roman" panose="02020603050405020304" pitchFamily="18" charset="0"/>
              <a:cs typeface="Times New Roman" panose="02020603050405020304" pitchFamily="18" charset="0"/>
            </a:endParaRPr>
          </a:p>
        </p:txBody>
      </p:sp>
      <p:pic>
        <p:nvPicPr>
          <p:cNvPr id="3" name="Рисунок 2">
            <a:extLst>
              <a:ext uri="{FF2B5EF4-FFF2-40B4-BE49-F238E27FC236}">
                <a16:creationId xmlns:a16="http://schemas.microsoft.com/office/drawing/2014/main" id="{BA89A7E5-E764-4BD3-851F-309303FE3B4F}"/>
              </a:ext>
            </a:extLst>
          </p:cNvPr>
          <p:cNvPicPr>
            <a:picLocks noChangeAspect="1"/>
          </p:cNvPicPr>
          <p:nvPr/>
        </p:nvPicPr>
        <p:blipFill>
          <a:blip r:embed="rId2"/>
          <a:stretch>
            <a:fillRect/>
          </a:stretch>
        </p:blipFill>
        <p:spPr>
          <a:xfrm>
            <a:off x="736481" y="932330"/>
            <a:ext cx="10617319" cy="5760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641287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Equipment</a:t>
            </a:r>
            <a:r>
              <a:rPr lang="ru-RU"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and software architecture</a:t>
            </a:r>
            <a:endParaRPr lang="ru-RU" dirty="0">
              <a:latin typeface="Times New Roman" panose="02020603050405020304" pitchFamily="18" charset="0"/>
              <a:cs typeface="Times New Roman" panose="02020603050405020304" pitchFamily="18" charset="0"/>
            </a:endParaRPr>
          </a:p>
        </p:txBody>
      </p:sp>
      <p:pic>
        <p:nvPicPr>
          <p:cNvPr id="3" name="Рисунок 2">
            <a:extLst>
              <a:ext uri="{FF2B5EF4-FFF2-40B4-BE49-F238E27FC236}">
                <a16:creationId xmlns:a16="http://schemas.microsoft.com/office/drawing/2014/main" id="{10426827-8C4F-48D1-A1EA-F72042937EBC}"/>
              </a:ext>
            </a:extLst>
          </p:cNvPr>
          <p:cNvPicPr>
            <a:picLocks noChangeAspect="1"/>
          </p:cNvPicPr>
          <p:nvPr/>
        </p:nvPicPr>
        <p:blipFill rotWithShape="1">
          <a:blip r:embed="rId2"/>
          <a:srcRect l="7007" t="10289" r="6978" b="5543"/>
          <a:stretch/>
        </p:blipFill>
        <p:spPr>
          <a:xfrm>
            <a:off x="838200" y="1488141"/>
            <a:ext cx="2072639" cy="1440000"/>
          </a:xfrm>
          <a:prstGeom prst="rect">
            <a:avLst/>
          </a:prstGeom>
        </p:spPr>
      </p:pic>
      <p:pic>
        <p:nvPicPr>
          <p:cNvPr id="1026" name="Picture 2" descr="MSOX2024A Keysight, Осциллограф цифровой купить в ГенПрибор">
            <a:extLst>
              <a:ext uri="{FF2B5EF4-FFF2-40B4-BE49-F238E27FC236}">
                <a16:creationId xmlns:a16="http://schemas.microsoft.com/office/drawing/2014/main" id="{F5A2E545-8514-497D-A632-BFFB0130884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692" t="19088" r="3551" b="17163"/>
          <a:stretch/>
        </p:blipFill>
        <p:spPr bwMode="auto">
          <a:xfrm>
            <a:off x="838200" y="3929859"/>
            <a:ext cx="2072639" cy="1440000"/>
          </a:xfrm>
          <a:prstGeom prst="rect">
            <a:avLst/>
          </a:prstGeom>
          <a:noFill/>
          <a:extLst>
            <a:ext uri="{909E8E84-426E-40DD-AFC4-6F175D3DCCD1}">
              <a14:hiddenFill xmlns:a14="http://schemas.microsoft.com/office/drawing/2010/main">
                <a:solidFill>
                  <a:srgbClr val="FFFFFF"/>
                </a:solidFill>
              </a14:hiddenFill>
            </a:ext>
          </a:extLst>
        </p:spPr>
      </p:pic>
      <p:pic>
        <p:nvPicPr>
          <p:cNvPr id="4" name="Рисунок 3">
            <a:extLst>
              <a:ext uri="{FF2B5EF4-FFF2-40B4-BE49-F238E27FC236}">
                <a16:creationId xmlns:a16="http://schemas.microsoft.com/office/drawing/2014/main" id="{3E102A8F-9D5E-46F3-81DD-9CA750D35F4A}"/>
              </a:ext>
            </a:extLst>
          </p:cNvPr>
          <p:cNvPicPr>
            <a:picLocks noChangeAspect="1"/>
          </p:cNvPicPr>
          <p:nvPr/>
        </p:nvPicPr>
        <p:blipFill rotWithShape="1">
          <a:blip r:embed="rId4"/>
          <a:srcRect l="2999" t="12549" r="10334" b="9756"/>
          <a:stretch/>
        </p:blipFill>
        <p:spPr>
          <a:xfrm>
            <a:off x="4434088" y="3929859"/>
            <a:ext cx="2072639" cy="1440000"/>
          </a:xfrm>
          <a:prstGeom prst="rect">
            <a:avLst/>
          </a:prstGeom>
        </p:spPr>
      </p:pic>
      <p:pic>
        <p:nvPicPr>
          <p:cNvPr id="1028" name="Picture 4" descr="LS-2145-OPO">
            <a:extLst>
              <a:ext uri="{FF2B5EF4-FFF2-40B4-BE49-F238E27FC236}">
                <a16:creationId xmlns:a16="http://schemas.microsoft.com/office/drawing/2014/main" id="{DEE6211B-1465-4A4C-B0C4-294A4BAE8B9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6" t="15889" r="46" b="14669"/>
          <a:stretch/>
        </p:blipFill>
        <p:spPr bwMode="auto">
          <a:xfrm>
            <a:off x="4434088" y="1488141"/>
            <a:ext cx="2073600" cy="144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2E3106E-13FF-4E88-AB71-7FD15F713C6E}"/>
              </a:ext>
            </a:extLst>
          </p:cNvPr>
          <p:cNvSpPr txBox="1"/>
          <p:nvPr/>
        </p:nvSpPr>
        <p:spPr>
          <a:xfrm>
            <a:off x="287995" y="2928141"/>
            <a:ext cx="3173048" cy="276999"/>
          </a:xfrm>
          <a:prstGeom prst="rect">
            <a:avLst/>
          </a:prstGeom>
          <a:noFill/>
        </p:spPr>
        <p:txBody>
          <a:bodyPr wrap="none" rtlCol="0">
            <a:spAutoFit/>
          </a:bodyPr>
          <a:lstStyle/>
          <a:p>
            <a:pPr algn="ctr"/>
            <a:r>
              <a:rPr lang="en-US" sz="1200" dirty="0">
                <a:latin typeface="Times New Roman" panose="02020603050405020304" pitchFamily="18" charset="0"/>
                <a:cs typeface="Times New Roman" panose="02020603050405020304" pitchFamily="18" charset="0"/>
              </a:rPr>
              <a:t>Monochromator</a:t>
            </a:r>
            <a:r>
              <a:rPr lang="ru-RU"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M266-IV (Solar Laser Systems)</a:t>
            </a:r>
            <a:endParaRPr lang="ru-RU" sz="12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2E633793-F126-4BB2-A719-1BDBB7F93569}"/>
              </a:ext>
            </a:extLst>
          </p:cNvPr>
          <p:cNvSpPr txBox="1"/>
          <p:nvPr/>
        </p:nvSpPr>
        <p:spPr>
          <a:xfrm>
            <a:off x="3745479" y="2928141"/>
            <a:ext cx="3449855" cy="276999"/>
          </a:xfrm>
          <a:prstGeom prst="rect">
            <a:avLst/>
          </a:prstGeom>
          <a:noFill/>
        </p:spPr>
        <p:txBody>
          <a:bodyPr wrap="none" rtlCol="0">
            <a:spAutoFit/>
          </a:bodyPr>
          <a:lstStyle/>
          <a:p>
            <a:pPr algn="ctr"/>
            <a:r>
              <a:rPr lang="en-US" sz="1200" dirty="0">
                <a:latin typeface="Times New Roman" panose="02020603050405020304" pitchFamily="18" charset="0"/>
                <a:cs typeface="Times New Roman" panose="02020603050405020304" pitchFamily="18" charset="0"/>
              </a:rPr>
              <a:t>Laser radiation</a:t>
            </a:r>
            <a:r>
              <a:rPr lang="ru-RU"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LS-2145-OPO (OPO, </a:t>
            </a:r>
            <a:r>
              <a:rPr lang="en-US" sz="1200" dirty="0" err="1">
                <a:latin typeface="Times New Roman" panose="02020603050405020304" pitchFamily="18" charset="0"/>
                <a:cs typeface="Times New Roman" panose="02020603050405020304" pitchFamily="18" charset="0"/>
              </a:rPr>
              <a:t>Lotis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Tii</a:t>
            </a:r>
            <a:r>
              <a:rPr lang="en-US" sz="1200" dirty="0">
                <a:latin typeface="Times New Roman" panose="02020603050405020304" pitchFamily="18" charset="0"/>
                <a:cs typeface="Times New Roman" panose="02020603050405020304" pitchFamily="18" charset="0"/>
              </a:rPr>
              <a:t> 2145)</a:t>
            </a:r>
            <a:endParaRPr lang="ru-RU" sz="12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F32D395-C453-4C4F-A310-3FBE32F8D8CE}"/>
              </a:ext>
            </a:extLst>
          </p:cNvPr>
          <p:cNvSpPr txBox="1"/>
          <p:nvPr/>
        </p:nvSpPr>
        <p:spPr>
          <a:xfrm>
            <a:off x="547297" y="5369859"/>
            <a:ext cx="2654445" cy="276999"/>
          </a:xfrm>
          <a:prstGeom prst="rect">
            <a:avLst/>
          </a:prstGeom>
          <a:noFill/>
        </p:spPr>
        <p:txBody>
          <a:bodyPr wrap="none" rtlCol="0">
            <a:spAutoFit/>
          </a:bodyPr>
          <a:lstStyle/>
          <a:p>
            <a:pPr algn="ctr"/>
            <a:r>
              <a:rPr lang="en-US" sz="1200" dirty="0">
                <a:latin typeface="Times New Roman" panose="02020603050405020304" pitchFamily="18" charset="0"/>
                <a:cs typeface="Times New Roman" panose="02020603050405020304" pitchFamily="18" charset="0"/>
              </a:rPr>
              <a:t>Oscilloscope</a:t>
            </a:r>
            <a:r>
              <a:rPr lang="ru-RU"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MSOX2024A (Keysight)</a:t>
            </a:r>
            <a:endParaRPr lang="ru-RU" sz="1200"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CAD8E9C-BBA7-48EA-B7C9-2B5B09665005}"/>
              </a:ext>
            </a:extLst>
          </p:cNvPr>
          <p:cNvSpPr txBox="1"/>
          <p:nvPr/>
        </p:nvSpPr>
        <p:spPr>
          <a:xfrm>
            <a:off x="3938192" y="5369859"/>
            <a:ext cx="3064430" cy="276999"/>
          </a:xfrm>
          <a:prstGeom prst="rect">
            <a:avLst/>
          </a:prstGeom>
          <a:noFill/>
        </p:spPr>
        <p:txBody>
          <a:bodyPr wrap="none" rtlCol="0">
            <a:spAutoFit/>
          </a:bodyPr>
          <a:lstStyle/>
          <a:p>
            <a:pPr algn="ctr"/>
            <a:r>
              <a:rPr lang="en-US" sz="1200" dirty="0">
                <a:latin typeface="Times New Roman" panose="02020603050405020304" pitchFamily="18" charset="0"/>
                <a:cs typeface="Times New Roman" panose="02020603050405020304" pitchFamily="18" charset="0"/>
              </a:rPr>
              <a:t>Energy meter</a:t>
            </a:r>
            <a:r>
              <a:rPr lang="ru-RU" sz="120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QE25SP-S-MT-D0 (</a:t>
            </a:r>
            <a:r>
              <a:rPr lang="en-US" sz="1200" dirty="0" err="1">
                <a:latin typeface="Times New Roman" panose="02020603050405020304" pitchFamily="18" charset="0"/>
                <a:cs typeface="Times New Roman" panose="02020603050405020304" pitchFamily="18" charset="0"/>
              </a:rPr>
              <a:t>Gentec</a:t>
            </a:r>
            <a:r>
              <a:rPr lang="en-US" sz="1200" dirty="0">
                <a:latin typeface="Times New Roman" panose="02020603050405020304" pitchFamily="18" charset="0"/>
                <a:cs typeface="Times New Roman" panose="02020603050405020304" pitchFamily="18" charset="0"/>
              </a:rPr>
              <a:t>-EO)</a:t>
            </a:r>
            <a:endParaRPr lang="ru-RU" sz="12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7C3F505-6F4D-4068-9FB3-642A1B1F4339}"/>
              </a:ext>
            </a:extLst>
          </p:cNvPr>
          <p:cNvSpPr txBox="1"/>
          <p:nvPr/>
        </p:nvSpPr>
        <p:spPr>
          <a:xfrm>
            <a:off x="9179113" y="5088141"/>
            <a:ext cx="1285929" cy="276999"/>
          </a:xfrm>
          <a:prstGeom prst="rect">
            <a:avLst/>
          </a:prstGeom>
          <a:noFill/>
        </p:spPr>
        <p:txBody>
          <a:bodyPr wrap="none" rtlCol="0">
            <a:spAutoFit/>
          </a:bodyPr>
          <a:lstStyle/>
          <a:p>
            <a:pPr algn="ctr"/>
            <a:r>
              <a:rPr lang="en-US" sz="1200" dirty="0">
                <a:latin typeface="Times New Roman" panose="02020603050405020304" pitchFamily="18" charset="0"/>
                <a:cs typeface="Times New Roman" panose="02020603050405020304" pitchFamily="18" charset="0"/>
              </a:rPr>
              <a:t>Software diagram</a:t>
            </a:r>
            <a:endParaRPr lang="ru-RU" sz="1200" dirty="0">
              <a:latin typeface="Times New Roman" panose="02020603050405020304" pitchFamily="18" charset="0"/>
              <a:cs typeface="Times New Roman" panose="02020603050405020304" pitchFamily="18" charset="0"/>
            </a:endParaRPr>
          </a:p>
        </p:txBody>
      </p:sp>
      <p:pic>
        <p:nvPicPr>
          <p:cNvPr id="6" name="Рисунок 5">
            <a:extLst>
              <a:ext uri="{FF2B5EF4-FFF2-40B4-BE49-F238E27FC236}">
                <a16:creationId xmlns:a16="http://schemas.microsoft.com/office/drawing/2014/main" id="{D9D4F7E3-C7A3-4A47-80BA-CBB27CDAA21B}"/>
              </a:ext>
            </a:extLst>
          </p:cNvPr>
          <p:cNvPicPr>
            <a:picLocks noChangeAspect="1"/>
          </p:cNvPicPr>
          <p:nvPr/>
        </p:nvPicPr>
        <p:blipFill>
          <a:blip r:embed="rId6"/>
          <a:stretch>
            <a:fillRect/>
          </a:stretch>
        </p:blipFill>
        <p:spPr>
          <a:xfrm>
            <a:off x="7740150" y="2208141"/>
            <a:ext cx="4163855" cy="2880000"/>
          </a:xfrm>
          <a:prstGeom prst="rect">
            <a:avLst/>
          </a:prstGeom>
        </p:spPr>
      </p:pic>
    </p:spTree>
    <p:extLst>
      <p:ext uri="{BB962C8B-B14F-4D97-AF65-F5344CB8AC3E}">
        <p14:creationId xmlns:p14="http://schemas.microsoft.com/office/powerpoint/2010/main" val="21553453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What has already been done</a:t>
            </a:r>
            <a:endParaRPr lang="ru-RU" dirty="0">
              <a:latin typeface="Times New Roman" panose="02020603050405020304" pitchFamily="18" charset="0"/>
              <a:cs typeface="Times New Roman" panose="02020603050405020304" pitchFamily="18" charset="0"/>
            </a:endParaRPr>
          </a:p>
        </p:txBody>
      </p:sp>
      <p:pic>
        <p:nvPicPr>
          <p:cNvPr id="12" name="Рисунок 11">
            <a:extLst>
              <a:ext uri="{FF2B5EF4-FFF2-40B4-BE49-F238E27FC236}">
                <a16:creationId xmlns:a16="http://schemas.microsoft.com/office/drawing/2014/main" id="{F1A68FED-B3A8-4C32-84BE-A5A9C8488D83}"/>
              </a:ext>
            </a:extLst>
          </p:cNvPr>
          <p:cNvPicPr>
            <a:picLocks noChangeAspect="1"/>
          </p:cNvPicPr>
          <p:nvPr/>
        </p:nvPicPr>
        <p:blipFill>
          <a:blip r:embed="rId2"/>
          <a:stretch>
            <a:fillRect/>
          </a:stretch>
        </p:blipFill>
        <p:spPr>
          <a:xfrm>
            <a:off x="6430922" y="4015270"/>
            <a:ext cx="4695029" cy="2520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Рисунок 7">
            <a:extLst>
              <a:ext uri="{FF2B5EF4-FFF2-40B4-BE49-F238E27FC236}">
                <a16:creationId xmlns:a16="http://schemas.microsoft.com/office/drawing/2014/main" id="{F86F809C-B202-4323-AA1B-9F9E47AD2139}"/>
              </a:ext>
            </a:extLst>
          </p:cNvPr>
          <p:cNvPicPr>
            <a:picLocks noChangeAspect="1"/>
          </p:cNvPicPr>
          <p:nvPr/>
        </p:nvPicPr>
        <p:blipFill>
          <a:blip r:embed="rId3"/>
          <a:stretch>
            <a:fillRect/>
          </a:stretch>
        </p:blipFill>
        <p:spPr>
          <a:xfrm>
            <a:off x="6435478" y="1147483"/>
            <a:ext cx="4695029" cy="2520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 name="Рисунок 3">
            <a:extLst>
              <a:ext uri="{FF2B5EF4-FFF2-40B4-BE49-F238E27FC236}">
                <a16:creationId xmlns:a16="http://schemas.microsoft.com/office/drawing/2014/main" id="{3A13E417-00D8-47AC-AF7B-E8FF9B654301}"/>
              </a:ext>
            </a:extLst>
          </p:cNvPr>
          <p:cNvPicPr>
            <a:picLocks noChangeAspect="1"/>
          </p:cNvPicPr>
          <p:nvPr/>
        </p:nvPicPr>
        <p:blipFill>
          <a:blip r:embed="rId4"/>
          <a:stretch>
            <a:fillRect/>
          </a:stretch>
        </p:blipFill>
        <p:spPr>
          <a:xfrm>
            <a:off x="1061493" y="1147483"/>
            <a:ext cx="4695030" cy="2520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4" name="Рисунок 13">
            <a:extLst>
              <a:ext uri="{FF2B5EF4-FFF2-40B4-BE49-F238E27FC236}">
                <a16:creationId xmlns:a16="http://schemas.microsoft.com/office/drawing/2014/main" id="{BFBE4DD7-CDE9-4B53-B4E3-FD6D993BF890}"/>
              </a:ext>
            </a:extLst>
          </p:cNvPr>
          <p:cNvPicPr>
            <a:picLocks noChangeAspect="1"/>
          </p:cNvPicPr>
          <p:nvPr/>
        </p:nvPicPr>
        <p:blipFill>
          <a:blip r:embed="rId5"/>
          <a:stretch>
            <a:fillRect/>
          </a:stretch>
        </p:blipFill>
        <p:spPr>
          <a:xfrm>
            <a:off x="1066050" y="4015270"/>
            <a:ext cx="4695029" cy="2520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511736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C75D28-21D8-46FA-B239-E307DEF591CB}"/>
              </a:ext>
            </a:extLst>
          </p:cNvPr>
          <p:cNvSpPr>
            <a:spLocks noGrp="1"/>
          </p:cNvSpPr>
          <p:nvPr>
            <p:ph type="title"/>
          </p:nvPr>
        </p:nvSpPr>
        <p:spPr>
          <a:xfrm>
            <a:off x="838200" y="170330"/>
            <a:ext cx="10515600" cy="762000"/>
          </a:xfrm>
        </p:spPr>
        <p:txBody>
          <a:bodyPr/>
          <a:lstStyle/>
          <a:p>
            <a:pPr algn="ctr"/>
            <a:r>
              <a:rPr lang="en-US" dirty="0">
                <a:latin typeface="Times New Roman" panose="02020603050405020304" pitchFamily="18" charset="0"/>
                <a:cs typeface="Times New Roman" panose="02020603050405020304" pitchFamily="18" charset="0"/>
              </a:rPr>
              <a:t>Expected results</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9F52EC69-9860-45E6-9E44-C311D1C19D5C}"/>
              </a:ext>
            </a:extLst>
          </p:cNvPr>
          <p:cNvSpPr>
            <a:spLocks noGrp="1"/>
          </p:cNvSpPr>
          <p:nvPr>
            <p:ph idx="1"/>
          </p:nvPr>
        </p:nvSpPr>
        <p:spPr>
          <a:xfrm>
            <a:off x="838200" y="932330"/>
            <a:ext cx="10515600" cy="5755340"/>
          </a:xfrm>
        </p:spPr>
        <p:txBody>
          <a:bodyPr anchor="ctr">
            <a:normAutofit/>
          </a:bodyPr>
          <a:lstStyle/>
          <a:p>
            <a:pPr marL="0" indent="0">
              <a:buNone/>
            </a:pPr>
            <a:r>
              <a:rPr lang="ru-RU" dirty="0">
                <a:latin typeface="Times New Roman" panose="02020603050405020304" pitchFamily="18" charset="0"/>
                <a:cs typeface="Times New Roman" panose="02020603050405020304" pitchFamily="18" charset="0"/>
              </a:rPr>
              <a:t>1. </a:t>
            </a:r>
            <a:r>
              <a:rPr lang="en-US" dirty="0">
                <a:latin typeface="Times New Roman" panose="02020603050405020304" pitchFamily="18" charset="0"/>
                <a:cs typeface="Times New Roman" panose="02020603050405020304" pitchFamily="18" charset="0"/>
              </a:rPr>
              <a:t>A formalized algorithm for conducting experiments will be developed and implemented in the software. This will allow for faster and more accurate acquisition of singlet oxygen IR luminescence spectra, specifically spectra dependent on the laser excitation wavelength.</a:t>
            </a:r>
          </a:p>
          <a:p>
            <a:pPr marL="0" indent="0">
              <a:buNone/>
            </a:pPr>
            <a:r>
              <a:rPr lang="ru-RU" dirty="0">
                <a:latin typeface="Times New Roman" panose="02020603050405020304" pitchFamily="18" charset="0"/>
                <a:cs typeface="Times New Roman" panose="02020603050405020304" pitchFamily="18" charset="0"/>
              </a:rPr>
              <a:t>2. </a:t>
            </a:r>
            <a:r>
              <a:rPr lang="en-US" dirty="0">
                <a:latin typeface="Times New Roman" panose="02020603050405020304" pitchFamily="18" charset="0"/>
                <a:cs typeface="Times New Roman" panose="02020603050405020304" pitchFamily="18" charset="0"/>
              </a:rPr>
              <a:t>Software will be developed to collect data from the oscilloscope and energy meter and process it immediately. The processing will use two independent methods to calculate the spectrum and analyze the intensity vs. energy dependence.</a:t>
            </a:r>
          </a:p>
          <a:p>
            <a:pPr marL="0" indent="0">
              <a:buNone/>
            </a:pPr>
            <a:r>
              <a:rPr lang="ru-RU" dirty="0">
                <a:latin typeface="Times New Roman" panose="02020603050405020304" pitchFamily="18" charset="0"/>
                <a:cs typeface="Times New Roman" panose="02020603050405020304" pitchFamily="18" charset="0"/>
              </a:rPr>
              <a:t>3. </a:t>
            </a:r>
            <a:r>
              <a:rPr lang="en-US" dirty="0">
                <a:latin typeface="Times New Roman" panose="02020603050405020304" pitchFamily="18" charset="0"/>
                <a:cs typeface="Times New Roman" panose="02020603050405020304" pitchFamily="18" charset="0"/>
              </a:rPr>
              <a:t>An integrated automatic calibration procedure will be implemented and tested. It will use a reference substance or an LED with known spectral characteristics.</a:t>
            </a:r>
          </a:p>
          <a:p>
            <a:pPr marL="0" indent="0">
              <a:buNone/>
            </a:pPr>
            <a:r>
              <a:rPr lang="ru-RU" dirty="0">
                <a:latin typeface="Times New Roman" panose="02020603050405020304" pitchFamily="18" charset="0"/>
                <a:cs typeface="Times New Roman" panose="02020603050405020304" pitchFamily="18" charset="0"/>
              </a:rPr>
              <a:t>4. </a:t>
            </a:r>
            <a:r>
              <a:rPr lang="en-US" dirty="0">
                <a:latin typeface="Times New Roman" panose="02020603050405020304" pitchFamily="18" charset="0"/>
                <a:cs typeface="Times New Roman" panose="02020603050405020304" pitchFamily="18" charset="0"/>
              </a:rPr>
              <a:t>The software will be tested under real experimental conditions.</a:t>
            </a:r>
            <a:endParaRPr lang="ru-R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924139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009E791-085C-4CDA-8F96-C54D1FA07C63}"/>
              </a:ext>
            </a:extLst>
          </p:cNvPr>
          <p:cNvSpPr>
            <a:spLocks noGrp="1"/>
          </p:cNvSpPr>
          <p:nvPr>
            <p:ph type="title"/>
          </p:nvPr>
        </p:nvSpPr>
        <p:spPr>
          <a:xfrm>
            <a:off x="838200" y="365125"/>
            <a:ext cx="10515600" cy="6089463"/>
          </a:xfrm>
        </p:spPr>
        <p:txBody>
          <a:bodyPr anchor="ctr">
            <a:normAutofit/>
          </a:bodyPr>
          <a:lstStyle/>
          <a:p>
            <a:pPr algn="ctr"/>
            <a:r>
              <a:rPr lang="en-US" sz="5400" dirty="0">
                <a:latin typeface="Times New Roman" panose="02020603050405020304" pitchFamily="18" charset="0"/>
                <a:cs typeface="Times New Roman" panose="02020603050405020304" pitchFamily="18" charset="0"/>
              </a:rPr>
              <a:t>Thank you for your attention!</a:t>
            </a:r>
            <a:endParaRPr lang="ru-RU" sz="5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3460131"/>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451</TotalTime>
  <Words>609</Words>
  <Application>Microsoft Office PowerPoint</Application>
  <PresentationFormat>Широкоэкранный</PresentationFormat>
  <Paragraphs>46</Paragraphs>
  <Slides>11</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11</vt:i4>
      </vt:variant>
    </vt:vector>
  </HeadingPairs>
  <TitlesOfParts>
    <vt:vector size="16" baseType="lpstr">
      <vt:lpstr>Arial</vt:lpstr>
      <vt:lpstr>Calibri</vt:lpstr>
      <vt:lpstr>Calibri Light</vt:lpstr>
      <vt:lpstr>Times New Roman</vt:lpstr>
      <vt:lpstr>Тема Office</vt:lpstr>
      <vt:lpstr>Software development for automated experiments on singlet oxygen generation mechanisms</vt:lpstr>
      <vt:lpstr>Presentation plan</vt:lpstr>
      <vt:lpstr>Research area</vt:lpstr>
      <vt:lpstr>Relevance</vt:lpstr>
      <vt:lpstr>Target</vt:lpstr>
      <vt:lpstr>Tasks</vt:lpstr>
      <vt:lpstr>Work schedule</vt:lpstr>
      <vt:lpstr>Equipment and software architecture</vt:lpstr>
      <vt:lpstr>What has already been done</vt:lpstr>
      <vt:lpstr>Expected results</vt:lpstr>
      <vt:lpstr>Thank you for your attention!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Разработка программного обеспечения для автоматизированного проведения экспериментов по изучению механизмов генерации синглетного кислорода</dc:title>
  <dc:creator>Bogdan Klimov</dc:creator>
  <cp:lastModifiedBy>Bogdan Klimov</cp:lastModifiedBy>
  <cp:revision>47</cp:revision>
  <dcterms:created xsi:type="dcterms:W3CDTF">2025-12-16T05:41:17Z</dcterms:created>
  <dcterms:modified xsi:type="dcterms:W3CDTF">2025-12-19T06:06:21Z</dcterms:modified>
</cp:coreProperties>
</file>