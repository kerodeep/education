
<file path=[Content_Types].xml><?xml version="1.0" encoding="utf-8"?>
<Types xmlns="http://schemas.openxmlformats.org/package/2006/content-types">
  <Default Extension="jpeg" ContentType="image/jpeg"/>
  <Default Extension="jpg" ContentType="image/jp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sldIdLst>
    <p:sldId id="273" r:id="rId2"/>
    <p:sldId id="257" r:id="rId3"/>
    <p:sldId id="259" r:id="rId4"/>
    <p:sldId id="260" r:id="rId5"/>
    <p:sldId id="266" r:id="rId6"/>
    <p:sldId id="268" r:id="rId7"/>
    <p:sldId id="270" r:id="rId8"/>
    <p:sldId id="271" r:id="rId9"/>
    <p:sldId id="265" r:id="rId10"/>
    <p:sldId id="258" r:id="rId11"/>
  </p:sldIdLst>
  <p:sldSz cx="12192000" cy="6858000"/>
  <p:notesSz cx="6858000" cy="9144000"/>
  <p:defaultText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Bogdan Klimov" initials="BK" lastIdx="1" clrIdx="0">
    <p:extLst>
      <p:ext uri="{19B8F6BF-5375-455C-9EA6-DF929625EA0E}">
        <p15:presenceInfo xmlns:p15="http://schemas.microsoft.com/office/powerpoint/2012/main" userId="f37532ac853aedfb" providerId="Windows Liv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5C22544A-7EE6-4342-B048-85BDC9FD1C3A}" styleName="Средний стиль 2 — акцент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073A0DAA-6AF3-43AB-8588-CEC1D06C72B9}" styleName="Средний стиль 2">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dk1">
              <a:tint val="20000"/>
            </a:schemeClr>
          </a:solidFill>
        </a:fill>
      </a:tcStyle>
    </a:wholeTbl>
    <a:band1H>
      <a:tcStyle>
        <a:tcBdr/>
        <a:fill>
          <a:solidFill>
            <a:schemeClr val="dk1">
              <a:tint val="40000"/>
            </a:schemeClr>
          </a:solidFill>
        </a:fill>
      </a:tcStyle>
    </a:band1H>
    <a:band2H>
      <a:tcStyle>
        <a:tcBdr/>
      </a:tcStyle>
    </a:band2H>
    <a:band1V>
      <a:tcStyle>
        <a:tcBdr/>
        <a:fill>
          <a:solidFill>
            <a:schemeClr val="dk1">
              <a:tint val="40000"/>
            </a:schemeClr>
          </a:solidFill>
        </a:fill>
      </a:tcStyle>
    </a:band1V>
    <a:band2V>
      <a:tcStyle>
        <a:tcBdr/>
      </a:tcStyle>
    </a:band2V>
    <a:lastCol>
      <a:tcTxStyle b="on">
        <a:fontRef idx="minor">
          <a:prstClr val="black"/>
        </a:fontRef>
        <a:schemeClr val="lt1"/>
      </a:tcTxStyle>
      <a:tcStyle>
        <a:tcBdr/>
        <a:fill>
          <a:solidFill>
            <a:schemeClr val="dk1"/>
          </a:solidFill>
        </a:fill>
      </a:tcStyle>
    </a:lastCol>
    <a:firstCol>
      <a:tcTxStyle b="on">
        <a:fontRef idx="minor">
          <a:prstClr val="black"/>
        </a:fontRef>
        <a:schemeClr val="lt1"/>
      </a:tcTxStyle>
      <a:tcStyle>
        <a:tcBdr/>
        <a:fill>
          <a:solidFill>
            <a:schemeClr val="dk1"/>
          </a:solidFill>
        </a:fill>
      </a:tcStyle>
    </a:firstCol>
    <a:lastRow>
      <a:tcTxStyle b="on">
        <a:fontRef idx="minor">
          <a:prstClr val="black"/>
        </a:fontRef>
        <a:schemeClr val="lt1"/>
      </a:tcTxStyle>
      <a:tcStyle>
        <a:tcBdr>
          <a:top>
            <a:ln w="38100" cmpd="sng">
              <a:solidFill>
                <a:schemeClr val="lt1"/>
              </a:solidFill>
            </a:ln>
          </a:top>
        </a:tcBdr>
        <a:fill>
          <a:solidFill>
            <a:schemeClr val="dk1"/>
          </a:solidFill>
        </a:fill>
      </a:tcStyle>
    </a:lastRow>
    <a:firstRow>
      <a:tcTxStyle b="on">
        <a:fontRef idx="minor">
          <a:prstClr val="black"/>
        </a:fontRef>
        <a:schemeClr val="lt1"/>
      </a:tcTxStyle>
      <a:tcStyle>
        <a:tcBdr>
          <a:bottom>
            <a:ln w="38100" cmpd="sng">
              <a:solidFill>
                <a:schemeClr val="lt1"/>
              </a:solidFill>
            </a:ln>
          </a:bottom>
        </a:tcBdr>
        <a:fill>
          <a:solidFill>
            <a:schemeClr val="dk1"/>
          </a:solidFill>
        </a:fill>
      </a:tcStyle>
    </a:firstRow>
  </a:tblStyle>
  <a:tblStyle styleId="{F5AB1C69-6EDB-4FF4-983F-18BD219EF322}" styleName="Средний стиль 2 — акцент 3">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3">
              <a:tint val="20000"/>
            </a:schemeClr>
          </a:solidFill>
        </a:fill>
      </a:tcStyle>
    </a:wholeTbl>
    <a:band1H>
      <a:tcStyle>
        <a:tcBdr/>
        <a:fill>
          <a:solidFill>
            <a:schemeClr val="accent3">
              <a:tint val="40000"/>
            </a:schemeClr>
          </a:solidFill>
        </a:fill>
      </a:tcStyle>
    </a:band1H>
    <a:band2H>
      <a:tcStyle>
        <a:tcBdr/>
      </a:tcStyle>
    </a:band2H>
    <a:band1V>
      <a:tcStyle>
        <a:tcBdr/>
        <a:fill>
          <a:solidFill>
            <a:schemeClr val="accent3">
              <a:tint val="40000"/>
            </a:schemeClr>
          </a:solidFill>
        </a:fill>
      </a:tcStyle>
    </a:band1V>
    <a:band2V>
      <a:tcStyle>
        <a:tcBdr/>
      </a:tcStyle>
    </a:band2V>
    <a:lastCol>
      <a:tcTxStyle b="on">
        <a:fontRef idx="minor">
          <a:prstClr val="black"/>
        </a:fontRef>
        <a:schemeClr val="lt1"/>
      </a:tcTxStyle>
      <a:tcStyle>
        <a:tcBdr/>
        <a:fill>
          <a:solidFill>
            <a:schemeClr val="accent3"/>
          </a:solidFill>
        </a:fill>
      </a:tcStyle>
    </a:lastCol>
    <a:firstCol>
      <a:tcTxStyle b="on">
        <a:fontRef idx="minor">
          <a:prstClr val="black"/>
        </a:fontRef>
        <a:schemeClr val="lt1"/>
      </a:tcTxStyle>
      <a:tcStyle>
        <a:tcBdr/>
        <a:fill>
          <a:solidFill>
            <a:schemeClr val="accent3"/>
          </a:solidFill>
        </a:fill>
      </a:tcStyle>
    </a:firstCol>
    <a:lastRow>
      <a:tcTxStyle b="on">
        <a:fontRef idx="minor">
          <a:prstClr val="black"/>
        </a:fontRef>
        <a:schemeClr val="lt1"/>
      </a:tcTxStyle>
      <a:tcStyle>
        <a:tcBdr>
          <a:top>
            <a:ln w="38100" cmpd="sng">
              <a:solidFill>
                <a:schemeClr val="lt1"/>
              </a:solidFill>
            </a:ln>
          </a:top>
        </a:tcBdr>
        <a:fill>
          <a:solidFill>
            <a:schemeClr val="accent3"/>
          </a:solidFill>
        </a:fill>
      </a:tcStyle>
    </a:lastRow>
    <a:firstRow>
      <a:tcTxStyle b="on">
        <a:fontRef idx="minor">
          <a:prstClr val="black"/>
        </a:fontRef>
        <a:schemeClr val="lt1"/>
      </a:tcTxStyle>
      <a:tcStyle>
        <a:tcBdr>
          <a:bottom>
            <a:ln w="38100" cmpd="sng">
              <a:solidFill>
                <a:schemeClr val="lt1"/>
              </a:solidFill>
            </a:ln>
          </a:bottom>
        </a:tcBdr>
        <a:fill>
          <a:solidFill>
            <a:schemeClr val="accent3"/>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5620"/>
    <p:restoredTop sz="94660"/>
  </p:normalViewPr>
  <p:slideViewPr>
    <p:cSldViewPr snapToGrid="0">
      <p:cViewPr varScale="1">
        <p:scale>
          <a:sx n="107" d="100"/>
          <a:sy n="107" d="100"/>
        </p:scale>
        <p:origin x="714" y="102"/>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presProps" Target="presProps.xml"/><Relationship Id="rId3" Type="http://schemas.openxmlformats.org/officeDocument/2006/relationships/slide" Target="slides/slide2.xml"/><Relationship Id="rId7" Type="http://schemas.openxmlformats.org/officeDocument/2006/relationships/slide" Target="slides/slide6.xml"/><Relationship Id="rId12" Type="http://schemas.openxmlformats.org/officeDocument/2006/relationships/commentAuthors" Target="commentAuthors.xml"/><Relationship Id="rId2" Type="http://schemas.openxmlformats.org/officeDocument/2006/relationships/slide" Target="slides/slide1.xml"/><Relationship Id="rId16" Type="http://schemas.openxmlformats.org/officeDocument/2006/relationships/tableStyles" Target="tableStyle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5" Type="http://schemas.openxmlformats.org/officeDocument/2006/relationships/slide" Target="slides/slide4.xml"/><Relationship Id="rId15" Type="http://schemas.openxmlformats.org/officeDocument/2006/relationships/theme" Target="theme/theme1.xml"/><Relationship Id="rId10" Type="http://schemas.openxmlformats.org/officeDocument/2006/relationships/slide" Target="slides/slide9.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viewProps" Target="viewProps.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Титульный слайд">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0DE38DD-B485-45BD-AF6B-246E9A8CD055}"/>
              </a:ext>
            </a:extLst>
          </p:cNvPr>
          <p:cNvSpPr>
            <a:spLocks noGrp="1"/>
          </p:cNvSpPr>
          <p:nvPr>
            <p:ph type="ctrTitle"/>
          </p:nvPr>
        </p:nvSpPr>
        <p:spPr>
          <a:xfrm>
            <a:off x="1524000" y="1122363"/>
            <a:ext cx="9144000" cy="2387600"/>
          </a:xfrm>
        </p:spPr>
        <p:txBody>
          <a:bodyPr anchor="b"/>
          <a:lstStyle>
            <a:lvl1pPr algn="ctr">
              <a:defRPr sz="6000"/>
            </a:lvl1pPr>
          </a:lstStyle>
          <a:p>
            <a:r>
              <a:rPr lang="ru-RU"/>
              <a:t>Образец заголовка</a:t>
            </a:r>
          </a:p>
        </p:txBody>
      </p:sp>
      <p:sp>
        <p:nvSpPr>
          <p:cNvPr id="3" name="Подзаголовок 2">
            <a:extLst>
              <a:ext uri="{FF2B5EF4-FFF2-40B4-BE49-F238E27FC236}">
                <a16:creationId xmlns:a16="http://schemas.microsoft.com/office/drawing/2014/main" id="{CD167421-9F64-45AA-8C55-07A96EB9B0A6}"/>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ru-RU"/>
              <a:t>Образец подзаголовка</a:t>
            </a:r>
          </a:p>
        </p:txBody>
      </p:sp>
      <p:sp>
        <p:nvSpPr>
          <p:cNvPr id="4" name="Дата 3">
            <a:extLst>
              <a:ext uri="{FF2B5EF4-FFF2-40B4-BE49-F238E27FC236}">
                <a16:creationId xmlns:a16="http://schemas.microsoft.com/office/drawing/2014/main" id="{6FE1E794-82D3-471C-AC9B-3B17A5CCFEE6}"/>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47E12BF7-A961-44FB-B9D3-D7EF8554DADA}"/>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9843FFC-C68B-47A1-8296-154DB3F428A3}"/>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384109627"/>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Заголовок и объек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D9107AFC-401A-4A4A-8221-5A00CB34956C}"/>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03318472-A46A-44F1-82C1-31C4BF74DAD9}"/>
              </a:ext>
            </a:extLst>
          </p:cNvPr>
          <p:cNvSpPr>
            <a:spLocks noGrp="1"/>
          </p:cNvSpPr>
          <p:nvPr>
            <p:ph idx="1"/>
          </p:nvPr>
        </p:nvSpPr>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A2766AFD-F623-46EF-98A4-5A9CFDD1B6A2}"/>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F019AD00-8B3E-4B6F-BB4F-3174FE44D556}"/>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8121E5B9-35E2-4F96-97D8-604BD9E48791}"/>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315240973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Заголовок раздел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4FD5BC43-6DF5-4C5D-A24E-EF639743E1E2}"/>
              </a:ext>
            </a:extLst>
          </p:cNvPr>
          <p:cNvSpPr>
            <a:spLocks noGrp="1"/>
          </p:cNvSpPr>
          <p:nvPr>
            <p:ph type="title"/>
          </p:nvPr>
        </p:nvSpPr>
        <p:spPr>
          <a:xfrm>
            <a:off x="831850" y="1709738"/>
            <a:ext cx="10515600" cy="2852737"/>
          </a:xfrm>
        </p:spPr>
        <p:txBody>
          <a:bodyPr anchor="b"/>
          <a:lstStyle>
            <a:lvl1pPr>
              <a:defRPr sz="6000"/>
            </a:lvl1pPr>
          </a:lstStyle>
          <a:p>
            <a:r>
              <a:rPr lang="ru-RU"/>
              <a:t>Образец заголовка</a:t>
            </a:r>
          </a:p>
        </p:txBody>
      </p:sp>
      <p:sp>
        <p:nvSpPr>
          <p:cNvPr id="3" name="Текст 2">
            <a:extLst>
              <a:ext uri="{FF2B5EF4-FFF2-40B4-BE49-F238E27FC236}">
                <a16:creationId xmlns:a16="http://schemas.microsoft.com/office/drawing/2014/main" id="{D8D774D7-C471-4BBE-90FA-855CF735841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ru-RU"/>
              <a:t>Образец текста</a:t>
            </a:r>
          </a:p>
        </p:txBody>
      </p:sp>
      <p:sp>
        <p:nvSpPr>
          <p:cNvPr id="4" name="Дата 3">
            <a:extLst>
              <a:ext uri="{FF2B5EF4-FFF2-40B4-BE49-F238E27FC236}">
                <a16:creationId xmlns:a16="http://schemas.microsoft.com/office/drawing/2014/main" id="{BBCEDB28-0D5F-4BCF-BE20-5EEB327C845B}"/>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D4F70DDC-AB2F-4866-85C9-D5620F3FA431}"/>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FC24C878-14F7-4529-8B25-8C2EA019888F}"/>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363917278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Два объекта">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1F81399-F7A5-40DB-A294-92531CBD074B}"/>
              </a:ext>
            </a:extLst>
          </p:cNvPr>
          <p:cNvSpPr>
            <a:spLocks noGrp="1"/>
          </p:cNvSpPr>
          <p:nvPr>
            <p:ph type="title"/>
          </p:nvPr>
        </p:nvSpPr>
        <p:spPr/>
        <p:txBody>
          <a:bodyPr/>
          <a:lstStyle/>
          <a:p>
            <a:r>
              <a:rPr lang="ru-RU"/>
              <a:t>Образец заголовка</a:t>
            </a:r>
          </a:p>
        </p:txBody>
      </p:sp>
      <p:sp>
        <p:nvSpPr>
          <p:cNvPr id="3" name="Объект 2">
            <a:extLst>
              <a:ext uri="{FF2B5EF4-FFF2-40B4-BE49-F238E27FC236}">
                <a16:creationId xmlns:a16="http://schemas.microsoft.com/office/drawing/2014/main" id="{D89E02C6-88F1-4BE7-BF06-A8D83300831F}"/>
              </a:ext>
            </a:extLst>
          </p:cNvPr>
          <p:cNvSpPr>
            <a:spLocks noGrp="1"/>
          </p:cNvSpPr>
          <p:nvPr>
            <p:ph sz="half" idx="1"/>
          </p:nvPr>
        </p:nvSpPr>
        <p:spPr>
          <a:xfrm>
            <a:off x="838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Объект 3">
            <a:extLst>
              <a:ext uri="{FF2B5EF4-FFF2-40B4-BE49-F238E27FC236}">
                <a16:creationId xmlns:a16="http://schemas.microsoft.com/office/drawing/2014/main" id="{FA07C207-8664-4379-9EF3-A0A3931D4C70}"/>
              </a:ext>
            </a:extLst>
          </p:cNvPr>
          <p:cNvSpPr>
            <a:spLocks noGrp="1"/>
          </p:cNvSpPr>
          <p:nvPr>
            <p:ph sz="half" idx="2"/>
          </p:nvPr>
        </p:nvSpPr>
        <p:spPr>
          <a:xfrm>
            <a:off x="6172200" y="1825625"/>
            <a:ext cx="5181600" cy="435133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Дата 4">
            <a:extLst>
              <a:ext uri="{FF2B5EF4-FFF2-40B4-BE49-F238E27FC236}">
                <a16:creationId xmlns:a16="http://schemas.microsoft.com/office/drawing/2014/main" id="{A04CD243-837C-49D8-BEE1-91ACC672BA39}"/>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6" name="Нижний колонтитул 5">
            <a:extLst>
              <a:ext uri="{FF2B5EF4-FFF2-40B4-BE49-F238E27FC236}">
                <a16:creationId xmlns:a16="http://schemas.microsoft.com/office/drawing/2014/main" id="{2E419B6C-A51C-4429-95FC-3008D4FC5FC0}"/>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6789D59-1875-4ABA-A7A7-BAAF682F00D4}"/>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2387484961"/>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Сравнение">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6B666D48-841C-4778-906E-64596CC00328}"/>
              </a:ext>
            </a:extLst>
          </p:cNvPr>
          <p:cNvSpPr>
            <a:spLocks noGrp="1"/>
          </p:cNvSpPr>
          <p:nvPr>
            <p:ph type="title"/>
          </p:nvPr>
        </p:nvSpPr>
        <p:spPr>
          <a:xfrm>
            <a:off x="839788" y="365125"/>
            <a:ext cx="10515600" cy="1325563"/>
          </a:xfrm>
        </p:spPr>
        <p:txBody>
          <a:bodyPr/>
          <a:lstStyle/>
          <a:p>
            <a:r>
              <a:rPr lang="ru-RU"/>
              <a:t>Образец заголовка</a:t>
            </a:r>
          </a:p>
        </p:txBody>
      </p:sp>
      <p:sp>
        <p:nvSpPr>
          <p:cNvPr id="3" name="Текст 2">
            <a:extLst>
              <a:ext uri="{FF2B5EF4-FFF2-40B4-BE49-F238E27FC236}">
                <a16:creationId xmlns:a16="http://schemas.microsoft.com/office/drawing/2014/main" id="{43A0A8E8-0420-43E7-A96A-47D647316CEC}"/>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4" name="Объект 3">
            <a:extLst>
              <a:ext uri="{FF2B5EF4-FFF2-40B4-BE49-F238E27FC236}">
                <a16:creationId xmlns:a16="http://schemas.microsoft.com/office/drawing/2014/main" id="{E0C9AF56-3587-4EA5-B695-5E86E35A6E44}"/>
              </a:ext>
            </a:extLst>
          </p:cNvPr>
          <p:cNvSpPr>
            <a:spLocks noGrp="1"/>
          </p:cNvSpPr>
          <p:nvPr>
            <p:ph sz="half" idx="2"/>
          </p:nvPr>
        </p:nvSpPr>
        <p:spPr>
          <a:xfrm>
            <a:off x="839788" y="2505075"/>
            <a:ext cx="5157787"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5" name="Текст 4">
            <a:extLst>
              <a:ext uri="{FF2B5EF4-FFF2-40B4-BE49-F238E27FC236}">
                <a16:creationId xmlns:a16="http://schemas.microsoft.com/office/drawing/2014/main" id="{137CF366-3AC5-450C-AE6E-7ADB032B07CB}"/>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ru-RU"/>
              <a:t>Образец текста</a:t>
            </a:r>
          </a:p>
        </p:txBody>
      </p:sp>
      <p:sp>
        <p:nvSpPr>
          <p:cNvPr id="6" name="Объект 5">
            <a:extLst>
              <a:ext uri="{FF2B5EF4-FFF2-40B4-BE49-F238E27FC236}">
                <a16:creationId xmlns:a16="http://schemas.microsoft.com/office/drawing/2014/main" id="{0F42913D-480C-4A44-9256-ABAC9C69A7C1}"/>
              </a:ext>
            </a:extLst>
          </p:cNvPr>
          <p:cNvSpPr>
            <a:spLocks noGrp="1"/>
          </p:cNvSpPr>
          <p:nvPr>
            <p:ph sz="quarter" idx="4"/>
          </p:nvPr>
        </p:nvSpPr>
        <p:spPr>
          <a:xfrm>
            <a:off x="6172200" y="2505075"/>
            <a:ext cx="5183188" cy="3684588"/>
          </a:xfrm>
        </p:spPr>
        <p:txBody>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7" name="Дата 6">
            <a:extLst>
              <a:ext uri="{FF2B5EF4-FFF2-40B4-BE49-F238E27FC236}">
                <a16:creationId xmlns:a16="http://schemas.microsoft.com/office/drawing/2014/main" id="{7676AFBE-44D2-41D2-9537-60F8BBA81B11}"/>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8" name="Нижний колонтитул 7">
            <a:extLst>
              <a:ext uri="{FF2B5EF4-FFF2-40B4-BE49-F238E27FC236}">
                <a16:creationId xmlns:a16="http://schemas.microsoft.com/office/drawing/2014/main" id="{AAA6592E-F9C4-46A2-9F22-84DDD6F21D38}"/>
              </a:ext>
            </a:extLst>
          </p:cNvPr>
          <p:cNvSpPr>
            <a:spLocks noGrp="1"/>
          </p:cNvSpPr>
          <p:nvPr>
            <p:ph type="ftr" sz="quarter" idx="11"/>
          </p:nvPr>
        </p:nvSpPr>
        <p:spPr/>
        <p:txBody>
          <a:bodyPr/>
          <a:lstStyle/>
          <a:p>
            <a:endParaRPr lang="ru-RU"/>
          </a:p>
        </p:txBody>
      </p:sp>
      <p:sp>
        <p:nvSpPr>
          <p:cNvPr id="9" name="Номер слайда 8">
            <a:extLst>
              <a:ext uri="{FF2B5EF4-FFF2-40B4-BE49-F238E27FC236}">
                <a16:creationId xmlns:a16="http://schemas.microsoft.com/office/drawing/2014/main" id="{1E1ABB0B-5C75-4F8C-AC3B-A5A1547C42FD}"/>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283674269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Только заголовок">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9CA9DFEC-2AC6-4692-8BE2-B2AFC42581F2}"/>
              </a:ext>
            </a:extLst>
          </p:cNvPr>
          <p:cNvSpPr>
            <a:spLocks noGrp="1"/>
          </p:cNvSpPr>
          <p:nvPr>
            <p:ph type="title"/>
          </p:nvPr>
        </p:nvSpPr>
        <p:spPr/>
        <p:txBody>
          <a:bodyPr/>
          <a:lstStyle/>
          <a:p>
            <a:r>
              <a:rPr lang="ru-RU"/>
              <a:t>Образец заголовка</a:t>
            </a:r>
          </a:p>
        </p:txBody>
      </p:sp>
      <p:sp>
        <p:nvSpPr>
          <p:cNvPr id="3" name="Дата 2">
            <a:extLst>
              <a:ext uri="{FF2B5EF4-FFF2-40B4-BE49-F238E27FC236}">
                <a16:creationId xmlns:a16="http://schemas.microsoft.com/office/drawing/2014/main" id="{8F09579B-BEC3-453C-B346-E67D49D172CE}"/>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4" name="Нижний колонтитул 3">
            <a:extLst>
              <a:ext uri="{FF2B5EF4-FFF2-40B4-BE49-F238E27FC236}">
                <a16:creationId xmlns:a16="http://schemas.microsoft.com/office/drawing/2014/main" id="{22E92755-A2AA-464F-B6C2-0D111F14E606}"/>
              </a:ext>
            </a:extLst>
          </p:cNvPr>
          <p:cNvSpPr>
            <a:spLocks noGrp="1"/>
          </p:cNvSpPr>
          <p:nvPr>
            <p:ph type="ftr" sz="quarter" idx="11"/>
          </p:nvPr>
        </p:nvSpPr>
        <p:spPr/>
        <p:txBody>
          <a:bodyPr/>
          <a:lstStyle/>
          <a:p>
            <a:endParaRPr lang="ru-RU"/>
          </a:p>
        </p:txBody>
      </p:sp>
      <p:sp>
        <p:nvSpPr>
          <p:cNvPr id="5" name="Номер слайда 4">
            <a:extLst>
              <a:ext uri="{FF2B5EF4-FFF2-40B4-BE49-F238E27FC236}">
                <a16:creationId xmlns:a16="http://schemas.microsoft.com/office/drawing/2014/main" id="{12FC87BA-2D11-4516-9F11-4C0431DAE8E5}"/>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80233428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Пустой слайд">
    <p:spTree>
      <p:nvGrpSpPr>
        <p:cNvPr id="1" name=""/>
        <p:cNvGrpSpPr/>
        <p:nvPr/>
      </p:nvGrpSpPr>
      <p:grpSpPr>
        <a:xfrm>
          <a:off x="0" y="0"/>
          <a:ext cx="0" cy="0"/>
          <a:chOff x="0" y="0"/>
          <a:chExt cx="0" cy="0"/>
        </a:xfrm>
      </p:grpSpPr>
      <p:sp>
        <p:nvSpPr>
          <p:cNvPr id="2" name="Дата 1">
            <a:extLst>
              <a:ext uri="{FF2B5EF4-FFF2-40B4-BE49-F238E27FC236}">
                <a16:creationId xmlns:a16="http://schemas.microsoft.com/office/drawing/2014/main" id="{B232417D-4FA2-4894-A1F7-E88D99F055FE}"/>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3" name="Нижний колонтитул 2">
            <a:extLst>
              <a:ext uri="{FF2B5EF4-FFF2-40B4-BE49-F238E27FC236}">
                <a16:creationId xmlns:a16="http://schemas.microsoft.com/office/drawing/2014/main" id="{92E8C622-28A2-4BED-A697-0DFC0D2CD499}"/>
              </a:ext>
            </a:extLst>
          </p:cNvPr>
          <p:cNvSpPr>
            <a:spLocks noGrp="1"/>
          </p:cNvSpPr>
          <p:nvPr>
            <p:ph type="ftr" sz="quarter" idx="11"/>
          </p:nvPr>
        </p:nvSpPr>
        <p:spPr/>
        <p:txBody>
          <a:bodyPr/>
          <a:lstStyle/>
          <a:p>
            <a:endParaRPr lang="ru-RU"/>
          </a:p>
        </p:txBody>
      </p:sp>
      <p:sp>
        <p:nvSpPr>
          <p:cNvPr id="4" name="Номер слайда 3">
            <a:extLst>
              <a:ext uri="{FF2B5EF4-FFF2-40B4-BE49-F238E27FC236}">
                <a16:creationId xmlns:a16="http://schemas.microsoft.com/office/drawing/2014/main" id="{52F37DEE-7DAC-451E-9B0C-DAE304245A4E}"/>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318500802"/>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Объект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FF394974-6247-4DB9-90BD-B89342DD546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Объект 2">
            <a:extLst>
              <a:ext uri="{FF2B5EF4-FFF2-40B4-BE49-F238E27FC236}">
                <a16:creationId xmlns:a16="http://schemas.microsoft.com/office/drawing/2014/main" id="{C47BC104-AD9B-4CF2-9296-AF3889DB2024}"/>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Текст 3">
            <a:extLst>
              <a:ext uri="{FF2B5EF4-FFF2-40B4-BE49-F238E27FC236}">
                <a16:creationId xmlns:a16="http://schemas.microsoft.com/office/drawing/2014/main" id="{AA4EB78F-E2DC-4488-A98D-E31E1DB3F57E}"/>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210B1F81-C3EC-459A-8113-8B22D409675D}"/>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6" name="Нижний колонтитул 5">
            <a:extLst>
              <a:ext uri="{FF2B5EF4-FFF2-40B4-BE49-F238E27FC236}">
                <a16:creationId xmlns:a16="http://schemas.microsoft.com/office/drawing/2014/main" id="{BF45122B-4DE1-45AA-AE72-7D7D84C22CDC}"/>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9F4B014D-EA55-42F9-A940-E5B2D98A0AA8}"/>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3799823824"/>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Рисунок с подписью">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1D587A11-492C-40E0-B45B-383EBDEB53C7}"/>
              </a:ext>
            </a:extLst>
          </p:cNvPr>
          <p:cNvSpPr>
            <a:spLocks noGrp="1"/>
          </p:cNvSpPr>
          <p:nvPr>
            <p:ph type="title"/>
          </p:nvPr>
        </p:nvSpPr>
        <p:spPr>
          <a:xfrm>
            <a:off x="839788" y="457200"/>
            <a:ext cx="3932237" cy="1600200"/>
          </a:xfrm>
        </p:spPr>
        <p:txBody>
          <a:bodyPr anchor="b"/>
          <a:lstStyle>
            <a:lvl1pPr>
              <a:defRPr sz="3200"/>
            </a:lvl1pPr>
          </a:lstStyle>
          <a:p>
            <a:r>
              <a:rPr lang="ru-RU"/>
              <a:t>Образец заголовка</a:t>
            </a:r>
          </a:p>
        </p:txBody>
      </p:sp>
      <p:sp>
        <p:nvSpPr>
          <p:cNvPr id="3" name="Рисунок 2">
            <a:extLst>
              <a:ext uri="{FF2B5EF4-FFF2-40B4-BE49-F238E27FC236}">
                <a16:creationId xmlns:a16="http://schemas.microsoft.com/office/drawing/2014/main" id="{7755B36E-E810-488D-B035-A1D652BEFEF0}"/>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ru-RU"/>
          </a:p>
        </p:txBody>
      </p:sp>
      <p:sp>
        <p:nvSpPr>
          <p:cNvPr id="4" name="Текст 3">
            <a:extLst>
              <a:ext uri="{FF2B5EF4-FFF2-40B4-BE49-F238E27FC236}">
                <a16:creationId xmlns:a16="http://schemas.microsoft.com/office/drawing/2014/main" id="{88407065-BB5B-4F4A-A2A2-1A944BF09F8D}"/>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ru-RU"/>
              <a:t>Образец текста</a:t>
            </a:r>
          </a:p>
        </p:txBody>
      </p:sp>
      <p:sp>
        <p:nvSpPr>
          <p:cNvPr id="5" name="Дата 4">
            <a:extLst>
              <a:ext uri="{FF2B5EF4-FFF2-40B4-BE49-F238E27FC236}">
                <a16:creationId xmlns:a16="http://schemas.microsoft.com/office/drawing/2014/main" id="{9AB5FC58-FE33-4FD6-8354-B2892222CED7}"/>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6" name="Нижний колонтитул 5">
            <a:extLst>
              <a:ext uri="{FF2B5EF4-FFF2-40B4-BE49-F238E27FC236}">
                <a16:creationId xmlns:a16="http://schemas.microsoft.com/office/drawing/2014/main" id="{A2994B10-D2D3-46B9-969E-672CE0B15AA1}"/>
              </a:ext>
            </a:extLst>
          </p:cNvPr>
          <p:cNvSpPr>
            <a:spLocks noGrp="1"/>
          </p:cNvSpPr>
          <p:nvPr>
            <p:ph type="ftr" sz="quarter" idx="11"/>
          </p:nvPr>
        </p:nvSpPr>
        <p:spPr/>
        <p:txBody>
          <a:bodyPr/>
          <a:lstStyle/>
          <a:p>
            <a:endParaRPr lang="ru-RU"/>
          </a:p>
        </p:txBody>
      </p:sp>
      <p:sp>
        <p:nvSpPr>
          <p:cNvPr id="7" name="Номер слайда 6">
            <a:extLst>
              <a:ext uri="{FF2B5EF4-FFF2-40B4-BE49-F238E27FC236}">
                <a16:creationId xmlns:a16="http://schemas.microsoft.com/office/drawing/2014/main" id="{7CA6B2BC-F0DA-4FE6-9C82-7EF74C8E845B}"/>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3376796626"/>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Заголовок и вертикальный текст">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AF111489-965D-4D38-BACB-F21669E35A06}"/>
              </a:ext>
            </a:extLst>
          </p:cNvPr>
          <p:cNvSpPr>
            <a:spLocks noGrp="1"/>
          </p:cNvSpPr>
          <p:nvPr>
            <p:ph type="title"/>
          </p:nvPr>
        </p:nvSpPr>
        <p:spPr/>
        <p:txBody>
          <a:bodyPr/>
          <a:lstStyle/>
          <a:p>
            <a:r>
              <a:rPr lang="ru-RU"/>
              <a:t>Образец заголовка</a:t>
            </a:r>
          </a:p>
        </p:txBody>
      </p:sp>
      <p:sp>
        <p:nvSpPr>
          <p:cNvPr id="3" name="Вертикальный текст 2">
            <a:extLst>
              <a:ext uri="{FF2B5EF4-FFF2-40B4-BE49-F238E27FC236}">
                <a16:creationId xmlns:a16="http://schemas.microsoft.com/office/drawing/2014/main" id="{E8C8DD04-4E29-49DF-BB9A-478E90F1CCD4}"/>
              </a:ext>
            </a:extLst>
          </p:cNvPr>
          <p:cNvSpPr>
            <a:spLocks noGrp="1"/>
          </p:cNvSpPr>
          <p:nvPr>
            <p:ph type="body" orient="vert" idx="1"/>
          </p:nvPr>
        </p:nvSpPr>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BF598401-5981-4DF8-BE47-A32D16B36AE9}"/>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E2798CEA-4BA9-4177-9079-DED39AEDB7A5}"/>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557268CB-1D5D-4CF8-AA80-A14F22B96A26}"/>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2732216612"/>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Вертикальный заголовок и текст">
    <p:spTree>
      <p:nvGrpSpPr>
        <p:cNvPr id="1" name=""/>
        <p:cNvGrpSpPr/>
        <p:nvPr/>
      </p:nvGrpSpPr>
      <p:grpSpPr>
        <a:xfrm>
          <a:off x="0" y="0"/>
          <a:ext cx="0" cy="0"/>
          <a:chOff x="0" y="0"/>
          <a:chExt cx="0" cy="0"/>
        </a:xfrm>
      </p:grpSpPr>
      <p:sp>
        <p:nvSpPr>
          <p:cNvPr id="2" name="Вертикальный заголовок 1">
            <a:extLst>
              <a:ext uri="{FF2B5EF4-FFF2-40B4-BE49-F238E27FC236}">
                <a16:creationId xmlns:a16="http://schemas.microsoft.com/office/drawing/2014/main" id="{2E16E5E7-A4F2-4A1B-B4F9-AC20F555291C}"/>
              </a:ext>
            </a:extLst>
          </p:cNvPr>
          <p:cNvSpPr>
            <a:spLocks noGrp="1"/>
          </p:cNvSpPr>
          <p:nvPr>
            <p:ph type="title" orient="vert"/>
          </p:nvPr>
        </p:nvSpPr>
        <p:spPr>
          <a:xfrm>
            <a:off x="8724900" y="365125"/>
            <a:ext cx="2628900" cy="5811838"/>
          </a:xfrm>
        </p:spPr>
        <p:txBody>
          <a:bodyPr vert="eaVert"/>
          <a:lstStyle/>
          <a:p>
            <a:r>
              <a:rPr lang="ru-RU"/>
              <a:t>Образец заголовка</a:t>
            </a:r>
          </a:p>
        </p:txBody>
      </p:sp>
      <p:sp>
        <p:nvSpPr>
          <p:cNvPr id="3" name="Вертикальный текст 2">
            <a:extLst>
              <a:ext uri="{FF2B5EF4-FFF2-40B4-BE49-F238E27FC236}">
                <a16:creationId xmlns:a16="http://schemas.microsoft.com/office/drawing/2014/main" id="{7C447BDE-2EB5-426D-B8D1-E726EEC8E1A6}"/>
              </a:ext>
            </a:extLst>
          </p:cNvPr>
          <p:cNvSpPr>
            <a:spLocks noGrp="1"/>
          </p:cNvSpPr>
          <p:nvPr>
            <p:ph type="body" orient="vert" idx="1"/>
          </p:nvPr>
        </p:nvSpPr>
        <p:spPr>
          <a:xfrm>
            <a:off x="838200" y="365125"/>
            <a:ext cx="7734300" cy="5811838"/>
          </a:xfrm>
        </p:spPr>
        <p:txBody>
          <a:bodyPr vert="eaVert"/>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EC2647C0-57BC-478A-88F1-459C092DF692}"/>
              </a:ext>
            </a:extLst>
          </p:cNvPr>
          <p:cNvSpPr>
            <a:spLocks noGrp="1"/>
          </p:cNvSpPr>
          <p:nvPr>
            <p:ph type="dt" sz="half" idx="10"/>
          </p:nvPr>
        </p:nvSpPr>
        <p:spPr/>
        <p:txBody>
          <a:bodyPr/>
          <a:lstStyle/>
          <a:p>
            <a:fld id="{0EA0B553-31EF-4B1D-9EAB-410AD6CA89D0}"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EBD5A7C8-9514-46D5-A5B8-BDFA88F0B1CD}"/>
              </a:ext>
            </a:extLst>
          </p:cNvPr>
          <p:cNvSpPr>
            <a:spLocks noGrp="1"/>
          </p:cNvSpPr>
          <p:nvPr>
            <p:ph type="ftr" sz="quarter" idx="11"/>
          </p:nvPr>
        </p:nvSpPr>
        <p:spPr/>
        <p:txBody>
          <a:bodyPr/>
          <a:lstStyle/>
          <a:p>
            <a:endParaRPr lang="ru-RU"/>
          </a:p>
        </p:txBody>
      </p:sp>
      <p:sp>
        <p:nvSpPr>
          <p:cNvPr id="6" name="Номер слайда 5">
            <a:extLst>
              <a:ext uri="{FF2B5EF4-FFF2-40B4-BE49-F238E27FC236}">
                <a16:creationId xmlns:a16="http://schemas.microsoft.com/office/drawing/2014/main" id="{219E341C-FCBC-44D6-BD75-3C87199E1712}"/>
              </a:ext>
            </a:extLst>
          </p:cNvPr>
          <p:cNvSpPr>
            <a:spLocks noGrp="1"/>
          </p:cNvSpPr>
          <p:nvPr>
            <p:ph type="sldNum" sz="quarter" idx="12"/>
          </p:nvPr>
        </p:nvSpPr>
        <p:spPr/>
        <p:txBody>
          <a:bodyPr/>
          <a:lstStyle/>
          <a:p>
            <a:fld id="{76FEA683-26E4-4C1E-8F89-2E8F03744260}" type="slidenum">
              <a:rPr lang="ru-RU" smtClean="0"/>
              <a:t>‹#›</a:t>
            </a:fld>
            <a:endParaRPr lang="ru-RU"/>
          </a:p>
        </p:txBody>
      </p:sp>
    </p:spTree>
    <p:extLst>
      <p:ext uri="{BB962C8B-B14F-4D97-AF65-F5344CB8AC3E}">
        <p14:creationId xmlns:p14="http://schemas.microsoft.com/office/powerpoint/2010/main" val="379637323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50A0EE9F-DB49-496F-85E1-8D475E7075AC}"/>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ru-RU"/>
              <a:t>Образец заголовка</a:t>
            </a:r>
          </a:p>
        </p:txBody>
      </p:sp>
      <p:sp>
        <p:nvSpPr>
          <p:cNvPr id="3" name="Текст 2">
            <a:extLst>
              <a:ext uri="{FF2B5EF4-FFF2-40B4-BE49-F238E27FC236}">
                <a16:creationId xmlns:a16="http://schemas.microsoft.com/office/drawing/2014/main" id="{9F971459-0701-4F30-B8C9-22EE571ABB3C}"/>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ru-RU"/>
              <a:t>Образец текста</a:t>
            </a:r>
          </a:p>
          <a:p>
            <a:pPr lvl="1"/>
            <a:r>
              <a:rPr lang="ru-RU"/>
              <a:t>Второй уровень</a:t>
            </a:r>
          </a:p>
          <a:p>
            <a:pPr lvl="2"/>
            <a:r>
              <a:rPr lang="ru-RU"/>
              <a:t>Третий уровень</a:t>
            </a:r>
          </a:p>
          <a:p>
            <a:pPr lvl="3"/>
            <a:r>
              <a:rPr lang="ru-RU"/>
              <a:t>Четвертый уровень</a:t>
            </a:r>
          </a:p>
          <a:p>
            <a:pPr lvl="4"/>
            <a:r>
              <a:rPr lang="ru-RU"/>
              <a:t>Пятый уровень</a:t>
            </a:r>
          </a:p>
        </p:txBody>
      </p:sp>
      <p:sp>
        <p:nvSpPr>
          <p:cNvPr id="4" name="Дата 3">
            <a:extLst>
              <a:ext uri="{FF2B5EF4-FFF2-40B4-BE49-F238E27FC236}">
                <a16:creationId xmlns:a16="http://schemas.microsoft.com/office/drawing/2014/main" id="{4DD10163-FA5C-4AFC-94E4-3BD6BA709E61}"/>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0EA0B553-31EF-4B1D-9EAB-410AD6CA89D0}" type="datetimeFigureOut">
              <a:rPr lang="ru-RU" smtClean="0"/>
              <a:t>18.12.2025</a:t>
            </a:fld>
            <a:endParaRPr lang="ru-RU"/>
          </a:p>
        </p:txBody>
      </p:sp>
      <p:sp>
        <p:nvSpPr>
          <p:cNvPr id="5" name="Нижний колонтитул 4">
            <a:extLst>
              <a:ext uri="{FF2B5EF4-FFF2-40B4-BE49-F238E27FC236}">
                <a16:creationId xmlns:a16="http://schemas.microsoft.com/office/drawing/2014/main" id="{F20F9B26-2864-4043-BE8C-C055582BBCC1}"/>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ru-RU"/>
          </a:p>
        </p:txBody>
      </p:sp>
      <p:sp>
        <p:nvSpPr>
          <p:cNvPr id="6" name="Номер слайда 5">
            <a:extLst>
              <a:ext uri="{FF2B5EF4-FFF2-40B4-BE49-F238E27FC236}">
                <a16:creationId xmlns:a16="http://schemas.microsoft.com/office/drawing/2014/main" id="{41ACAA84-8D25-4FE2-A9C2-B0A371C822EA}"/>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76FEA683-26E4-4C1E-8F89-2E8F03744260}" type="slidenum">
              <a:rPr lang="ru-RU" smtClean="0"/>
              <a:t>‹#›</a:t>
            </a:fld>
            <a:endParaRPr lang="ru-RU"/>
          </a:p>
        </p:txBody>
      </p:sp>
    </p:spTree>
    <p:extLst>
      <p:ext uri="{BB962C8B-B14F-4D97-AF65-F5344CB8AC3E}">
        <p14:creationId xmlns:p14="http://schemas.microsoft.com/office/powerpoint/2010/main" val="2911599011"/>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ru-RU"/>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3" Type="http://schemas.openxmlformats.org/officeDocument/2006/relationships/image" Target="../media/image2.jpg"/><Relationship Id="rId2" Type="http://schemas.openxmlformats.org/officeDocument/2006/relationships/image" Target="../media/image1.jpg"/><Relationship Id="rId1" Type="http://schemas.openxmlformats.org/officeDocument/2006/relationships/slideLayout" Target="../slideLayouts/slideLayout2.xml"/><Relationship Id="rId4" Type="http://schemas.openxmlformats.org/officeDocument/2006/relationships/image" Target="../media/image3.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5.pn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3" Type="http://schemas.openxmlformats.org/officeDocument/2006/relationships/image" Target="../media/image7.jpeg"/><Relationship Id="rId2" Type="http://schemas.openxmlformats.org/officeDocument/2006/relationships/image" Target="../media/image6.png"/><Relationship Id="rId1" Type="http://schemas.openxmlformats.org/officeDocument/2006/relationships/slideLayout" Target="../slideLayouts/slideLayout2.xml"/><Relationship Id="rId6" Type="http://schemas.openxmlformats.org/officeDocument/2006/relationships/image" Target="../media/image10.png"/><Relationship Id="rId5" Type="http://schemas.openxmlformats.org/officeDocument/2006/relationships/image" Target="../media/image9.jpeg"/><Relationship Id="rId4" Type="http://schemas.openxmlformats.org/officeDocument/2006/relationships/image" Target="../media/image8.png"/></Relationships>
</file>

<file path=ppt/slides/_rels/slide8.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5" Type="http://schemas.openxmlformats.org/officeDocument/2006/relationships/image" Target="../media/image14.png"/><Relationship Id="rId4" Type="http://schemas.openxmlformats.org/officeDocument/2006/relationships/image" Target="../media/image13.png"/></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6.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09E791-085C-4CDA-8F96-C54D1FA07C63}"/>
              </a:ext>
            </a:extLst>
          </p:cNvPr>
          <p:cNvSpPr>
            <a:spLocks noGrp="1"/>
          </p:cNvSpPr>
          <p:nvPr>
            <p:ph type="ctrTitle"/>
          </p:nvPr>
        </p:nvSpPr>
        <p:spPr>
          <a:xfrm>
            <a:off x="1524000" y="215153"/>
            <a:ext cx="9144000" cy="5755342"/>
          </a:xfrm>
        </p:spPr>
        <p:txBody>
          <a:bodyPr anchor="ctr">
            <a:normAutofit/>
          </a:bodyPr>
          <a:lstStyle/>
          <a:p>
            <a:r>
              <a:rPr lang="en-US" dirty="0">
                <a:latin typeface="Times New Roman" panose="02020603050405020304" pitchFamily="18" charset="0"/>
                <a:cs typeface="Times New Roman" panose="02020603050405020304" pitchFamily="18" charset="0"/>
              </a:rPr>
              <a:t>Software development for automated experiments on singlet oxygen generation mechanisms</a:t>
            </a:r>
            <a:endParaRPr lang="ru-RU" dirty="0">
              <a:latin typeface="Times New Roman" panose="02020603050405020304" pitchFamily="18" charset="0"/>
              <a:cs typeface="Times New Roman" panose="02020603050405020304" pitchFamily="18" charset="0"/>
            </a:endParaRPr>
          </a:p>
        </p:txBody>
      </p:sp>
      <p:sp>
        <p:nvSpPr>
          <p:cNvPr id="3" name="Подзаголовок 2">
            <a:extLst>
              <a:ext uri="{FF2B5EF4-FFF2-40B4-BE49-F238E27FC236}">
                <a16:creationId xmlns:a16="http://schemas.microsoft.com/office/drawing/2014/main" id="{6F8345CE-A702-49C0-BBBD-34AF53801BCF}"/>
              </a:ext>
            </a:extLst>
          </p:cNvPr>
          <p:cNvSpPr>
            <a:spLocks noGrp="1"/>
          </p:cNvSpPr>
          <p:nvPr>
            <p:ph type="subTitle" idx="1"/>
          </p:nvPr>
        </p:nvSpPr>
        <p:spPr>
          <a:xfrm>
            <a:off x="5396753" y="5970495"/>
            <a:ext cx="6795247" cy="887504"/>
          </a:xfrm>
        </p:spPr>
        <p:txBody>
          <a:bodyPr>
            <a:normAutofit/>
          </a:bodyPr>
          <a:lstStyle/>
          <a:p>
            <a:pPr algn="l">
              <a:spcBef>
                <a:spcPts val="0"/>
              </a:spcBef>
            </a:pPr>
            <a:r>
              <a:rPr lang="en-US" sz="1800" b="1" dirty="0">
                <a:latin typeface="Times New Roman" panose="02020603050405020304" pitchFamily="18" charset="0"/>
                <a:cs typeface="Times New Roman" panose="02020603050405020304" pitchFamily="18" charset="0"/>
              </a:rPr>
              <a:t>Student:</a:t>
            </a:r>
            <a:r>
              <a:rPr lang="en-US" sz="1800" dirty="0">
                <a:latin typeface="Times New Roman" panose="02020603050405020304" pitchFamily="18" charset="0"/>
                <a:cs typeface="Times New Roman" panose="02020603050405020304" pitchFamily="18" charset="0"/>
              </a:rPr>
              <a:t> Bogdan Klimov, group 22357</a:t>
            </a:r>
          </a:p>
          <a:p>
            <a:pPr algn="l">
              <a:spcBef>
                <a:spcPts val="0"/>
              </a:spcBef>
            </a:pPr>
            <a:r>
              <a:rPr lang="en-US" sz="1800" b="1" dirty="0">
                <a:latin typeface="Times New Roman" panose="02020603050405020304" pitchFamily="18" charset="0"/>
                <a:cs typeface="Times New Roman" panose="02020603050405020304" pitchFamily="18" charset="0"/>
              </a:rPr>
              <a:t>Supervisor:</a:t>
            </a:r>
            <a:r>
              <a:rPr lang="en-US" sz="1800" dirty="0">
                <a:latin typeface="Times New Roman" panose="02020603050405020304" pitchFamily="18" charset="0"/>
                <a:cs typeface="Times New Roman" panose="02020603050405020304" pitchFamily="18" charset="0"/>
              </a:rPr>
              <a:t> Kirill </a:t>
            </a:r>
            <a:r>
              <a:rPr lang="en-US" sz="1800" dirty="0" err="1">
                <a:latin typeface="Times New Roman" panose="02020603050405020304" pitchFamily="18" charset="0"/>
                <a:cs typeface="Times New Roman" panose="02020603050405020304" pitchFamily="18" charset="0"/>
              </a:rPr>
              <a:t>Yershov</a:t>
            </a:r>
            <a:r>
              <a:rPr lang="en-US" sz="1800" dirty="0">
                <a:latin typeface="Times New Roman" panose="02020603050405020304" pitchFamily="18" charset="0"/>
                <a:cs typeface="Times New Roman" panose="02020603050405020304" pitchFamily="18" charset="0"/>
              </a:rPr>
              <a:t>, PhD (Physics and Mathematics)</a:t>
            </a:r>
          </a:p>
          <a:p>
            <a:pPr algn="l">
              <a:spcBef>
                <a:spcPts val="0"/>
              </a:spcBef>
            </a:pPr>
            <a:r>
              <a:rPr lang="en-US" sz="1800" b="1" dirty="0">
                <a:latin typeface="Times New Roman" panose="02020603050405020304" pitchFamily="18" charset="0"/>
                <a:cs typeface="Times New Roman" panose="02020603050405020304" pitchFamily="18" charset="0"/>
              </a:rPr>
              <a:t>Location:</a:t>
            </a:r>
            <a:r>
              <a:rPr lang="en-US" sz="1800" dirty="0">
                <a:latin typeface="Times New Roman" panose="02020603050405020304" pitchFamily="18" charset="0"/>
                <a:cs typeface="Times New Roman" panose="02020603050405020304" pitchFamily="18" charset="0"/>
              </a:rPr>
              <a:t> Institute of Chemical Kinetics and Combustion SB RAS</a:t>
            </a:r>
          </a:p>
        </p:txBody>
      </p:sp>
    </p:spTree>
    <p:extLst>
      <p:ext uri="{BB962C8B-B14F-4D97-AF65-F5344CB8AC3E}">
        <p14:creationId xmlns:p14="http://schemas.microsoft.com/office/powerpoint/2010/main" val="336783357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C75D28-21D8-46FA-B239-E307DEF591CB}"/>
              </a:ext>
            </a:extLst>
          </p:cNvPr>
          <p:cNvSpPr>
            <a:spLocks noGrp="1"/>
          </p:cNvSpPr>
          <p:nvPr>
            <p:ph type="title"/>
          </p:nvPr>
        </p:nvSpPr>
        <p:spPr>
          <a:xfrm>
            <a:off x="838200" y="170330"/>
            <a:ext cx="10515600" cy="762000"/>
          </a:xfrm>
        </p:spPr>
        <p:txBody>
          <a:bodyPr/>
          <a:lstStyle/>
          <a:p>
            <a:pPr algn="ctr"/>
            <a:r>
              <a:rPr lang="en-US" dirty="0">
                <a:latin typeface="Times New Roman" panose="02020603050405020304" pitchFamily="18" charset="0"/>
                <a:cs typeface="Times New Roman" panose="02020603050405020304" pitchFamily="18" charset="0"/>
              </a:rPr>
              <a:t>Research area</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9F52EC69-9860-45E6-9E44-C311D1C19D5C}"/>
              </a:ext>
            </a:extLst>
          </p:cNvPr>
          <p:cNvSpPr>
            <a:spLocks noGrp="1"/>
          </p:cNvSpPr>
          <p:nvPr>
            <p:ph idx="1"/>
          </p:nvPr>
        </p:nvSpPr>
        <p:spPr>
          <a:xfrm>
            <a:off x="838200" y="932330"/>
            <a:ext cx="10515600" cy="5755340"/>
          </a:xfrm>
        </p:spPr>
        <p:txBody>
          <a:bodyPr anchor="t"/>
          <a:lstStyle/>
          <a:p>
            <a:pPr marL="0" indent="0">
              <a:buNone/>
            </a:pPr>
            <a:r>
              <a:rPr lang="en-US" dirty="0">
                <a:latin typeface="Times New Roman" panose="02020603050405020304" pitchFamily="18" charset="0"/>
                <a:cs typeface="Times New Roman" panose="02020603050405020304" pitchFamily="18" charset="0"/>
              </a:rPr>
              <a:t>The essence: automation of experimental research, including equipment control and real-time data processing.</a:t>
            </a:r>
          </a:p>
          <a:p>
            <a:pPr marL="0" indent="0">
              <a:buNone/>
            </a:pPr>
            <a:r>
              <a:rPr lang="en-US" dirty="0">
                <a:latin typeface="Times New Roman" panose="02020603050405020304" pitchFamily="18" charset="0"/>
                <a:cs typeface="Times New Roman" panose="02020603050405020304" pitchFamily="18" charset="0"/>
              </a:rPr>
              <a:t>The area: physical chemistry, photochemistry, molecular spectroscopy, automation</a:t>
            </a:r>
            <a:r>
              <a:rPr lang="ru-RU" dirty="0">
                <a:latin typeface="Times New Roman" panose="02020603050405020304" pitchFamily="18" charset="0"/>
                <a:cs typeface="Times New Roman" panose="02020603050405020304" pitchFamily="18" charset="0"/>
              </a:rPr>
              <a:t>.</a:t>
            </a:r>
          </a:p>
        </p:txBody>
      </p:sp>
      <p:pic>
        <p:nvPicPr>
          <p:cNvPr id="5" name="object 4">
            <a:extLst>
              <a:ext uri="{FF2B5EF4-FFF2-40B4-BE49-F238E27FC236}">
                <a16:creationId xmlns:a16="http://schemas.microsoft.com/office/drawing/2014/main" id="{D2D9FDAC-18E2-4473-B2A1-964535786EDD}"/>
              </a:ext>
            </a:extLst>
          </p:cNvPr>
          <p:cNvPicPr/>
          <p:nvPr/>
        </p:nvPicPr>
        <p:blipFill>
          <a:blip r:embed="rId2" cstate="print"/>
          <a:stretch>
            <a:fillRect/>
          </a:stretch>
        </p:blipFill>
        <p:spPr>
          <a:xfrm>
            <a:off x="7176000" y="4486642"/>
            <a:ext cx="2880000" cy="2160000"/>
          </a:xfrm>
          <a:prstGeom prst="rect">
            <a:avLst/>
          </a:prstGeom>
        </p:spPr>
      </p:pic>
      <p:pic>
        <p:nvPicPr>
          <p:cNvPr id="7" name="object 4">
            <a:extLst>
              <a:ext uri="{FF2B5EF4-FFF2-40B4-BE49-F238E27FC236}">
                <a16:creationId xmlns:a16="http://schemas.microsoft.com/office/drawing/2014/main" id="{809834D5-8FDB-4F2F-AB51-791D9E21C0EA}"/>
              </a:ext>
            </a:extLst>
          </p:cNvPr>
          <p:cNvPicPr/>
          <p:nvPr/>
        </p:nvPicPr>
        <p:blipFill>
          <a:blip r:embed="rId3" cstate="print"/>
          <a:stretch>
            <a:fillRect/>
          </a:stretch>
        </p:blipFill>
        <p:spPr>
          <a:xfrm>
            <a:off x="1056000" y="3631199"/>
            <a:ext cx="5040000" cy="2160000"/>
          </a:xfrm>
          <a:prstGeom prst="rect">
            <a:avLst/>
          </a:prstGeom>
        </p:spPr>
      </p:pic>
      <p:pic>
        <p:nvPicPr>
          <p:cNvPr id="8" name="object 5">
            <a:extLst>
              <a:ext uri="{FF2B5EF4-FFF2-40B4-BE49-F238E27FC236}">
                <a16:creationId xmlns:a16="http://schemas.microsoft.com/office/drawing/2014/main" id="{93925ED7-7E9C-4C09-99B0-06795F79790A}"/>
              </a:ext>
            </a:extLst>
          </p:cNvPr>
          <p:cNvPicPr/>
          <p:nvPr/>
        </p:nvPicPr>
        <p:blipFill>
          <a:blip r:embed="rId4" cstate="print"/>
          <a:stretch>
            <a:fillRect/>
          </a:stretch>
        </p:blipFill>
        <p:spPr>
          <a:xfrm>
            <a:off x="7176000" y="2326642"/>
            <a:ext cx="2880000" cy="2160000"/>
          </a:xfrm>
          <a:prstGeom prst="rect">
            <a:avLst/>
          </a:prstGeom>
        </p:spPr>
      </p:pic>
    </p:spTree>
    <p:extLst>
      <p:ext uri="{BB962C8B-B14F-4D97-AF65-F5344CB8AC3E}">
        <p14:creationId xmlns:p14="http://schemas.microsoft.com/office/powerpoint/2010/main" val="433210220"/>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C75D28-21D8-46FA-B239-E307DEF591CB}"/>
              </a:ext>
            </a:extLst>
          </p:cNvPr>
          <p:cNvSpPr>
            <a:spLocks noGrp="1"/>
          </p:cNvSpPr>
          <p:nvPr>
            <p:ph type="title"/>
          </p:nvPr>
        </p:nvSpPr>
        <p:spPr>
          <a:xfrm>
            <a:off x="838200" y="170330"/>
            <a:ext cx="10515600" cy="762000"/>
          </a:xfrm>
        </p:spPr>
        <p:txBody>
          <a:bodyPr/>
          <a:lstStyle/>
          <a:p>
            <a:pPr algn="ctr"/>
            <a:r>
              <a:rPr lang="en-US" dirty="0">
                <a:latin typeface="Times New Roman" panose="02020603050405020304" pitchFamily="18" charset="0"/>
                <a:cs typeface="Times New Roman" panose="02020603050405020304" pitchFamily="18" charset="0"/>
              </a:rPr>
              <a:t>Relevance</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9F52EC69-9860-45E6-9E44-C311D1C19D5C}"/>
              </a:ext>
            </a:extLst>
          </p:cNvPr>
          <p:cNvSpPr>
            <a:spLocks noGrp="1"/>
          </p:cNvSpPr>
          <p:nvPr>
            <p:ph idx="1"/>
          </p:nvPr>
        </p:nvSpPr>
        <p:spPr>
          <a:xfrm>
            <a:off x="838200" y="932330"/>
            <a:ext cx="10515600" cy="5755340"/>
          </a:xfrm>
        </p:spPr>
        <p:txBody>
          <a:bodyPr anchor="ctr"/>
          <a:lstStyle/>
          <a:p>
            <a:pPr marL="0" indent="0">
              <a:buNone/>
            </a:pPr>
            <a:r>
              <a:rPr lang="en-US" dirty="0">
                <a:latin typeface="Times New Roman" panose="02020603050405020304" pitchFamily="18" charset="0"/>
                <a:cs typeface="Times New Roman" panose="02020603050405020304" pitchFamily="18" charset="0"/>
              </a:rPr>
              <a:t>Conducting an experiment to record IR spectra and signals during singlet oxygen generation manually makes it difficult to study its generation mechanisms in highly active complexes. This is because reading and processing the data takes a lot of time and requires the researcher to be constantly present.</a:t>
            </a:r>
          </a:p>
          <a:p>
            <a:pPr marL="0" indent="0">
              <a:buNone/>
            </a:pPr>
            <a:r>
              <a:rPr lang="en-US" dirty="0">
                <a:latin typeface="Times New Roman" panose="02020603050405020304" pitchFamily="18" charset="0"/>
                <a:cs typeface="Times New Roman" panose="02020603050405020304" pitchFamily="18" charset="0"/>
              </a:rPr>
              <a:t>Also, speeding up the reading and processing is necessary when the photo-excited compound responsible for singlet oxygen generation is consumed quickly.</a:t>
            </a:r>
          </a:p>
          <a:p>
            <a:pPr marL="0" indent="0">
              <a:buNone/>
            </a:pPr>
            <a:r>
              <a:rPr lang="en-US" dirty="0">
                <a:latin typeface="Times New Roman" panose="02020603050405020304" pitchFamily="18" charset="0"/>
                <a:cs typeface="Times New Roman" panose="02020603050405020304" pitchFamily="18" charset="0"/>
              </a:rPr>
              <a:t>This work will help reduce experiment time, increase accuracy, and lower the risk of errors.</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372500264"/>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C75D28-21D8-46FA-B239-E307DEF591CB}"/>
              </a:ext>
            </a:extLst>
          </p:cNvPr>
          <p:cNvSpPr>
            <a:spLocks noGrp="1"/>
          </p:cNvSpPr>
          <p:nvPr>
            <p:ph type="title"/>
          </p:nvPr>
        </p:nvSpPr>
        <p:spPr>
          <a:xfrm>
            <a:off x="838200" y="170330"/>
            <a:ext cx="10515600" cy="762000"/>
          </a:xfrm>
        </p:spPr>
        <p:txBody>
          <a:bodyPr/>
          <a:lstStyle/>
          <a:p>
            <a:pPr algn="ctr"/>
            <a:r>
              <a:rPr lang="en-US" dirty="0">
                <a:latin typeface="Times New Roman" panose="02020603050405020304" pitchFamily="18" charset="0"/>
                <a:cs typeface="Times New Roman" panose="02020603050405020304" pitchFamily="18" charset="0"/>
              </a:rPr>
              <a:t>Target</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9F52EC69-9860-45E6-9E44-C311D1C19D5C}"/>
              </a:ext>
            </a:extLst>
          </p:cNvPr>
          <p:cNvSpPr>
            <a:spLocks noGrp="1"/>
          </p:cNvSpPr>
          <p:nvPr>
            <p:ph idx="1"/>
          </p:nvPr>
        </p:nvSpPr>
        <p:spPr>
          <a:xfrm>
            <a:off x="838200" y="932330"/>
            <a:ext cx="10515600" cy="5755340"/>
          </a:xfrm>
        </p:spPr>
        <p:txBody>
          <a:bodyPr anchor="t">
            <a:normAutofit/>
          </a:bodyPr>
          <a:lstStyle/>
          <a:p>
            <a:pPr marL="0" indent="0">
              <a:buNone/>
            </a:pPr>
            <a:r>
              <a:rPr lang="en-US" dirty="0">
                <a:latin typeface="Times New Roman" panose="02020603050405020304" pitchFamily="18" charset="0"/>
                <a:cs typeface="Times New Roman" panose="02020603050405020304" pitchFamily="18" charset="0"/>
              </a:rPr>
              <a:t>Reduce the speed of the experiment to study the mechanisms of singlet oxygen generation and increase the accuracy of calculations.</a:t>
            </a:r>
            <a:endParaRPr lang="ru-RU" dirty="0">
              <a:latin typeface="Times New Roman" panose="02020603050405020304" pitchFamily="18" charset="0"/>
              <a:cs typeface="Times New Roman" panose="02020603050405020304" pitchFamily="18" charset="0"/>
            </a:endParaRPr>
          </a:p>
        </p:txBody>
      </p:sp>
      <p:pic>
        <p:nvPicPr>
          <p:cNvPr id="5" name="Рисунок 4">
            <a:extLst>
              <a:ext uri="{FF2B5EF4-FFF2-40B4-BE49-F238E27FC236}">
                <a16:creationId xmlns:a16="http://schemas.microsoft.com/office/drawing/2014/main" id="{374B9DE7-8152-488B-98B3-A6D3E04E02B8}"/>
              </a:ext>
            </a:extLst>
          </p:cNvPr>
          <p:cNvPicPr>
            <a:picLocks noChangeAspect="1"/>
          </p:cNvPicPr>
          <p:nvPr/>
        </p:nvPicPr>
        <p:blipFill>
          <a:blip r:embed="rId2"/>
          <a:stretch>
            <a:fillRect/>
          </a:stretch>
        </p:blipFill>
        <p:spPr>
          <a:xfrm>
            <a:off x="2856000" y="2367670"/>
            <a:ext cx="6475232" cy="4320000"/>
          </a:xfrm>
          <a:prstGeom prst="rect">
            <a:avLst/>
          </a:prstGeom>
        </p:spPr>
      </p:pic>
    </p:spTree>
    <p:extLst>
      <p:ext uri="{BB962C8B-B14F-4D97-AF65-F5344CB8AC3E}">
        <p14:creationId xmlns:p14="http://schemas.microsoft.com/office/powerpoint/2010/main" val="457622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C75D28-21D8-46FA-B239-E307DEF591CB}"/>
              </a:ext>
            </a:extLst>
          </p:cNvPr>
          <p:cNvSpPr>
            <a:spLocks noGrp="1"/>
          </p:cNvSpPr>
          <p:nvPr>
            <p:ph type="title"/>
          </p:nvPr>
        </p:nvSpPr>
        <p:spPr>
          <a:xfrm>
            <a:off x="838200" y="170330"/>
            <a:ext cx="10515600" cy="762000"/>
          </a:xfrm>
        </p:spPr>
        <p:txBody>
          <a:bodyPr/>
          <a:lstStyle/>
          <a:p>
            <a:pPr algn="ctr"/>
            <a:r>
              <a:rPr lang="en-US" dirty="0">
                <a:latin typeface="Times New Roman" panose="02020603050405020304" pitchFamily="18" charset="0"/>
                <a:cs typeface="Times New Roman" panose="02020603050405020304" pitchFamily="18" charset="0"/>
              </a:rPr>
              <a:t>Tasks</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9F52EC69-9860-45E6-9E44-C311D1C19D5C}"/>
              </a:ext>
            </a:extLst>
          </p:cNvPr>
          <p:cNvSpPr>
            <a:spLocks noGrp="1"/>
          </p:cNvSpPr>
          <p:nvPr>
            <p:ph idx="1"/>
          </p:nvPr>
        </p:nvSpPr>
        <p:spPr>
          <a:xfrm>
            <a:off x="838200" y="932330"/>
            <a:ext cx="10515600" cy="5755340"/>
          </a:xfrm>
        </p:spPr>
        <p:txBody>
          <a:bodyPr anchor="ctr">
            <a:normAutofit fontScale="70000" lnSpcReduction="20000"/>
          </a:bodyPr>
          <a:lstStyle/>
          <a:p>
            <a:pPr marL="0" indent="0">
              <a:buNone/>
            </a:pPr>
            <a:r>
              <a:rPr lang="en-US" dirty="0">
                <a:latin typeface="Times New Roman" panose="02020603050405020304" pitchFamily="18" charset="0"/>
                <a:cs typeface="Times New Roman" panose="02020603050405020304" pitchFamily="18" charset="0"/>
              </a:rPr>
              <a:t>1. Create software to control all components of the experiment. This includes:</a:t>
            </a:r>
          </a:p>
          <a:p>
            <a:pPr marL="540000" indent="-180000"/>
            <a:r>
              <a:rPr lang="en-US" dirty="0">
                <a:latin typeface="Times New Roman" panose="02020603050405020304" pitchFamily="18" charset="0"/>
                <a:cs typeface="Times New Roman" panose="02020603050405020304" pitchFamily="18" charset="0"/>
              </a:rPr>
              <a:t>Controlling the laser wavelength via the OPO.</a:t>
            </a:r>
          </a:p>
          <a:p>
            <a:pPr marL="540000" indent="-180000"/>
            <a:r>
              <a:rPr lang="en-US" sz="2900" dirty="0">
                <a:latin typeface="Times New Roman" panose="02020603050405020304" pitchFamily="18" charset="0"/>
                <a:cs typeface="Times New Roman" panose="02020603050405020304" pitchFamily="18" charset="0"/>
              </a:rPr>
              <a:t>Controlling the passband and step size for the monochromator.</a:t>
            </a:r>
          </a:p>
          <a:p>
            <a:pPr marL="540000" indent="-180000"/>
            <a:r>
              <a:rPr lang="en-US" sz="2900" dirty="0">
                <a:latin typeface="Times New Roman" panose="02020603050405020304" pitchFamily="18" charset="0"/>
                <a:cs typeface="Times New Roman" panose="02020603050405020304" pitchFamily="18" charset="0"/>
              </a:rPr>
              <a:t>Setting the number of wavelength scan repetitions.</a:t>
            </a:r>
          </a:p>
          <a:p>
            <a:pPr marL="0" indent="0">
              <a:buNone/>
            </a:pPr>
            <a:r>
              <a:rPr lang="en-US" dirty="0">
                <a:latin typeface="Times New Roman" panose="02020603050405020304" pitchFamily="18" charset="0"/>
                <a:cs typeface="Times New Roman" panose="02020603050405020304" pitchFamily="18" charset="0"/>
              </a:rPr>
              <a:t>2. The software must handle automatic data collection from equipment:</a:t>
            </a:r>
          </a:p>
          <a:p>
            <a:pPr marL="540000" indent="-180000"/>
            <a:r>
              <a:rPr lang="en-US" sz="2900" dirty="0">
                <a:latin typeface="Times New Roman" panose="02020603050405020304" pitchFamily="18" charset="0"/>
                <a:cs typeface="Times New Roman" panose="02020603050405020304" pitchFamily="18" charset="0"/>
              </a:rPr>
              <a:t>Reading the signal from the oscilloscope and the energy meter.</a:t>
            </a:r>
          </a:p>
          <a:p>
            <a:pPr marL="540000" indent="-180000"/>
            <a:r>
              <a:rPr lang="en-US" sz="2900" dirty="0">
                <a:latin typeface="Times New Roman" panose="02020603050405020304" pitchFamily="18" charset="0"/>
                <a:cs typeface="Times New Roman" panose="02020603050405020304" pitchFamily="18" charset="0"/>
              </a:rPr>
              <a:t>Based on the oscilloscope data, calculate the IR luminescence spectrum by integrating the signal. The integration boundaries will be set interactively. The obtained spectrum will then be approximated.</a:t>
            </a:r>
          </a:p>
          <a:p>
            <a:pPr marL="540000" indent="-180000"/>
            <a:r>
              <a:rPr lang="en-US" sz="2900" dirty="0">
                <a:latin typeface="Times New Roman" panose="02020603050405020304" pitchFamily="18" charset="0"/>
                <a:cs typeface="Times New Roman" panose="02020603050405020304" pitchFamily="18" charset="0"/>
              </a:rPr>
              <a:t>Data from the energy meter will be used to monitor laser pulse energy in real time. It will also help measure the dependence of the signal amplitude (from the oscilloscope) on the laser pulse energy. This is important for determining singlet oxygen generation mechanisms and for measuring the singlet oxygen quantum yield for new or poorly studied compounds.</a:t>
            </a:r>
          </a:p>
          <a:p>
            <a:pPr marL="0" indent="0">
              <a:buNone/>
            </a:pPr>
            <a:r>
              <a:rPr lang="en-US" dirty="0">
                <a:latin typeface="Times New Roman" panose="02020603050405020304" pitchFamily="18" charset="0"/>
                <a:cs typeface="Times New Roman" panose="02020603050405020304" pitchFamily="18" charset="0"/>
              </a:rPr>
              <a:t>3. Implement automatic calibration via the software using a known substance or an LED. This is crucial for accurately determining IR luminescence spectra of singlet oxygen during photoexcitation of poorly studied substances. This will allow the program to verify the correctness of the monochromator's wavelength.</a:t>
            </a:r>
          </a:p>
          <a:p>
            <a:pPr marL="0" indent="0">
              <a:buNone/>
            </a:pPr>
            <a:r>
              <a:rPr lang="en-US" dirty="0">
                <a:latin typeface="Times New Roman" panose="02020603050405020304" pitchFamily="18" charset="0"/>
                <a:cs typeface="Times New Roman" panose="02020603050405020304" pitchFamily="18" charset="0"/>
              </a:rPr>
              <a:t>4. Test the software under real experimental conditions. Evaluate its speed, accuracy, and ease of use compared to manual methods.</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985456430"/>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C75D28-21D8-46FA-B239-E307DEF591CB}"/>
              </a:ext>
            </a:extLst>
          </p:cNvPr>
          <p:cNvSpPr>
            <a:spLocks noGrp="1"/>
          </p:cNvSpPr>
          <p:nvPr>
            <p:ph type="title"/>
          </p:nvPr>
        </p:nvSpPr>
        <p:spPr>
          <a:xfrm>
            <a:off x="838200" y="170330"/>
            <a:ext cx="10515600" cy="762000"/>
          </a:xfrm>
        </p:spPr>
        <p:txBody>
          <a:bodyPr/>
          <a:lstStyle/>
          <a:p>
            <a:pPr algn="ctr"/>
            <a:r>
              <a:rPr lang="en-US" dirty="0">
                <a:latin typeface="Times New Roman" panose="02020603050405020304" pitchFamily="18" charset="0"/>
                <a:cs typeface="Times New Roman" panose="02020603050405020304" pitchFamily="18" charset="0"/>
              </a:rPr>
              <a:t>Work schedule</a:t>
            </a:r>
            <a:endParaRPr lang="ru-RU" dirty="0">
              <a:latin typeface="Times New Roman" panose="02020603050405020304" pitchFamily="18" charset="0"/>
              <a:cs typeface="Times New Roman" panose="02020603050405020304" pitchFamily="18" charset="0"/>
            </a:endParaRPr>
          </a:p>
        </p:txBody>
      </p:sp>
      <p:pic>
        <p:nvPicPr>
          <p:cNvPr id="3" name="Рисунок 2">
            <a:extLst>
              <a:ext uri="{FF2B5EF4-FFF2-40B4-BE49-F238E27FC236}">
                <a16:creationId xmlns:a16="http://schemas.microsoft.com/office/drawing/2014/main" id="{BA89A7E5-E764-4BD3-851F-309303FE3B4F}"/>
              </a:ext>
            </a:extLst>
          </p:cNvPr>
          <p:cNvPicPr>
            <a:picLocks noChangeAspect="1"/>
          </p:cNvPicPr>
          <p:nvPr/>
        </p:nvPicPr>
        <p:blipFill>
          <a:blip r:embed="rId2"/>
          <a:stretch>
            <a:fillRect/>
          </a:stretch>
        </p:blipFill>
        <p:spPr>
          <a:xfrm>
            <a:off x="736481" y="932330"/>
            <a:ext cx="10617319" cy="576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164128788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C75D28-21D8-46FA-B239-E307DEF591CB}"/>
              </a:ext>
            </a:extLst>
          </p:cNvPr>
          <p:cNvSpPr>
            <a:spLocks noGrp="1"/>
          </p:cNvSpPr>
          <p:nvPr>
            <p:ph type="title"/>
          </p:nvPr>
        </p:nvSpPr>
        <p:spPr>
          <a:xfrm>
            <a:off x="838200" y="170330"/>
            <a:ext cx="10515600" cy="762000"/>
          </a:xfrm>
        </p:spPr>
        <p:txBody>
          <a:bodyPr/>
          <a:lstStyle/>
          <a:p>
            <a:pPr algn="ctr"/>
            <a:r>
              <a:rPr lang="en-US" dirty="0">
                <a:latin typeface="Times New Roman" panose="02020603050405020304" pitchFamily="18" charset="0"/>
                <a:cs typeface="Times New Roman" panose="02020603050405020304" pitchFamily="18" charset="0"/>
              </a:rPr>
              <a:t>Equipment</a:t>
            </a:r>
            <a:r>
              <a:rPr lang="ru-RU" dirty="0">
                <a:latin typeface="Times New Roman" panose="02020603050405020304" pitchFamily="18" charset="0"/>
                <a:cs typeface="Times New Roman" panose="02020603050405020304" pitchFamily="18" charset="0"/>
              </a:rPr>
              <a:t> </a:t>
            </a:r>
            <a:r>
              <a:rPr lang="en-US" dirty="0">
                <a:latin typeface="Times New Roman" panose="02020603050405020304" pitchFamily="18" charset="0"/>
                <a:cs typeface="Times New Roman" panose="02020603050405020304" pitchFamily="18" charset="0"/>
              </a:rPr>
              <a:t>and software architecture</a:t>
            </a:r>
            <a:endParaRPr lang="ru-RU" dirty="0">
              <a:latin typeface="Times New Roman" panose="02020603050405020304" pitchFamily="18" charset="0"/>
              <a:cs typeface="Times New Roman" panose="02020603050405020304" pitchFamily="18" charset="0"/>
            </a:endParaRPr>
          </a:p>
        </p:txBody>
      </p:sp>
      <p:pic>
        <p:nvPicPr>
          <p:cNvPr id="3" name="Рисунок 2">
            <a:extLst>
              <a:ext uri="{FF2B5EF4-FFF2-40B4-BE49-F238E27FC236}">
                <a16:creationId xmlns:a16="http://schemas.microsoft.com/office/drawing/2014/main" id="{10426827-8C4F-48D1-A1EA-F72042937EBC}"/>
              </a:ext>
            </a:extLst>
          </p:cNvPr>
          <p:cNvPicPr>
            <a:picLocks noChangeAspect="1"/>
          </p:cNvPicPr>
          <p:nvPr/>
        </p:nvPicPr>
        <p:blipFill rotWithShape="1">
          <a:blip r:embed="rId2"/>
          <a:srcRect l="7007" t="10289" r="6978" b="5543"/>
          <a:stretch/>
        </p:blipFill>
        <p:spPr>
          <a:xfrm>
            <a:off x="838200" y="1488141"/>
            <a:ext cx="2072639" cy="1440000"/>
          </a:xfrm>
          <a:prstGeom prst="rect">
            <a:avLst/>
          </a:prstGeom>
        </p:spPr>
      </p:pic>
      <p:pic>
        <p:nvPicPr>
          <p:cNvPr id="1026" name="Picture 2" descr="MSOX2024A Keysight, Осциллограф цифровой купить в ГенПрибор">
            <a:extLst>
              <a:ext uri="{FF2B5EF4-FFF2-40B4-BE49-F238E27FC236}">
                <a16:creationId xmlns:a16="http://schemas.microsoft.com/office/drawing/2014/main" id="{F5A2E545-8514-497D-A632-BFFB01308849}"/>
              </a:ext>
            </a:extLst>
          </p:cNvPr>
          <p:cNvPicPr>
            <a:picLocks noChangeAspect="1" noChangeArrowheads="1"/>
          </p:cNvPicPr>
          <p:nvPr/>
        </p:nvPicPr>
        <p:blipFill rotWithShape="1">
          <a:blip r:embed="rId3">
            <a:extLst>
              <a:ext uri="{28A0092B-C50C-407E-A947-70E740481C1C}">
                <a14:useLocalDpi xmlns:a14="http://schemas.microsoft.com/office/drawing/2010/main" val="0"/>
              </a:ext>
            </a:extLst>
          </a:blip>
          <a:srcRect l="4692" t="19088" r="3551" b="17163"/>
          <a:stretch/>
        </p:blipFill>
        <p:spPr bwMode="auto">
          <a:xfrm>
            <a:off x="838200" y="3929859"/>
            <a:ext cx="2072639" cy="1440000"/>
          </a:xfrm>
          <a:prstGeom prst="rect">
            <a:avLst/>
          </a:prstGeom>
          <a:noFill/>
          <a:extLst>
            <a:ext uri="{909E8E84-426E-40DD-AFC4-6F175D3DCCD1}">
              <a14:hiddenFill xmlns:a14="http://schemas.microsoft.com/office/drawing/2010/main">
                <a:solidFill>
                  <a:srgbClr val="FFFFFF"/>
                </a:solidFill>
              </a14:hiddenFill>
            </a:ext>
          </a:extLst>
        </p:spPr>
      </p:pic>
      <p:pic>
        <p:nvPicPr>
          <p:cNvPr id="4" name="Рисунок 3">
            <a:extLst>
              <a:ext uri="{FF2B5EF4-FFF2-40B4-BE49-F238E27FC236}">
                <a16:creationId xmlns:a16="http://schemas.microsoft.com/office/drawing/2014/main" id="{3E102A8F-9D5E-46F3-81DD-9CA750D35F4A}"/>
              </a:ext>
            </a:extLst>
          </p:cNvPr>
          <p:cNvPicPr>
            <a:picLocks noChangeAspect="1"/>
          </p:cNvPicPr>
          <p:nvPr/>
        </p:nvPicPr>
        <p:blipFill rotWithShape="1">
          <a:blip r:embed="rId4"/>
          <a:srcRect l="2999" t="12549" r="10334" b="9756"/>
          <a:stretch/>
        </p:blipFill>
        <p:spPr>
          <a:xfrm>
            <a:off x="4434088" y="3929859"/>
            <a:ext cx="2072639" cy="1440000"/>
          </a:xfrm>
          <a:prstGeom prst="rect">
            <a:avLst/>
          </a:prstGeom>
        </p:spPr>
      </p:pic>
      <p:pic>
        <p:nvPicPr>
          <p:cNvPr id="1028" name="Picture 4" descr="LS-2145-OPO">
            <a:extLst>
              <a:ext uri="{FF2B5EF4-FFF2-40B4-BE49-F238E27FC236}">
                <a16:creationId xmlns:a16="http://schemas.microsoft.com/office/drawing/2014/main" id="{DEE6211B-1465-4A4C-B0C4-294A4BAE8B94}"/>
              </a:ext>
            </a:extLst>
          </p:cNvPr>
          <p:cNvPicPr>
            <a:picLocks noChangeAspect="1" noChangeArrowheads="1"/>
          </p:cNvPicPr>
          <p:nvPr/>
        </p:nvPicPr>
        <p:blipFill rotWithShape="1">
          <a:blip r:embed="rId5">
            <a:extLst>
              <a:ext uri="{28A0092B-C50C-407E-A947-70E740481C1C}">
                <a14:useLocalDpi xmlns:a14="http://schemas.microsoft.com/office/drawing/2010/main" val="0"/>
              </a:ext>
            </a:extLst>
          </a:blip>
          <a:srcRect l="-46" t="15889" r="46" b="14669"/>
          <a:stretch/>
        </p:blipFill>
        <p:spPr bwMode="auto">
          <a:xfrm>
            <a:off x="4434088" y="1488141"/>
            <a:ext cx="2073600" cy="1440000"/>
          </a:xfrm>
          <a:prstGeom prst="rect">
            <a:avLst/>
          </a:prstGeom>
          <a:noFill/>
          <a:extLst>
            <a:ext uri="{909E8E84-426E-40DD-AFC4-6F175D3DCCD1}">
              <a14:hiddenFill xmlns:a14="http://schemas.microsoft.com/office/drawing/2010/main">
                <a:solidFill>
                  <a:srgbClr val="FFFFFF"/>
                </a:solidFill>
              </a14:hiddenFill>
            </a:ext>
          </a:extLst>
        </p:spPr>
      </p:pic>
      <p:sp>
        <p:nvSpPr>
          <p:cNvPr id="5" name="TextBox 4">
            <a:extLst>
              <a:ext uri="{FF2B5EF4-FFF2-40B4-BE49-F238E27FC236}">
                <a16:creationId xmlns:a16="http://schemas.microsoft.com/office/drawing/2014/main" id="{52E3106E-13FF-4E88-AB71-7FD15F713C6E}"/>
              </a:ext>
            </a:extLst>
          </p:cNvPr>
          <p:cNvSpPr txBox="1"/>
          <p:nvPr/>
        </p:nvSpPr>
        <p:spPr>
          <a:xfrm>
            <a:off x="287995" y="2928141"/>
            <a:ext cx="3173048" cy="276999"/>
          </a:xfrm>
          <a:prstGeom prst="rect">
            <a:avLst/>
          </a:prstGeom>
          <a:noFill/>
        </p:spPr>
        <p:txBody>
          <a:bodyPr wrap="none" rtlCol="0">
            <a:spAutoFit/>
          </a:bodyPr>
          <a:lstStyle/>
          <a:p>
            <a:pPr algn="ctr"/>
            <a:r>
              <a:rPr lang="en-US" sz="1200" dirty="0">
                <a:latin typeface="Times New Roman" panose="02020603050405020304" pitchFamily="18" charset="0"/>
                <a:cs typeface="Times New Roman" panose="02020603050405020304" pitchFamily="18" charset="0"/>
              </a:rPr>
              <a:t>Monochromator</a:t>
            </a:r>
            <a:r>
              <a:rPr lang="ru-RU"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M266-IV (Solar Laser Systems)</a:t>
            </a:r>
            <a:endParaRPr lang="ru-RU" sz="1200" dirty="0">
              <a:latin typeface="Times New Roman" panose="02020603050405020304" pitchFamily="18" charset="0"/>
              <a:cs typeface="Times New Roman" panose="02020603050405020304" pitchFamily="18" charset="0"/>
            </a:endParaRPr>
          </a:p>
        </p:txBody>
      </p:sp>
      <p:sp>
        <p:nvSpPr>
          <p:cNvPr id="9" name="TextBox 8">
            <a:extLst>
              <a:ext uri="{FF2B5EF4-FFF2-40B4-BE49-F238E27FC236}">
                <a16:creationId xmlns:a16="http://schemas.microsoft.com/office/drawing/2014/main" id="{2E633793-F126-4BB2-A719-1BDBB7F93569}"/>
              </a:ext>
            </a:extLst>
          </p:cNvPr>
          <p:cNvSpPr txBox="1"/>
          <p:nvPr/>
        </p:nvSpPr>
        <p:spPr>
          <a:xfrm>
            <a:off x="3745479" y="2928141"/>
            <a:ext cx="3449855" cy="276999"/>
          </a:xfrm>
          <a:prstGeom prst="rect">
            <a:avLst/>
          </a:prstGeom>
          <a:noFill/>
        </p:spPr>
        <p:txBody>
          <a:bodyPr wrap="none" rtlCol="0">
            <a:spAutoFit/>
          </a:bodyPr>
          <a:lstStyle/>
          <a:p>
            <a:pPr algn="ctr"/>
            <a:r>
              <a:rPr lang="en-US" sz="1200" dirty="0">
                <a:latin typeface="Times New Roman" panose="02020603050405020304" pitchFamily="18" charset="0"/>
                <a:cs typeface="Times New Roman" panose="02020603050405020304" pitchFamily="18" charset="0"/>
              </a:rPr>
              <a:t>Laser radiation</a:t>
            </a:r>
            <a:r>
              <a:rPr lang="ru-RU"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LS-2145-OPO (OPO, </a:t>
            </a:r>
            <a:r>
              <a:rPr lang="en-US" sz="1200" dirty="0" err="1">
                <a:latin typeface="Times New Roman" panose="02020603050405020304" pitchFamily="18" charset="0"/>
                <a:cs typeface="Times New Roman" panose="02020603050405020304" pitchFamily="18" charset="0"/>
              </a:rPr>
              <a:t>Lotis</a:t>
            </a:r>
            <a:r>
              <a:rPr lang="en-US" sz="1200" dirty="0">
                <a:latin typeface="Times New Roman" panose="02020603050405020304" pitchFamily="18" charset="0"/>
                <a:cs typeface="Times New Roman" panose="02020603050405020304" pitchFamily="18" charset="0"/>
              </a:rPr>
              <a:t> </a:t>
            </a:r>
            <a:r>
              <a:rPr lang="en-US" sz="1200" dirty="0" err="1">
                <a:latin typeface="Times New Roman" panose="02020603050405020304" pitchFamily="18" charset="0"/>
                <a:cs typeface="Times New Roman" panose="02020603050405020304" pitchFamily="18" charset="0"/>
              </a:rPr>
              <a:t>Tii</a:t>
            </a:r>
            <a:r>
              <a:rPr lang="en-US" sz="1200" dirty="0">
                <a:latin typeface="Times New Roman" panose="02020603050405020304" pitchFamily="18" charset="0"/>
                <a:cs typeface="Times New Roman" panose="02020603050405020304" pitchFamily="18" charset="0"/>
              </a:rPr>
              <a:t> 2145)</a:t>
            </a:r>
            <a:endParaRPr lang="ru-RU" sz="1200" dirty="0">
              <a:latin typeface="Times New Roman" panose="02020603050405020304" pitchFamily="18" charset="0"/>
              <a:cs typeface="Times New Roman" panose="02020603050405020304" pitchFamily="18" charset="0"/>
            </a:endParaRPr>
          </a:p>
        </p:txBody>
      </p:sp>
      <p:sp>
        <p:nvSpPr>
          <p:cNvPr id="10" name="TextBox 9">
            <a:extLst>
              <a:ext uri="{FF2B5EF4-FFF2-40B4-BE49-F238E27FC236}">
                <a16:creationId xmlns:a16="http://schemas.microsoft.com/office/drawing/2014/main" id="{1F32D395-C453-4C4F-A310-3FBE32F8D8CE}"/>
              </a:ext>
            </a:extLst>
          </p:cNvPr>
          <p:cNvSpPr txBox="1"/>
          <p:nvPr/>
        </p:nvSpPr>
        <p:spPr>
          <a:xfrm>
            <a:off x="547297" y="5369859"/>
            <a:ext cx="2654445" cy="276999"/>
          </a:xfrm>
          <a:prstGeom prst="rect">
            <a:avLst/>
          </a:prstGeom>
          <a:noFill/>
        </p:spPr>
        <p:txBody>
          <a:bodyPr wrap="none" rtlCol="0">
            <a:spAutoFit/>
          </a:bodyPr>
          <a:lstStyle/>
          <a:p>
            <a:pPr algn="ctr"/>
            <a:r>
              <a:rPr lang="en-US" sz="1200" dirty="0">
                <a:latin typeface="Times New Roman" panose="02020603050405020304" pitchFamily="18" charset="0"/>
                <a:cs typeface="Times New Roman" panose="02020603050405020304" pitchFamily="18" charset="0"/>
              </a:rPr>
              <a:t>Oscilloscope</a:t>
            </a:r>
            <a:r>
              <a:rPr lang="ru-RU"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MSOX2024A (Keysight)</a:t>
            </a:r>
            <a:endParaRPr lang="ru-RU" sz="1200" dirty="0">
              <a:latin typeface="Times New Roman" panose="02020603050405020304" pitchFamily="18" charset="0"/>
              <a:cs typeface="Times New Roman" panose="02020603050405020304" pitchFamily="18" charset="0"/>
            </a:endParaRPr>
          </a:p>
        </p:txBody>
      </p:sp>
      <p:sp>
        <p:nvSpPr>
          <p:cNvPr id="12" name="TextBox 11">
            <a:extLst>
              <a:ext uri="{FF2B5EF4-FFF2-40B4-BE49-F238E27FC236}">
                <a16:creationId xmlns:a16="http://schemas.microsoft.com/office/drawing/2014/main" id="{4CAD8E9C-BBA7-48EA-B7C9-2B5B09665005}"/>
              </a:ext>
            </a:extLst>
          </p:cNvPr>
          <p:cNvSpPr txBox="1"/>
          <p:nvPr/>
        </p:nvSpPr>
        <p:spPr>
          <a:xfrm>
            <a:off x="3938192" y="5369859"/>
            <a:ext cx="3064430" cy="276999"/>
          </a:xfrm>
          <a:prstGeom prst="rect">
            <a:avLst/>
          </a:prstGeom>
          <a:noFill/>
        </p:spPr>
        <p:txBody>
          <a:bodyPr wrap="none" rtlCol="0">
            <a:spAutoFit/>
          </a:bodyPr>
          <a:lstStyle/>
          <a:p>
            <a:pPr algn="ctr"/>
            <a:r>
              <a:rPr lang="en-US" sz="1200" dirty="0">
                <a:latin typeface="Times New Roman" panose="02020603050405020304" pitchFamily="18" charset="0"/>
                <a:cs typeface="Times New Roman" panose="02020603050405020304" pitchFamily="18" charset="0"/>
              </a:rPr>
              <a:t>Energy meter</a:t>
            </a:r>
            <a:r>
              <a:rPr lang="ru-RU" sz="1200" dirty="0">
                <a:latin typeface="Times New Roman" panose="02020603050405020304" pitchFamily="18" charset="0"/>
                <a:cs typeface="Times New Roman" panose="02020603050405020304" pitchFamily="18" charset="0"/>
              </a:rPr>
              <a:t> </a:t>
            </a:r>
            <a:r>
              <a:rPr lang="en-US" sz="1200" dirty="0">
                <a:latin typeface="Times New Roman" panose="02020603050405020304" pitchFamily="18" charset="0"/>
                <a:cs typeface="Times New Roman" panose="02020603050405020304" pitchFamily="18" charset="0"/>
              </a:rPr>
              <a:t>QE25SP-S-MT-D0 (</a:t>
            </a:r>
            <a:r>
              <a:rPr lang="en-US" sz="1200" dirty="0" err="1">
                <a:latin typeface="Times New Roman" panose="02020603050405020304" pitchFamily="18" charset="0"/>
                <a:cs typeface="Times New Roman" panose="02020603050405020304" pitchFamily="18" charset="0"/>
              </a:rPr>
              <a:t>Gentec</a:t>
            </a:r>
            <a:r>
              <a:rPr lang="en-US" sz="1200" dirty="0">
                <a:latin typeface="Times New Roman" panose="02020603050405020304" pitchFamily="18" charset="0"/>
                <a:cs typeface="Times New Roman" panose="02020603050405020304" pitchFamily="18" charset="0"/>
              </a:rPr>
              <a:t>-EO)</a:t>
            </a:r>
            <a:endParaRPr lang="ru-RU" sz="1200" dirty="0">
              <a:latin typeface="Times New Roman" panose="02020603050405020304" pitchFamily="18" charset="0"/>
              <a:cs typeface="Times New Roman" panose="02020603050405020304" pitchFamily="18" charset="0"/>
            </a:endParaRPr>
          </a:p>
        </p:txBody>
      </p:sp>
      <p:sp>
        <p:nvSpPr>
          <p:cNvPr id="13" name="TextBox 12">
            <a:extLst>
              <a:ext uri="{FF2B5EF4-FFF2-40B4-BE49-F238E27FC236}">
                <a16:creationId xmlns:a16="http://schemas.microsoft.com/office/drawing/2014/main" id="{27C3F505-6F4D-4068-9FB3-642A1B1F4339}"/>
              </a:ext>
            </a:extLst>
          </p:cNvPr>
          <p:cNvSpPr txBox="1"/>
          <p:nvPr/>
        </p:nvSpPr>
        <p:spPr>
          <a:xfrm>
            <a:off x="9179113" y="5088141"/>
            <a:ext cx="1285929" cy="276999"/>
          </a:xfrm>
          <a:prstGeom prst="rect">
            <a:avLst/>
          </a:prstGeom>
          <a:noFill/>
        </p:spPr>
        <p:txBody>
          <a:bodyPr wrap="none" rtlCol="0">
            <a:spAutoFit/>
          </a:bodyPr>
          <a:lstStyle/>
          <a:p>
            <a:pPr algn="ctr"/>
            <a:r>
              <a:rPr lang="en-US" sz="1200" dirty="0">
                <a:latin typeface="Times New Roman" panose="02020603050405020304" pitchFamily="18" charset="0"/>
                <a:cs typeface="Times New Roman" panose="02020603050405020304" pitchFamily="18" charset="0"/>
              </a:rPr>
              <a:t>Software diagram</a:t>
            </a:r>
            <a:endParaRPr lang="ru-RU" sz="1200" dirty="0">
              <a:latin typeface="Times New Roman" panose="02020603050405020304" pitchFamily="18" charset="0"/>
              <a:cs typeface="Times New Roman" panose="02020603050405020304" pitchFamily="18" charset="0"/>
            </a:endParaRPr>
          </a:p>
        </p:txBody>
      </p:sp>
      <p:pic>
        <p:nvPicPr>
          <p:cNvPr id="6" name="Рисунок 5">
            <a:extLst>
              <a:ext uri="{FF2B5EF4-FFF2-40B4-BE49-F238E27FC236}">
                <a16:creationId xmlns:a16="http://schemas.microsoft.com/office/drawing/2014/main" id="{D9D4F7E3-C7A3-4A47-80BA-CBB27CDAA21B}"/>
              </a:ext>
            </a:extLst>
          </p:cNvPr>
          <p:cNvPicPr>
            <a:picLocks noChangeAspect="1"/>
          </p:cNvPicPr>
          <p:nvPr/>
        </p:nvPicPr>
        <p:blipFill>
          <a:blip r:embed="rId6"/>
          <a:stretch>
            <a:fillRect/>
          </a:stretch>
        </p:blipFill>
        <p:spPr>
          <a:xfrm>
            <a:off x="7740150" y="2208141"/>
            <a:ext cx="4163855" cy="2880000"/>
          </a:xfrm>
          <a:prstGeom prst="rect">
            <a:avLst/>
          </a:prstGeom>
        </p:spPr>
      </p:pic>
    </p:spTree>
    <p:extLst>
      <p:ext uri="{BB962C8B-B14F-4D97-AF65-F5344CB8AC3E}">
        <p14:creationId xmlns:p14="http://schemas.microsoft.com/office/powerpoint/2010/main" val="2155345332"/>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C75D28-21D8-46FA-B239-E307DEF591CB}"/>
              </a:ext>
            </a:extLst>
          </p:cNvPr>
          <p:cNvSpPr>
            <a:spLocks noGrp="1"/>
          </p:cNvSpPr>
          <p:nvPr>
            <p:ph type="title"/>
          </p:nvPr>
        </p:nvSpPr>
        <p:spPr>
          <a:xfrm>
            <a:off x="838200" y="170330"/>
            <a:ext cx="10515600" cy="762000"/>
          </a:xfrm>
        </p:spPr>
        <p:txBody>
          <a:bodyPr/>
          <a:lstStyle/>
          <a:p>
            <a:pPr algn="ctr"/>
            <a:r>
              <a:rPr lang="en-US" dirty="0">
                <a:latin typeface="Times New Roman" panose="02020603050405020304" pitchFamily="18" charset="0"/>
                <a:cs typeface="Times New Roman" panose="02020603050405020304" pitchFamily="18" charset="0"/>
              </a:rPr>
              <a:t>What has already been done</a:t>
            </a:r>
            <a:endParaRPr lang="ru-RU" dirty="0">
              <a:latin typeface="Times New Roman" panose="02020603050405020304" pitchFamily="18" charset="0"/>
              <a:cs typeface="Times New Roman" panose="02020603050405020304" pitchFamily="18" charset="0"/>
            </a:endParaRPr>
          </a:p>
        </p:txBody>
      </p:sp>
      <p:pic>
        <p:nvPicPr>
          <p:cNvPr id="12" name="Рисунок 11">
            <a:extLst>
              <a:ext uri="{FF2B5EF4-FFF2-40B4-BE49-F238E27FC236}">
                <a16:creationId xmlns:a16="http://schemas.microsoft.com/office/drawing/2014/main" id="{F1A68FED-B3A8-4C32-84BE-A5A9C8488D83}"/>
              </a:ext>
            </a:extLst>
          </p:cNvPr>
          <p:cNvPicPr>
            <a:picLocks noChangeAspect="1"/>
          </p:cNvPicPr>
          <p:nvPr/>
        </p:nvPicPr>
        <p:blipFill>
          <a:blip r:embed="rId2"/>
          <a:stretch>
            <a:fillRect/>
          </a:stretch>
        </p:blipFill>
        <p:spPr>
          <a:xfrm>
            <a:off x="6430922" y="4015270"/>
            <a:ext cx="4695029" cy="252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8" name="Рисунок 7">
            <a:extLst>
              <a:ext uri="{FF2B5EF4-FFF2-40B4-BE49-F238E27FC236}">
                <a16:creationId xmlns:a16="http://schemas.microsoft.com/office/drawing/2014/main" id="{F86F809C-B202-4323-AA1B-9F9E47AD2139}"/>
              </a:ext>
            </a:extLst>
          </p:cNvPr>
          <p:cNvPicPr>
            <a:picLocks noChangeAspect="1"/>
          </p:cNvPicPr>
          <p:nvPr/>
        </p:nvPicPr>
        <p:blipFill>
          <a:blip r:embed="rId3"/>
          <a:stretch>
            <a:fillRect/>
          </a:stretch>
        </p:blipFill>
        <p:spPr>
          <a:xfrm>
            <a:off x="6435478" y="1147483"/>
            <a:ext cx="4695029" cy="252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4" name="Рисунок 3">
            <a:extLst>
              <a:ext uri="{FF2B5EF4-FFF2-40B4-BE49-F238E27FC236}">
                <a16:creationId xmlns:a16="http://schemas.microsoft.com/office/drawing/2014/main" id="{3A13E417-00D8-47AC-AF7B-E8FF9B654301}"/>
              </a:ext>
            </a:extLst>
          </p:cNvPr>
          <p:cNvPicPr>
            <a:picLocks noChangeAspect="1"/>
          </p:cNvPicPr>
          <p:nvPr/>
        </p:nvPicPr>
        <p:blipFill>
          <a:blip r:embed="rId4"/>
          <a:stretch>
            <a:fillRect/>
          </a:stretch>
        </p:blipFill>
        <p:spPr>
          <a:xfrm>
            <a:off x="1061493" y="1147483"/>
            <a:ext cx="4695030" cy="252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pic>
        <p:nvPicPr>
          <p:cNvPr id="14" name="Рисунок 13">
            <a:extLst>
              <a:ext uri="{FF2B5EF4-FFF2-40B4-BE49-F238E27FC236}">
                <a16:creationId xmlns:a16="http://schemas.microsoft.com/office/drawing/2014/main" id="{BFBE4DD7-CDE9-4B53-B4E3-FD6D993BF890}"/>
              </a:ext>
            </a:extLst>
          </p:cNvPr>
          <p:cNvPicPr>
            <a:picLocks noChangeAspect="1"/>
          </p:cNvPicPr>
          <p:nvPr/>
        </p:nvPicPr>
        <p:blipFill>
          <a:blip r:embed="rId5"/>
          <a:stretch>
            <a:fillRect/>
          </a:stretch>
        </p:blipFill>
        <p:spPr>
          <a:xfrm>
            <a:off x="1066050" y="4015270"/>
            <a:ext cx="4695029" cy="2520000"/>
          </a:xfrm>
          <a:prstGeom prst="rect">
            <a:avLst/>
          </a:prstGeom>
          <a:ln w="38100" cap="sq">
            <a:solidFill>
              <a:srgbClr val="000000"/>
            </a:solidFill>
            <a:prstDash val="solid"/>
            <a:miter lim="800000"/>
          </a:ln>
          <a:effectLst>
            <a:outerShdw blurRad="50800" dist="38100" dir="2700000" algn="tl" rotWithShape="0">
              <a:srgbClr val="000000">
                <a:alpha val="43000"/>
              </a:srgbClr>
            </a:outerShdw>
          </a:effectLst>
        </p:spPr>
      </p:pic>
    </p:spTree>
    <p:extLst>
      <p:ext uri="{BB962C8B-B14F-4D97-AF65-F5344CB8AC3E}">
        <p14:creationId xmlns:p14="http://schemas.microsoft.com/office/powerpoint/2010/main" val="3511736450"/>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EEC75D28-21D8-46FA-B239-E307DEF591CB}"/>
              </a:ext>
            </a:extLst>
          </p:cNvPr>
          <p:cNvSpPr>
            <a:spLocks noGrp="1"/>
          </p:cNvSpPr>
          <p:nvPr>
            <p:ph type="title"/>
          </p:nvPr>
        </p:nvSpPr>
        <p:spPr>
          <a:xfrm>
            <a:off x="838200" y="170330"/>
            <a:ext cx="10515600" cy="762000"/>
          </a:xfrm>
        </p:spPr>
        <p:txBody>
          <a:bodyPr/>
          <a:lstStyle/>
          <a:p>
            <a:pPr algn="ctr"/>
            <a:r>
              <a:rPr lang="en-US" dirty="0">
                <a:latin typeface="Times New Roman" panose="02020603050405020304" pitchFamily="18" charset="0"/>
                <a:cs typeface="Times New Roman" panose="02020603050405020304" pitchFamily="18" charset="0"/>
              </a:rPr>
              <a:t>Expected results</a:t>
            </a:r>
            <a:endParaRPr lang="ru-RU" dirty="0">
              <a:latin typeface="Times New Roman" panose="02020603050405020304" pitchFamily="18" charset="0"/>
              <a:cs typeface="Times New Roman" panose="02020603050405020304" pitchFamily="18" charset="0"/>
            </a:endParaRPr>
          </a:p>
        </p:txBody>
      </p:sp>
      <p:sp>
        <p:nvSpPr>
          <p:cNvPr id="3" name="Объект 2">
            <a:extLst>
              <a:ext uri="{FF2B5EF4-FFF2-40B4-BE49-F238E27FC236}">
                <a16:creationId xmlns:a16="http://schemas.microsoft.com/office/drawing/2014/main" id="{9F52EC69-9860-45E6-9E44-C311D1C19D5C}"/>
              </a:ext>
            </a:extLst>
          </p:cNvPr>
          <p:cNvSpPr>
            <a:spLocks noGrp="1"/>
          </p:cNvSpPr>
          <p:nvPr>
            <p:ph idx="1"/>
          </p:nvPr>
        </p:nvSpPr>
        <p:spPr>
          <a:xfrm>
            <a:off x="838200" y="932330"/>
            <a:ext cx="10515600" cy="5755340"/>
          </a:xfrm>
        </p:spPr>
        <p:txBody>
          <a:bodyPr anchor="ctr">
            <a:normAutofit/>
          </a:bodyPr>
          <a:lstStyle/>
          <a:p>
            <a:pPr marL="0" indent="0">
              <a:buNone/>
            </a:pPr>
            <a:r>
              <a:rPr lang="ru-RU" dirty="0">
                <a:latin typeface="Times New Roman" panose="02020603050405020304" pitchFamily="18" charset="0"/>
                <a:cs typeface="Times New Roman" panose="02020603050405020304" pitchFamily="18" charset="0"/>
              </a:rPr>
              <a:t>1. </a:t>
            </a:r>
            <a:r>
              <a:rPr lang="en-US" dirty="0">
                <a:latin typeface="Times New Roman" panose="02020603050405020304" pitchFamily="18" charset="0"/>
                <a:cs typeface="Times New Roman" panose="02020603050405020304" pitchFamily="18" charset="0"/>
              </a:rPr>
              <a:t>A formalized algorithm for conducting experiments will be developed and implemented in the software. This will allow for faster and more accurate acquisition of singlet oxygen IR luminescence spectra, specifically spectra dependent on the laser excitation wavelength.</a:t>
            </a:r>
          </a:p>
          <a:p>
            <a:pPr marL="0" indent="0">
              <a:buNone/>
            </a:pPr>
            <a:r>
              <a:rPr lang="ru-RU" dirty="0">
                <a:latin typeface="Times New Roman" panose="02020603050405020304" pitchFamily="18" charset="0"/>
                <a:cs typeface="Times New Roman" panose="02020603050405020304" pitchFamily="18" charset="0"/>
              </a:rPr>
              <a:t>2. </a:t>
            </a:r>
            <a:r>
              <a:rPr lang="en-US" dirty="0">
                <a:latin typeface="Times New Roman" panose="02020603050405020304" pitchFamily="18" charset="0"/>
                <a:cs typeface="Times New Roman" panose="02020603050405020304" pitchFamily="18" charset="0"/>
              </a:rPr>
              <a:t>Software will be developed to collect data from the oscilloscope and energy meter and process it immediately. The processing will use two independent methods to calculate the spectrum and analyze the intensity vs. energy dependence.</a:t>
            </a:r>
          </a:p>
          <a:p>
            <a:pPr marL="0" indent="0">
              <a:buNone/>
            </a:pPr>
            <a:r>
              <a:rPr lang="ru-RU" dirty="0">
                <a:latin typeface="Times New Roman" panose="02020603050405020304" pitchFamily="18" charset="0"/>
                <a:cs typeface="Times New Roman" panose="02020603050405020304" pitchFamily="18" charset="0"/>
              </a:rPr>
              <a:t>3. </a:t>
            </a:r>
            <a:r>
              <a:rPr lang="en-US" dirty="0">
                <a:latin typeface="Times New Roman" panose="02020603050405020304" pitchFamily="18" charset="0"/>
                <a:cs typeface="Times New Roman" panose="02020603050405020304" pitchFamily="18" charset="0"/>
              </a:rPr>
              <a:t>An integrated automatic calibration procedure will be implemented and tested. It will use a reference substance or an LED with known spectral characteristics.</a:t>
            </a:r>
          </a:p>
          <a:p>
            <a:pPr marL="0" indent="0">
              <a:buNone/>
            </a:pPr>
            <a:r>
              <a:rPr lang="ru-RU" dirty="0">
                <a:latin typeface="Times New Roman" panose="02020603050405020304" pitchFamily="18" charset="0"/>
                <a:cs typeface="Times New Roman" panose="02020603050405020304" pitchFamily="18" charset="0"/>
              </a:rPr>
              <a:t>4. </a:t>
            </a:r>
            <a:r>
              <a:rPr lang="en-US" dirty="0">
                <a:latin typeface="Times New Roman" panose="02020603050405020304" pitchFamily="18" charset="0"/>
                <a:cs typeface="Times New Roman" panose="02020603050405020304" pitchFamily="18" charset="0"/>
              </a:rPr>
              <a:t>The software will be tested under real experimental conditions.</a:t>
            </a:r>
            <a:endParaRPr lang="ru-RU"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3292413976"/>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Заголовок 1">
            <a:extLst>
              <a:ext uri="{FF2B5EF4-FFF2-40B4-BE49-F238E27FC236}">
                <a16:creationId xmlns:a16="http://schemas.microsoft.com/office/drawing/2014/main" id="{8009E791-085C-4CDA-8F96-C54D1FA07C63}"/>
              </a:ext>
            </a:extLst>
          </p:cNvPr>
          <p:cNvSpPr>
            <a:spLocks noGrp="1"/>
          </p:cNvSpPr>
          <p:nvPr>
            <p:ph type="title"/>
          </p:nvPr>
        </p:nvSpPr>
        <p:spPr>
          <a:xfrm>
            <a:off x="838200" y="365125"/>
            <a:ext cx="10515600" cy="6089463"/>
          </a:xfrm>
        </p:spPr>
        <p:txBody>
          <a:bodyPr anchor="ctr">
            <a:normAutofit/>
          </a:bodyPr>
          <a:lstStyle/>
          <a:p>
            <a:pPr algn="ctr"/>
            <a:r>
              <a:rPr lang="en-US" sz="5400" dirty="0">
                <a:latin typeface="Times New Roman" panose="02020603050405020304" pitchFamily="18" charset="0"/>
                <a:cs typeface="Times New Roman" panose="02020603050405020304" pitchFamily="18" charset="0"/>
              </a:rPr>
              <a:t>Thank you for your attention!</a:t>
            </a:r>
            <a:endParaRPr lang="ru-RU" sz="5400" dirty="0">
              <a:latin typeface="Times New Roman" panose="02020603050405020304" pitchFamily="18" charset="0"/>
              <a:cs typeface="Times New Roman" panose="02020603050405020304" pitchFamily="18" charset="0"/>
            </a:endParaRPr>
          </a:p>
        </p:txBody>
      </p:sp>
    </p:spTree>
    <p:extLst>
      <p:ext uri="{BB962C8B-B14F-4D97-AF65-F5344CB8AC3E}">
        <p14:creationId xmlns:p14="http://schemas.microsoft.com/office/powerpoint/2010/main" val="4223460131"/>
      </p:ext>
    </p:extLst>
  </p:cSld>
  <p:clrMapOvr>
    <a:masterClrMapping/>
  </p:clrMapOvr>
</p:sld>
</file>

<file path=ppt/theme/theme1.xml><?xml version="1.0" encoding="utf-8"?>
<a:theme xmlns:a="http://schemas.openxmlformats.org/drawingml/2006/main" name="Тема Office">
  <a:themeElements>
    <a:clrScheme name="Стандартная">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Стандартная">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Стандартная">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447</TotalTime>
  <Words>586</Words>
  <Application>Microsoft Office PowerPoint</Application>
  <PresentationFormat>Широкоэкранный</PresentationFormat>
  <Paragraphs>38</Paragraphs>
  <Slides>10</Slides>
  <Notes>0</Notes>
  <HiddenSlides>0</HiddenSlides>
  <MMClips>0</MMClips>
  <ScaleCrop>false</ScaleCrop>
  <HeadingPairs>
    <vt:vector size="6" baseType="variant">
      <vt:variant>
        <vt:lpstr>Использованные шрифты</vt:lpstr>
      </vt:variant>
      <vt:variant>
        <vt:i4>4</vt:i4>
      </vt:variant>
      <vt:variant>
        <vt:lpstr>Тема</vt:lpstr>
      </vt:variant>
      <vt:variant>
        <vt:i4>1</vt:i4>
      </vt:variant>
      <vt:variant>
        <vt:lpstr>Заголовки слайдов</vt:lpstr>
      </vt:variant>
      <vt:variant>
        <vt:i4>10</vt:i4>
      </vt:variant>
    </vt:vector>
  </HeadingPairs>
  <TitlesOfParts>
    <vt:vector size="15" baseType="lpstr">
      <vt:lpstr>Arial</vt:lpstr>
      <vt:lpstr>Calibri</vt:lpstr>
      <vt:lpstr>Calibri Light</vt:lpstr>
      <vt:lpstr>Times New Roman</vt:lpstr>
      <vt:lpstr>Тема Office</vt:lpstr>
      <vt:lpstr>Software development for automated experiments on singlet oxygen generation mechanisms</vt:lpstr>
      <vt:lpstr>Research area</vt:lpstr>
      <vt:lpstr>Relevance</vt:lpstr>
      <vt:lpstr>Target</vt:lpstr>
      <vt:lpstr>Tasks</vt:lpstr>
      <vt:lpstr>Work schedule</vt:lpstr>
      <vt:lpstr>Equipment and software architecture</vt:lpstr>
      <vt:lpstr>What has already been done</vt:lpstr>
      <vt:lpstr>Expected results</vt:lpstr>
      <vt:lpstr>Thank you for your attention!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Разработка программного обеспечения для автоматизированного проведения экспериментов по изучению механизмов генерации синглетного кислорода</dc:title>
  <dc:creator>Bogdan Klimov</dc:creator>
  <cp:lastModifiedBy>Bogdan Klimov</cp:lastModifiedBy>
  <cp:revision>46</cp:revision>
  <dcterms:created xsi:type="dcterms:W3CDTF">2025-12-16T05:41:17Z</dcterms:created>
  <dcterms:modified xsi:type="dcterms:W3CDTF">2025-12-18T16:30:19Z</dcterms:modified>
</cp:coreProperties>
</file>