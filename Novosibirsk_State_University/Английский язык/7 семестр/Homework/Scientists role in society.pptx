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5848F5-6A6E-49C6-A7BB-AC319F7A5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A6A7A30-AEE9-4A28-9273-C493749C2D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55C0BA-F6A0-40F5-8A94-990996753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4C5B-A5E9-44B5-A532-59FAEF801C7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298228-66BF-44DE-8233-1979CA5D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A15C07-989C-4F14-846C-D0D818465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203E-28E5-4DA7-A5A6-548C1C96BC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0413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42D415-1ED2-40A8-8D73-D560F1089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6F1FC8-90A0-41E0-A4B2-C2491ACB1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655EC2-6AB1-4D18-82E5-9D8C720A1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4C5B-A5E9-44B5-A532-59FAEF801C7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9F42B8-2588-4839-B4B9-20DC0815D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D420AF-F70F-4FBB-8D0A-3A91C8A5E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203E-28E5-4DA7-A5A6-548C1C96BC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9909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EE5453-4BA3-4B7B-87AF-65AC3C605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AA8B778-6330-406A-8C36-65B56BD76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234C3F-84FF-43DD-8AFE-8FC8B21C0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4C5B-A5E9-44B5-A532-59FAEF801C7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FFD7F9-D398-405F-B088-966CDA729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B8B146-CF50-446C-95A4-566C34238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203E-28E5-4DA7-A5A6-548C1C96BC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0721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80C3A-0284-44EF-B143-D7D4A6CF5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A2A363-E91C-4CFB-A4D3-C2C5D216E0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B4F697-5E23-4C74-AEBB-E6F47F099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3E3DD25-7C2B-4540-AB17-9B568B506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4C5B-A5E9-44B5-A532-59FAEF801C7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BED700-4066-4085-8B1A-4A9F50A45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A7D30E3-C4E2-4330-AEB8-D30CF2391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203E-28E5-4DA7-A5A6-548C1C96BC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832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0B0DAC-C48C-40E4-B395-15662DB14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3DF6071-C20B-4E87-8C75-9A9FE7807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72150A0-A7AE-4329-860B-0F316F2E8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7719315-4579-48A8-BB3C-B48E919BBC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F2D25AB-A366-4DE8-BFC8-FF6CF64030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4323A8-8966-4C6E-A8BC-3D6D884BE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4C5B-A5E9-44B5-A532-59FAEF801C7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5D279D9-2CE9-45E7-9D45-AC5F7AA72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59290FD-9102-46C3-B3C0-723F611D8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203E-28E5-4DA7-A5A6-548C1C96BC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446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5E85C8-5CF0-474A-8A60-FA0BD90DE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1D05B5F-531E-4C4E-BF9A-587BDFBAE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4C5B-A5E9-44B5-A532-59FAEF801C7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FE7589D-F974-469F-874D-55FD442B3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58D17D6-8E07-455D-A4ED-3D390494A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203E-28E5-4DA7-A5A6-548C1C96BC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317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A95DB97-B993-4B47-BFBC-BDFEE0085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4C5B-A5E9-44B5-A532-59FAEF801C7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9A1DE92-BA28-4E63-A90A-9ED808801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E7079C-F2A0-4F2F-A7B7-666735D22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203E-28E5-4DA7-A5A6-548C1C96BC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4191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9872DA-3201-40F9-9B27-C84609BF7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FF6BE6-8399-4A20-B07F-41E6F1B450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F3D71B8-EDA3-4899-9856-7507F9F7E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D036F59-2389-4823-95F7-9EE80F2E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4C5B-A5E9-44B5-A532-59FAEF801C7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16303AB-5891-4CFF-821B-4BFB21B89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573EDB-B294-42AA-BFC6-24CA715C1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203E-28E5-4DA7-A5A6-548C1C96BC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05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CFC194-E308-4CE1-AE60-A50F5BF90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C5D7E2E-BAEB-4073-A6B4-E546F33003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AEC1669-3146-4BA0-AAB1-7871FB244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5CEA31F-BCAE-464B-9D50-7DAB8497F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4C5B-A5E9-44B5-A532-59FAEF801C7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98013E-2466-4248-8826-AFA49A2CF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E5C559C-B9BB-4830-95A1-5E793A217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203E-28E5-4DA7-A5A6-548C1C96BC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193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31BB12-E1C6-4104-8E57-16C52440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BA2631-FE82-4992-BC6C-1B6B2AA42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68A1C2-2FE7-438D-86F3-D64496BF1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4C5B-A5E9-44B5-A532-59FAEF801C7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CDC2FB-9C29-43E8-BF31-14E544BFA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CD20D9-69D0-4CD9-AEB0-EEB524A1B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203E-28E5-4DA7-A5A6-548C1C96BC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6310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C3582E0-E7D3-48F1-B8AC-EC80DFF099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F50241-5CE2-4F3B-B83C-CB8366727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404762-3E0B-4B75-8CDE-F37A1B859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64C5B-A5E9-44B5-A532-59FAEF801C7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4EDE7B-86F2-4777-97CB-A85EEEB1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A726BDE-756D-46D9-AD10-B4A944658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D2203E-28E5-4DA7-A5A6-548C1C96BC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085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697419-C87C-446B-B013-7F1B90A09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BECFEC-3A6F-41BF-8067-7C0CBB8E2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9F9569-B90A-4644-9A0F-1A06128571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64C5B-A5E9-44B5-A532-59FAEF801C7A}" type="datetimeFigureOut">
              <a:rPr lang="ru-RU" smtClean="0"/>
              <a:t>29.11.2025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C7CA41-7A9B-4F79-BDDA-E2AE331C89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5E74EF-5ED6-45BA-A0E1-D87C5667E6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D2203E-28E5-4DA7-A5A6-548C1C96BC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5757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B2CCA9-0A00-495B-A345-9057FB758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310250"/>
          </a:xfrm>
        </p:spPr>
        <p:txBody>
          <a:bodyPr anchor="ctr">
            <a:norm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scientists in society</a:t>
            </a:r>
            <a:endParaRPr lang="ru-RU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 descr="Детство и юность великих ученых. Тест">
            <a:extLst>
              <a:ext uri="{FF2B5EF4-FFF2-40B4-BE49-F238E27FC236}">
                <a16:creationId xmlns:a16="http://schemas.microsoft.com/office/drawing/2014/main" id="{9E86188F-92D3-404F-8693-3C4A492BEF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8" t="31010" r="1897" b="982"/>
          <a:stretch/>
        </p:blipFill>
        <p:spPr bwMode="auto">
          <a:xfrm>
            <a:off x="1147483" y="4338000"/>
            <a:ext cx="9897034" cy="25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7440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38661-125B-4AD7-B4C5-E70A8DAEE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are scientists and what do they do?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8" name="Picture 4" descr="Выдающиеся ученые-физики своего времени - 23.08.19 12:00 | Пикабу">
            <a:extLst>
              <a:ext uri="{FF2B5EF4-FFF2-40B4-BE49-F238E27FC236}">
                <a16:creationId xmlns:a16="http://schemas.microsoft.com/office/drawing/2014/main" id="{749BB03A-D625-4B64-AC41-2AE11B089B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" t="570" r="-238" b="26292"/>
          <a:stretch/>
        </p:blipFill>
        <p:spPr bwMode="auto">
          <a:xfrm>
            <a:off x="1596000" y="1690688"/>
            <a:ext cx="9000000" cy="4319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376D87-EE1B-4CAC-8179-DC05E3AD940D}"/>
              </a:ext>
            </a:extLst>
          </p:cNvPr>
          <p:cNvSpPr txBox="1"/>
          <p:nvPr/>
        </p:nvSpPr>
        <p:spPr>
          <a:xfrm>
            <a:off x="4504859" y="6010275"/>
            <a:ext cx="31822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1927 Solvay Conference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788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38661-125B-4AD7-B4C5-E70A8DAEE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295775" cy="1730375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features of scientists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38F4FB-6727-48D7-9D01-7BAB57940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9225" y="2095500"/>
            <a:ext cx="3143250" cy="4133850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Curiosity</a:t>
            </a:r>
          </a:p>
          <a:p>
            <a:pPr>
              <a:lnSpc>
                <a:spcPct val="12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Skepticism</a:t>
            </a:r>
          </a:p>
          <a:p>
            <a:pPr>
              <a:lnSpc>
                <a:spcPct val="12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Objectivity</a:t>
            </a:r>
          </a:p>
          <a:p>
            <a:pPr>
              <a:lnSpc>
                <a:spcPct val="12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Persistence</a:t>
            </a:r>
          </a:p>
          <a:p>
            <a:pPr>
              <a:lnSpc>
                <a:spcPct val="12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thinking</a:t>
            </a:r>
          </a:p>
          <a:p>
            <a:pPr>
              <a:lnSpc>
                <a:spcPct val="12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Creativity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8" name="Picture 6" descr="Universlings for Science and Reason Here is a great montage of some highly  influential scientists in history from a variety of scientific fields. From  left to right: Top row - Archimedes, Aristotle,">
            <a:extLst>
              <a:ext uri="{FF2B5EF4-FFF2-40B4-BE49-F238E27FC236}">
                <a16:creationId xmlns:a16="http://schemas.microsoft.com/office/drawing/2014/main" id="{E16EAA93-CC65-4476-9B97-5906227D4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9775" y="-1"/>
            <a:ext cx="6372225" cy="6851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4015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38661-125B-4AD7-B4C5-E70A8DAEE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scientists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8D567113-3783-4BAA-BCE1-A93EADC2E9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14873732"/>
              </p:ext>
            </p:extLst>
          </p:nvPr>
        </p:nvGraphicFramePr>
        <p:xfrm>
          <a:off x="838200" y="1825626"/>
          <a:ext cx="10515600" cy="43371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50014979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510467620"/>
                    </a:ext>
                  </a:extLst>
                </a:gridCol>
              </a:tblGrid>
              <a:tr h="740517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Theorist</a:t>
                      </a:r>
                      <a:endParaRPr lang="ru-RU" sz="3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Experimentalist</a:t>
                      </a:r>
                      <a:endParaRPr lang="ru-RU" sz="3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7388857"/>
                  </a:ext>
                </a:extLst>
              </a:tr>
              <a:tr h="1987707"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Develops models, theories, and predictions using mathematics and existing data.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Tests hypotheses through hands-on experiments, observations, and data collection.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737463"/>
                  </a:ext>
                </a:extLst>
              </a:tr>
              <a:tr h="1452504"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Workplace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Often at a desk, using computers for simulations and calculations.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Workplace</a:t>
                      </a:r>
                      <a:r>
                        <a:rPr lang="en-US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In a laboratory, in the field, or at a particle accelerator.</a:t>
                      </a:r>
                      <a:endParaRPr lang="ru-RU" sz="3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46687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257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638661-125B-4AD7-B4C5-E70A8DAEE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responsibilities of scientists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D9CAE6-A874-4F83-B933-EB94BFAE9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9781" y="3959224"/>
            <a:ext cx="3374019" cy="25336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6DC0614-680B-4312-938F-8B25AAA90C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332"/>
          <a:stretch/>
        </p:blipFill>
        <p:spPr>
          <a:xfrm>
            <a:off x="4605761" y="3959224"/>
            <a:ext cx="3374020" cy="2536825"/>
          </a:xfrm>
          <a:prstGeom prst="rect">
            <a:avLst/>
          </a:prstGeom>
        </p:spPr>
      </p:pic>
      <p:pic>
        <p:nvPicPr>
          <p:cNvPr id="4102" name="Picture 6" descr="ВОЗ выявит самые опасные для человечества патогены">
            <a:extLst>
              <a:ext uri="{FF2B5EF4-FFF2-40B4-BE49-F238E27FC236}">
                <a16:creationId xmlns:a16="http://schemas.microsoft.com/office/drawing/2014/main" id="{122AD165-B475-4FE6-B32D-FF1B0F34BB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153"/>
          <a:stretch/>
        </p:blipFill>
        <p:spPr bwMode="auto">
          <a:xfrm>
            <a:off x="838201" y="3959224"/>
            <a:ext cx="3767562" cy="253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Фантом для диагностики остеопороза и уникальный лазер: лауреаты премии  Правительства Москвы рассказали о своих разработках / Новости города / Сайт  Москвы">
            <a:extLst>
              <a:ext uri="{FF2B5EF4-FFF2-40B4-BE49-F238E27FC236}">
                <a16:creationId xmlns:a16="http://schemas.microsoft.com/office/drawing/2014/main" id="{A86ACE87-C280-41FC-B9BC-60A07B5FF1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26" r="7510"/>
          <a:stretch/>
        </p:blipFill>
        <p:spPr bwMode="auto">
          <a:xfrm>
            <a:off x="7210425" y="1428750"/>
            <a:ext cx="4143375" cy="2536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В США запустили один из самых мощных лазеров в мире">
            <a:extLst>
              <a:ext uri="{FF2B5EF4-FFF2-40B4-BE49-F238E27FC236}">
                <a16:creationId xmlns:a16="http://schemas.microsoft.com/office/drawing/2014/main" id="{53E17DE4-F0E2-4AD5-91F6-40DA52411F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19" r="3809"/>
          <a:stretch/>
        </p:blipFill>
        <p:spPr bwMode="auto">
          <a:xfrm>
            <a:off x="3543127" y="1428749"/>
            <a:ext cx="3667298" cy="253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0" name="Picture 14" descr="Новое оптоволокно с рекордно низкими потерями энергии позволит  усовершенствовать медицинские лазеры">
            <a:extLst>
              <a:ext uri="{FF2B5EF4-FFF2-40B4-BE49-F238E27FC236}">
                <a16:creationId xmlns:a16="http://schemas.microsoft.com/office/drawing/2014/main" id="{2B4108CE-01F1-4DAC-B68D-3E1F1E935B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0"/>
          <a:stretch/>
        </p:blipFill>
        <p:spPr bwMode="auto">
          <a:xfrm>
            <a:off x="838199" y="1428089"/>
            <a:ext cx="2704927" cy="253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4928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B2CCA9-0A00-495B-A345-9057FB758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04061"/>
          </a:xfrm>
        </p:spPr>
        <p:txBody>
          <a:bodyPr anchor="ctr">
            <a:norm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attention!</a:t>
            </a:r>
            <a:endParaRPr lang="ru-RU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65991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105</Words>
  <Application>Microsoft Office PowerPoint</Application>
  <PresentationFormat>Широкоэкранный</PresentationFormat>
  <Paragraphs>19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Тема Office</vt:lpstr>
      <vt:lpstr>The role of scientists in society</vt:lpstr>
      <vt:lpstr>Who are scientists and what do they do?</vt:lpstr>
      <vt:lpstr>The key features of scientists</vt:lpstr>
      <vt:lpstr>Types of scientists</vt:lpstr>
      <vt:lpstr>The responsibilities of scientists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role of scientists in society</dc:title>
  <dc:creator>Bogdan Klimov</dc:creator>
  <cp:lastModifiedBy>Bogdan Klimov</cp:lastModifiedBy>
  <cp:revision>8</cp:revision>
  <dcterms:created xsi:type="dcterms:W3CDTF">2025-11-28T18:05:34Z</dcterms:created>
  <dcterms:modified xsi:type="dcterms:W3CDTF">2025-11-28T19:20:47Z</dcterms:modified>
</cp:coreProperties>
</file>