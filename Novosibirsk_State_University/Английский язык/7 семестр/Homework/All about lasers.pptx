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8B4AA-CC29-4644-B769-E88676893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2AF745-F647-4C5A-9D6F-5D03E89A3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017634-D7C7-4865-986D-DEA5892D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BF24ED-93FA-4C02-BA4D-4DA7E21C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7DDD64-AE77-4907-82C8-9CB51CBC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657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AC6B9-9167-495B-8F66-A3E21D4D3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9A75DF-E8BF-4DFD-AD26-7D78A9366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11AEE6-4E19-4075-A830-B8F7C90C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4AD677-FBFC-40E7-AA5D-E4B60CAB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9259B9-8FE7-4346-9321-7516E78C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81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29851-FE69-4AF3-AF04-1AB7797D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077B9C-BBCE-44DF-886F-3622C5D05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C1DE7-0C6C-4139-ADBA-318724BD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8369B9-C997-4C01-AF0C-1C1DC735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357D8B-53B3-429B-B7A6-8AD45209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12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71F04-2D48-44AE-9A5E-8AC56291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EE7A5-3354-4210-87E0-1B606A4E0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3686B5-25EC-4CCD-ADA4-32176AF23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19B5B8-5CCF-466F-863E-12D69407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CE7B2D-40EA-4833-89F2-3BAD5AEE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5F8989-770E-4854-972D-09D56F04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852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53E29-E784-428C-B6B0-9916B2AE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52A8B3-BDAC-48E6-BD97-7E7CC5D3B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109A94-627C-44C3-9A25-94A11BB12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47908D-F46A-4ABD-947A-A16EE6B44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EF788C6-3660-4A9D-A71B-CE67DA7E8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885CCB-5FCC-4160-BBD7-D16B0F2F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AC6E0BD-931B-4357-98D1-B3EB1694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E8FCD2C-1EF7-40CA-B315-63192009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53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9A7DB9-4F08-4F3F-AF6F-D275F628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7ADBBC-EF0B-4361-933B-8B426CD4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3C3B41-3427-4439-A5BF-DEC01B89E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26E4B7-52FB-4328-88F8-780DF22B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88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7FB1E2B-08E6-44B6-936C-3BA98E4A1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776B86-CCA3-4F05-B8A9-58B28012E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8A7FCE-97E7-49BB-905E-8134062E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2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F2C73-E44B-4CC2-9D79-776C95AE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18C447-E61D-4E14-A967-7DF500DDE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3B1C61-252E-4944-81E3-4B6C745CB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4BE944-137C-483B-9CAF-D91551AF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FC3509-209C-47D5-B03B-9AF9600D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B33F07-6F8E-4A75-955F-9BA97382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37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BE04A-5509-403A-A274-6DD4DEA2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36736AC-4AAB-4C44-A21D-5AD341207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4B4B88-D216-45AB-A35E-AF426134B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53FFFF-3A7A-49C0-9EB5-5D3A3F05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8D6A8-41C2-429B-9E33-E9D479CA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6B6240-C2FF-4B48-A721-4FC3C2BC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59700-49EB-46B2-840C-F45133E6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1FC748-29A2-4684-A6CF-61F011114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3AE0A2-0970-43D4-A3B9-8C81E2C6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A54465-D21B-4FF1-AE35-672CDC46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086480-1AB4-4D8C-9F79-B91D0714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43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136E0C1-0B6E-4961-AFB9-FBB048919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18BD2F-784F-4AAE-9ED5-333250282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DEA3C4-01E8-4F1B-89BB-35BFE04EF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BED48D-BB21-47E8-ACAA-479A99FAE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807271-0242-4147-8755-A449DAB8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59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6F1D0-4BFF-4367-86F7-3093CFF2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34B97E-8C65-4BDE-A287-B14A1A1B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43EADC-172B-40D0-89A9-C03E277B1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E15CF-B596-4BBC-9CFB-D79AA989E66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C9B83E-E4CE-48A8-94A2-EE1AE8CF1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B9D8ED-C012-4D81-A7A3-EB4818392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63824-C763-499A-9940-614C14059D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8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18.png"/><Relationship Id="rId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Текстуры фон космос 25 фото">
            <a:extLst>
              <a:ext uri="{FF2B5EF4-FFF2-40B4-BE49-F238E27FC236}">
                <a16:creationId xmlns:a16="http://schemas.microsoft.com/office/drawing/2014/main" id="{D9708F80-F87D-4547-9C4A-8BA7BE36D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8B1EF-E0C8-4465-B39D-343ADF2A8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812272"/>
          </a:xfrm>
          <a:scene3d>
            <a:camera prst="perspectiveRelaxed"/>
            <a:lightRig rig="threePt" dir="t"/>
          </a:scene3d>
        </p:spPr>
        <p:txBody>
          <a:bodyPr anchor="ctr">
            <a:noAutofit/>
          </a:bodyPr>
          <a:lstStyle/>
          <a:p>
            <a:b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Amplification</a:t>
            </a:r>
            <a:b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Stimulated Emission of Radiation </a:t>
            </a:r>
            <a:r>
              <a:rPr lang="ru-RU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b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LASER:</a:t>
            </a:r>
            <a:b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96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SuperTool</a:t>
            </a:r>
            <a:b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20th century</a:t>
            </a:r>
            <a:endParaRPr lang="ru-RU" sz="9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B1856-3BE0-472F-9BB6-155EB84A4D6B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5167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25000"/>
    </mc:Choice>
    <mc:Fallback>
      <p:transition advTm="2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70185 L 0 -0.88102 " pathEditMode="fixed" rAng="0" ptsTypes="AA">
                                      <p:cBhvr>
                                        <p:cTn id="6" dur="2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91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8" dur="20000" fill="hold"/>
                                        <p:tgtEl>
                                          <p:spTgt spid="2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22" presetClass="exit" presetSubtype="1" fill="hold" grpId="1" nodeType="withEffect">
                                  <p:stCondLst>
                                    <p:cond delay="130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8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Текстуры фон космос 25 фото">
            <a:extLst>
              <a:ext uri="{FF2B5EF4-FFF2-40B4-BE49-F238E27FC236}">
                <a16:creationId xmlns:a16="http://schemas.microsoft.com/office/drawing/2014/main" id="{B8CDA7BD-4157-4776-A27C-9B9149D4A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B127A55-21DB-4198-B28F-2B39B6F38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5206719"/>
          </a:xfrm>
        </p:spPr>
        <p:txBody>
          <a:bodyPr anchor="ctr">
            <a:noAutofit/>
          </a:bodyPr>
          <a:lstStyle/>
          <a:p>
            <a:r>
              <a:rPr lang="en-US" sz="8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LASER:</a:t>
            </a:r>
            <a:br>
              <a:rPr lang="en-US" sz="8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8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SuperTool</a:t>
            </a:r>
            <a:br>
              <a:rPr lang="en-US" sz="8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20th century</a:t>
            </a:r>
            <a:endParaRPr lang="ru-RU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Звезда смерти, звездные войны ПНГ на Прозрачном Фоне • Скачать PNG Звезда  смерти, звездные войны">
            <a:extLst>
              <a:ext uri="{FF2B5EF4-FFF2-40B4-BE49-F238E27FC236}">
                <a16:creationId xmlns:a16="http://schemas.microsoft.com/office/drawing/2014/main" id="{FBC3E711-3217-4253-BF5E-1258C5732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69" y="593443"/>
            <a:ext cx="2520000" cy="2520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галактикос, треугольник, серый, звездные войны, галактикос, треугольник,  серый png | PNGWing">
            <a:extLst>
              <a:ext uri="{FF2B5EF4-FFF2-40B4-BE49-F238E27FC236}">
                <a16:creationId xmlns:a16="http://schemas.microsoft.com/office/drawing/2014/main" id="{4FC00F7C-58FD-49FF-88A4-C2E83F96C1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6" descr="галактикос, треугольник, серый, звездные войны, галактикос, треугольник,  серый png | PNGWing">
            <a:extLst>
              <a:ext uri="{FF2B5EF4-FFF2-40B4-BE49-F238E27FC236}">
                <a16:creationId xmlns:a16="http://schemas.microsoft.com/office/drawing/2014/main" id="{0D6453D0-BAA8-4777-94D6-4013393055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66" name="Picture 18" descr="Star War">
            <a:extLst>
              <a:ext uri="{FF2B5EF4-FFF2-40B4-BE49-F238E27FC236}">
                <a16:creationId xmlns:a16="http://schemas.microsoft.com/office/drawing/2014/main" id="{C3FE1300-0362-49B7-B433-1E689C2DDA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66"/>
          <a:stretch/>
        </p:blipFill>
        <p:spPr bwMode="auto">
          <a:xfrm flipH="1">
            <a:off x="8015568" y="1222139"/>
            <a:ext cx="2519082" cy="1440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8" descr="Star War">
            <a:extLst>
              <a:ext uri="{FF2B5EF4-FFF2-40B4-BE49-F238E27FC236}">
                <a16:creationId xmlns:a16="http://schemas.microsoft.com/office/drawing/2014/main" id="{62C62BF0-4D3E-4A06-BFA4-88CB8CFB6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66"/>
          <a:stretch/>
        </p:blipFill>
        <p:spPr bwMode="auto">
          <a:xfrm flipH="1">
            <a:off x="8487895" y="222362"/>
            <a:ext cx="1574427" cy="900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8" descr="Star War">
            <a:extLst>
              <a:ext uri="{FF2B5EF4-FFF2-40B4-BE49-F238E27FC236}">
                <a16:creationId xmlns:a16="http://schemas.microsoft.com/office/drawing/2014/main" id="{472F6077-6255-463F-B2BC-2EFE547B64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666"/>
          <a:stretch/>
        </p:blipFill>
        <p:spPr bwMode="auto">
          <a:xfrm flipH="1">
            <a:off x="10302688" y="1402139"/>
            <a:ext cx="1889312" cy="1080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20" descr="Звездные войны, HD, логотип, png | PNGWing">
            <a:extLst>
              <a:ext uri="{FF2B5EF4-FFF2-40B4-BE49-F238E27FC236}">
                <a16:creationId xmlns:a16="http://schemas.microsoft.com/office/drawing/2014/main" id="{ABFB1A19-68C4-48FC-915B-6358B7B1D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70" name="Picture 22" descr="Star Wars TIE Fighter, Sci-Fi Spacecraft, Galactic Empire Free PNG">
            <a:extLst>
              <a:ext uri="{FF2B5EF4-FFF2-40B4-BE49-F238E27FC236}">
                <a16:creationId xmlns:a16="http://schemas.microsoft.com/office/drawing/2014/main" id="{B8090ECF-40A4-44C3-9ECB-BB7C327C6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54" y="4962460"/>
            <a:ext cx="3707409" cy="1440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25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00" fill="hold">
                                          <p:stCondLst>
                                            <p:cond delay="1000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00" fill="hold">
                                          <p:stCondLst>
                                            <p:cond delay="2000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00" fill="hold">
                                          <p:stCondLst>
                                            <p:cond delay="3000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00" fill="hold">
                                          <p:stCondLst>
                                            <p:cond delay="4000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6000" fill="hold">
                                          <p:stCondLst>
                                            <p:cond delay="60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6000" fill="hold">
                                          <p:stCondLst>
                                            <p:cond delay="120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6000" fill="hold">
                                          <p:stCondLst>
                                            <p:cond delay="180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6000" fill="hold">
                                          <p:stCondLst>
                                            <p:cond delay="240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6000" fill="hold">
                                          <p:stCondLst>
                                            <p:cond delay="600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6000" fill="hold">
                                          <p:stCondLst>
                                            <p:cond delay="1200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6000" fill="hold">
                                          <p:stCondLst>
                                            <p:cond delay="1800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6000" fill="hold">
                                          <p:stCondLst>
                                            <p:cond delay="2400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6000" fill="hold">
                                          <p:stCondLst>
                                            <p:cond delay="60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6000" fill="hold">
                                          <p:stCondLst>
                                            <p:cond delay="120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6000" fill="hold">
                                          <p:stCondLst>
                                            <p:cond delay="180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6000" fill="hold">
                                          <p:stCondLst>
                                            <p:cond delay="240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6000" fill="hold">
                                          <p:stCondLst>
                                            <p:cond delay="60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6000" fill="hold">
                                          <p:stCondLst>
                                            <p:cond delay="120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6000" fill="hold">
                                          <p:stCondLst>
                                            <p:cond delay="180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6000" fill="hold">
                                          <p:stCondLst>
                                            <p:cond delay="240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0F337-6C77-419F-A933-A55D50F1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laser?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Чем полупроводниковый лазер отличается от волоконного лазера? - Лазерный  диод - Новости">
            <a:extLst>
              <a:ext uri="{FF2B5EF4-FFF2-40B4-BE49-F238E27FC236}">
                <a16:creationId xmlns:a16="http://schemas.microsoft.com/office/drawing/2014/main" id="{B69FC6DF-654D-4840-8728-F855DFD130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40F05F-D6A9-46E5-B7B8-332222D1F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453" y="1825625"/>
            <a:ext cx="3707094" cy="216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96A681-0F62-42DC-ABDA-361BB6EEF0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977"/>
          <a:stretch/>
        </p:blipFill>
        <p:spPr>
          <a:xfrm>
            <a:off x="8112800" y="1825625"/>
            <a:ext cx="3241000" cy="2160000"/>
          </a:xfrm>
          <a:prstGeom prst="rect">
            <a:avLst/>
          </a:prstGeom>
        </p:spPr>
      </p:pic>
      <p:pic>
        <p:nvPicPr>
          <p:cNvPr id="4104" name="Picture 8" descr="Festival Laser Light Shows: A Mesmerizing Display of Animation and Tec">
            <a:extLst>
              <a:ext uri="{FF2B5EF4-FFF2-40B4-BE49-F238E27FC236}">
                <a16:creationId xmlns:a16="http://schemas.microsoft.com/office/drawing/2014/main" id="{5BD02330-41E5-4965-952A-0957B299E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3241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Laser Modules For Medical Applications | ProPhotonix">
            <a:extLst>
              <a:ext uri="{FF2B5EF4-FFF2-40B4-BE49-F238E27FC236}">
                <a16:creationId xmlns:a16="http://schemas.microsoft.com/office/drawing/2014/main" id="{AE819272-AF3B-41C0-823F-61B01DEFA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"/>
          <a:stretch/>
        </p:blipFill>
        <p:spPr bwMode="auto">
          <a:xfrm>
            <a:off x="2621953" y="4332875"/>
            <a:ext cx="3241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12" descr="How Are Laser Levels Used in Surveying and Construction? - Construction  Technology Partners">
            <a:extLst>
              <a:ext uri="{FF2B5EF4-FFF2-40B4-BE49-F238E27FC236}">
                <a16:creationId xmlns:a16="http://schemas.microsoft.com/office/drawing/2014/main" id="{70AA56D4-7F35-495D-8159-2CFF1409B9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CC4317F-5869-46CA-8D55-2093C65B736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6"/>
          <a:stretch/>
        </p:blipFill>
        <p:spPr>
          <a:xfrm>
            <a:off x="6329049" y="4332875"/>
            <a:ext cx="323856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67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4BA98-C0A1-4761-98F7-B8D7B5F6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lasers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11BE81-CECD-4280-A2C9-35D4625A1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</a:t>
            </a:r>
          </a:p>
          <a:p>
            <a:pPr>
              <a:lnSpc>
                <a:spcPct val="2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Monochromaticity</a:t>
            </a:r>
          </a:p>
          <a:p>
            <a:pPr>
              <a:lnSpc>
                <a:spcPct val="2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Directionality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6864FFD-D3D6-4EC2-B126-4314B6385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2741294"/>
            <a:ext cx="67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64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9012B-43E9-4C98-B265-19270F6E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types of lasers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C324F4-FF49-4F2E-8384-8FE836436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Solid-state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lasers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lasers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lasers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 lasers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393C128F-FA67-4DC6-81CB-633CBF9B0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738" y="2921294"/>
            <a:ext cx="2391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354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6143B-E801-4D0B-B276-38287A83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of application of lasers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C4E9C7-80D1-4500-86E6-5C7C9F8A3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Medicine</a:t>
            </a:r>
          </a:p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Сканер штрих-кодов: как работает и как его выбрать">
            <a:extLst>
              <a:ext uri="{FF2B5EF4-FFF2-40B4-BE49-F238E27FC236}">
                <a16:creationId xmlns:a16="http://schemas.microsoft.com/office/drawing/2014/main" id="{EF99EE36-930C-4DF3-A4B0-6A15616E3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525" y="1825625"/>
            <a:ext cx="251748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The FOA Reference For Fiber Optics - Optical Fiber">
            <a:extLst>
              <a:ext uri="{FF2B5EF4-FFF2-40B4-BE49-F238E27FC236}">
                <a16:creationId xmlns:a16="http://schemas.microsoft.com/office/drawing/2014/main" id="{8486D8C9-F43D-45D3-AA93-B4C50086FE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Creaform's new handheld 3D scanners get from scan to mesh in seconds | Geo  Week News">
            <a:extLst>
              <a:ext uri="{FF2B5EF4-FFF2-40B4-BE49-F238E27FC236}">
                <a16:creationId xmlns:a16="http://schemas.microsoft.com/office/drawing/2014/main" id="{21A3CE14-6CE8-45E3-92F2-59964CC7FD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6" name="Picture 8" descr="Creality Raptor Pro 3D Scanner 22+7 Blue Laser Lines 0.02mm Accuracy 60fps  Speed | eBay UK">
            <a:extLst>
              <a:ext uri="{FF2B5EF4-FFF2-40B4-BE49-F238E27FC236}">
                <a16:creationId xmlns:a16="http://schemas.microsoft.com/office/drawing/2014/main" id="{5F81F866-2EFC-4078-AF67-2967A27F9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4692875"/>
            <a:ext cx="1885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55F7BA-70C1-4D72-A96F-E94E9FEE7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266" y="4001294"/>
            <a:ext cx="3200000" cy="1800000"/>
          </a:xfrm>
          <a:prstGeom prst="rect">
            <a:avLst/>
          </a:prstGeom>
        </p:spPr>
      </p:pic>
      <p:pic>
        <p:nvPicPr>
          <p:cNvPr id="7178" name="Picture 10" descr="LiDar (Light Detection and Ranging) - IAS GYAN">
            <a:extLst>
              <a:ext uri="{FF2B5EF4-FFF2-40B4-BE49-F238E27FC236}">
                <a16:creationId xmlns:a16="http://schemas.microsoft.com/office/drawing/2014/main" id="{E674DB4A-E7C6-44F6-BB9D-212DA20A0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745" y="1843088"/>
            <a:ext cx="269802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43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6143B-E801-4D0B-B276-38287A83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development of lasers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BD55AD-C850-4DD1-AE4F-1D2311B24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077" y="1841294"/>
            <a:ext cx="756184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46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Текстуры фон космос 25 фото">
            <a:extLst>
              <a:ext uri="{FF2B5EF4-FFF2-40B4-BE49-F238E27FC236}">
                <a16:creationId xmlns:a16="http://schemas.microsoft.com/office/drawing/2014/main" id="{D6B3919D-DBBC-4C05-A408-00920F6C6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8EA63D8-1E51-4FCE-A86A-B9AD1FED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4640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ru-RU" sz="8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Star wars тысячелетний сокол ПНГ на Прозрачном Фоне • Скачать PNG Star wars  тысячелетний сокол">
            <a:extLst>
              <a:ext uri="{FF2B5EF4-FFF2-40B4-BE49-F238E27FC236}">
                <a16:creationId xmlns:a16="http://schemas.microsoft.com/office/drawing/2014/main" id="{6163A277-F09D-415F-BE6A-086AFA5BF0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23" r="515"/>
          <a:stretch/>
        </p:blipFill>
        <p:spPr bwMode="auto">
          <a:xfrm>
            <a:off x="-4236038" y="-1629276"/>
            <a:ext cx="2160495" cy="1080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IE Fighter - Star Wars Battlefront (2004) - PC / Computer - The Models  Resource">
            <a:extLst>
              <a:ext uri="{FF2B5EF4-FFF2-40B4-BE49-F238E27FC236}">
                <a16:creationId xmlns:a16="http://schemas.microsoft.com/office/drawing/2014/main" id="{4A7B8B00-781D-4FDE-8A2F-51E0182410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17" r="9617"/>
          <a:stretch/>
        </p:blipFill>
        <p:spPr bwMode="auto">
          <a:xfrm rot="960000">
            <a:off x="-5752092" y="-3226561"/>
            <a:ext cx="1343620" cy="1440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TIE Fighter - Star Wars Battlefront (2004) - PC / Computer - The Models  Resource">
            <a:extLst>
              <a:ext uri="{FF2B5EF4-FFF2-40B4-BE49-F238E27FC236}">
                <a16:creationId xmlns:a16="http://schemas.microsoft.com/office/drawing/2014/main" id="{6D6280E5-0E1A-4B45-8186-DEECA4A40C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17" r="9617"/>
          <a:stretch/>
        </p:blipFill>
        <p:spPr bwMode="auto">
          <a:xfrm rot="960000">
            <a:off x="-6120844" y="-4701605"/>
            <a:ext cx="1108487" cy="1188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TIE Fighter - Star Wars Battlefront (2004) - PC / Computer - The Models  Resource">
            <a:extLst>
              <a:ext uri="{FF2B5EF4-FFF2-40B4-BE49-F238E27FC236}">
                <a16:creationId xmlns:a16="http://schemas.microsoft.com/office/drawing/2014/main" id="{DDF474D1-E84B-4590-95BF-EA71A44FA9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17" r="9617"/>
          <a:stretch/>
        </p:blipFill>
        <p:spPr bwMode="auto">
          <a:xfrm rot="960000">
            <a:off x="-7531668" y="-3080364"/>
            <a:ext cx="1209258" cy="129600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5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149 -0.00416 L 1.67408 1.41482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779" y="7094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-2.22222E-6 L 1.75222 1.46204 " pathEditMode="relative" rAng="0" ptsTypes="AA">
                                      <p:cBhvr>
                                        <p:cTn id="8" dur="4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604" y="7310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7 2.59259E-6 L 1.75221 1.46203 " pathEditMode="relative" rAng="0" ptsTypes="AA">
                                      <p:cBhvr>
                                        <p:cTn id="10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604" y="7310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04167E-6 -3.7037E-7 L 1.75221 1.46204 " pathEditMode="relative" rAng="0" ptsTypes="AA">
                                      <p:cBhvr>
                                        <p:cTn id="12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604" y="7310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2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32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74</Words>
  <Application>Microsoft Office PowerPoint</Application>
  <PresentationFormat>Широкоэкранный</PresentationFormat>
  <Paragraphs>19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  Light Amplification by Stimulated Emission of Radiation - LASER: The SuperTool of the 20th century</vt:lpstr>
      <vt:lpstr>LASER: The SuperTool of the 20th century</vt:lpstr>
      <vt:lpstr>What is laser?</vt:lpstr>
      <vt:lpstr>Characteristics of lasers</vt:lpstr>
      <vt:lpstr>Main types of lasers</vt:lpstr>
      <vt:lpstr>Areas of application of lasers</vt:lpstr>
      <vt:lpstr>Further development of lasers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LASER: The supertool of the 20th century</dc:title>
  <dc:creator>Bogdan Klimov</dc:creator>
  <cp:lastModifiedBy>Bogdan Klimov</cp:lastModifiedBy>
  <cp:revision>34</cp:revision>
  <dcterms:created xsi:type="dcterms:W3CDTF">2025-11-14T17:41:16Z</dcterms:created>
  <dcterms:modified xsi:type="dcterms:W3CDTF">2025-11-14T21:39:07Z</dcterms:modified>
</cp:coreProperties>
</file>