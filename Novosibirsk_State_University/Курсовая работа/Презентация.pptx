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6F0E4-D44A-47E2-835A-2C6748AFF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8435A9-52B7-4C92-B460-00F7EA8E5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DACE75-D3C0-4024-BB89-77FC6E1A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1C9346-D94E-45BB-B4DE-F3992751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0E5699-A699-4565-86A4-1597EACB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06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C436B-4137-4A37-AAC1-0609730D8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41A000-FAFA-48D9-BDE9-0D1788091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FC3108-5939-44A6-8724-BBF45D709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774A0B-6730-490C-8221-86125C86F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7F3945-3085-43EC-8682-8D99E1B0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5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41E72-E624-4869-A0E4-440DBC8C6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43489F-7CF9-46EA-A6AC-EFE09FC42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3FCFC3-1B43-48DD-A445-F2EEFE0D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876EFE-3023-41E6-B567-9B56F316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DEA564-8A8E-4D2E-B980-8DC457877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64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28358-8308-4D1C-ACAE-C4C719CF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03C10A-459C-4AAA-80E0-D4E603D4C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F3892C-751A-4F55-8185-0E4D75640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26C1FD-F52D-4BE2-BEE4-C083E2A8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C9EF1-6D85-49A4-9EC3-32212127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2930DF-1B60-4897-B406-C000AB10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646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FF143-439D-4429-B5A3-A89C911FA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69438C-0A30-428E-8DA0-5D3451FF7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1933D6-4776-48FE-A635-CC87FE35D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E5C799F-3FA8-4986-8649-B51D46730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C166FF-371E-4BB6-A350-6A2F641F08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10724E-B5D9-4796-8615-65FA6E755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A87DCC-1A00-4D5F-9094-C2B326A9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A3A54EE-08E0-4CDD-B8BD-C6464B1B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96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9995D-F0D8-4458-AA14-9C2AB5CF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60FF35-B9AD-42BD-B9CE-30FBEDD4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B57531-4323-4BA7-B50A-FBA1BAEBB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DDC864-7BA2-4419-8C1D-30D17582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25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5B37BB-9D87-4CF6-85BE-9F82C025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3A4228-A721-4896-9DA2-3138002E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CBC2ED-1599-46DB-B18C-82C3D737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88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4EB72-C2C5-440B-BC7B-3D86F8236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8C5C3D-2287-4F0E-8C6E-55BB8DC20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4A7406-C9EE-4888-91FA-FF678C9D2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8F4015-A508-41A9-A472-4ECD50EFE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8EE4E2-DC9D-469B-B2DE-40D095EE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E357DC-167D-4ACF-AEDF-9F533FAD8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18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BB390-4172-4E3B-972C-6DD588DB2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7E8B2FA-177A-4AF7-B0AA-DF6DB9156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AE0857-6625-4DEB-8395-EFA1B7FA0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305DB3-08F0-42E9-BD9F-81F37F3D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99DCB3-7D55-4926-AF96-0031B36C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0D9B86-36E1-4865-ABF1-B9AA52BA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23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1E29A-6F9E-46E3-883C-8D901EE3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2CE810-E165-4491-A09D-3563514D0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0C8E84-572A-4EFA-AB5B-5830ADF35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628F1D-7506-4F51-9ABE-95FD4673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410D6D-7CBA-4CEE-A6E6-0E09F3D5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1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2A9CFAC-344D-4042-8590-C8FA6E074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C45EC9-6ABC-4052-9B55-9F305FE55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40B2DA-E746-45EF-AE20-029735F6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0DD36A-9D6A-451E-8864-BFC5D8BA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AD123D-6FC5-4510-B456-FCF6D417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2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3CD5B-7B37-4813-A41D-68893BFB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193E51-09C8-4D5E-9170-064EDED3E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B7C9BE-8DDD-4EB4-9802-DFA0669AF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8275D-7213-48BE-B460-22A42A5DBE13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365BA6-D40E-4082-B87E-DFE140842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4F146D-7830-475F-8B14-C428CECF8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71327-6E71-46A6-AFC1-B9F93DCCB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5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D1CDB-4CFF-49F1-B158-16546308D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4780"/>
            <a:ext cx="9144000" cy="37681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контроля параметров гидравлического молота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92C49E-8F80-47C4-81BE-463F3D900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9341" y="5369859"/>
            <a:ext cx="4912658" cy="1488140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студент группы № 22357 Климов Богдан Алексеевич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к. т. н. Котов Константин Юрьевич</a:t>
            </a:r>
          </a:p>
        </p:txBody>
      </p:sp>
    </p:spTree>
    <p:extLst>
      <p:ext uri="{BB962C8B-B14F-4D97-AF65-F5344CB8AC3E}">
        <p14:creationId xmlns:p14="http://schemas.microsoft.com/office/powerpoint/2010/main" val="2963390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B132D-6C6F-4577-9A27-73A4CFD2B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D64A6B-99EF-443B-9DC5-4CEBC1D4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Гидравлический молот представляет собой специализированное оборудование для ковки и штамповки, функционирующее за счёт энергии, передаваемой гидравлической жидкостью. В процессе работы кинетическая энергия подвижных элементов преобразуется в усилие, необходимое для пластической деформации нагретой заготовки с целью придания ей требуемой конфигурации.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5FD13F-C1F6-4AFB-B718-A40D9CB58A9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800" y="1825625"/>
            <a:ext cx="3600000" cy="435133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52160E-5D9E-4889-9A5E-86791E1FAB9C}"/>
              </a:ext>
            </a:extLst>
          </p:cNvPr>
          <p:cNvSpPr txBox="1"/>
          <p:nvPr/>
        </p:nvSpPr>
        <p:spPr>
          <a:xfrm>
            <a:off x="7753800" y="6176962"/>
            <a:ext cx="36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Штамповочный молот МШ-3</a:t>
            </a:r>
          </a:p>
        </p:txBody>
      </p:sp>
    </p:spTree>
    <p:extLst>
      <p:ext uri="{BB962C8B-B14F-4D97-AF65-F5344CB8AC3E}">
        <p14:creationId xmlns:p14="http://schemas.microsoft.com/office/powerpoint/2010/main" val="228360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844AA-B01B-4928-8CE4-3BD29A1C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927355-476D-4F8F-8E77-B03E90F7B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71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существующих систем: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Устаревшее управление – большинство промышленных молотов используют механические и аналоговые системы 1970-х годов.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Ручной контроль – оператор вручную регулирует параметры, что приводит к ошибкам и нестабильности.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Энергопотери – до 40% энергии тратится впустую из-за неоптимального управления.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Гидравлические удары – резкие перепады давления снижают ресурс оборудования.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автоматизация – точный контроль параметров в реальном времени.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ROS-платформа – гибкость, масштабируемость, открытый код.</a:t>
            </a:r>
          </a:p>
        </p:txBody>
      </p:sp>
    </p:spTree>
    <p:extLst>
      <p:ext uri="{BB962C8B-B14F-4D97-AF65-F5344CB8AC3E}">
        <p14:creationId xmlns:p14="http://schemas.microsoft.com/office/powerpoint/2010/main" val="3058100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AF0B8-5E1E-47CC-B366-F76236B4D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D4F685-02A6-457B-8D08-27E5E9B1D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Создание аппаратно-программного комплекса для автоматизированного контроля параметров гидравлического молота в реальном времени.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схемы подключения датчиков.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ROS-модулей обработки данных.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системы управления клапанами.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на лабораторном стенде.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алгоритмов управления.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132237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E64AE-540F-4C82-B095-06A52601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Аппаратная часть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C60197-F779-4E28-87CE-0F29AFAF29D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57" y="1991248"/>
            <a:ext cx="5400000" cy="36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FCF0A4-047E-434F-A8E3-AF97BEFDDCA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842519"/>
            <a:ext cx="2519680" cy="1800000"/>
          </a:xfrm>
          <a:prstGeom prst="rect">
            <a:avLst/>
          </a:prstGeom>
          <a:noFill/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CA5CAB-6493-450E-B1ED-0968AA4EE958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" t="8884" r="9886" b="10483"/>
          <a:stretch/>
        </p:blipFill>
        <p:spPr bwMode="auto">
          <a:xfrm>
            <a:off x="3357879" y="1840967"/>
            <a:ext cx="2159635" cy="180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E62A11-9ECB-4670-A7EA-9DB81155B335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971" y="4196963"/>
            <a:ext cx="2879725" cy="198000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16D8BF-AE99-4750-B727-68283BAEDEB7}"/>
              </a:ext>
            </a:extLst>
          </p:cNvPr>
          <p:cNvSpPr txBox="1"/>
          <p:nvPr/>
        </p:nvSpPr>
        <p:spPr>
          <a:xfrm>
            <a:off x="5735658" y="5591246"/>
            <a:ext cx="54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установки гидравлического молота МШ-3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8A5F85-B32B-4977-93F9-6F8850548A7D}"/>
              </a:ext>
            </a:extLst>
          </p:cNvPr>
          <p:cNvSpPr txBox="1"/>
          <p:nvPr/>
        </p:nvSpPr>
        <p:spPr>
          <a:xfrm>
            <a:off x="1557971" y="6176962"/>
            <a:ext cx="2879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Телекоммуникационный шкаф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BA917-4EEF-4BE1-99FD-F37D01DAE7CA}"/>
              </a:ext>
            </a:extLst>
          </p:cNvPr>
          <p:cNvSpPr txBox="1"/>
          <p:nvPr/>
        </p:nvSpPr>
        <p:spPr>
          <a:xfrm>
            <a:off x="838200" y="3625622"/>
            <a:ext cx="4897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3 Model B+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High-Precision AD/DA Expansion Board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858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F4774-EF08-4D1A-A3BB-299E0749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Датчики и схемы подключения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4E3998-BD46-49D0-AE4E-F6C1AF59A111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13" b="38926"/>
          <a:stretch/>
        </p:blipFill>
        <p:spPr bwMode="auto">
          <a:xfrm>
            <a:off x="1378700" y="1822597"/>
            <a:ext cx="2159000" cy="6445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083B7E-7D69-4257-9187-4F7C3CD9913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64094"/>
            <a:ext cx="324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Кельвин ИКС 4-20 – Инфракрасный пирометр">
            <a:extLst>
              <a:ext uri="{FF2B5EF4-FFF2-40B4-BE49-F238E27FC236}">
                <a16:creationId xmlns:a16="http://schemas.microsoft.com/office/drawing/2014/main" id="{C5C48B5F-0EF2-40CD-BE75-C03B2728321F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2" t="15471" r="9566" b="12584"/>
          <a:stretch/>
        </p:blipFill>
        <p:spPr bwMode="auto">
          <a:xfrm>
            <a:off x="838200" y="4736963"/>
            <a:ext cx="1800000" cy="144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F86B4E-7BAD-45DB-9544-A4C01C2260BC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200" y="4916963"/>
            <a:ext cx="324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ВТИЮ.1246 ТЕКО Индуктивный датчик купить в «Sensoren» по низкой цене">
            <a:extLst>
              <a:ext uri="{FF2B5EF4-FFF2-40B4-BE49-F238E27FC236}">
                <a16:creationId xmlns:a16="http://schemas.microsoft.com/office/drawing/2014/main" id="{10F328F7-08AA-404A-94EB-B18602633222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5" t="28227" r="7396" b="27261"/>
          <a:stretch/>
        </p:blipFill>
        <p:spPr bwMode="auto">
          <a:xfrm>
            <a:off x="4798200" y="1822597"/>
            <a:ext cx="2160000" cy="108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3E669EE-10E7-4EA5-9BB3-E92AE2D77682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200" y="2902597"/>
            <a:ext cx="216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EAA3819-24AA-4F9B-81E6-C49ACBB180DF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075" y="1826581"/>
            <a:ext cx="2879725" cy="1439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A77C97A-F20D-4C98-9516-94D1BFD55AF0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937" y="3402021"/>
            <a:ext cx="216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4BDFD02-7939-4AB9-922B-0C2C015A07DF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937" y="4841566"/>
            <a:ext cx="216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9AA4C2-FFDA-4C2C-AB92-1E6401C0B079}"/>
              </a:ext>
            </a:extLst>
          </p:cNvPr>
          <p:cNvSpPr txBox="1"/>
          <p:nvPr/>
        </p:nvSpPr>
        <p:spPr>
          <a:xfrm>
            <a:off x="838199" y="3539427"/>
            <a:ext cx="3239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Датчик давления МИДА-ДИ-13П-1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515D9-FF49-4D85-94E3-D10616BF3508}"/>
              </a:ext>
            </a:extLst>
          </p:cNvPr>
          <p:cNvSpPr txBox="1"/>
          <p:nvPr/>
        </p:nvSpPr>
        <p:spPr>
          <a:xfrm>
            <a:off x="4547629" y="3982597"/>
            <a:ext cx="2661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Концевой датчик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ISN FT4A-31P-8-LZ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44B1A-F313-4A6B-842F-AC445BEE92AE}"/>
              </a:ext>
            </a:extLst>
          </p:cNvPr>
          <p:cNvSpPr txBox="1"/>
          <p:nvPr/>
        </p:nvSpPr>
        <p:spPr>
          <a:xfrm>
            <a:off x="763571" y="6176962"/>
            <a:ext cx="50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Пирометр Кельвин ИКС 485-600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33F615-DE94-4C5C-826D-F2E24D0067EE}"/>
              </a:ext>
            </a:extLst>
          </p:cNvPr>
          <p:cNvSpPr txBox="1"/>
          <p:nvPr/>
        </p:nvSpPr>
        <p:spPr>
          <a:xfrm>
            <a:off x="8114074" y="6316385"/>
            <a:ext cx="36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Универсальный модуль взаимодействия ЛИР-919Д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49D02F-6391-4665-A2C0-8CF37E4FD0BF}"/>
              </a:ext>
            </a:extLst>
          </p:cNvPr>
          <p:cNvSpPr txBox="1"/>
          <p:nvPr/>
        </p:nvSpPr>
        <p:spPr>
          <a:xfrm>
            <a:off x="7678200" y="3162445"/>
            <a:ext cx="4462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Линейка и считывающая головка ЛИР-МИ3-05-ПИ-1-1,0-B(DB9)</a:t>
            </a:r>
          </a:p>
        </p:txBody>
      </p:sp>
    </p:spTree>
    <p:extLst>
      <p:ext uri="{BB962C8B-B14F-4D97-AF65-F5344CB8AC3E}">
        <p14:creationId xmlns:p14="http://schemas.microsoft.com/office/powerpoint/2010/main" val="421734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BAD55-F068-4A44-ADBC-0C782387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Модули обработки сигналов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FFC57D-CB54-4789-B750-F1AB20D23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257800" cy="51673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характеристики АЦП: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ADS1256 (24-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битный)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каналов: 8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Входной диапазон: ±5 В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характеристики ЦАП: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DAC8552 (16-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битный)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каналов: 2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Интерфейс: SPI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Выходной диапазон: 0-5 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512D2379-2DD0-442A-99AE-E8A0D3697D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690687"/>
                <a:ext cx="5257800" cy="51673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Формулы преобразования: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Давление: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=1.6∙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−4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20−4</m:t>
                          </m:r>
                        </m:den>
                      </m:f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nn-NO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nn-NO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n-NO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n-NO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sSub>
                            <m:sSubPr>
                              <m:ctrlPr>
                                <a:rPr lang="nn-NO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давление в МПа,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ток в мА,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измеренное напряжение в вольтах,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225 Ом.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Температура: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=−50+(600−(−50))∙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65535</m:t>
                          </m:r>
                        </m:den>
                      </m:f>
                    </m:oMath>
                  </m:oMathPara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температура в °C,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значение 16-битного регистра,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65535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максимальное значение для 16-битного регистра.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Положение бойка: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0" lang="ru-RU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0.001</m:t>
                      </m:r>
                    </m:oMath>
                  </m:oMathPara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положение в миллиметрах,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значение счётчика в импульсах.</a:t>
                </a:r>
              </a:p>
            </p:txBody>
          </p:sp>
        </mc:Choice>
        <mc:Fallback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512D2379-2DD0-442A-99AE-E8A0D3697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90687"/>
                <a:ext cx="5257800" cy="5167311"/>
              </a:xfrm>
              <a:prstGeom prst="rect">
                <a:avLst/>
              </a:prstGeom>
              <a:blipFill>
                <a:blip r:embed="rId2"/>
                <a:stretch>
                  <a:fillRect l="-1506" t="-2476" r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124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92AE8-FBBB-47C2-B45E-086EED88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и управляющий модули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5137C2-6F8A-4AC9-99C7-F67E25461D62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9" t="9669" r="8104" b="28615"/>
          <a:stretch/>
        </p:blipFill>
        <p:spPr bwMode="auto">
          <a:xfrm>
            <a:off x="2496000" y="1825625"/>
            <a:ext cx="7200000" cy="432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EA0687-5D99-4EB0-9347-C653DB023C41}"/>
              </a:ext>
            </a:extLst>
          </p:cNvPr>
          <p:cNvSpPr txBox="1"/>
          <p:nvPr/>
        </p:nvSpPr>
        <p:spPr>
          <a:xfrm>
            <a:off x="2496000" y="6145623"/>
            <a:ext cx="72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программных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470622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248BC-F185-4F96-9DB0-16D1D873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Экспериментальные данные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32861D-B46C-472A-A92B-C8E98507153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65" y="1809000"/>
            <a:ext cx="3240000" cy="3240000"/>
          </a:xfrm>
          <a:prstGeom prst="rect">
            <a:avLst/>
          </a:prstGeom>
          <a:noFill/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F08DBE-3141-4A81-890A-1D6A949EE0E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77084" y="1809000"/>
            <a:ext cx="2700000" cy="324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386F7B-8707-4EB0-AE45-B8DD0FE200E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664" y="1809000"/>
            <a:ext cx="2520000" cy="3240000"/>
          </a:xfrm>
          <a:prstGeom prst="rect">
            <a:avLst/>
          </a:prstGeom>
          <a:noFill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55491D-A6E3-4141-AE2D-A7EDA493D91B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244" y="1809000"/>
            <a:ext cx="2700000" cy="3240000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DBF504-727F-4110-BF21-C5A57E7B9C64}"/>
              </a:ext>
            </a:extLst>
          </p:cNvPr>
          <p:cNvSpPr txBox="1"/>
          <p:nvPr/>
        </p:nvSpPr>
        <p:spPr>
          <a:xfrm>
            <a:off x="263165" y="5058171"/>
            <a:ext cx="32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 от датчиков давления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958BA7-BB4F-4777-B579-A117779AC359}"/>
              </a:ext>
            </a:extLst>
          </p:cNvPr>
          <p:cNvSpPr txBox="1"/>
          <p:nvPr/>
        </p:nvSpPr>
        <p:spPr>
          <a:xfrm>
            <a:off x="3677084" y="5048999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 от датчиков температуры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8BE0F-8454-47BC-AB5A-64AFEC4C27E4}"/>
              </a:ext>
            </a:extLst>
          </p:cNvPr>
          <p:cNvSpPr txBox="1"/>
          <p:nvPr/>
        </p:nvSpPr>
        <p:spPr>
          <a:xfrm>
            <a:off x="6550663" y="5058170"/>
            <a:ext cx="2519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 от концевых датчиков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6F3FB6-99F8-4120-9FA1-2CA0681EE75D}"/>
              </a:ext>
            </a:extLst>
          </p:cNvPr>
          <p:cNvSpPr txBox="1"/>
          <p:nvPr/>
        </p:nvSpPr>
        <p:spPr>
          <a:xfrm>
            <a:off x="9244241" y="5058169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 от считывающей головки</a:t>
            </a:r>
          </a:p>
        </p:txBody>
      </p:sp>
    </p:spTree>
    <p:extLst>
      <p:ext uri="{BB962C8B-B14F-4D97-AF65-F5344CB8AC3E}">
        <p14:creationId xmlns:p14="http://schemas.microsoft.com/office/powerpoint/2010/main" val="1075456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8098C-F239-4563-AB59-0EB822BD5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развитие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02608D-9019-4B9F-BD2C-64559045F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Планы по модернизации: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датчиков – добавление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виброметрии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контроля качества металла.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ИИ-оптимизация – машинное обучение для прогнозирования износа и настройки параметров.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Промышленные испытания – внедрение на молоте МШ-2 и тестирование в реальных условиях.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SCADA – подключение к общей системе управления производством.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точности на 15-20%.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аварийности.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тиражирования на другие типы прессов.</a:t>
            </a:r>
          </a:p>
        </p:txBody>
      </p:sp>
    </p:spTree>
    <p:extLst>
      <p:ext uri="{BB962C8B-B14F-4D97-AF65-F5344CB8AC3E}">
        <p14:creationId xmlns:p14="http://schemas.microsoft.com/office/powerpoint/2010/main" val="4241745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CD5CC7B-A288-480E-9699-F75446C28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0516"/>
          </a:xfrm>
        </p:spPr>
        <p:txBody>
          <a:bodyPr>
            <a:normAutofit/>
          </a:bodyPr>
          <a:lstStyle/>
          <a:p>
            <a:pPr algn="ctr"/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7134924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493</Words>
  <Application>Microsoft Office PowerPoint</Application>
  <PresentationFormat>Широкоэкранный</PresentationFormat>
  <Paragraphs>72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Тема Office</vt:lpstr>
      <vt:lpstr>Разработка программного модуля для контроля параметров гидравлического молота</vt:lpstr>
      <vt:lpstr>Область исследования</vt:lpstr>
      <vt:lpstr>Актуальность</vt:lpstr>
      <vt:lpstr>Цель и задачи</vt:lpstr>
      <vt:lpstr>Аппаратная часть</vt:lpstr>
      <vt:lpstr>Датчики и схемы подключения</vt:lpstr>
      <vt:lpstr>Модули обработки сигналов</vt:lpstr>
      <vt:lpstr>Основной и управляющий модули</vt:lpstr>
      <vt:lpstr>Экспериментальные данные</vt:lpstr>
      <vt:lpstr>Дальнейшее развитие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модуля для контроля параметров гидравлического молота</dc:title>
  <dc:creator>Bogdan Klimov</dc:creator>
  <cp:lastModifiedBy>Bogdan Klimov</cp:lastModifiedBy>
  <cp:revision>37</cp:revision>
  <dcterms:created xsi:type="dcterms:W3CDTF">2025-06-26T13:59:33Z</dcterms:created>
  <dcterms:modified xsi:type="dcterms:W3CDTF">2025-12-18T18:09:50Z</dcterms:modified>
</cp:coreProperties>
</file>