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06" d="100"/>
          <a:sy n="206" d="100"/>
        </p:scale>
        <p:origin x="1950" y="1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5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5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5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5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22808" y="240448"/>
            <a:ext cx="4362450" cy="82550"/>
          </a:xfrm>
          <a:custGeom>
            <a:avLst/>
            <a:gdLst/>
            <a:ahLst/>
            <a:cxnLst/>
            <a:rect l="l" t="t" r="r" b="b"/>
            <a:pathLst>
              <a:path w="4362450" h="82550">
                <a:moveTo>
                  <a:pt x="4311650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362450" y="82384"/>
                </a:lnTo>
                <a:lnTo>
                  <a:pt x="4362450" y="50800"/>
                </a:lnTo>
                <a:lnTo>
                  <a:pt x="4358442" y="31075"/>
                </a:lnTo>
                <a:lnTo>
                  <a:pt x="4347527" y="14922"/>
                </a:lnTo>
                <a:lnTo>
                  <a:pt x="4331374" y="4008"/>
                </a:lnTo>
                <a:lnTo>
                  <a:pt x="4311650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73608" y="303682"/>
            <a:ext cx="4362450" cy="2124075"/>
          </a:xfrm>
          <a:custGeom>
            <a:avLst/>
            <a:gdLst/>
            <a:ahLst/>
            <a:cxnLst/>
            <a:rect l="l" t="t" r="r" b="b"/>
            <a:pathLst>
              <a:path w="4362450" h="2124075">
                <a:moveTo>
                  <a:pt x="4362450" y="0"/>
                </a:moveTo>
                <a:lnTo>
                  <a:pt x="0" y="0"/>
                </a:lnTo>
                <a:lnTo>
                  <a:pt x="0" y="2123542"/>
                </a:lnTo>
                <a:lnTo>
                  <a:pt x="4362450" y="2123542"/>
                </a:lnTo>
                <a:lnTo>
                  <a:pt x="43624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22808" y="284846"/>
            <a:ext cx="4362450" cy="2091689"/>
          </a:xfrm>
          <a:custGeom>
            <a:avLst/>
            <a:gdLst/>
            <a:ahLst/>
            <a:cxnLst/>
            <a:rect l="l" t="t" r="r" b="b"/>
            <a:pathLst>
              <a:path w="4362450" h="2091689">
                <a:moveTo>
                  <a:pt x="4362450" y="0"/>
                </a:moveTo>
                <a:lnTo>
                  <a:pt x="0" y="0"/>
                </a:lnTo>
                <a:lnTo>
                  <a:pt x="0" y="2040777"/>
                </a:lnTo>
                <a:lnTo>
                  <a:pt x="4008" y="2060502"/>
                </a:lnTo>
                <a:lnTo>
                  <a:pt x="14922" y="2076655"/>
                </a:lnTo>
                <a:lnTo>
                  <a:pt x="31075" y="2087569"/>
                </a:lnTo>
                <a:lnTo>
                  <a:pt x="50800" y="2091578"/>
                </a:lnTo>
                <a:lnTo>
                  <a:pt x="4311650" y="2091578"/>
                </a:lnTo>
                <a:lnTo>
                  <a:pt x="4331374" y="2087569"/>
                </a:lnTo>
                <a:lnTo>
                  <a:pt x="4347527" y="2076655"/>
                </a:lnTo>
                <a:lnTo>
                  <a:pt x="4358442" y="2060502"/>
                </a:lnTo>
                <a:lnTo>
                  <a:pt x="4362450" y="2040777"/>
                </a:lnTo>
                <a:lnTo>
                  <a:pt x="4362450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403860"/>
          </a:xfrm>
          <a:custGeom>
            <a:avLst/>
            <a:gdLst/>
            <a:ahLst/>
            <a:cxnLst/>
            <a:rect l="l" t="t" r="r" b="b"/>
            <a:pathLst>
              <a:path w="4608195" h="403860">
                <a:moveTo>
                  <a:pt x="4608004" y="0"/>
                </a:moveTo>
                <a:lnTo>
                  <a:pt x="0" y="0"/>
                </a:lnTo>
                <a:lnTo>
                  <a:pt x="0" y="403555"/>
                </a:lnTo>
                <a:lnTo>
                  <a:pt x="4608004" y="403555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37369"/>
            <a:ext cx="2426970" cy="340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5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0505" y="795972"/>
            <a:ext cx="4149090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567434" y="3218497"/>
            <a:ext cx="1475232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317365" y="3327882"/>
            <a:ext cx="214629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4921" y="323056"/>
            <a:ext cx="3778250" cy="192214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065" marR="5080" indent="-635" algn="ctr">
              <a:lnSpc>
                <a:spcPct val="101200"/>
              </a:lnSpc>
              <a:spcBef>
                <a:spcPts val="85"/>
              </a:spcBef>
            </a:pPr>
            <a:r>
              <a:rPr sz="2050" spc="-40" dirty="0">
                <a:solidFill>
                  <a:srgbClr val="FFFFFF"/>
                </a:solidFill>
                <a:latin typeface="Calibri"/>
                <a:cs typeface="Calibri"/>
              </a:rPr>
              <a:t>Разработка</a:t>
            </a:r>
            <a:r>
              <a:rPr sz="2050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программного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обеспечения</a:t>
            </a:r>
            <a:r>
              <a:rPr sz="2050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25" dirty="0">
                <a:solidFill>
                  <a:srgbClr val="FFFFFF"/>
                </a:solidFill>
                <a:latin typeface="Calibri"/>
                <a:cs typeface="Calibri"/>
              </a:rPr>
              <a:t>для </a:t>
            </a:r>
            <a:r>
              <a:rPr sz="2050" spc="-65" dirty="0">
                <a:solidFill>
                  <a:srgbClr val="FFFFFF"/>
                </a:solidFill>
                <a:latin typeface="Calibri"/>
                <a:cs typeface="Calibri"/>
              </a:rPr>
              <a:t>автоматизированного</a:t>
            </a:r>
            <a:r>
              <a:rPr sz="2050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проведения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экспериментов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dirty="0">
                <a:solidFill>
                  <a:srgbClr val="FFFFFF"/>
                </a:solidFill>
                <a:latin typeface="Calibri"/>
                <a:cs typeface="Calibri"/>
              </a:rPr>
              <a:t>по</a:t>
            </a:r>
            <a:r>
              <a:rPr sz="205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изучению </a:t>
            </a:r>
            <a:r>
              <a:rPr sz="2050" spc="-85" dirty="0">
                <a:solidFill>
                  <a:srgbClr val="FFFFFF"/>
                </a:solidFill>
                <a:latin typeface="Calibri"/>
                <a:cs typeface="Calibri"/>
              </a:rPr>
              <a:t>механизмов</a:t>
            </a:r>
            <a:r>
              <a:rPr sz="2050" spc="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генерации</a:t>
            </a:r>
            <a:r>
              <a:rPr sz="2050" spc="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60" dirty="0">
                <a:solidFill>
                  <a:srgbClr val="FFFFFF"/>
                </a:solidFill>
                <a:latin typeface="Calibri"/>
                <a:cs typeface="Calibri"/>
              </a:rPr>
              <a:t>синглетного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кислорода</a:t>
            </a:r>
            <a:endParaRPr sz="205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36815" y="2606583"/>
            <a:ext cx="2933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latin typeface="Calibri"/>
                <a:cs typeface="Calibri"/>
              </a:rPr>
              <a:t>Климов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Богдан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Алексеевич,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гр.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22357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83602" y="3010114"/>
            <a:ext cx="287718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43255" marR="5080" indent="-631190">
              <a:lnSpc>
                <a:spcPts val="950"/>
              </a:lnSpc>
              <a:spcBef>
                <a:spcPts val="135"/>
              </a:spcBef>
            </a:pPr>
            <a:r>
              <a:rPr sz="800" dirty="0">
                <a:latin typeface="Calibri"/>
                <a:cs typeface="Calibri"/>
              </a:rPr>
              <a:t>Научный</a:t>
            </a:r>
            <a:r>
              <a:rPr sz="800" spc="35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руководитель: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к.ф.-м.н.,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Ершов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Кирилл</a:t>
            </a:r>
            <a:r>
              <a:rPr sz="800" spc="350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Сергеевич</a:t>
            </a:r>
            <a:r>
              <a:rPr sz="800" spc="50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Место: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114" dirty="0">
                <a:latin typeface="Calibri"/>
                <a:cs typeface="Calibri"/>
              </a:rPr>
              <a:t>ИХКГ</a:t>
            </a:r>
            <a:r>
              <a:rPr sz="800" spc="155" dirty="0">
                <a:latin typeface="Calibri"/>
                <a:cs typeface="Calibri"/>
              </a:rPr>
              <a:t> </a:t>
            </a:r>
            <a:r>
              <a:rPr sz="800" spc="100" dirty="0">
                <a:latin typeface="Calibri"/>
                <a:cs typeface="Calibri"/>
              </a:rPr>
              <a:t>СО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65" dirty="0">
                <a:latin typeface="Calibri"/>
                <a:cs typeface="Calibri"/>
              </a:rPr>
              <a:t>РАН,</a:t>
            </a:r>
            <a:r>
              <a:rPr sz="800" spc="1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гр.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65" dirty="0">
                <a:latin typeface="Calibri"/>
                <a:cs typeface="Calibri"/>
              </a:rPr>
              <a:t>МФД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/>
              <a:t>Область</a:t>
            </a:r>
            <a:r>
              <a:rPr spc="-40" dirty="0"/>
              <a:t> </a:t>
            </a:r>
            <a:r>
              <a:rPr spc="-80" dirty="0"/>
              <a:t>исследования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909" y="467154"/>
            <a:ext cx="4137660" cy="110490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 indent="179705">
              <a:lnSpc>
                <a:spcPct val="100800"/>
              </a:lnSpc>
              <a:spcBef>
                <a:spcPts val="120"/>
              </a:spcBef>
            </a:pPr>
            <a:r>
              <a:rPr lang="ru-RU" sz="1400" b="1" spc="-10" dirty="0">
                <a:latin typeface="Calibri"/>
                <a:cs typeface="Calibri"/>
              </a:rPr>
              <a:t>Область:</a:t>
            </a:r>
            <a:r>
              <a:rPr lang="ru-RU" sz="1400" spc="-10" dirty="0">
                <a:latin typeface="Calibri"/>
                <a:cs typeface="Calibri"/>
              </a:rPr>
              <a:t> </a:t>
            </a:r>
            <a:r>
              <a:rPr sz="1400" spc="-10" dirty="0" err="1">
                <a:latin typeface="Calibri"/>
                <a:cs typeface="Calibri"/>
              </a:rPr>
              <a:t>разработка</a:t>
            </a:r>
            <a:r>
              <a:rPr sz="1400" spc="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инструмента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автоматизации </a:t>
            </a:r>
            <a:r>
              <a:rPr sz="1400" dirty="0">
                <a:latin typeface="Calibri"/>
                <a:cs typeface="Calibri"/>
              </a:rPr>
              <a:t>для</a:t>
            </a:r>
            <a:r>
              <a:rPr sz="1400" spc="6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изучения</a:t>
            </a:r>
            <a:r>
              <a:rPr sz="1400" spc="65" dirty="0">
                <a:latin typeface="Calibri"/>
                <a:cs typeface="Calibri"/>
              </a:rPr>
              <a:t> </a:t>
            </a:r>
            <a:r>
              <a:rPr sz="1400" spc="-30" dirty="0">
                <a:latin typeface="Calibri"/>
                <a:cs typeface="Calibri"/>
              </a:rPr>
              <a:t>механизмов</a:t>
            </a:r>
            <a:r>
              <a:rPr sz="1400" spc="6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генерации</a:t>
            </a:r>
            <a:r>
              <a:rPr sz="1400" spc="6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активных</a:t>
            </a:r>
            <a:r>
              <a:rPr sz="1400" spc="6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форм </a:t>
            </a:r>
            <a:r>
              <a:rPr sz="1400" spc="-10" dirty="0">
                <a:latin typeface="Calibri"/>
                <a:cs typeface="Calibri"/>
              </a:rPr>
              <a:t>кислород,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которое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позволяет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проводить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сложные</a:t>
            </a:r>
            <a:r>
              <a:rPr sz="1400" spc="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и </a:t>
            </a:r>
            <a:r>
              <a:rPr sz="1400" spc="-35" dirty="0">
                <a:latin typeface="Calibri"/>
                <a:cs typeface="Calibri"/>
              </a:rPr>
              <a:t>высоковоспроизводимые</a:t>
            </a:r>
            <a:r>
              <a:rPr sz="1400" spc="11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эксперименты,</a:t>
            </a:r>
            <a:r>
              <a:rPr sz="1400" spc="1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недоступные </a:t>
            </a:r>
            <a:r>
              <a:rPr sz="1400" dirty="0">
                <a:latin typeface="Calibri"/>
                <a:cs typeface="Calibri"/>
              </a:rPr>
              <a:t>при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ручном</a:t>
            </a:r>
            <a:r>
              <a:rPr sz="1400" spc="45" dirty="0">
                <a:latin typeface="Calibri"/>
                <a:cs typeface="Calibri"/>
              </a:rPr>
              <a:t> </a:t>
            </a:r>
            <a:r>
              <a:rPr sz="1400" spc="-30" dirty="0">
                <a:latin typeface="Calibri"/>
                <a:cs typeface="Calibri"/>
              </a:rPr>
              <a:t>управлении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оборудованием.</a:t>
            </a:r>
            <a:endParaRPr sz="1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3621" y="1717339"/>
            <a:ext cx="1619104" cy="144000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87618" y="1906850"/>
            <a:ext cx="2527367" cy="1065754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30" dirty="0"/>
              <a:t>Актуальность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0906" y="563293"/>
            <a:ext cx="344551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1400" b="1" dirty="0">
                <a:latin typeface="Segoe UI Symbol"/>
                <a:cs typeface="Segoe UI Symbol"/>
              </a:rPr>
              <a:t>Актуальность области исследования:</a:t>
            </a:r>
            <a:endParaRPr sz="1400" b="1" dirty="0">
              <a:latin typeface="Segoe UI Symbol"/>
              <a:cs typeface="Segoe UI Symbo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4188" y="977035"/>
            <a:ext cx="2484375" cy="102769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5272" y="965155"/>
            <a:ext cx="1619135" cy="107287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57504" y="2494280"/>
            <a:ext cx="83692" cy="8369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7504" y="2747327"/>
            <a:ext cx="83692" cy="8369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7504" y="3000375"/>
            <a:ext cx="83692" cy="8369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40906" y="2098144"/>
            <a:ext cx="2947035" cy="1037590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lang="ru-RU" sz="1400" b="1" dirty="0">
                <a:latin typeface="Segoe UI Symbol"/>
                <a:cs typeface="Segoe UI Symbol"/>
              </a:rPr>
              <a:t>Актуальность темы:</a:t>
            </a:r>
          </a:p>
          <a:p>
            <a:pPr marL="189230" marR="5080">
              <a:lnSpc>
                <a:spcPct val="118600"/>
              </a:lnSpc>
            </a:pPr>
            <a:r>
              <a:rPr sz="1400" spc="-10" dirty="0" err="1">
                <a:latin typeface="Calibri"/>
                <a:cs typeface="Calibri"/>
              </a:rPr>
              <a:t>Сокращение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40" dirty="0">
                <a:latin typeface="Calibri"/>
                <a:cs typeface="Calibri"/>
              </a:rPr>
              <a:t>времени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эксперимента </a:t>
            </a:r>
            <a:r>
              <a:rPr sz="1400" spc="-20" dirty="0">
                <a:latin typeface="Calibri"/>
                <a:cs typeface="Calibri"/>
              </a:rPr>
              <a:t>Повышение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точности</a:t>
            </a:r>
            <a:r>
              <a:rPr sz="1400" spc="9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измерений Универсальность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обработки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данных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37369"/>
            <a:ext cx="544830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60" dirty="0"/>
              <a:t>Цель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909" y="467154"/>
            <a:ext cx="3858895" cy="8788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 indent="179705">
              <a:lnSpc>
                <a:spcPct val="100800"/>
              </a:lnSpc>
              <a:spcBef>
                <a:spcPts val="120"/>
              </a:spcBef>
            </a:pPr>
            <a:r>
              <a:rPr lang="ru-RU" sz="1400" b="1" spc="-10" dirty="0">
                <a:latin typeface="Calibri"/>
                <a:cs typeface="Calibri"/>
              </a:rPr>
              <a:t>Цель:</a:t>
            </a:r>
            <a:r>
              <a:rPr lang="ru-RU" sz="1400" spc="-10" dirty="0">
                <a:latin typeface="Calibri"/>
                <a:cs typeface="Calibri"/>
              </a:rPr>
              <a:t> </a:t>
            </a:r>
            <a:r>
              <a:rPr sz="1400" spc="-10" dirty="0" err="1">
                <a:latin typeface="Calibri"/>
                <a:cs typeface="Calibri"/>
              </a:rPr>
              <a:t>уменьшить</a:t>
            </a:r>
            <a:r>
              <a:rPr sz="1400" spc="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скорость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проведения </a:t>
            </a:r>
            <a:r>
              <a:rPr sz="1400" spc="-25" dirty="0">
                <a:latin typeface="Calibri"/>
                <a:cs typeface="Calibri"/>
              </a:rPr>
              <a:t>эксперимента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по</a:t>
            </a:r>
            <a:r>
              <a:rPr sz="1400" spc="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изучению</a:t>
            </a:r>
            <a:r>
              <a:rPr sz="1400" spc="45" dirty="0">
                <a:latin typeface="Calibri"/>
                <a:cs typeface="Calibri"/>
              </a:rPr>
              <a:t> </a:t>
            </a:r>
            <a:r>
              <a:rPr sz="1400" spc="-35" dirty="0">
                <a:latin typeface="Calibri"/>
                <a:cs typeface="Calibri"/>
              </a:rPr>
              <a:t>механизмов</a:t>
            </a:r>
            <a:r>
              <a:rPr sz="1400" spc="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генерации </a:t>
            </a:r>
            <a:r>
              <a:rPr sz="1400" dirty="0">
                <a:latin typeface="Calibri"/>
                <a:cs typeface="Calibri"/>
              </a:rPr>
              <a:t>синглетного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кислорода,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увеличить</a:t>
            </a:r>
            <a:r>
              <a:rPr sz="1400" spc="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точность вычислений.</a:t>
            </a:r>
            <a:endParaRPr sz="1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5728" y="1412076"/>
            <a:ext cx="2556549" cy="180000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4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37369"/>
            <a:ext cx="786130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30" dirty="0"/>
              <a:t>Задачи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504" y="823760"/>
            <a:ext cx="83692" cy="8369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0567" y="1042466"/>
            <a:ext cx="67437" cy="6743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30567" y="1219593"/>
            <a:ext cx="67437" cy="6743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7504" y="1595564"/>
            <a:ext cx="83692" cy="8369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30567" y="1814271"/>
            <a:ext cx="67437" cy="6743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0567" y="1991398"/>
            <a:ext cx="67437" cy="6743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57504" y="2367381"/>
            <a:ext cx="83692" cy="8369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30567" y="2586075"/>
            <a:ext cx="67437" cy="6743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30567" y="2940342"/>
            <a:ext cx="67437" cy="6743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30567" y="3117481"/>
            <a:ext cx="67437" cy="67436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340906" y="499996"/>
            <a:ext cx="3969385" cy="27311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1400" b="1" dirty="0">
                <a:latin typeface="Segoe UI Symbol"/>
                <a:cs typeface="Segoe UI Symbol"/>
              </a:rPr>
              <a:t>Задачи работы:</a:t>
            </a:r>
          </a:p>
          <a:p>
            <a:pPr marL="189230" algn="just">
              <a:lnSpc>
                <a:spcPct val="100000"/>
              </a:lnSpc>
              <a:spcBef>
                <a:spcPts val="10"/>
              </a:spcBef>
            </a:pPr>
            <a:r>
              <a:rPr lang="ru-RU" sz="1400" spc="-10" dirty="0">
                <a:latin typeface="Calibri"/>
                <a:cs typeface="Calibri"/>
              </a:rPr>
              <a:t>Управление</a:t>
            </a:r>
            <a:r>
              <a:rPr lang="ru-RU" sz="1400" spc="15" dirty="0">
                <a:latin typeface="Calibri"/>
                <a:cs typeface="Calibri"/>
              </a:rPr>
              <a:t> </a:t>
            </a:r>
            <a:r>
              <a:rPr lang="ru-RU" sz="1400" spc="-10" dirty="0">
                <a:latin typeface="Calibri"/>
                <a:cs typeface="Calibri"/>
              </a:rPr>
              <a:t>аппаратурой:</a:t>
            </a:r>
            <a:endParaRPr lang="ru-RU" sz="1400" dirty="0">
              <a:latin typeface="Calibri"/>
              <a:cs typeface="Calibri"/>
            </a:endParaRPr>
          </a:p>
          <a:p>
            <a:pPr marL="546100" marR="351155" algn="just">
              <a:lnSpc>
                <a:spcPts val="1390"/>
              </a:lnSpc>
              <a:spcBef>
                <a:spcPts val="204"/>
              </a:spcBef>
            </a:pPr>
            <a:r>
              <a:rPr sz="1200" dirty="0" err="1">
                <a:latin typeface="Calibri"/>
                <a:cs typeface="Calibri"/>
              </a:rPr>
              <a:t>Управления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длинной</a:t>
            </a:r>
            <a:r>
              <a:rPr sz="1200" dirty="0">
                <a:latin typeface="Calibri"/>
                <a:cs typeface="Calibri"/>
              </a:rPr>
              <a:t> волны лазера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через </a:t>
            </a:r>
            <a:r>
              <a:rPr sz="1200" spc="55" dirty="0">
                <a:latin typeface="Calibri"/>
                <a:cs typeface="Calibri"/>
              </a:rPr>
              <a:t>OPO </a:t>
            </a:r>
            <a:r>
              <a:rPr sz="1200" spc="-10" dirty="0">
                <a:latin typeface="Calibri"/>
                <a:cs typeface="Calibri"/>
              </a:rPr>
              <a:t>Управление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полосой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пропускания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и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шагом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для </a:t>
            </a:r>
            <a:r>
              <a:rPr sz="1200" spc="-10" dirty="0">
                <a:latin typeface="Calibri"/>
                <a:cs typeface="Calibri"/>
              </a:rPr>
              <a:t>монохроматора</a:t>
            </a:r>
            <a:endParaRPr sz="1200" dirty="0">
              <a:latin typeface="Calibri"/>
              <a:cs typeface="Calibri"/>
            </a:endParaRPr>
          </a:p>
          <a:p>
            <a:pPr marL="189230" algn="just">
              <a:lnSpc>
                <a:spcPct val="100000"/>
              </a:lnSpc>
              <a:spcBef>
                <a:spcPts val="25"/>
              </a:spcBef>
            </a:pPr>
            <a:r>
              <a:rPr sz="1400" spc="-10" dirty="0">
                <a:latin typeface="Calibri"/>
                <a:cs typeface="Calibri"/>
              </a:rPr>
              <a:t>Синхронизация</a:t>
            </a:r>
            <a:r>
              <a:rPr sz="1400" spc="8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считывание</a:t>
            </a:r>
            <a:r>
              <a:rPr sz="1400" spc="8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сигналов:</a:t>
            </a:r>
            <a:endParaRPr sz="1400" dirty="0">
              <a:latin typeface="Calibri"/>
              <a:cs typeface="Calibri"/>
            </a:endParaRPr>
          </a:p>
          <a:p>
            <a:pPr marL="546100" algn="just">
              <a:lnSpc>
                <a:spcPts val="1415"/>
              </a:lnSpc>
              <a:spcBef>
                <a:spcPts val="115"/>
              </a:spcBef>
            </a:pPr>
            <a:r>
              <a:rPr sz="1200" spc="-10" dirty="0">
                <a:latin typeface="Calibri"/>
                <a:cs typeface="Calibri"/>
              </a:rPr>
              <a:t>Согласование</a:t>
            </a:r>
            <a:r>
              <a:rPr sz="1200" spc="6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ИК-</a:t>
            </a:r>
            <a:r>
              <a:rPr sz="1200" dirty="0">
                <a:latin typeface="Calibri"/>
                <a:cs typeface="Calibri"/>
              </a:rPr>
              <a:t>детектора</a:t>
            </a:r>
            <a:r>
              <a:rPr sz="1200" spc="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и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spc="95" dirty="0">
                <a:latin typeface="Calibri"/>
                <a:cs typeface="Calibri"/>
              </a:rPr>
              <a:t>ФЭК</a:t>
            </a:r>
            <a:endParaRPr sz="1200" dirty="0">
              <a:latin typeface="Calibri"/>
              <a:cs typeface="Calibri"/>
            </a:endParaRPr>
          </a:p>
          <a:p>
            <a:pPr marL="546100" marR="266065" algn="just">
              <a:lnSpc>
                <a:spcPts val="1390"/>
              </a:lnSpc>
              <a:spcBef>
                <a:spcPts val="65"/>
              </a:spcBef>
            </a:pPr>
            <a:r>
              <a:rPr sz="1200" spc="-10" dirty="0">
                <a:latin typeface="Calibri"/>
                <a:cs typeface="Calibri"/>
              </a:rPr>
              <a:t>Передача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данных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с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осциллографа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и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измерителя энергии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на</a:t>
            </a:r>
            <a:r>
              <a:rPr sz="1200" spc="20" dirty="0">
                <a:latin typeface="Calibri"/>
                <a:cs typeface="Calibri"/>
              </a:rPr>
              <a:t> </a:t>
            </a:r>
            <a:r>
              <a:rPr sz="1200" spc="75" dirty="0">
                <a:latin typeface="Calibri"/>
                <a:cs typeface="Calibri"/>
              </a:rPr>
              <a:t>ПК</a:t>
            </a:r>
            <a:endParaRPr sz="1200" dirty="0">
              <a:latin typeface="Calibri"/>
              <a:cs typeface="Calibri"/>
            </a:endParaRPr>
          </a:p>
          <a:p>
            <a:pPr marL="189230">
              <a:lnSpc>
                <a:spcPct val="100000"/>
              </a:lnSpc>
              <a:spcBef>
                <a:spcPts val="20"/>
              </a:spcBef>
            </a:pPr>
            <a:r>
              <a:rPr sz="1400" dirty="0">
                <a:latin typeface="Calibri"/>
                <a:cs typeface="Calibri"/>
              </a:rPr>
              <a:t>Обработка</a:t>
            </a:r>
            <a:r>
              <a:rPr sz="1400" spc="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визуализация</a:t>
            </a:r>
            <a:r>
              <a:rPr sz="1400" spc="7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данных:</a:t>
            </a:r>
            <a:endParaRPr sz="1400" dirty="0">
              <a:latin typeface="Calibri"/>
              <a:cs typeface="Calibri"/>
            </a:endParaRPr>
          </a:p>
          <a:p>
            <a:pPr marL="546100" marR="254635">
              <a:lnSpc>
                <a:spcPts val="1390"/>
              </a:lnSpc>
              <a:spcBef>
                <a:spcPts val="200"/>
              </a:spcBef>
            </a:pPr>
            <a:r>
              <a:rPr sz="1200" dirty="0">
                <a:latin typeface="Calibri"/>
                <a:cs typeface="Calibri"/>
              </a:rPr>
              <a:t>Вычисления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спектра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spc="-30" dirty="0">
                <a:latin typeface="Calibri"/>
                <a:cs typeface="Calibri"/>
              </a:rPr>
              <a:t>методом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интегрирования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50" dirty="0">
                <a:latin typeface="Calibri"/>
                <a:cs typeface="Calibri"/>
              </a:rPr>
              <a:t>и </a:t>
            </a:r>
            <a:r>
              <a:rPr sz="1200" spc="-10" dirty="0">
                <a:latin typeface="Calibri"/>
                <a:cs typeface="Calibri"/>
              </a:rPr>
              <a:t>аппроксимацией</a:t>
            </a:r>
            <a:endParaRPr sz="1200" dirty="0">
              <a:latin typeface="Calibri"/>
              <a:cs typeface="Calibri"/>
            </a:endParaRPr>
          </a:p>
          <a:p>
            <a:pPr marL="546100" marR="5080">
              <a:lnSpc>
                <a:spcPts val="1390"/>
              </a:lnSpc>
              <a:spcBef>
                <a:spcPts val="10"/>
              </a:spcBef>
            </a:pPr>
            <a:r>
              <a:rPr sz="1200" dirty="0">
                <a:latin typeface="Calibri"/>
                <a:cs typeface="Calibri"/>
              </a:rPr>
              <a:t>Вычисления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зависимости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энергии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от</a:t>
            </a:r>
            <a:r>
              <a:rPr sz="1200" spc="7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интенсивности </a:t>
            </a:r>
            <a:r>
              <a:rPr sz="1200" spc="-20" dirty="0">
                <a:latin typeface="Calibri"/>
                <a:cs typeface="Calibri"/>
              </a:rPr>
              <a:t>Построение</a:t>
            </a:r>
            <a:r>
              <a:rPr sz="1200" spc="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графиков</a:t>
            </a:r>
            <a:r>
              <a:rPr sz="1200" spc="8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спектров</a:t>
            </a:r>
            <a:r>
              <a:rPr sz="1200" spc="8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и</a:t>
            </a:r>
            <a:r>
              <a:rPr sz="1200" spc="8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энергии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5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37369"/>
            <a:ext cx="2415540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70" dirty="0"/>
              <a:t>Ожидаемый</a:t>
            </a:r>
            <a:r>
              <a:rPr spc="-5" dirty="0"/>
              <a:t> </a:t>
            </a:r>
            <a:r>
              <a:rPr spc="-45" dirty="0"/>
              <a:t>результат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504" y="935266"/>
            <a:ext cx="83692" cy="8369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504" y="1188326"/>
            <a:ext cx="83692" cy="83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57504" y="1441373"/>
            <a:ext cx="83692" cy="8369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7504" y="1694421"/>
            <a:ext cx="83692" cy="83693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60909" y="539117"/>
            <a:ext cx="4271645" cy="26193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68935" marR="88265" indent="-177165">
              <a:lnSpc>
                <a:spcPct val="118600"/>
              </a:lnSpc>
              <a:spcBef>
                <a:spcPts val="90"/>
              </a:spcBef>
            </a:pPr>
            <a:r>
              <a:rPr sz="1400" dirty="0">
                <a:latin typeface="Calibri"/>
                <a:cs typeface="Calibri"/>
              </a:rPr>
              <a:t>Разработать</a:t>
            </a:r>
            <a:r>
              <a:rPr sz="1400" spc="13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функциональное</a:t>
            </a:r>
            <a:r>
              <a:rPr sz="1400" spc="135" dirty="0">
                <a:latin typeface="Calibri"/>
                <a:cs typeface="Calibri"/>
              </a:rPr>
              <a:t> </a:t>
            </a:r>
            <a:r>
              <a:rPr sz="1400" spc="50" dirty="0">
                <a:latin typeface="Calibri"/>
                <a:cs typeface="Calibri"/>
              </a:rPr>
              <a:t>ПО,</a:t>
            </a:r>
            <a:r>
              <a:rPr sz="1400" spc="135" dirty="0">
                <a:latin typeface="Calibri"/>
                <a:cs typeface="Calibri"/>
              </a:rPr>
              <a:t> </a:t>
            </a:r>
            <a:r>
              <a:rPr sz="1400" spc="-30" dirty="0">
                <a:latin typeface="Calibri"/>
                <a:cs typeface="Calibri"/>
              </a:rPr>
              <a:t>обеспечивающее: </a:t>
            </a:r>
            <a:r>
              <a:rPr sz="1400" spc="-10" dirty="0">
                <a:latin typeface="Calibri"/>
                <a:cs typeface="Calibri"/>
              </a:rPr>
              <a:t>Управление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параметрами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эксперимента</a:t>
            </a:r>
            <a:endParaRPr sz="1400">
              <a:latin typeface="Calibri"/>
              <a:cs typeface="Calibri"/>
            </a:endParaRPr>
          </a:p>
          <a:p>
            <a:pPr marL="368935" marR="410845">
              <a:lnSpc>
                <a:spcPct val="118600"/>
              </a:lnSpc>
            </a:pPr>
            <a:r>
              <a:rPr sz="1400" dirty="0">
                <a:latin typeface="Calibri"/>
                <a:cs typeface="Calibri"/>
              </a:rPr>
              <a:t>Сбор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данных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измерительного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35" dirty="0">
                <a:latin typeface="Calibri"/>
                <a:cs typeface="Calibri"/>
              </a:rPr>
              <a:t>оборудования </a:t>
            </a:r>
            <a:r>
              <a:rPr sz="1400" dirty="0">
                <a:latin typeface="Calibri"/>
                <a:cs typeface="Calibri"/>
              </a:rPr>
              <a:t>Обработку</a:t>
            </a:r>
            <a:r>
              <a:rPr sz="1400" spc="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сохранения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данных </a:t>
            </a:r>
            <a:r>
              <a:rPr sz="1400" dirty="0">
                <a:latin typeface="Calibri"/>
                <a:cs typeface="Calibri"/>
              </a:rPr>
              <a:t>Визуализацию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данных</a:t>
            </a:r>
            <a:endParaRPr sz="1400">
              <a:latin typeface="Calibri"/>
              <a:cs typeface="Calibri"/>
            </a:endParaRPr>
          </a:p>
          <a:p>
            <a:pPr marL="12700" marR="5080" indent="179705">
              <a:lnSpc>
                <a:spcPct val="100800"/>
              </a:lnSpc>
              <a:spcBef>
                <a:spcPts val="300"/>
              </a:spcBef>
            </a:pPr>
            <a:r>
              <a:rPr sz="1400" dirty="0">
                <a:latin typeface="Calibri"/>
                <a:cs typeface="Calibri"/>
              </a:rPr>
              <a:t>Получить</a:t>
            </a:r>
            <a:r>
              <a:rPr sz="1400" spc="114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результаты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экспериментальной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апробации, </a:t>
            </a:r>
            <a:r>
              <a:rPr sz="1400" spc="-30" dirty="0">
                <a:latin typeface="Calibri"/>
                <a:cs typeface="Calibri"/>
              </a:rPr>
              <a:t>подтверждающие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работоспособность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системы.</a:t>
            </a:r>
            <a:endParaRPr sz="1400">
              <a:latin typeface="Calibri"/>
              <a:cs typeface="Calibri"/>
            </a:endParaRPr>
          </a:p>
          <a:p>
            <a:pPr marL="12700" marR="365125" indent="179705">
              <a:lnSpc>
                <a:spcPct val="100800"/>
              </a:lnSpc>
            </a:pPr>
            <a:r>
              <a:rPr sz="1400" dirty="0">
                <a:latin typeface="Calibri"/>
                <a:cs typeface="Calibri"/>
              </a:rPr>
              <a:t>Провести</a:t>
            </a:r>
            <a:r>
              <a:rPr sz="1400" spc="5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оценку</a:t>
            </a:r>
            <a:r>
              <a:rPr sz="1400" spc="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повышения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скорости</a:t>
            </a:r>
            <a:r>
              <a:rPr sz="1400" spc="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ошибок вычислений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по</a:t>
            </a:r>
            <a:r>
              <a:rPr sz="1400" spc="65" dirty="0">
                <a:latin typeface="Calibri"/>
                <a:cs typeface="Calibri"/>
              </a:rPr>
              <a:t> </a:t>
            </a:r>
            <a:r>
              <a:rPr sz="1400" spc="-30" dirty="0">
                <a:latin typeface="Calibri"/>
                <a:cs typeface="Calibri"/>
              </a:rPr>
              <a:t>сравнению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</a:t>
            </a:r>
            <a:r>
              <a:rPr sz="1400" spc="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ручным</a:t>
            </a:r>
            <a:r>
              <a:rPr sz="1400" spc="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анализом.</a:t>
            </a:r>
            <a:endParaRPr sz="1400">
              <a:latin typeface="Calibri"/>
              <a:cs typeface="Calibri"/>
            </a:endParaRPr>
          </a:p>
          <a:p>
            <a:pPr marL="12700" marR="39370" indent="179705">
              <a:lnSpc>
                <a:spcPct val="100800"/>
              </a:lnSpc>
            </a:pPr>
            <a:r>
              <a:rPr sz="1400" dirty="0">
                <a:latin typeface="Calibri"/>
                <a:cs typeface="Calibri"/>
              </a:rPr>
              <a:t>Обеспечить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возможность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spc="-35" dirty="0">
                <a:latin typeface="Calibri"/>
                <a:cs typeface="Calibri"/>
              </a:rPr>
              <a:t>проведения</a:t>
            </a:r>
            <a:r>
              <a:rPr sz="1400" spc="5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экспериментов </a:t>
            </a:r>
            <a:r>
              <a:rPr sz="1400" dirty="0">
                <a:latin typeface="Calibri"/>
                <a:cs typeface="Calibri"/>
              </a:rPr>
              <a:t>в</a:t>
            </a:r>
            <a:r>
              <a:rPr sz="1400" spc="8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автономном</a:t>
            </a:r>
            <a:r>
              <a:rPr sz="1400" spc="9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режиме.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6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4921" y="323056"/>
            <a:ext cx="3778250" cy="192214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065" marR="5080" indent="-635" algn="ctr">
              <a:lnSpc>
                <a:spcPct val="101200"/>
              </a:lnSpc>
              <a:spcBef>
                <a:spcPts val="85"/>
              </a:spcBef>
            </a:pPr>
            <a:r>
              <a:rPr sz="2050" spc="-40" dirty="0">
                <a:solidFill>
                  <a:srgbClr val="FFFFFF"/>
                </a:solidFill>
                <a:latin typeface="Calibri"/>
                <a:cs typeface="Calibri"/>
              </a:rPr>
              <a:t>Разработка</a:t>
            </a:r>
            <a:r>
              <a:rPr sz="2050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программного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обеспечения</a:t>
            </a:r>
            <a:r>
              <a:rPr sz="2050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25" dirty="0">
                <a:solidFill>
                  <a:srgbClr val="FFFFFF"/>
                </a:solidFill>
                <a:latin typeface="Calibri"/>
                <a:cs typeface="Calibri"/>
              </a:rPr>
              <a:t>для </a:t>
            </a:r>
            <a:r>
              <a:rPr sz="2050" spc="-65" dirty="0">
                <a:solidFill>
                  <a:srgbClr val="FFFFFF"/>
                </a:solidFill>
                <a:latin typeface="Calibri"/>
                <a:cs typeface="Calibri"/>
              </a:rPr>
              <a:t>автоматизированного</a:t>
            </a:r>
            <a:r>
              <a:rPr sz="2050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проведения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экспериментов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dirty="0">
                <a:solidFill>
                  <a:srgbClr val="FFFFFF"/>
                </a:solidFill>
                <a:latin typeface="Calibri"/>
                <a:cs typeface="Calibri"/>
              </a:rPr>
              <a:t>по</a:t>
            </a:r>
            <a:r>
              <a:rPr sz="205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изучению </a:t>
            </a:r>
            <a:r>
              <a:rPr sz="2050" spc="-85" dirty="0">
                <a:solidFill>
                  <a:srgbClr val="FFFFFF"/>
                </a:solidFill>
                <a:latin typeface="Calibri"/>
                <a:cs typeface="Calibri"/>
              </a:rPr>
              <a:t>механизмов</a:t>
            </a:r>
            <a:r>
              <a:rPr sz="2050" spc="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80" dirty="0">
                <a:solidFill>
                  <a:srgbClr val="FFFFFF"/>
                </a:solidFill>
                <a:latin typeface="Calibri"/>
                <a:cs typeface="Calibri"/>
              </a:rPr>
              <a:t>генерации</a:t>
            </a:r>
            <a:r>
              <a:rPr sz="2050" spc="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50" spc="-60" dirty="0">
                <a:solidFill>
                  <a:srgbClr val="FFFFFF"/>
                </a:solidFill>
                <a:latin typeface="Calibri"/>
                <a:cs typeface="Calibri"/>
              </a:rPr>
              <a:t>синглетного </a:t>
            </a:r>
            <a:r>
              <a:rPr sz="2050" spc="-10" dirty="0">
                <a:solidFill>
                  <a:srgbClr val="FFFFFF"/>
                </a:solidFill>
                <a:latin typeface="Calibri"/>
                <a:cs typeface="Calibri"/>
              </a:rPr>
              <a:t>кислорода</a:t>
            </a:r>
            <a:endParaRPr sz="205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7</a:t>
            </a:fld>
            <a:r>
              <a:rPr dirty="0"/>
              <a:t> </a:t>
            </a:r>
            <a:r>
              <a:rPr spc="110" dirty="0"/>
              <a:t>/</a:t>
            </a:r>
            <a:r>
              <a:rPr spc="5" dirty="0"/>
              <a:t> </a:t>
            </a:r>
            <a:r>
              <a:rPr spc="-50" dirty="0"/>
              <a:t>7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36815" y="2606583"/>
            <a:ext cx="2933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latin typeface="Calibri"/>
                <a:cs typeface="Calibri"/>
              </a:rPr>
              <a:t>Климов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Богдан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Алексеевич,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гр.</a:t>
            </a:r>
            <a:r>
              <a:rPr sz="1400" spc="1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22357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83602" y="3010114"/>
            <a:ext cx="287718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43255" marR="5080" indent="-631190">
              <a:lnSpc>
                <a:spcPts val="950"/>
              </a:lnSpc>
              <a:spcBef>
                <a:spcPts val="135"/>
              </a:spcBef>
            </a:pPr>
            <a:r>
              <a:rPr sz="800" dirty="0">
                <a:latin typeface="Calibri"/>
                <a:cs typeface="Calibri"/>
              </a:rPr>
              <a:t>Научный</a:t>
            </a:r>
            <a:r>
              <a:rPr sz="800" spc="35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руководитель: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к.ф.-м.н.,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Ершов</a:t>
            </a:r>
            <a:r>
              <a:rPr sz="800" spc="3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Кирилл</a:t>
            </a:r>
            <a:r>
              <a:rPr sz="800" spc="350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Сергеевич</a:t>
            </a:r>
            <a:r>
              <a:rPr sz="800" spc="50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Место: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114" dirty="0">
                <a:latin typeface="Calibri"/>
                <a:cs typeface="Calibri"/>
              </a:rPr>
              <a:t>ИХКГ</a:t>
            </a:r>
            <a:r>
              <a:rPr sz="800" spc="155" dirty="0">
                <a:latin typeface="Calibri"/>
                <a:cs typeface="Calibri"/>
              </a:rPr>
              <a:t> </a:t>
            </a:r>
            <a:r>
              <a:rPr sz="800" spc="100" dirty="0">
                <a:latin typeface="Calibri"/>
                <a:cs typeface="Calibri"/>
              </a:rPr>
              <a:t>СО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65" dirty="0">
                <a:latin typeface="Calibri"/>
                <a:cs typeface="Calibri"/>
              </a:rPr>
              <a:t>РАН,</a:t>
            </a:r>
            <a:r>
              <a:rPr sz="800" spc="15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гр.</a:t>
            </a:r>
            <a:r>
              <a:rPr sz="800" spc="150" dirty="0">
                <a:latin typeface="Calibri"/>
                <a:cs typeface="Calibri"/>
              </a:rPr>
              <a:t> </a:t>
            </a:r>
            <a:r>
              <a:rPr sz="800" spc="65" dirty="0">
                <a:latin typeface="Calibri"/>
                <a:cs typeface="Calibri"/>
              </a:rPr>
              <a:t>МФД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282</Words>
  <Application>Microsoft Office PowerPoint</Application>
  <PresentationFormat>Произвольный</PresentationFormat>
  <Paragraphs>37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Calibri</vt:lpstr>
      <vt:lpstr>Segoe UI Symbol</vt:lpstr>
      <vt:lpstr>Office Theme</vt:lpstr>
      <vt:lpstr>Презентация PowerPoint</vt:lpstr>
      <vt:lpstr>Область исследования</vt:lpstr>
      <vt:lpstr>Актуальность</vt:lpstr>
      <vt:lpstr>Цель</vt:lpstr>
      <vt:lpstr>Задачи</vt:lpstr>
      <vt:lpstr>Ожидаемый результат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Климов Богдан Алексеевич, гр. 22357</dc:creator>
  <cp:lastModifiedBy>Bogdan Klimov</cp:lastModifiedBy>
  <cp:revision>1</cp:revision>
  <dcterms:created xsi:type="dcterms:W3CDTF">2025-11-03T21:51:36Z</dcterms:created>
  <dcterms:modified xsi:type="dcterms:W3CDTF">2025-11-03T21:57:39Z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2025-11-03T00:00:00Z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2025-11-03T00:00:00Z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