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57" r:id="rId3"/>
    <p:sldId id="259" r:id="rId4"/>
    <p:sldId id="260" r:id="rId5"/>
    <p:sldId id="266" r:id="rId6"/>
    <p:sldId id="268" r:id="rId7"/>
    <p:sldId id="269" r:id="rId8"/>
    <p:sldId id="274" r:id="rId9"/>
    <p:sldId id="270" r:id="rId10"/>
    <p:sldId id="271" r:id="rId11"/>
    <p:sldId id="272" r:id="rId12"/>
    <p:sldId id="265" r:id="rId13"/>
    <p:sldId id="273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ogdan Klimov" initials="BK" lastIdx="1" clrIdx="0">
    <p:extLst>
      <p:ext uri="{19B8F6BF-5375-455C-9EA6-DF929625EA0E}">
        <p15:presenceInfo xmlns:p15="http://schemas.microsoft.com/office/powerpoint/2012/main" userId="f37532ac853aedf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DE38DD-B485-45BD-AF6B-246E9A8CD0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D167421-9F64-45AA-8C55-07A96EB9B0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FE1E794-82D3-471C-AC9B-3B17A5CCF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0B553-31EF-4B1D-9EAB-410AD6CA89D0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7E12BF7-A961-44FB-B9D3-D7EF8554D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9843FFC-C68B-47A1-8296-154DB3F42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EA683-26E4-4C1E-8F89-2E8F037442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109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107AFC-401A-4A4A-8221-5A00CB349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3318472-A46A-44F1-82C1-31C4BF74D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2766AFD-F623-46EF-98A4-5A9CFDD1B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0B553-31EF-4B1D-9EAB-410AD6CA89D0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019AD00-8B3E-4B6F-BB4F-3174FE44D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121E5B9-35E2-4F96-97D8-604BD9E48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EA683-26E4-4C1E-8F89-2E8F037442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2409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D5BC43-6DF5-4C5D-A24E-EF639743E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8D774D7-C471-4BBE-90FA-855CF73584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CEDB28-0D5F-4BCF-BE20-5EEB327C8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0B553-31EF-4B1D-9EAB-410AD6CA89D0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4F70DDC-AB2F-4866-85C9-D5620F3F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C24C878-14F7-4529-8B25-8C2EA0198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EA683-26E4-4C1E-8F89-2E8F037442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9172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F81399-F7A5-40DB-A294-92531CBD0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9E02C6-88F1-4BE7-BF06-A8D8330083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A07C207-8664-4379-9EF3-A0A3931D4C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04CD243-837C-49D8-BEE1-91ACC672B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0B553-31EF-4B1D-9EAB-410AD6CA89D0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E419B6C-A51C-4429-95FC-3008D4FC5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6789D59-1875-4ABA-A7A7-BAAF682F0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EA683-26E4-4C1E-8F89-2E8F037442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7484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666D48-841C-4778-906E-64596CC00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3A0A8E8-0420-43E7-A96A-47D647316C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0C9AF56-3587-4EA5-B695-5E86E35A6E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37CF366-3AC5-450C-AE6E-7ADB032B07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F42913D-480C-4A44-9256-ABAC9C69A7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676AFBE-44D2-41D2-9537-60F8BBA81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0B553-31EF-4B1D-9EAB-410AD6CA89D0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AA6592E-F9C4-46A2-9F22-84DDD6F21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E1ABB0B-5C75-4F8C-AC3B-A5A1547C4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EA683-26E4-4C1E-8F89-2E8F037442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6742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A9DFEC-2AC6-4692-8BE2-B2AFC4258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F09579B-BEC3-453C-B346-E67D49D17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0B553-31EF-4B1D-9EAB-410AD6CA89D0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2E92755-A2AA-464F-B6C2-0D111F14E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2FC87BA-2D11-4516-9F11-4C0431DAE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EA683-26E4-4C1E-8F89-2E8F037442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2334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232417D-4FA2-4894-A1F7-E88D99F05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0B553-31EF-4B1D-9EAB-410AD6CA89D0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2E8C622-28A2-4BED-A697-0DFC0D2CD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2F37DEE-7DAC-451E-9B0C-DAE304245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EA683-26E4-4C1E-8F89-2E8F037442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500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394974-6247-4DB9-90BD-B89342DD5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7BC104-AD9B-4CF2-9296-AF3889DB2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A4EB78F-E2DC-4488-A98D-E31E1DB3F5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10B1F81-C3EC-459A-8113-8B22D4096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0B553-31EF-4B1D-9EAB-410AD6CA89D0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F45122B-4DE1-45AA-AE72-7D7D84C22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F4B014D-EA55-42F9-A940-E5B2D98A0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EA683-26E4-4C1E-8F89-2E8F037442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9823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587A11-492C-40E0-B45B-383EBDEB5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755B36E-E810-488D-B035-A1D652BEFE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8407065-BB5B-4F4A-A2A2-1A944BF09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AB5FC58-FE33-4FD6-8354-B2892222C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0B553-31EF-4B1D-9EAB-410AD6CA89D0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2994B10-D2D3-46B9-969E-672CE0B15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CA6B2BC-F0DA-4FE6-9C82-7EF74C8E8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EA683-26E4-4C1E-8F89-2E8F037442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6796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111489-965D-4D38-BACB-F21669E35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8C8DD04-4E29-49DF-BB9A-478E90F1CC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598401-5981-4DF8-BE47-A32D16B36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0B553-31EF-4B1D-9EAB-410AD6CA89D0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798CEA-4BA9-4177-9079-DED39AEDB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57268CB-1D5D-4CF8-AA80-A14F22B96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EA683-26E4-4C1E-8F89-2E8F037442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2216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E16E5E7-A4F2-4A1B-B4F9-AC20F55529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C447BDE-2EB5-426D-B8D1-E726EEC8E1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C2647C0-57BC-478A-88F1-459C092DF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0B553-31EF-4B1D-9EAB-410AD6CA89D0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BD5A7C8-9514-46D5-A5B8-BDFA88F0B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9E341C-FCBC-44D6-BD75-3C87199E1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EA683-26E4-4C1E-8F89-2E8F037442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6373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A0EE9F-DB49-496F-85E1-8D475E707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F971459-0701-4F30-B8C9-22EE571ABB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DD10163-FA5C-4AFC-94E4-3BD6BA709E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A0B553-31EF-4B1D-9EAB-410AD6CA89D0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20F9B26-2864-4043-BE8C-C055582BBC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1ACAA84-8D25-4FE2-A9C2-B0A371C822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FEA683-26E4-4C1E-8F89-2E8F037442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1599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09E791-085C-4CDA-8F96-C54D1FA07C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5153"/>
            <a:ext cx="9144000" cy="5755342"/>
          </a:xfrm>
        </p:spPr>
        <p:txBody>
          <a:bodyPr anchor="ctr">
            <a:normAutofit fontScale="90000"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обеспечения для автоматизированного проведения экспериментов по изучению механизмов генерации синглетного кислорода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F8345CE-A702-49C0-BBBD-34AF53801B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6753" y="5970495"/>
            <a:ext cx="6795247" cy="887504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Студент: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Климов Богдан Алексеевич, гр. 22357</a:t>
            </a:r>
          </a:p>
          <a:p>
            <a:pPr algn="l">
              <a:spcBef>
                <a:spcPts val="0"/>
              </a:spcBef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Научный</a:t>
            </a:r>
            <a:r>
              <a:rPr lang="ru-RU" sz="1800" b="1" spc="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</a:t>
            </a:r>
            <a:r>
              <a:rPr lang="ru-RU" sz="1800" spc="3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к.ф.-м.н.,</a:t>
            </a:r>
            <a:r>
              <a:rPr lang="ru-RU" sz="1800" spc="3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Ершов</a:t>
            </a:r>
            <a:r>
              <a:rPr lang="ru-RU" sz="1800" spc="3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Кирилл</a:t>
            </a:r>
            <a:r>
              <a:rPr lang="ru-RU" sz="1800" spc="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Сергеевич</a:t>
            </a:r>
            <a:endParaRPr lang="ru-RU" sz="1800" spc="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0"/>
              </a:spcBef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Место прохождения практики:</a:t>
            </a:r>
            <a:r>
              <a:rPr lang="ru-RU" sz="1800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ИХКГ</a:t>
            </a:r>
            <a:r>
              <a:rPr lang="ru-RU" sz="1800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</a:t>
            </a:r>
            <a:r>
              <a:rPr lang="ru-RU" sz="1800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РАН,</a:t>
            </a:r>
            <a:r>
              <a:rPr lang="ru-RU" sz="1800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гр.</a:t>
            </a:r>
            <a:r>
              <a:rPr lang="ru-RU" sz="1800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МФД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4255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C75D28-21D8-46FA-B239-E307DEF59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0330"/>
            <a:ext cx="10515600" cy="762000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Область исследования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52EC69-9860-45E6-9E44-C311D1C19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2330"/>
            <a:ext cx="10515600" cy="5755340"/>
          </a:xfrm>
        </p:spPr>
        <p:txBody>
          <a:bodyPr anchor="t"/>
          <a:lstStyle/>
          <a:p>
            <a:pPr marL="0" indent="450000" defTabSz="90000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Автоматизация проведения экспериментальных исследований, включающая управление оборудованием и обработку данных в реальном времени.</a:t>
            </a: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D2D9FDAC-18E2-4473-B2A1-964535786ED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4092" y="2259938"/>
            <a:ext cx="2880000" cy="2160000"/>
          </a:xfrm>
          <a:prstGeom prst="rect">
            <a:avLst/>
          </a:prstGeom>
        </p:spPr>
      </p:pic>
      <p:pic>
        <p:nvPicPr>
          <p:cNvPr id="6" name="object 5">
            <a:extLst>
              <a:ext uri="{FF2B5EF4-FFF2-40B4-BE49-F238E27FC236}">
                <a16:creationId xmlns:a16="http://schemas.microsoft.com/office/drawing/2014/main" id="{31FF4CF1-4660-44C5-8D70-E4521D9ADB2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38946" y="2256992"/>
            <a:ext cx="5040000" cy="2160000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809834D5-8FDB-4F2F-AB51-791D9E21C0E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04092" y="4473804"/>
            <a:ext cx="5040000" cy="2160000"/>
          </a:xfrm>
          <a:prstGeom prst="rect">
            <a:avLst/>
          </a:prstGeom>
        </p:spPr>
      </p:pic>
      <p:pic>
        <p:nvPicPr>
          <p:cNvPr id="8" name="object 5">
            <a:extLst>
              <a:ext uri="{FF2B5EF4-FFF2-40B4-BE49-F238E27FC236}">
                <a16:creationId xmlns:a16="http://schemas.microsoft.com/office/drawing/2014/main" id="{93925ED7-7E9C-4C09-99B0-06795F79790A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98946" y="4473804"/>
            <a:ext cx="2880000" cy="216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D094746-1B6D-4DB2-99FA-AA61470CBBCA}"/>
              </a:ext>
            </a:extLst>
          </p:cNvPr>
          <p:cNvSpPr txBox="1"/>
          <p:nvPr/>
        </p:nvSpPr>
        <p:spPr>
          <a:xfrm>
            <a:off x="11832000" y="6498000"/>
            <a:ext cx="360000" cy="36000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33210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C75D28-21D8-46FA-B239-E307DEF59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0330"/>
            <a:ext cx="10515600" cy="762000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52EC69-9860-45E6-9E44-C311D1C19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2330"/>
            <a:ext cx="10515600" cy="5755340"/>
          </a:xfrm>
        </p:spPr>
        <p:txBody>
          <a:bodyPr anchor="ctr"/>
          <a:lstStyle/>
          <a:p>
            <a:pPr marL="0" indent="450000" defTabSz="90000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Ручное проведение эксперимента регистрации ИК-спектров и сигналов, возникающих при генерации синглетного кислорода, затрудняет возможность изучать механизмы генерации синглетного кислорода в очень активных комплексах, так как считывание и обработка данных занимает много времени и требует постоянного присутствия исследователя. Также, ускорение процесса считывания и обработки необходимо при быстром расходе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фотовозбуждаемого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соединения, которое ответственно за генерацию синглетного кислорода.</a:t>
            </a:r>
          </a:p>
          <a:p>
            <a:pPr marL="0" indent="450000" defTabSz="90000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Данная работа поможет снизить время проведения экспериментов, увеличит точность и снизит риск возникновения ошибок.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526DE3-EB3D-419B-8678-6B7F8FC045C7}"/>
              </a:ext>
            </a:extLst>
          </p:cNvPr>
          <p:cNvSpPr txBox="1"/>
          <p:nvPr/>
        </p:nvSpPr>
        <p:spPr>
          <a:xfrm>
            <a:off x="11832000" y="6498000"/>
            <a:ext cx="360000" cy="36000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372500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C75D28-21D8-46FA-B239-E307DEF59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0330"/>
            <a:ext cx="10515600" cy="762000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52EC69-9860-45E6-9E44-C311D1C19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2330"/>
            <a:ext cx="10515600" cy="5755340"/>
          </a:xfrm>
        </p:spPr>
        <p:txBody>
          <a:bodyPr anchor="t">
            <a:normAutofit/>
          </a:bodyPr>
          <a:lstStyle/>
          <a:p>
            <a:pPr marL="0" indent="450000" defTabSz="90000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Уменьшить время проведения эксперимента по изучению механизмов генерации синглетного кислорода, увеличить точность вычислений.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D877E834-6457-4202-A69A-640051929E2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6000" y="2367670"/>
            <a:ext cx="6480000" cy="4320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562F448-D48D-44C1-A671-1B186C908B94}"/>
              </a:ext>
            </a:extLst>
          </p:cNvPr>
          <p:cNvSpPr txBox="1"/>
          <p:nvPr/>
        </p:nvSpPr>
        <p:spPr>
          <a:xfrm>
            <a:off x="11832000" y="6498000"/>
            <a:ext cx="360000" cy="36000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576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C75D28-21D8-46FA-B239-E307DEF59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0330"/>
            <a:ext cx="10515600" cy="762000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52EC69-9860-45E6-9E44-C311D1C19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2330"/>
            <a:ext cx="10515600" cy="5755340"/>
          </a:xfrm>
        </p:spPr>
        <p:txBody>
          <a:bodyPr anchor="ctr"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Создать ПО, через которое можно будет управлять всеми компонентами эксперимента: управления длинной волны лазера через OPO и управление полосой пропускания, шагом для монохроматора и количества повторений проходов по длинам волн.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ПО должно отвечать за автоматически сбор данных с оборудования: считывание сигнала с осциллографа и измерителя энергии. По полученным данным с осциллографа будет рассчитываться спектр ИК-люминесценции с помощью интегрирования сигнала с интерактивным заданием границ и по полученным данным будет производиться аппроксимация спектра. Полученные данные с измерителя энергии помогут следить за энергией лазерного импульса в реальном времени, а также измерять зависимость амплитуды сигнала, полученного с осциллографа, от энергии лазерного импульса, что важно для определения механизмов генерации синглетного кислорода, а также для определения квантового выхода синглетного кислорода для новых веществ или слабоизученных соединений.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Реализация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автокалибровки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через ПО на известном веществе или светодиоде, что очень важно для точного определения спектров ИК-люминесценции синглетного кислорода при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фотовозбуждении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малоизученных веществ. За счет этого программа сможет проверять корректность длины волны монохроматора.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Провести тестирование ПО в реальных условиях эксперимента. Оценить скорость, точность и удобство работы по сравнению с ручными методами.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42D16C-A193-41B4-B12A-977F41731F4D}"/>
              </a:ext>
            </a:extLst>
          </p:cNvPr>
          <p:cNvSpPr txBox="1"/>
          <p:nvPr/>
        </p:nvSpPr>
        <p:spPr>
          <a:xfrm>
            <a:off x="11832000" y="6498000"/>
            <a:ext cx="360000" cy="36000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985456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C75D28-21D8-46FA-B239-E307DEF59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0330"/>
            <a:ext cx="10515600" cy="762000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Ганта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7555F1A-623B-4E33-9CC4-AA36F2E131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179" y="932330"/>
            <a:ext cx="10641641" cy="576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6093B7F-3320-4083-8EB2-5D57F1D189D3}"/>
              </a:ext>
            </a:extLst>
          </p:cNvPr>
          <p:cNvSpPr txBox="1"/>
          <p:nvPr/>
        </p:nvSpPr>
        <p:spPr>
          <a:xfrm>
            <a:off x="11832000" y="6498000"/>
            <a:ext cx="360000" cy="36000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641287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C75D28-21D8-46FA-B239-E307DEF59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0330"/>
            <a:ext cx="10515600" cy="762000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методов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52EC69-9860-45E6-9E44-C311D1C19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2330"/>
            <a:ext cx="10515600" cy="5755340"/>
          </a:xfrm>
        </p:spPr>
        <p:txBody>
          <a:bodyPr anchor="ctr"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Расчет спектра (интегрирование исходного сигнала):</a:t>
            </a:r>
          </a:p>
          <a:p>
            <a:pPr marL="720000" lvl="1" indent="-180000">
              <a:lnSpc>
                <a:spcPct val="120000"/>
              </a:lnSpc>
              <a:spcBef>
                <a:spcPts val="0"/>
              </a:spcBef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Интерактивный выбор диапазонов для сигнала и фонового шума.</a:t>
            </a:r>
          </a:p>
          <a:p>
            <a:pPr marL="720000" lvl="1" indent="-180000">
              <a:lnSpc>
                <a:spcPct val="120000"/>
              </a:lnSpc>
              <a:spcBef>
                <a:spcPts val="0"/>
              </a:spcBef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 вычитание фонового шума.</a:t>
            </a:r>
          </a:p>
          <a:p>
            <a:pPr marL="720000" lvl="1" indent="-180000">
              <a:lnSpc>
                <a:spcPct val="120000"/>
              </a:lnSpc>
              <a:spcBef>
                <a:spcPts val="0"/>
              </a:spcBef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 предобработка исходного сигнала.</a:t>
            </a:r>
          </a:p>
          <a:p>
            <a:pPr marL="720000" lvl="1" indent="-180000">
              <a:lnSpc>
                <a:spcPct val="120000"/>
              </a:lnSpc>
              <a:spcBef>
                <a:spcPts val="0"/>
              </a:spcBef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Интегрирования несколькими методами и достижение необходимой точности.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Аппроксимация сигнала (разложение с итеративным улучшением точности):</a:t>
            </a:r>
          </a:p>
          <a:p>
            <a:pPr marL="720000" lvl="1" indent="-180000">
              <a:lnSpc>
                <a:spcPct val="120000"/>
              </a:lnSpc>
              <a:spcBef>
                <a:spcPts val="0"/>
              </a:spcBef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Расчет аппроксимированного сигнала по формуле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биэкспоненциальной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модели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000" lvl="1" indent="-180000">
              <a:lnSpc>
                <a:spcPct val="120000"/>
              </a:lnSpc>
              <a:spcBef>
                <a:spcPts val="0"/>
              </a:spcBef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Применение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метода нелинейной регрессии для оптимизации коэффициентов.</a:t>
            </a:r>
          </a:p>
          <a:p>
            <a:pPr marL="720000" lvl="1" indent="-180000">
              <a:lnSpc>
                <a:spcPct val="120000"/>
              </a:lnSpc>
              <a:spcBef>
                <a:spcPts val="0"/>
              </a:spcBef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Расчет спектра для результата аппроксимации и сравнение результатом для </a:t>
            </a: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исходного сигнала.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Автокалибровка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20000" lvl="1" indent="-180000">
              <a:lnSpc>
                <a:spcPct val="110000"/>
              </a:lnSpc>
              <a:spcBef>
                <a:spcPts val="0"/>
              </a:spcBef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Проверка подключений всех необходимых устройств и сохранение портов для связей со всеми компонентами.</a:t>
            </a:r>
          </a:p>
          <a:p>
            <a:pPr marL="720000" lvl="1" indent="-180000">
              <a:lnSpc>
                <a:spcPct val="110000"/>
              </a:lnSpc>
              <a:spcBef>
                <a:spcPts val="0"/>
              </a:spcBef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Калибровка и проверка работоспособности всех компонент через обратную связь и сохранение калибровочных коэффициентов.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8BF1B0-E201-4347-AD40-612404CFB76A}"/>
              </a:ext>
            </a:extLst>
          </p:cNvPr>
          <p:cNvSpPr txBox="1"/>
          <p:nvPr/>
        </p:nvSpPr>
        <p:spPr>
          <a:xfrm>
            <a:off x="11832000" y="6498000"/>
            <a:ext cx="360000" cy="36000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88728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C75D28-21D8-46FA-B239-E307DEF59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0330"/>
            <a:ext cx="10515600" cy="762000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методов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F52EC69-9860-45E6-9E44-C311D1C19D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932330"/>
                <a:ext cx="10515600" cy="5755340"/>
              </a:xfrm>
            </p:spPr>
            <p:txBody>
              <a:bodyPr anchor="ctr"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иэкспоненциальная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модель: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20000" lvl="1" indent="-180000">
                  <a:lnSpc>
                    <a:spcPct val="100000"/>
                  </a:lnSpc>
                  <a:spcBef>
                    <a:spcPts val="0"/>
                  </a:spcBef>
                  <a:spcAft>
                    <a:spcPts val="1800"/>
                  </a:spcAft>
                </a:pP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Основная формула:</a:t>
                </a:r>
              </a:p>
              <a:p>
                <a:pPr marL="900000" indent="0" defTabSz="900000">
                  <a:lnSpc>
                    <a:spcPct val="100000"/>
                  </a:lnSpc>
                  <a:spcBef>
                    <a:spcPts val="0"/>
                  </a:spcBef>
                  <a:spcAft>
                    <a:spcPts val="1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𝐴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20000" lvl="1" indent="-180000">
                  <a:lnSpc>
                    <a:spcPct val="100000"/>
                  </a:lnSpc>
                  <a:spcBef>
                    <a:spcPts val="0"/>
                  </a:spcBef>
                  <a:spcAft>
                    <a:spcPts val="1800"/>
                  </a:spcAft>
                </a:pP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Система для смещения на время отклика:</a:t>
                </a:r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00000" lvl="1" indent="0" defTabSz="900000">
                  <a:lnSpc>
                    <a:spcPct val="100000"/>
                  </a:lnSpc>
                  <a:spcBef>
                    <a:spcPts val="0"/>
                  </a:spcBef>
                  <a:spcAft>
                    <a:spcPts val="1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𝐹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𝜏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 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&gt;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𝜏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𝐹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                      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≤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𝜏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Параметры модели, которые нужно подбирать: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20000" lvl="1" indent="-180000">
                  <a:lnSpc>
                    <a:spcPct val="12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— базовый уровень.</a:t>
                </a:r>
              </a:p>
              <a:p>
                <a:pPr marL="720000" lvl="1" indent="-180000">
                  <a:lnSpc>
                    <a:spcPct val="12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— амплитуда отклика.</a:t>
                </a:r>
              </a:p>
              <a:p>
                <a:pPr marL="720000" lvl="1" indent="-180000">
                  <a:lnSpc>
                    <a:spcPct val="12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— быстрая константа скорости.</a:t>
                </a:r>
              </a:p>
              <a:p>
                <a:pPr marL="720000" lvl="1" indent="-180000">
                  <a:lnSpc>
                    <a:spcPct val="12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— медленная константа скорости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</a:p>
              <a:p>
                <a:pPr marL="720000" lvl="1" indent="-180000">
                  <a:lnSpc>
                    <a:spcPct val="12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𝜏</m:t>
                    </m:r>
                  </m:oMath>
                </a14:m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— время задержки начала реакции.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F52EC69-9860-45E6-9E44-C311D1C19D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932330"/>
                <a:ext cx="10515600" cy="5755340"/>
              </a:xfrm>
              <a:blipFill>
                <a:blip r:embed="rId2"/>
                <a:stretch>
                  <a:fillRect l="-1043" t="-424" b="-10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933A3C6-AB65-4268-988B-6D1DABAD4D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6329" y="1228165"/>
            <a:ext cx="5670000" cy="324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9E4156-1262-4F63-828A-40AEB6976DA0}"/>
              </a:ext>
            </a:extLst>
          </p:cNvPr>
          <p:cNvSpPr txBox="1"/>
          <p:nvPr/>
        </p:nvSpPr>
        <p:spPr>
          <a:xfrm>
            <a:off x="11833504" y="6498000"/>
            <a:ext cx="360000" cy="36000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6980847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C75D28-21D8-46FA-B239-E307DEF59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0330"/>
            <a:ext cx="10515600" cy="762000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Ход работы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0426827-8C4F-48D1-A1EA-F72042937EB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007" t="10289" r="6978" b="5543"/>
          <a:stretch/>
        </p:blipFill>
        <p:spPr>
          <a:xfrm>
            <a:off x="838200" y="1488141"/>
            <a:ext cx="2072639" cy="1440000"/>
          </a:xfrm>
          <a:prstGeom prst="rect">
            <a:avLst/>
          </a:prstGeom>
        </p:spPr>
      </p:pic>
      <p:pic>
        <p:nvPicPr>
          <p:cNvPr id="1026" name="Picture 2" descr="MSOX2024A Keysight, Осциллограф цифровой купить в ГенПрибор">
            <a:extLst>
              <a:ext uri="{FF2B5EF4-FFF2-40B4-BE49-F238E27FC236}">
                <a16:creationId xmlns:a16="http://schemas.microsoft.com/office/drawing/2014/main" id="{F5A2E545-8514-497D-A632-BFFB013088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92" t="19088" r="3551" b="17163"/>
          <a:stretch/>
        </p:blipFill>
        <p:spPr bwMode="auto">
          <a:xfrm>
            <a:off x="838200" y="3929859"/>
            <a:ext cx="2072639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E102A8F-9D5E-46F3-81DD-9CA750D35F4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999" t="12549" r="10334" b="9756"/>
          <a:stretch/>
        </p:blipFill>
        <p:spPr>
          <a:xfrm>
            <a:off x="4434088" y="3929859"/>
            <a:ext cx="2072639" cy="1440000"/>
          </a:xfrm>
          <a:prstGeom prst="rect">
            <a:avLst/>
          </a:prstGeom>
        </p:spPr>
      </p:pic>
      <p:pic>
        <p:nvPicPr>
          <p:cNvPr id="1028" name="Picture 4" descr="LS-2145-OPO">
            <a:extLst>
              <a:ext uri="{FF2B5EF4-FFF2-40B4-BE49-F238E27FC236}">
                <a16:creationId xmlns:a16="http://schemas.microsoft.com/office/drawing/2014/main" id="{DEE6211B-1465-4A4C-B0C4-294A4BAE8B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6" t="15889" r="46" b="14669"/>
          <a:stretch/>
        </p:blipFill>
        <p:spPr bwMode="auto">
          <a:xfrm>
            <a:off x="4434088" y="1488141"/>
            <a:ext cx="20736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2E3106E-13FF-4E88-AB71-7FD15F713C6E}"/>
              </a:ext>
            </a:extLst>
          </p:cNvPr>
          <p:cNvSpPr txBox="1"/>
          <p:nvPr/>
        </p:nvSpPr>
        <p:spPr>
          <a:xfrm>
            <a:off x="287995" y="2928141"/>
            <a:ext cx="31730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Монохроматор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M266-IV (Solar Laser Systems)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633793-F126-4BB2-A719-1BDBB7F93569}"/>
              </a:ext>
            </a:extLst>
          </p:cNvPr>
          <p:cNvSpPr txBox="1"/>
          <p:nvPr/>
        </p:nvSpPr>
        <p:spPr>
          <a:xfrm>
            <a:off x="3549785" y="2928141"/>
            <a:ext cx="3841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Лазерное излучение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LS-2145-OPO (OPO,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Lotis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2145)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32D395-C453-4C4F-A310-3FBE32F8D8CE}"/>
              </a:ext>
            </a:extLst>
          </p:cNvPr>
          <p:cNvSpPr txBox="1"/>
          <p:nvPr/>
        </p:nvSpPr>
        <p:spPr>
          <a:xfrm>
            <a:off x="547297" y="5369859"/>
            <a:ext cx="26544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Осциллограф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MSOX2024A (Keysight)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AD8E9C-BBA7-48EA-B7C9-2B5B09665005}"/>
              </a:ext>
            </a:extLst>
          </p:cNvPr>
          <p:cNvSpPr txBox="1"/>
          <p:nvPr/>
        </p:nvSpPr>
        <p:spPr>
          <a:xfrm>
            <a:off x="3701461" y="5369859"/>
            <a:ext cx="35378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Измеритель энергии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QE25SP-S-MT-D0 (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Gentec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-EO)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C3F505-6F4D-4068-9FB3-642A1B1F4339}"/>
              </a:ext>
            </a:extLst>
          </p:cNvPr>
          <p:cNvSpPr txBox="1"/>
          <p:nvPr/>
        </p:nvSpPr>
        <p:spPr>
          <a:xfrm>
            <a:off x="9394748" y="5088141"/>
            <a:ext cx="8546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Схема ПО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B8ADDAA-2479-4350-A30D-C7CDC8EB9F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9073" y="2208141"/>
            <a:ext cx="4163855" cy="2880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2E9B689-BE69-4F05-97EC-09530EA536DD}"/>
              </a:ext>
            </a:extLst>
          </p:cNvPr>
          <p:cNvSpPr txBox="1"/>
          <p:nvPr/>
        </p:nvSpPr>
        <p:spPr>
          <a:xfrm>
            <a:off x="11832000" y="6498000"/>
            <a:ext cx="360000" cy="36000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155345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C75D28-21D8-46FA-B239-E307DEF59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0330"/>
            <a:ext cx="10515600" cy="762000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Ход работы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03E2CFB-5BC8-4F81-9D4B-F02C07E62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49" y="1147483"/>
            <a:ext cx="4690475" cy="252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D23315C-8388-4183-B87B-DA1544DB9E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5477" y="1147483"/>
            <a:ext cx="4695030" cy="252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3F3C681-CC96-4228-A404-74665FCA05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5477" y="4015270"/>
            <a:ext cx="4695030" cy="252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414E3A1-9A02-4A3C-A3DF-E4DC824681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049" y="4015270"/>
            <a:ext cx="4685242" cy="252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80A09A6-6EDF-4C71-BD51-A9D34C22E839}"/>
              </a:ext>
            </a:extLst>
          </p:cNvPr>
          <p:cNvSpPr txBox="1"/>
          <p:nvPr/>
        </p:nvSpPr>
        <p:spPr>
          <a:xfrm>
            <a:off x="11832000" y="6498000"/>
            <a:ext cx="360000" cy="36000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5117364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C75D28-21D8-46FA-B239-E307DEF59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0330"/>
            <a:ext cx="10515600" cy="762000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методов</a:t>
            </a:r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778DCFDC-29FB-4474-B781-3DB0B7B996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8039399"/>
              </p:ext>
            </p:extLst>
          </p:nvPr>
        </p:nvGraphicFramePr>
        <p:xfrm>
          <a:off x="838200" y="1183340"/>
          <a:ext cx="10515600" cy="510987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06551729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99065217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30286546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036965652"/>
                    </a:ext>
                  </a:extLst>
                </a:gridCol>
              </a:tblGrid>
              <a:tr h="762825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Параметр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Ручной метод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Автоматизированный метод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Улучшение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3911274"/>
                  </a:ext>
                </a:extLst>
              </a:tr>
              <a:tr h="762825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Время получения одного спектра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4-6 часов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30-45 минут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 5-8 раз быстрее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651118"/>
                  </a:ext>
                </a:extLst>
              </a:tr>
              <a:tr h="940468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Измерение энергии лазерного импульса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8-12%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ru-RU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ru-RU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ru-RU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 раза точнее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3382841"/>
                  </a:ext>
                </a:extLst>
              </a:tr>
              <a:tr h="940468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Точность позиционирования монохроматора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±2 </a:t>
                      </a:r>
                      <a:r>
                        <a:rPr lang="ru-RU" sz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нм</a:t>
                      </a:r>
                      <a:endParaRPr lang="ru-RU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±0.1 </a:t>
                      </a:r>
                      <a:r>
                        <a:rPr lang="ru-RU" sz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нм</a:t>
                      </a:r>
                      <a:endParaRPr lang="ru-RU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 20 раз точнее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5212410"/>
                  </a:ext>
                </a:extLst>
              </a:tr>
              <a:tr h="940468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Требуемое присутствие исследователя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Постоянно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Только при запуске и завершении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Снижение вовлеченности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3126813"/>
                  </a:ext>
                </a:extLst>
              </a:tr>
              <a:tr h="762825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Обработка данных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Вручную в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Origin/MATLAB</a:t>
                      </a:r>
                      <a:endParaRPr lang="ru-RU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 реальном времени, автоматически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Экономия 1-2 часов на обработку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389681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096222F-0C36-4553-A176-3B2B5FBD8E16}"/>
              </a:ext>
            </a:extLst>
          </p:cNvPr>
          <p:cNvSpPr txBox="1"/>
          <p:nvPr/>
        </p:nvSpPr>
        <p:spPr>
          <a:xfrm>
            <a:off x="11832000" y="6498000"/>
            <a:ext cx="360000" cy="36000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641062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C75D28-21D8-46FA-B239-E307DEF59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0330"/>
            <a:ext cx="10515600" cy="762000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Ожидаемые результаты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52EC69-9860-45E6-9E44-C311D1C19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2330"/>
            <a:ext cx="10515600" cy="5755340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Будет разработан и реализован в ПО формализованный алгоритм проведения экспериментов. Это позволит получать точнее и быстрее спектры ИК-люминесценции синглетного кислорода, в частности, спектры ИК-люминесценции синглетного кислорода от длины волны возбуждения лазерного импульса.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Будет разработано программное обеспечение, которое собирает данные с осциллографа и измерителя энергии и сразу проводит их обработку с помощью двух независимых методов для вычисления спектра и расчета зависимости интенсивности сигнала от энергии лазерного импульса.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Будет реализована и протестирована встроенная процедура автоматической калибровки системы на эталонном веществе или светодиоде с известными спектральными характеристиками.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Будет протестировано ПО в реальных условиях эксперимента.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6AA263-FE67-46A8-867D-07793C03A27B}"/>
              </a:ext>
            </a:extLst>
          </p:cNvPr>
          <p:cNvSpPr txBox="1"/>
          <p:nvPr/>
        </p:nvSpPr>
        <p:spPr>
          <a:xfrm>
            <a:off x="11832000" y="6498000"/>
            <a:ext cx="360000" cy="36000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2924139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09E791-085C-4CDA-8F96-C54D1FA07C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5153"/>
            <a:ext cx="9144000" cy="5755342"/>
          </a:xfrm>
        </p:spPr>
        <p:txBody>
          <a:bodyPr anchor="ctr">
            <a:normAutofit fontScale="90000"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обеспечения для автоматизированного проведения экспериментов по изучению механизмов генерации синглетного кислорода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F8345CE-A702-49C0-BBBD-34AF53801B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6753" y="5970495"/>
            <a:ext cx="6795247" cy="887504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Студент: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Климов Богдан Алексеевич, гр. 22357</a:t>
            </a:r>
          </a:p>
          <a:p>
            <a:pPr algn="l">
              <a:spcBef>
                <a:spcPts val="0"/>
              </a:spcBef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Научный</a:t>
            </a:r>
            <a:r>
              <a:rPr lang="ru-RU" sz="1800" b="1" spc="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</a:t>
            </a:r>
            <a:r>
              <a:rPr lang="ru-RU" sz="1800" spc="3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к.ф.-м.н.,</a:t>
            </a:r>
            <a:r>
              <a:rPr lang="ru-RU" sz="1800" spc="3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Ершов</a:t>
            </a:r>
            <a:r>
              <a:rPr lang="ru-RU" sz="1800" spc="3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Кирилл</a:t>
            </a:r>
            <a:r>
              <a:rPr lang="ru-RU" sz="1800" spc="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Сергеевич</a:t>
            </a:r>
            <a:endParaRPr lang="ru-RU" sz="1800" spc="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0"/>
              </a:spcBef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Место прохождения практики:</a:t>
            </a:r>
            <a:r>
              <a:rPr lang="ru-RU" sz="1800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ИХКГ</a:t>
            </a:r>
            <a:r>
              <a:rPr lang="ru-RU" sz="1800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</a:t>
            </a:r>
            <a:r>
              <a:rPr lang="ru-RU" sz="1800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РАН,</a:t>
            </a:r>
            <a:r>
              <a:rPr lang="ru-RU" sz="1800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гр.</a:t>
            </a:r>
            <a:r>
              <a:rPr lang="ru-RU" sz="1800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МФД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20979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494</TotalTime>
  <Words>810</Words>
  <Application>Microsoft Office PowerPoint</Application>
  <PresentationFormat>Широкоэкранный</PresentationFormat>
  <Paragraphs>94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Times New Roman</vt:lpstr>
      <vt:lpstr>Тема Office</vt:lpstr>
      <vt:lpstr>Разработка программного обеспечения для автоматизированного проведения экспериментов по изучению механизмов генерации синглетного кислорода</vt:lpstr>
      <vt:lpstr>Область исследования</vt:lpstr>
      <vt:lpstr>Актуальность</vt:lpstr>
      <vt:lpstr>Цель</vt:lpstr>
      <vt:lpstr>Задачи</vt:lpstr>
      <vt:lpstr>Диаграмма Ганта</vt:lpstr>
      <vt:lpstr>Описание методов</vt:lpstr>
      <vt:lpstr>Описание методов</vt:lpstr>
      <vt:lpstr>Ход работы</vt:lpstr>
      <vt:lpstr>Ход работы</vt:lpstr>
      <vt:lpstr>Сравнение методов</vt:lpstr>
      <vt:lpstr>Ожидаемые результаты</vt:lpstr>
      <vt:lpstr>Разработка программного обеспечения для автоматизированного проведения экспериментов по изучению механизмов генерации синглетного кислорода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программного обеспечения для автоматизированного проведения экспериментов по изучению механизмов генерации синглетного кислорода</dc:title>
  <dc:creator>Bogdan Klimov</dc:creator>
  <cp:lastModifiedBy>Bogdan Klimov</cp:lastModifiedBy>
  <cp:revision>55</cp:revision>
  <dcterms:created xsi:type="dcterms:W3CDTF">2025-12-16T05:41:17Z</dcterms:created>
  <dcterms:modified xsi:type="dcterms:W3CDTF">2026-02-16T18:19:24Z</dcterms:modified>
</cp:coreProperties>
</file>