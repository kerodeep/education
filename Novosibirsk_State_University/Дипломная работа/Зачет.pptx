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9" r:id="rId4"/>
    <p:sldId id="260" r:id="rId5"/>
    <p:sldId id="266" r:id="rId6"/>
    <p:sldId id="268" r:id="rId7"/>
    <p:sldId id="269" r:id="rId8"/>
    <p:sldId id="274" r:id="rId9"/>
    <p:sldId id="270" r:id="rId10"/>
    <p:sldId id="271" r:id="rId11"/>
    <p:sldId id="272" r:id="rId12"/>
    <p:sldId id="265" r:id="rId13"/>
    <p:sldId id="273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/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 проведения экспериментальных исследований, включающая управление оборудованием и обработку данных в реальном времени.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D2D9FDAC-18E2-4473-B2A1-964535786E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4092" y="2259938"/>
            <a:ext cx="2880000" cy="2160000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31FF4CF1-4660-44C5-8D70-E4521D9ADB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8946" y="2256992"/>
            <a:ext cx="5040000" cy="21600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09834D5-8FDB-4F2F-AB51-791D9E21C0E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04092" y="4473804"/>
            <a:ext cx="5040000" cy="2160000"/>
          </a:xfrm>
          <a:prstGeom prst="rect">
            <a:avLst/>
          </a:prstGeom>
        </p:spPr>
      </p:pic>
      <p:pic>
        <p:nvPicPr>
          <p:cNvPr id="8" name="object 5">
            <a:extLst>
              <a:ext uri="{FF2B5EF4-FFF2-40B4-BE49-F238E27FC236}">
                <a16:creationId xmlns:a16="http://schemas.microsoft.com/office/drawing/2014/main" id="{93925ED7-7E9C-4C09-99B0-06795F79790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8946" y="4473804"/>
            <a:ext cx="288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/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Ручное проведение эксперимента регистрации ИК-спектров и сигналов, возникающих при генерации синглетного кислорода, затрудняет возможность изучать механизмы генерации синглетного кислорода в очень активных комплексах, так как считывание и обработка данных занимает много времени и требует постоянного присутствия исследователя. Также, ускорение процесса считывания и обработки необходимо при быстром расходе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фотовозбуждаемого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соединения, которое ответственно за генерацию синглетного кислорода.</a:t>
            </a:r>
          </a:p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Данная работа поможет снизить время проведения экспериментов, увеличит точность и снизит риск возникновения ошибок.</a:t>
            </a:r>
          </a:p>
        </p:txBody>
      </p:sp>
    </p:spTree>
    <p:extLst>
      <p:ext uri="{BB962C8B-B14F-4D97-AF65-F5344CB8AC3E}">
        <p14:creationId xmlns:p14="http://schemas.microsoft.com/office/powerpoint/2010/main" val="3372500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>
            <a:normAutofit/>
          </a:bodyPr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Уменьшить время проведения эксперимента по изучению механизмов генерации синглетного кислорода, увеличить точность вычислений.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877E834-6457-4202-A69A-640051929E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56000" y="2367670"/>
            <a:ext cx="648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Создать ПО, через которое можно будет управлять всеми компонентами эксперимента: управления длинной волны лазера через OPO и управление полосой пропускания, шагом для монохроматора и количества повторений проходов по длинам волн.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 должно отвечать за автоматически сбор данных с оборудования: считывание сигнала с осциллографа и измерителя энергии. По полученным данным с осциллографа будет рассчитываться спектр ИК-люминесценции с помощью интегрирования сигнала с интерактивным заданием границ и по полученным данным будет производиться аппроксимация спектра. Полученные данные с измерителя энергии помогут следить за энергией лазерного импульса в реальном времени, а также измерять зависимость амплитуды сигнала, полученного с осциллографа, от энергии лазерного импульса, что важно для определения механизмов генерации синглетного кислорода, а также для определения квантового выхода синглетного кислорода для новых веществ или слабоизученных соединений.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Реализация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ПО на известном веществе или светодиоде, что очень важно для точного определения спектров ИК-люминесценции синглетного кислорода при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фотовозбуждении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малоизученных веществ. За счет этого программа сможет проверять корректность длины волны монохроматора.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Провести тестирование ПО в реальных условиях эксперимента. Оценить скорость, точность и удобство работы по сравнению с ручными методами.</a:t>
            </a:r>
          </a:p>
        </p:txBody>
      </p:sp>
    </p:spTree>
    <p:extLst>
      <p:ext uri="{BB962C8B-B14F-4D97-AF65-F5344CB8AC3E}">
        <p14:creationId xmlns:p14="http://schemas.microsoft.com/office/powerpoint/2010/main" val="398545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Ганта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555F1A-623B-4E33-9CC4-AA36F2E131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79" y="932330"/>
            <a:ext cx="10641641" cy="576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1287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методов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925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спектра (интегрирование исходного сигнала):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Интерактивный выбор диапазонов для сигнала и фонового шума.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вычитание фонового шума.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предобработка исходного сигнала.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Интегрирования несколькими методами и достижение необходимой точности.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Аппроксимация сигнала (разложение с итеративным улучшением точности):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аппроксимированного сигнала по формуле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биэкспоненциальной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метода нелинейной регрессии для оптимизации коэффициентов.</a:t>
            </a:r>
          </a:p>
          <a:p>
            <a:pPr marL="720000" lvl="1" indent="-18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спектра для результата аппроксимации и сравнение результатом для </a:t>
            </a:r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исходного сигнала.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20000" lvl="1" indent="-180000">
              <a:lnSpc>
                <a:spcPct val="11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подключений всех необходимых устройств и сохранение портов для связей со всеми компонентами.</a:t>
            </a:r>
          </a:p>
          <a:p>
            <a:pPr marL="720000" lvl="1" indent="-180000">
              <a:lnSpc>
                <a:spcPct val="11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Калибровка и проверка работоспособности всех компонент через обратную связь и сохранение калибровочных коэффициентов.</a:t>
            </a:r>
          </a:p>
        </p:txBody>
      </p:sp>
    </p:spTree>
    <p:extLst>
      <p:ext uri="{BB962C8B-B14F-4D97-AF65-F5344CB8AC3E}">
        <p14:creationId xmlns:p14="http://schemas.microsoft.com/office/powerpoint/2010/main" val="428872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методов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32330"/>
                <a:ext cx="10515600" cy="5755340"/>
              </a:xfrm>
            </p:spPr>
            <p:txBody>
              <a:bodyPr anchor="ctr"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иэкспоненциальная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модель: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0000" lvl="1" indent="-180000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</a:pPr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Основная формула:</a:t>
                </a:r>
              </a:p>
              <a:p>
                <a:pPr marL="900000" indent="0" defTabSz="900000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𝐴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0000" lvl="1" indent="-180000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</a:pPr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Система для смещения на время отклика:</a:t>
                </a:r>
                <a:endParaRPr lang="en-US" sz="2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900000" lvl="1" indent="0" defTabSz="900000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𝜏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   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Параметры модели, которые нужно подбирать: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0000" lvl="1" indent="-180000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— базовый уровень.</a:t>
                </a:r>
              </a:p>
              <a:p>
                <a:pPr marL="720000" lvl="1" indent="-180000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𝐴</m:t>
                    </m:r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амплитуда отклика.</a:t>
                </a:r>
              </a:p>
              <a:p>
                <a:pPr marL="720000" lvl="1" indent="-180000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быстрая константа скорости.</a:t>
                </a:r>
              </a:p>
              <a:p>
                <a:pPr marL="720000" lvl="1" indent="-180000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медленная константа скорости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marL="720000" lvl="1" indent="-180000">
                  <a:lnSpc>
                    <a:spcPct val="12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𝜏</m:t>
                    </m:r>
                  </m:oMath>
                </a14:m>
                <a:r>
                  <a:rPr lang="ru-RU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время задержки начала реакции.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32330"/>
                <a:ext cx="10515600" cy="5755340"/>
              </a:xfrm>
              <a:blipFill>
                <a:blip r:embed="rId2"/>
                <a:stretch>
                  <a:fillRect l="-1043" t="-424" b="-1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933A3C6-AB65-4268-988B-6D1DABAD4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329" y="1228165"/>
            <a:ext cx="567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084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426827-8C4F-48D1-A1EA-F72042937E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07" t="10289" r="6978" b="5543"/>
          <a:stretch/>
        </p:blipFill>
        <p:spPr>
          <a:xfrm>
            <a:off x="838200" y="1488141"/>
            <a:ext cx="2072639" cy="1440000"/>
          </a:xfrm>
          <a:prstGeom prst="rect">
            <a:avLst/>
          </a:prstGeom>
        </p:spPr>
      </p:pic>
      <p:pic>
        <p:nvPicPr>
          <p:cNvPr id="1026" name="Picture 2" descr="MSOX2024A Keysight, Осциллограф цифровой купить в ГенПрибор">
            <a:extLst>
              <a:ext uri="{FF2B5EF4-FFF2-40B4-BE49-F238E27FC236}">
                <a16:creationId xmlns:a16="http://schemas.microsoft.com/office/drawing/2014/main" id="{F5A2E545-8514-497D-A632-BFFB013088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2" t="19088" r="3551" b="17163"/>
          <a:stretch/>
        </p:blipFill>
        <p:spPr bwMode="auto">
          <a:xfrm>
            <a:off x="838200" y="3929859"/>
            <a:ext cx="2072639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102A8F-9D5E-46F3-81DD-9CA750D35F4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99" t="12549" r="10334" b="9756"/>
          <a:stretch/>
        </p:blipFill>
        <p:spPr>
          <a:xfrm>
            <a:off x="4434088" y="3929859"/>
            <a:ext cx="2072639" cy="1440000"/>
          </a:xfrm>
          <a:prstGeom prst="rect">
            <a:avLst/>
          </a:prstGeom>
        </p:spPr>
      </p:pic>
      <p:pic>
        <p:nvPicPr>
          <p:cNvPr id="1028" name="Picture 4" descr="LS-2145-OPO">
            <a:extLst>
              <a:ext uri="{FF2B5EF4-FFF2-40B4-BE49-F238E27FC236}">
                <a16:creationId xmlns:a16="http://schemas.microsoft.com/office/drawing/2014/main" id="{DEE6211B-1465-4A4C-B0C4-294A4BAE8B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" t="15889" r="46" b="14669"/>
          <a:stretch/>
        </p:blipFill>
        <p:spPr bwMode="auto">
          <a:xfrm>
            <a:off x="4434088" y="1488141"/>
            <a:ext cx="20736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E3106E-13FF-4E88-AB71-7FD15F713C6E}"/>
              </a:ext>
            </a:extLst>
          </p:cNvPr>
          <p:cNvSpPr txBox="1"/>
          <p:nvPr/>
        </p:nvSpPr>
        <p:spPr>
          <a:xfrm>
            <a:off x="287995" y="2928141"/>
            <a:ext cx="31730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Монохроматор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M266-IV (Solar Laser Systems)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633793-F126-4BB2-A719-1BDBB7F93569}"/>
              </a:ext>
            </a:extLst>
          </p:cNvPr>
          <p:cNvSpPr txBox="1"/>
          <p:nvPr/>
        </p:nvSpPr>
        <p:spPr>
          <a:xfrm>
            <a:off x="3549785" y="2928141"/>
            <a:ext cx="3841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Лазерное излучение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LS-2145-OPO (OPO,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Lotis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2145)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32D395-C453-4C4F-A310-3FBE32F8D8CE}"/>
              </a:ext>
            </a:extLst>
          </p:cNvPr>
          <p:cNvSpPr txBox="1"/>
          <p:nvPr/>
        </p:nvSpPr>
        <p:spPr>
          <a:xfrm>
            <a:off x="547297" y="5369859"/>
            <a:ext cx="26544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Осциллограф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MSOX2024A (Keysight)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AD8E9C-BBA7-48EA-B7C9-2B5B09665005}"/>
              </a:ext>
            </a:extLst>
          </p:cNvPr>
          <p:cNvSpPr txBox="1"/>
          <p:nvPr/>
        </p:nvSpPr>
        <p:spPr>
          <a:xfrm>
            <a:off x="3701461" y="5369859"/>
            <a:ext cx="3537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Измеритель энергии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QE25SP-S-MT-D0 (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Gentec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-EO)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3F505-6F4D-4068-9FB3-642A1B1F4339}"/>
              </a:ext>
            </a:extLst>
          </p:cNvPr>
          <p:cNvSpPr txBox="1"/>
          <p:nvPr/>
        </p:nvSpPr>
        <p:spPr>
          <a:xfrm>
            <a:off x="9394748" y="5088141"/>
            <a:ext cx="8546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ПО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B8ADDAA-2479-4350-A30D-C7CDC8EB9F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9073" y="2208141"/>
            <a:ext cx="4163855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345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3E2CFB-5BC8-4F81-9D4B-F02C07E62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49" y="1147483"/>
            <a:ext cx="4690475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D23315C-8388-4183-B87B-DA1544DB9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477" y="1147483"/>
            <a:ext cx="469503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3F3C681-CC96-4228-A404-74665FCA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77" y="4015270"/>
            <a:ext cx="469503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414E3A1-9A02-4A3C-A3DF-E4DC824681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49" y="4015270"/>
            <a:ext cx="4685242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1173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методов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778DCFDC-29FB-4474-B781-3DB0B7B996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8039399"/>
              </p:ext>
            </p:extLst>
          </p:nvPr>
        </p:nvGraphicFramePr>
        <p:xfrm>
          <a:off x="838200" y="1183340"/>
          <a:ext cx="10515600" cy="510987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06551729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9065217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0286546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36965652"/>
                    </a:ext>
                  </a:extLst>
                </a:gridCol>
              </a:tblGrid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Параметр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Ручной 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Автоматизированный 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Улучшение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3911274"/>
                  </a:ext>
                </a:extLst>
              </a:tr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Время получения одного спектра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4-6 часов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30-45 минут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5-8 раз быстрее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51118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Измерение энергии лазерного импульса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8-12%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 раза точнее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3382841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Точность позиционирования монохроматора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±2 </a:t>
                      </a:r>
                      <a:r>
                        <a:rPr lang="ru-RU" sz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нм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±0.1 </a:t>
                      </a:r>
                      <a:r>
                        <a:rPr lang="ru-RU" sz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нм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20 раз точнее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212410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Требуемое присутствие исследователя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Постоянно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Только при запуске и завершении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Снижение вовлеченности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126813"/>
                  </a:ext>
                </a:extLst>
              </a:tr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Обработка данных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Вручную в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Origin/MATLAB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реальном времени, автоматически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Экономия 1-2 часов на обработку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3896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4106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Будет разработан и реализован в ПО формализованный алгоритм проведения экспериментов. Это позволит получать точнее и быстрее спектры ИК-люминесценции синглетного кислорода, в частности, спектры ИК-люминесценции синглетного кислорода от длины волны возбуждения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Будет разработано программное обеспечение, которое собирает данные с осциллографа и измерителя энергии и сразу проводит их обработку с помощью двух независимых методов для вычисления спектра и расчета зависимости интенсивности сигнала от энергии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Будет реализована и протестирована встроенная процедура автоматической калибровки системы на эталонном веществе или светодиоде с известными спектральными характеристиками.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Будет протестировано ПО в реальных условиях эксперимента.</a:t>
            </a:r>
          </a:p>
        </p:txBody>
      </p:sp>
    </p:spTree>
    <p:extLst>
      <p:ext uri="{BB962C8B-B14F-4D97-AF65-F5344CB8AC3E}">
        <p14:creationId xmlns:p14="http://schemas.microsoft.com/office/powerpoint/2010/main" val="32924139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2097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799</Words>
  <Application>Microsoft Office PowerPoint</Application>
  <PresentationFormat>Широкоэкранный</PresentationFormat>
  <Paragraphs>83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Times New Roman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</vt:lpstr>
      <vt:lpstr>Цель</vt:lpstr>
      <vt:lpstr>Задачи</vt:lpstr>
      <vt:lpstr>Диаграмма Ганта</vt:lpstr>
      <vt:lpstr>Описание методов</vt:lpstr>
      <vt:lpstr>Описание методов</vt:lpstr>
      <vt:lpstr>Ход работы</vt:lpstr>
      <vt:lpstr>Ход работы</vt:lpstr>
      <vt:lpstr>Сравнение методов</vt:lpstr>
      <vt:lpstr>Ожидаемые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53</cp:revision>
  <dcterms:created xsi:type="dcterms:W3CDTF">2025-12-16T05:41:17Z</dcterms:created>
  <dcterms:modified xsi:type="dcterms:W3CDTF">2025-12-23T08:26:55Z</dcterms:modified>
</cp:coreProperties>
</file>