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8" r:id="rId7"/>
    <p:sldId id="269" r:id="rId8"/>
    <p:sldId id="274" r:id="rId9"/>
    <p:sldId id="270" r:id="rId10"/>
    <p:sldId id="271" r:id="rId11"/>
    <p:sldId id="272" r:id="rId12"/>
    <p:sldId id="265" r:id="rId13"/>
    <p:sldId id="27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скорость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555F1A-623B-4E33-9CC4-AA36F2E13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79" y="932330"/>
            <a:ext cx="10641641" cy="576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128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(интегрирование исходного сигнала):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выбор диапазонов для сигнала и фонового шума.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вычитание фонового шума.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предобработка исходного сигнала.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Интегрирования несколькими методами и достижение необходимой точности.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Аппроксимация сигнала (разложение с итеративным улучшением точности):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аппроксимированного сигнала по формуле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биэкспоненциальной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нелинейной регрессии для оптимизации коэффициентов.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для результата аппроксимации и сравнение результатом для </a:t>
            </a:r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исходного сигнала.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20000" lvl="1" indent="-180000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подключений всех необходимых устройств и сохранение портов для связей со всеми компонентами.</a:t>
            </a:r>
          </a:p>
          <a:p>
            <a:pPr marL="720000" lvl="1" indent="-180000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Калибровка и проверка работоспособности всех компонент через обратную связь и сохранение калибровочных коэффициентов.</a:t>
            </a:r>
          </a:p>
        </p:txBody>
      </p:sp>
    </p:spTree>
    <p:extLst>
      <p:ext uri="{BB962C8B-B14F-4D97-AF65-F5344CB8AC3E}">
        <p14:creationId xmlns:p14="http://schemas.microsoft.com/office/powerpoint/2010/main" val="428872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иэкспоненциальная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модель: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Основная формула:</a:t>
                </a:r>
              </a:p>
              <a:p>
                <a:pPr marL="900000" indent="0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Система для смещения на время отклика:</a:t>
                </a:r>
                <a:endParaRPr lang="en-US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00000" lvl="1" indent="0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модели, которые нужно подбирать: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базовый уровень.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амплитуда отклика.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быстрая константа скорости.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медленная константа скорости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𝜏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время задержки начала реакции.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  <a:blipFill>
                <a:blip r:embed="rId2"/>
                <a:stretch>
                  <a:fillRect l="-1043" t="-424" b="-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933A3C6-AB65-4268-988B-6D1DABAD4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228165"/>
            <a:ext cx="567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84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426827-8C4F-48D1-A1EA-F72042937E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7" t="10289" r="6978" b="5543"/>
          <a:stretch/>
        </p:blipFill>
        <p:spPr>
          <a:xfrm>
            <a:off x="838200" y="1488141"/>
            <a:ext cx="2072639" cy="1440000"/>
          </a:xfrm>
          <a:prstGeom prst="rect">
            <a:avLst/>
          </a:prstGeom>
        </p:spPr>
      </p:pic>
      <p:pic>
        <p:nvPicPr>
          <p:cNvPr id="1026" name="Picture 2" descr="MSOX2024A Keysight, Осциллограф цифровой купить в ГенПрибор">
            <a:extLst>
              <a:ext uri="{FF2B5EF4-FFF2-40B4-BE49-F238E27FC236}">
                <a16:creationId xmlns:a16="http://schemas.microsoft.com/office/drawing/2014/main" id="{F5A2E545-8514-497D-A632-BFFB013088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" t="19088" r="3551" b="17163"/>
          <a:stretch/>
        </p:blipFill>
        <p:spPr bwMode="auto">
          <a:xfrm>
            <a:off x="838200" y="3929859"/>
            <a:ext cx="2072639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102A8F-9D5E-46F3-81DD-9CA750D35F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99" t="12549" r="10334" b="9756"/>
          <a:stretch/>
        </p:blipFill>
        <p:spPr>
          <a:xfrm>
            <a:off x="4434088" y="3929859"/>
            <a:ext cx="2072639" cy="1440000"/>
          </a:xfrm>
          <a:prstGeom prst="rect">
            <a:avLst/>
          </a:prstGeom>
        </p:spPr>
      </p:pic>
      <p:pic>
        <p:nvPicPr>
          <p:cNvPr id="1028" name="Picture 4" descr="LS-2145-OPO">
            <a:extLst>
              <a:ext uri="{FF2B5EF4-FFF2-40B4-BE49-F238E27FC236}">
                <a16:creationId xmlns:a16="http://schemas.microsoft.com/office/drawing/2014/main" id="{DEE6211B-1465-4A4C-B0C4-294A4BAE8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" t="15889" r="46" b="14669"/>
          <a:stretch/>
        </p:blipFill>
        <p:spPr bwMode="auto">
          <a:xfrm>
            <a:off x="4434088" y="1488141"/>
            <a:ext cx="20736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3106E-13FF-4E88-AB71-7FD15F713C6E}"/>
              </a:ext>
            </a:extLst>
          </p:cNvPr>
          <p:cNvSpPr txBox="1"/>
          <p:nvPr/>
        </p:nvSpPr>
        <p:spPr>
          <a:xfrm>
            <a:off x="287995" y="2928141"/>
            <a:ext cx="3173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Монохроматор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M266-IV (Solar Laser Systems)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33793-F126-4BB2-A719-1BDBB7F93569}"/>
              </a:ext>
            </a:extLst>
          </p:cNvPr>
          <p:cNvSpPr txBox="1"/>
          <p:nvPr/>
        </p:nvSpPr>
        <p:spPr>
          <a:xfrm>
            <a:off x="3549785" y="2928141"/>
            <a:ext cx="3841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Лазерное излучение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LS-2145-OPO (OPO,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Lotis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2145)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2D395-C453-4C4F-A310-3FBE32F8D8CE}"/>
              </a:ext>
            </a:extLst>
          </p:cNvPr>
          <p:cNvSpPr txBox="1"/>
          <p:nvPr/>
        </p:nvSpPr>
        <p:spPr>
          <a:xfrm>
            <a:off x="547297" y="5369859"/>
            <a:ext cx="2654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Осциллограф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MSOX2024A (Keysight)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AD8E9C-BBA7-48EA-B7C9-2B5B09665005}"/>
              </a:ext>
            </a:extLst>
          </p:cNvPr>
          <p:cNvSpPr txBox="1"/>
          <p:nvPr/>
        </p:nvSpPr>
        <p:spPr>
          <a:xfrm>
            <a:off x="3701461" y="5369859"/>
            <a:ext cx="3537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Измеритель энергии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QE25SP-S-MT-D0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Gentec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-EO)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3F505-6F4D-4068-9FB3-642A1B1F4339}"/>
              </a:ext>
            </a:extLst>
          </p:cNvPr>
          <p:cNvSpPr txBox="1"/>
          <p:nvPr/>
        </p:nvSpPr>
        <p:spPr>
          <a:xfrm>
            <a:off x="9394748" y="5088141"/>
            <a:ext cx="8546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ПО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8ADDAA-2479-4350-A30D-C7CDC8EB9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9073" y="2208141"/>
            <a:ext cx="416385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34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E2CFB-5BC8-4F81-9D4B-F02C07E62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49" y="1147483"/>
            <a:ext cx="4690475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23315C-8388-4183-B87B-DA1544DB9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477" y="1147483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F3C681-CC96-4228-A404-74665FCA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77" y="4015270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414E3A1-9A02-4A3C-A3DF-E4DC8246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49" y="4015270"/>
            <a:ext cx="4685242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1173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методов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778DCFDC-29FB-4474-B781-3DB0B7B99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8039399"/>
              </p:ext>
            </p:extLst>
          </p:nvPr>
        </p:nvGraphicFramePr>
        <p:xfrm>
          <a:off x="838200" y="1183340"/>
          <a:ext cx="10515600" cy="51098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655172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6521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0286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6965652"/>
                    </a:ext>
                  </a:extLst>
                </a:gridCol>
              </a:tblGrid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Параметр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Автоматизированный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Улучшение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911274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получения одного спектра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 часов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30-45 минут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5-8 раз быстрее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51118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Измерение энергии лазерного импульса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8-12%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 раза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3382841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позиционирования монохроматора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±2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±0.1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20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212410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Требуемое присутствие исследователя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Постоянно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Только при запуске и завершении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Снижение вовлеченности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6813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Вручную 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Origin/MATLAB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реальном времени, автоматически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Экономия 1-2 часов на обработку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3896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106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799</Words>
  <Application>Microsoft Office PowerPoint</Application>
  <PresentationFormat>Широкоэкранный</PresentationFormat>
  <Paragraphs>83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Диаграмма Ганта</vt:lpstr>
      <vt:lpstr>Описание методов</vt:lpstr>
      <vt:lpstr>Описание методов</vt:lpstr>
      <vt:lpstr>Ход работы</vt:lpstr>
      <vt:lpstr>Ход работы</vt:lpstr>
      <vt:lpstr>Сравнение методов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52</cp:revision>
  <dcterms:created xsi:type="dcterms:W3CDTF">2025-12-16T05:41:17Z</dcterms:created>
  <dcterms:modified xsi:type="dcterms:W3CDTF">2025-12-22T18:31:03Z</dcterms:modified>
</cp:coreProperties>
</file>