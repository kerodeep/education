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3" r:id="rId7"/>
    <p:sldId id="265" r:id="rId8"/>
    <p:sldId id="266" r:id="rId9"/>
    <p:sldId id="268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831DBA-3E16-414E-AD98-7CAF2F459E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7306AFF-75C4-4064-89EA-CD7940216E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391199-436F-4D0F-8A6A-02BA81237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AD4A37-FF0E-4823-9CCD-C63CA12F5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C97096-E75F-4349-A1A5-CA62417C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8464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6A7612-8872-4DB6-B562-9239C808E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221659-36A1-4686-B8C9-54C83041C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D3A6D9-B34F-43E9-B7A4-2ED4C3C5C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58E4F0-5F37-4867-8380-C196FB00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EA7E99-8173-4A6D-869F-582AE62F0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0785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CF142D-BCC0-4C7E-B2E6-56D1E769B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A50DAC-8D82-4A9B-B3F1-BA9F9A62E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BC4C43-EA37-4FEC-9D92-A6034347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3BBF4A-A768-4D32-A4A9-D76C1BD22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3A4A3A-9219-4806-9858-17B8D52A4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2261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E8E2FE-A23A-4BA2-A136-18113B846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8AE570-5AD7-4202-B9F9-79E1A48FA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C31F0D3-86D0-48BC-B07B-3B1568B7B3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09F37DC-9935-46DF-961D-2823D969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242F5E-367E-43F2-8E2A-FB8CD7F22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DEB5B9-2BE8-4E92-B260-5100C484B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779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204F57-BC40-452A-8147-B941AD723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580B49-B9F6-4219-AF26-56F92FB0C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3D1552-74CE-4206-928E-4CDBBD18B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99A9781-A484-487D-BA11-E7027680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9308246-5199-41A2-BC12-C61F82B395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A88D12-E046-4F64-AC3C-DCCD9480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227DA12-04EB-492D-AE84-80D493AD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AD6107A-5D5A-469D-A3B1-C6CB9F425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644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C141DE-15A8-498C-AAED-64FF1EA97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7AB038F-9118-45A8-B976-69A33F9E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C294984-31D7-4365-A1A9-84E052B53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6B705DC-3E6C-4C6F-9BC8-AACF0038D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116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4EDEB1F-AAD9-404D-B747-6C86E2DB8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AB7D095-5CB4-40DC-A7B4-F0E8A4552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5AFDF3-3043-4C12-9B57-A3CCBC227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10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2702CE-B6FB-426C-8C0E-CD73EF6BF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6AF277-87CE-4952-AE42-4151180EA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A1563C0-AA8B-48A0-9072-13999D9BA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010891-BDED-4A47-94CB-D1A87799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D636D24-3514-44D1-AC0F-79E6BCD37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AE7CFA3-BA66-496E-9D20-E379A6315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235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8F4943-75E8-4F3F-8095-3F2D10C6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B23FBC4-3F17-4F95-A79E-E137DC3632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2F1790-CCCF-4A58-9ACE-CEC9F3026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BB447D-1F51-41F9-B5D8-20DD5CC4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F60E9-38D9-4640-BA32-FD1F6EE4C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5C8419-363C-46F7-891A-12B2F6980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40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94661-6086-4FC6-BE75-B55174439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B851425-A90F-4504-828B-A76F6A615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0BE3FD-219E-4E71-88E6-57D82C696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77E3B5-535C-4435-B8E8-DB4819826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C94AAC-F13D-441B-BDCB-171A33113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829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C0097FA-76F8-42DE-9E2C-E8997CD1E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E4A194-51FD-47D9-AC25-21A74E1740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4A7062-EF4D-4E28-8E60-A8A53B270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7B91A4-B970-4006-A635-F5416480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8CF971-1D85-43EF-AA5D-21EFEEAC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165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868AB8-C426-4764-BCD2-1D88459FB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4215606-82D3-4CB5-B58B-576D0F9BD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DFD2A5-C646-486B-85A5-4F8889718A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E135CD-7995-4FAF-B5C2-FAD203FFAD63}" type="datetimeFigureOut">
              <a:rPr lang="ru-RU" smtClean="0"/>
              <a:t>24.02.2026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70135-05CB-4E61-8A45-F4DA59995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F8E098-092C-4589-96CA-13F66ACDD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0D7ED-2D07-47E0-9014-7079057BAC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962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A39943-8F7A-4ADF-BFD8-13A4287475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07459"/>
            <a:ext cx="9144000" cy="3442447"/>
          </a:xfrm>
        </p:spPr>
        <p:txBody>
          <a:bodyPr anchor="ctr">
            <a:normAutofit/>
          </a:bodyPr>
          <a:lstStyle/>
          <a:p>
            <a:r>
              <a:rPr lang="ru-RU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«Что можно запатентовать? Формула патента. Принципы формулировки и ключевые особенности. Примеры»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070BE0-AE83-4CE1-A2EE-BA190E45B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2000" y="6138000"/>
            <a:ext cx="4320000" cy="720000"/>
          </a:xfrm>
        </p:spPr>
        <p:txBody>
          <a:bodyPr anchor="ctr"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Докладчик: Климов Богдан</a:t>
            </a:r>
          </a:p>
        </p:txBody>
      </p:sp>
    </p:spTree>
    <p:extLst>
      <p:ext uri="{BB962C8B-B14F-4D97-AF65-F5344CB8AC3E}">
        <p14:creationId xmlns:p14="http://schemas.microsoft.com/office/powerpoint/2010/main" val="1256511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такое интеллектуальная</a:t>
            </a:r>
            <a:b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собственность и её виды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20471"/>
            <a:ext cx="10515600" cy="3370729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Интеллектуальная собственность (ИС) — это результаты творческой и научной деятельности человека, а также средства индивидуализации, которые охраняются законом.</a:t>
            </a:r>
          </a:p>
          <a:p>
            <a:pPr marL="0" indent="0"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Виды ИС: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Авторское право и смежные права.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Промышленная собственность.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21559-08E5-4C91-9CBD-1211AD8E9F66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37427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интеллектуальной собственности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7812"/>
            <a:ext cx="10515600" cy="5405716"/>
          </a:xfrm>
        </p:spPr>
        <p:txBody>
          <a:bodyPr>
            <a:norm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Авторское право и смежные права: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Литературное произведение.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для ЭВМ.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Аудиовизуальное произведение.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Музыкальное произведение.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Произведение искусства.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Промышленная собственность: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Устройство.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Способ.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Вещество.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Полезная модель.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Промышленный образец.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Товарный знак.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9E604-D002-4CDC-8BCD-BA0408817A9E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67986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такое патент и </a:t>
            </a:r>
            <a:r>
              <a:rPr lang="ru-RU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патентоведение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7812"/>
            <a:ext cx="10515600" cy="540571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— это официальный документ, выдаваемый государственным органом на ограниченный срок, удостоверяющий исключительное право его владельца на использование определённого технического или дизайнерского решения.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характеристики патента: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действует только на территории той страны (или группы стран), где он выдан.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Право действует ограниченное время (20 лет для изобретений, 10 лет для полезных моделей, 5+ лет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промобразцов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запрещает любое коммерческое использование защищённого решения всем третьим лицам, даже если они создали его независимо.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94A7F-BFBF-4F6A-9557-B9341620472F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7542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Формула патента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20471"/>
            <a:ext cx="10515600" cy="3370729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Формула патента — это краткое, юридически точное описание изобретения, которое определяет объем правовой охраны, предоставляемой патентом. Она содержит ключевые признаки изобретения, отличающие его от существующих аналогов, и является основой для определения того, что именно защищено патентом. Формулу патента используют для проверки патентоспособности (новизны, изобретательского уровня, промышленной применимости).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0FC8D-7FA4-485B-A95B-FD426EFEFA4D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72201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Принципы формулировки патентной формулы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9152"/>
            <a:ext cx="10515600" cy="4706471"/>
          </a:xfrm>
        </p:spPr>
        <p:txBody>
          <a:bodyPr>
            <a:norm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Полнота и существенность: Формула должна содержать минимально необходимую и достаточную совокупность признаков для достижения заявленного технического результата.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Определённость и ясность: Все признаки в формуле должны быть объективно проверяемыми и недвусмысленными.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Единство изобретения: Все пункты одной формулы должны быть объединены одним общим изобретательским замыслом (одной изобретательской идеей).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описанием: Каждый признак, упомянутый в формуле, должен быть полно раскрыт и обоснован в основном описании патента.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E994D7-3F52-4CD6-A87A-01F5D08982D8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4516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Ключевые особенности патентной формулы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43200"/>
            <a:ext cx="10515600" cy="2626659"/>
          </a:xfrm>
        </p:spPr>
        <p:txBody>
          <a:bodyPr>
            <a:norm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Двухчастная структура: Ограничительная часть показывает области применения работы, а отличительная часть однозначно выделяет ваш вклад (новизну).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Стратегическая архитектура формулы: Патентная формула формируется как пирамида от общих концепций к частным применения.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17D93A-4A10-40A7-B09C-2539871D84D4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47323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08186-8959-4649-859D-4E203D28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472"/>
            <a:ext cx="10515600" cy="139849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патентов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3E896E-912C-4160-B44F-35276080B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1881"/>
            <a:ext cx="10515600" cy="3971365"/>
          </a:xfrm>
        </p:spPr>
        <p:txBody>
          <a:bodyPr>
            <a:normAutofit/>
          </a:bodyPr>
          <a:lstStyle/>
          <a:p>
            <a:pPr algn="just"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Apple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жест 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pinch-to-zoom»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на одноразовую капсулу для кофе (Nespresso).</a:t>
            </a:r>
          </a:p>
          <a:p>
            <a:pPr algn="just"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на «Lotus-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Effect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(самоочищающиеся поверхности).</a:t>
            </a:r>
          </a:p>
          <a:p>
            <a:pPr algn="just"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Патент на алгоритм сжатия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MP3 (Fraunhofer Society)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D3CEE-95CE-4648-B72F-2FD69DEC498E}"/>
              </a:ext>
            </a:extLst>
          </p:cNvPr>
          <p:cNvSpPr txBox="1"/>
          <p:nvPr/>
        </p:nvSpPr>
        <p:spPr>
          <a:xfrm>
            <a:off x="11833504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8044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A39943-8F7A-4ADF-BFD8-13A4287475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07459"/>
            <a:ext cx="9144000" cy="3442447"/>
          </a:xfrm>
        </p:spPr>
        <p:txBody>
          <a:bodyPr anchor="ctr">
            <a:normAutofit/>
          </a:bodyPr>
          <a:lstStyle/>
          <a:p>
            <a:r>
              <a:rPr lang="ru-RU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«Что можно запатентовать? Формула патента. Принципы формулировки и ключевые особенности. Примеры»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070BE0-AE83-4CE1-A2EE-BA190E45B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2000" y="6138000"/>
            <a:ext cx="4320000" cy="720000"/>
          </a:xfrm>
        </p:spPr>
        <p:txBody>
          <a:bodyPr anchor="ctr"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Докладчик: Климов Богдан</a:t>
            </a:r>
          </a:p>
        </p:txBody>
      </p:sp>
    </p:spTree>
    <p:extLst>
      <p:ext uri="{BB962C8B-B14F-4D97-AF65-F5344CB8AC3E}">
        <p14:creationId xmlns:p14="http://schemas.microsoft.com/office/powerpoint/2010/main" val="38455863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442</Words>
  <Application>Microsoft Office PowerPoint</Application>
  <PresentationFormat>Широкоэкранный</PresentationFormat>
  <Paragraphs>52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Wingdings</vt:lpstr>
      <vt:lpstr>Тема Office</vt:lpstr>
      <vt:lpstr>«Что можно запатентовать? Формула патента. Принципы формулировки и ключевые особенности. Примеры»</vt:lpstr>
      <vt:lpstr>Что такое интеллектуальная собственность и её виды</vt:lpstr>
      <vt:lpstr>Примеры интеллектуальной собственности</vt:lpstr>
      <vt:lpstr>Что такое патент и патентоведение</vt:lpstr>
      <vt:lpstr>Формула патента</vt:lpstr>
      <vt:lpstr>Принципы формулировки патентной формулы</vt:lpstr>
      <vt:lpstr> Ключевые особенности патентной формулы</vt:lpstr>
      <vt:lpstr>Примеры патентов</vt:lpstr>
      <vt:lpstr>«Что можно запатентовать? Формула патента. Принципы формулировки и ключевые особенности. Примеры»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«Что можно запатентовать? Формула патента. Принципы формулировки и ключевые особенности. Примеры»</dc:title>
  <dc:creator>Bogdan Klimov</dc:creator>
  <cp:lastModifiedBy>Bogdan Klimov</cp:lastModifiedBy>
  <cp:revision>15</cp:revision>
  <dcterms:created xsi:type="dcterms:W3CDTF">2025-12-02T04:50:21Z</dcterms:created>
  <dcterms:modified xsi:type="dcterms:W3CDTF">2026-02-23T22:28:26Z</dcterms:modified>
</cp:coreProperties>
</file>